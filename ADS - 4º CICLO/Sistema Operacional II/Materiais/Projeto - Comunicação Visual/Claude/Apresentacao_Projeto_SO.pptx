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iSlnC+iYW8SXMr/v6e3bLvlJ9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848B9B-80B3-46F5-99B1-9F4F48093736}">
  <a:tblStyle styleId="{0B848B9B-80B3-46F5-99B1-9F4F480937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1E3"/>
              </a:solidFill>
              <a:effectLst/>
            </c:spPr>
          </c:dPt>
          <c:dPt>
            <c:idx val="1"/>
            <c:bubble3D val="0"/>
            <c:spPr>
              <a:solidFill>
                <a:srgbClr val="74B9FF"/>
              </a:solidFill>
              <a:effectLst/>
            </c:spPr>
          </c:dPt>
          <c:dPt>
            <c:idx val="2"/>
            <c:bubble3D val="0"/>
            <c:spPr>
              <a:solidFill>
                <a:srgbClr val="34C759"/>
              </a:solidFill>
              <a:effectLst/>
            </c:spPr>
          </c:dPt>
          <c:dPt>
            <c:idx val="3"/>
            <c:bubble3D val="0"/>
            <c:spPr>
              <a:solidFill>
                <a:srgbClr val="FF9500"/>
              </a:solidFill>
              <a:effectLst/>
            </c:spPr>
          </c:dPt>
          <c:dPt>
            <c:idx val="4"/>
            <c:bubble3D val="0"/>
            <c:spPr>
              <a:solidFill>
                <a:srgbClr val="A29B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Hardware Apple</c:v>
                </c:pt>
                <c:pt idx="1">
                  <c:v>Monitores+Cabos</c:v>
                </c:pt>
                <c:pt idx="2">
                  <c:v>Infraestrutura</c:v>
                </c:pt>
                <c:pt idx="3">
                  <c:v>Licenças Software</c:v>
                </c:pt>
                <c:pt idx="4">
                  <c:v>Mão de Obra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73994</c:v>
                </c:pt>
                <c:pt idx="1">
                  <c:v>2132</c:v>
                </c:pt>
                <c:pt idx="2">
                  <c:v>767</c:v>
                </c:pt>
                <c:pt idx="3">
                  <c:v>32270</c:v>
                </c:pt>
                <c:pt idx="4">
                  <c:v>7200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0d47660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60d47660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60d47660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0d476600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960d476600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60d476600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9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</a:rPr>
              <a:t>Seleção e Implantação - S.O 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7" y="1417325"/>
            <a:ext cx="557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2000"/>
              <a:buFont typeface="Calibri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Migração de Plataforma Windows para macOS</a:t>
            </a:r>
            <a:endParaRPr i="0" sz="1500" u="none" cap="none" strike="noStrike">
              <a:solidFill>
                <a:schemeClr val="lt1"/>
              </a:solidFill>
            </a:endParaRPr>
          </a:p>
        </p:txBody>
      </p:sp>
      <p:sp>
        <p:nvSpPr>
          <p:cNvPr id="19" name="Google Shape;19;p1"/>
          <p:cNvSpPr/>
          <p:nvPr/>
        </p:nvSpPr>
        <p:spPr>
          <a:xfrm flipH="1" rot="10800000">
            <a:off x="320058" y="1987170"/>
            <a:ext cx="5893200" cy="357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1"/>
          <p:cNvGrpSpPr/>
          <p:nvPr/>
        </p:nvGrpSpPr>
        <p:grpSpPr>
          <a:xfrm>
            <a:off x="294850" y="2524300"/>
            <a:ext cx="5943600" cy="1190528"/>
            <a:chOff x="294850" y="2524300"/>
            <a:chExt cx="5943600" cy="1190528"/>
          </a:xfrm>
        </p:grpSpPr>
        <p:sp>
          <p:nvSpPr>
            <p:cNvPr id="21" name="Google Shape;21;p1"/>
            <p:cNvSpPr/>
            <p:nvPr/>
          </p:nvSpPr>
          <p:spPr>
            <a:xfrm>
              <a:off x="294850" y="2524300"/>
              <a:ext cx="5943600" cy="1190400"/>
            </a:xfrm>
            <a:prstGeom prst="rect">
              <a:avLst/>
            </a:prstGeom>
            <a:solidFill>
              <a:srgbClr val="FFFFFF">
                <a:alpha val="5882"/>
              </a:srgbClr>
            </a:solidFill>
            <a:ln cap="flat" cmpd="sng" w="9525">
              <a:solidFill>
                <a:srgbClr val="0F6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77725" y="2571551"/>
              <a:ext cx="5577900" cy="1143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6FFF"/>
                </a:buClr>
                <a:buSzPts val="14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F6FFF"/>
                  </a:solidFill>
                </a:rPr>
                <a:t>Consultora: </a:t>
              </a:r>
              <a:r>
                <a:rPr i="0" lang="en-US" sz="2000" u="none" cap="none" strike="noStrike">
                  <a:solidFill>
                    <a:srgbClr val="FFFFFF"/>
                  </a:solidFill>
                </a:rPr>
                <a:t>PixelShift Soluções em TI</a:t>
              </a:r>
              <a:br>
                <a:rPr i="0" lang="en-US" sz="2000" u="none" cap="none" strike="noStrike">
                  <a:solidFill>
                    <a:srgbClr val="FFFFFF"/>
                  </a:solidFill>
                </a:rPr>
              </a:br>
              <a:r>
                <a:rPr b="1" i="0" lang="en-US" sz="2000" u="none" cap="none" strike="noStrike">
                  <a:solidFill>
                    <a:srgbClr val="0F6FFF"/>
                  </a:solidFill>
                </a:rPr>
                <a:t>Cliente: </a:t>
              </a:r>
              <a:r>
                <a:rPr i="0" lang="en-US" sz="2000" u="none" cap="none" strike="noStrike">
                  <a:solidFill>
                    <a:srgbClr val="FFFFFF"/>
                  </a:solidFill>
                </a:rPr>
                <a:t>Estúdio Forma Comunicação Visual</a:t>
              </a:r>
              <a:br>
                <a:rPr i="0" lang="en-US" sz="2000" u="none" cap="none" strike="noStrike">
                  <a:solidFill>
                    <a:srgbClr val="FFFFFF"/>
                  </a:solidFill>
                </a:rPr>
              </a:br>
              <a:r>
                <a:rPr b="1" i="0" lang="en-US" sz="2000" u="none" cap="none" strike="noStrike">
                  <a:solidFill>
                    <a:srgbClr val="0F6FFF"/>
                  </a:solidFill>
                </a:rPr>
                <a:t>Período: </a:t>
              </a:r>
              <a:r>
                <a:rPr i="0" lang="en-US" sz="2000" u="none" cap="none" strike="noStrike">
                  <a:solidFill>
                    <a:srgbClr val="FFFFFF"/>
                  </a:solidFill>
                </a:rPr>
                <a:t>Abril – Julho / 2025</a:t>
              </a:r>
              <a:endParaRPr i="0" sz="20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23" name="Google Shape;23;p1"/>
          <p:cNvSpPr/>
          <p:nvPr/>
        </p:nvSpPr>
        <p:spPr>
          <a:xfrm>
            <a:off x="6600920" y="1428755"/>
            <a:ext cx="2286000" cy="2286000"/>
          </a:xfrm>
          <a:prstGeom prst="rect">
            <a:avLst/>
          </a:prstGeom>
          <a:solidFill>
            <a:srgbClr val="0F6FFF">
              <a:alpha val="12156"/>
            </a:srgbClr>
          </a:solidFill>
          <a:ln cap="flat" cmpd="sng" w="9525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ESTRUTURA DA APRESENTAÇÃO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960120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93192" y="10058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68680" y="102412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" y="1362456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PixelShift (consultora) e Estúdio Forma (cliente)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960120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54880" y="960120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73752" y="10058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349240" y="102412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Fundamentação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49240" y="1362456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Windows vs. macOS — conceitos, histórico, comparativo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1947672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74320" y="1947672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93192" y="199339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68680" y="20116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Diagnóstico e </a:t>
            </a: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68680" y="2350008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Problemas identificados e decisões adotadas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947672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54880" y="1947672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73752" y="199339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49240" y="20116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Segurança e </a:t>
            </a: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Contrato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49240" y="2350008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Medidas implementadas e pacote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2935224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0" y="2935224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93192" y="29809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68680" y="29992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Equipe e Materiais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68680" y="333756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Recursos humanos, hardware 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2935224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54880" y="2935224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73752" y="29809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49240" y="29992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Cronograma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49240" y="333756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4 meses de projeto — Abril a Julho/2025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74320" y="3922776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" y="3922776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93192" y="396849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68680" y="39867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Orçamento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68680" y="432511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Investimento total: R$ 97.441,40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3922776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754880" y="3922776"/>
            <a:ext cx="54864" cy="82296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873752" y="396849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349240" y="39867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e Conclusão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349240" y="432511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Impacto na agência e lições aprendidas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AS EMPRESAS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515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1188720" y="10058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PixelShift Soluções em 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74320" y="1737360"/>
            <a:ext cx="4114800" cy="27432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745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Microempresa fundada em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1762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685800" y="21305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Equipe: Lucas, Marina e Rafael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4780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85800" y="243230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1-2 anos no mercado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779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5800" y="27340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1º contrato de maior porte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685800" y="30358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Suporte e implantação de 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33832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85800" y="33375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Praia Grande – SP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10515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5669280" y="10058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Estúdio Forma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54880" y="1737360"/>
            <a:ext cx="4114800" cy="27432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8745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5166360" y="18288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Agência de comunicação visual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1762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5166360" y="21305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Fundada em 2015 — Praia Grande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4780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5166360" y="243230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colaboradores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779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5166360" y="27340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setor de TI dedicado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5166360" y="30358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PCs Windows com +5 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3832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5166360" y="33375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Licenças Adobe irregulares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0d476600_0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960d476600_0_0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Sistemas Operacionais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960d476600_0_0"/>
          <p:cNvSpPr/>
          <p:nvPr/>
        </p:nvSpPr>
        <p:spPr>
          <a:xfrm>
            <a:off x="274325" y="914400"/>
            <a:ext cx="8504100" cy="37491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60d476600_0_0"/>
          <p:cNvSpPr/>
          <p:nvPr/>
        </p:nvSpPr>
        <p:spPr>
          <a:xfrm flipH="1" rot="10800000">
            <a:off x="274325" y="1700076"/>
            <a:ext cx="8413500" cy="51300"/>
          </a:xfrm>
          <a:prstGeom prst="rect">
            <a:avLst/>
          </a:prstGeom>
          <a:solidFill>
            <a:srgbClr val="666666"/>
          </a:solidFill>
          <a:ln cap="flat" cmpd="sng" w="12700">
            <a:solidFill>
              <a:srgbClr val="B7B7B7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60d476600_0_0"/>
          <p:cNvSpPr/>
          <p:nvPr/>
        </p:nvSpPr>
        <p:spPr>
          <a:xfrm>
            <a:off x="594325" y="1976525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Microempresa fundada em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g3960d476600_0_0"/>
          <p:cNvGrpSpPr/>
          <p:nvPr/>
        </p:nvGrpSpPr>
        <p:grpSpPr>
          <a:xfrm>
            <a:off x="548640" y="1005840"/>
            <a:ext cx="3657480" cy="685800"/>
            <a:chOff x="548640" y="1005840"/>
            <a:chExt cx="3657480" cy="685800"/>
          </a:xfrm>
        </p:grpSpPr>
        <p:pic>
          <p:nvPicPr>
            <p:cNvPr id="121" name="Google Shape;121;g3960d476600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8640" y="1051560"/>
              <a:ext cx="594361" cy="5943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960d476600_0_0"/>
            <p:cNvSpPr/>
            <p:nvPr/>
          </p:nvSpPr>
          <p:spPr>
            <a:xfrm>
              <a:off x="1188720" y="1005840"/>
              <a:ext cx="3017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Trebuchet MS"/>
                <a:buNone/>
              </a:pPr>
              <a:r>
                <a:rPr b="1"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Windows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0d476600_0_4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60d476600_0_40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Sistemas Operacionais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960d476600_0_40"/>
          <p:cNvSpPr/>
          <p:nvPr/>
        </p:nvSpPr>
        <p:spPr>
          <a:xfrm>
            <a:off x="274325" y="914400"/>
            <a:ext cx="8504100" cy="37491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960d476600_0_40"/>
          <p:cNvSpPr/>
          <p:nvPr/>
        </p:nvSpPr>
        <p:spPr>
          <a:xfrm flipH="1" rot="10800000">
            <a:off x="274325" y="1700076"/>
            <a:ext cx="8413500" cy="51300"/>
          </a:xfrm>
          <a:prstGeom prst="rect">
            <a:avLst/>
          </a:prstGeom>
          <a:solidFill>
            <a:srgbClr val="666666"/>
          </a:solidFill>
          <a:ln cap="flat" cmpd="sng" w="12700">
            <a:solidFill>
              <a:srgbClr val="B7B7B7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60d476600_0_40"/>
          <p:cNvSpPr/>
          <p:nvPr/>
        </p:nvSpPr>
        <p:spPr>
          <a:xfrm>
            <a:off x="594325" y="1976525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Microempresa fundada em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g3960d476600_0_40"/>
          <p:cNvGrpSpPr/>
          <p:nvPr/>
        </p:nvGrpSpPr>
        <p:grpSpPr>
          <a:xfrm>
            <a:off x="548640" y="1005840"/>
            <a:ext cx="3657480" cy="685800"/>
            <a:chOff x="548640" y="1005840"/>
            <a:chExt cx="3657480" cy="685800"/>
          </a:xfrm>
        </p:grpSpPr>
        <p:pic>
          <p:nvPicPr>
            <p:cNvPr id="134" name="Google Shape;134;g3960d476600_0_40"/>
            <p:cNvPicPr preferRelativeResize="0"/>
            <p:nvPr/>
          </p:nvPicPr>
          <p:blipFill rotWithShape="1">
            <a:blip r:embed="rId3">
              <a:alphaModFix/>
            </a:blip>
            <a:srcRect b="0" l="6225" r="6217" t="0"/>
            <a:stretch/>
          </p:blipFill>
          <p:spPr>
            <a:xfrm>
              <a:off x="548640" y="1051560"/>
              <a:ext cx="594360" cy="5943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g3960d476600_0_40"/>
            <p:cNvSpPr/>
            <p:nvPr/>
          </p:nvSpPr>
          <p:spPr>
            <a:xfrm>
              <a:off x="1188720" y="1005840"/>
              <a:ext cx="3017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Trebuchet MS"/>
                <a:buNone/>
              </a:pPr>
              <a:r>
                <a:rPr b="1" lang="en-US" sz="15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MacOS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FUNDAMENTAÇÃO TEÓRICA — Windows × macOS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{0B848B9B-80B3-46F5-99B1-9F4F48093736}</a:tableStyleId>
              </a:tblPr>
              <a:tblGrid>
                <a:gridCol w="2377450"/>
                <a:gridCol w="2926075"/>
                <a:gridCol w="292607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Critério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Windows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3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macOS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1E3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operacional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Proprietário — R$450–900/máquina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Gratuito — incluso no hardware Apple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do hardware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Variado — R$2.000 a R$15.000+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 — R$6.499 a R$25.000+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Estabilidade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Degrada com envelhecimento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— menor taxa de falhas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Desempenho criativo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Variável conforme hardware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Otimizado — Apple Silicon M2/M3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Gerenciamento de cores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Configuração manual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Nativo e preciso (impressão profissional)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Manutenção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Maior custo e frequência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intervenção necessária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DIAGNÓSTICO — PROBLEMAS IDENTIFICADOS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96012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74320" y="960120"/>
            <a:ext cx="2697480" cy="411480"/>
          </a:xfrm>
          <a:prstGeom prst="rect">
            <a:avLst/>
          </a:prstGeom>
          <a:solidFill>
            <a:srgbClr val="CC3B2E"/>
          </a:solidFill>
          <a:ln cap="flat" cmpd="sng" w="12700">
            <a:solidFill>
              <a:srgbClr val="CC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33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667512" y="9966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Desempenho Insatisfatório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1435608"/>
            <a:ext cx="2514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Travamentos ao abrir arquivos no Photoshop e Premiere Pro — comprometendo prazos de entrega.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154680" y="96012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154680" y="960120"/>
            <a:ext cx="2697480" cy="411480"/>
          </a:xfrm>
          <a:prstGeom prst="rect">
            <a:avLst/>
          </a:prstGeom>
          <a:solidFill>
            <a:srgbClr val="8338EC"/>
          </a:solidFill>
          <a:ln cap="flat" cmpd="sng" w="12700">
            <a:solidFill>
              <a:srgbClr val="833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033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3547872" y="9966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Licenças Irregulares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46120" y="1435608"/>
            <a:ext cx="2514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Adobe CC via contas compartilhadas sem licença. Risco legal e interrupções frequentes de acesso.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035040" y="96012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035040" y="960120"/>
            <a:ext cx="2697480" cy="41148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1033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6428232" y="9966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Sem Backup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126480" y="1435608"/>
            <a:ext cx="2514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Arquivos em HDs externos individuais. Dois colaboradores já perderam projetos por falha de hardware.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572768" y="278892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572768" y="2788920"/>
            <a:ext cx="2697480" cy="41148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4208" y="2862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1965960" y="28254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Manutenção Cara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664208" y="3264408"/>
            <a:ext cx="2514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R$4.800 gastos nos 12 meses anteriores — formatações e peças — sem planejamento preventivo.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453128" y="278892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453128" y="2788920"/>
            <a:ext cx="2697480" cy="41148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4568" y="2862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4846320" y="28254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Incompatibilidade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544568" y="3264408"/>
            <a:ext cx="2514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Arquivos em formatos Apple (.sketch, perfis P3) geravam erros e retrabalho nas entregas ao cliente.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 ADOTADA — ESCALA PEQUENA EMPRESA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74320" y="914400"/>
            <a:ext cx="416052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9784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777240" y="932688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HARDWARE ESCOLHIDO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47472" y="1481328"/>
            <a:ext cx="457200" cy="384048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47472" y="148132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77824" y="149047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Mac Mini M2 — 8GB/256GB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77824" y="170078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Designers, vídeo e recepção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47472" y="2029968"/>
            <a:ext cx="457200" cy="384048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47472" y="20299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77824" y="203911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MacBook Air M2 — 8GB/256GB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77824" y="224942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Sócios da agência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7472" y="2578608"/>
            <a:ext cx="457200" cy="384048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47472" y="257860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77824" y="258775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Monitores LG 24" (novos)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77824" y="279806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4 antigos reaproveitados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47472" y="3127248"/>
            <a:ext cx="457200" cy="384048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47472" y="312724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77824" y="313639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HD 2TB + Switch TP-Link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77824" y="334670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Backup Time Machine + rede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709160" y="914400"/>
            <a:ext cx="416052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709160" y="914400"/>
            <a:ext cx="4160520" cy="4572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800600" y="932688"/>
            <a:ext cx="3977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DECISÕES INTELIGENTES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4904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5138928" y="1463040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Mac Mini M2 vs iMac: R$6.499 vs R$14.999 — mesma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/>
          <p:nvPr/>
        </p:nvSpPr>
        <p:spPr>
          <a:xfrm>
            <a:off x="5138928" y="1938528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monitores antigos reaproveitados: −R$3.200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4414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5138928" y="2414016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Switch simples TP-Link (R$189) vs Cisco (R$3.200)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9169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5138928" y="2889504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 Machine gratuito vs Jamf Pro: −R$8.640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3392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5138928" y="3364992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Licenças Adobe regularizadas: elimina risco 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3867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5138928" y="3840480"/>
            <a:ext cx="36393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PCs Windows mantidos no administrativo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SEGURANÇA  ·  CONTRATO E SUPORTE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SEGURANÇA IMPLEMENTADA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4320" y="1325880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274320" y="1325880"/>
            <a:ext cx="54864" cy="50292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20624" y="13350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FileVault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20624" y="15453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Criptografia completa do disco — proteção contra furto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274320" y="1892808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274320" y="1892808"/>
            <a:ext cx="54864" cy="50292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20624" y="1901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Gatekeeper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20624" y="21122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Apps restritos a fontes certificadas Apple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74320" y="2459736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274320" y="2459736"/>
            <a:ext cx="54864" cy="50292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20624" y="24688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20624" y="26791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Sistema protegido contra modificações indevidas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74320" y="3026664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274320" y="3026664"/>
            <a:ext cx="54864" cy="50292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20624" y="30358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Time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20624" y="32461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Backup diário automático — sem custo adicional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3593592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74320" y="3593592"/>
            <a:ext cx="54864" cy="50292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20624" y="360273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Apple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20624" y="3813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Contas individuais — sem compartilhamento de senhas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709160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PACOTE DE SUPORTE (PixelShift)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709160" y="1325880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800600" y="1344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Suporte remoto 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315200" y="13441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R$ 350/mês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800600" y="1609344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Até 3 chamados/mês — atend. em 4h úteis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709160" y="2029968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800600" y="204825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Visita técnica presencial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315200" y="204825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R$ 150/hora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800600" y="231343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Agendada — cobrada por hora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709160" y="2734056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800600" y="27523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Treinamento novos colaboradores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315200" y="27523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R$ 200/sessão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800600" y="3017520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Sessão de 2h presencial, por solicitação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709160" y="3438144"/>
            <a:ext cx="4114800" cy="621792"/>
          </a:xfrm>
          <a:prstGeom prst="rect">
            <a:avLst/>
          </a:prstGeom>
          <a:solidFill>
            <a:srgbClr val="0F6FFF"/>
          </a:solidFill>
          <a:ln cap="flat" cmpd="sng" w="9525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800600" y="34564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Vigência do contrato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315200" y="345643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12 meses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800600" y="3721608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1ª receita recorrente da PixelShift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RECURSOS HUMANOS  ·  MATERIAIS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05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960120" y="100584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Lucas Ferreira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60120" y="129844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E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E4FF"/>
                </a:solidFill>
                <a:latin typeface="Calibri"/>
                <a:ea typeface="Calibri"/>
                <a:cs typeface="Calibri"/>
                <a:sym typeface="Calibri"/>
              </a:rPr>
              <a:t>Responsável Técnico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74320" y="1536192"/>
            <a:ext cx="2743200" cy="18288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84048" y="160020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Análise, config. dos Macs,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migração de dados, rede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1005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3886200" y="100584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Marina Souza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886200" y="129844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E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E4FF"/>
                </a:solidFill>
                <a:latin typeface="Calibri"/>
                <a:ea typeface="Calibri"/>
                <a:cs typeface="Calibri"/>
                <a:sym typeface="Calibri"/>
              </a:rPr>
              <a:t>Gestão e Relacionamento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200400" y="1536192"/>
            <a:ext cx="2743200" cy="18288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3310128" y="160020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Proposta, orçamento,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cronograma, treinamento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126480" y="914400"/>
            <a:ext cx="2743200" cy="146304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005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6812280" y="100584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Rafael Nunes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812280" y="129844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E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E4FF"/>
                </a:solidFill>
                <a:latin typeface="Calibri"/>
                <a:ea typeface="Calibri"/>
                <a:cs typeface="Calibri"/>
                <a:sym typeface="Calibri"/>
              </a:rPr>
              <a:t>Técnico Parceiro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126480" y="1536192"/>
            <a:ext cx="2743200" cy="18288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236208" y="160020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Instalação física,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cabeamento, suporte presencial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74320" y="2487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SOFTWARES UTILIZADOS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74320" y="285292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274320" y="2852928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420624" y="29169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macOS Ventura/Sonoma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20624" y="32004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Gratuito — incluso no hardware Apple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09160" y="285292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709160" y="2852928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855464" y="29169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Adobe Creative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855464" y="32004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8 usuários — R$329,90/usuário/mês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74320" y="367588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274320" y="3675888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20624" y="373989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Microsoft 365 Family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20624" y="40233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Plano anual — R$599/ano (6 usuários)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709160" y="367588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709160" y="3675888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4855464" y="373989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Time Machine (nativo)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855464" y="40233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Gratuito — backup automático incluído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CRONOGRAMA — ABRIL A JULHO / 2025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200400" y="868680"/>
            <a:ext cx="1417320" cy="201168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0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200400" y="8686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ABRIL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617720" y="868680"/>
            <a:ext cx="1417320" cy="201168"/>
          </a:xfrm>
          <a:prstGeom prst="rect">
            <a:avLst/>
          </a:prstGeom>
          <a:solidFill>
            <a:srgbClr val="D4E2F4"/>
          </a:solidFill>
          <a:ln cap="flat" cmpd="sng" w="12700">
            <a:solidFill>
              <a:srgbClr val="C0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4617720" y="8686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035040" y="868680"/>
            <a:ext cx="1417320" cy="201168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0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035040" y="8686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JUNHO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452360" y="868680"/>
            <a:ext cx="1417320" cy="201168"/>
          </a:xfrm>
          <a:prstGeom prst="rect">
            <a:avLst/>
          </a:prstGeom>
          <a:solidFill>
            <a:srgbClr val="D4E2F4"/>
          </a:solidFill>
          <a:ln cap="flat" cmpd="sng" w="12700">
            <a:solidFill>
              <a:srgbClr val="C0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452360" y="8686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JULHO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74320" y="1216152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274320" y="1216152"/>
            <a:ext cx="54864" cy="475488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02336" y="123444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01 —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02336" y="1435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Abr S1–S2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691640" y="1435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Lucas + Marina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200400" y="1280160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209544" y="1307592"/>
            <a:ext cx="708660" cy="292608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274320" y="1837944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274320" y="1837944"/>
            <a:ext cx="54864" cy="475488"/>
          </a:xfrm>
          <a:prstGeom prst="rect">
            <a:avLst/>
          </a:prstGeom>
          <a:solidFill>
            <a:srgbClr val="8338EC"/>
          </a:solidFill>
          <a:ln cap="flat" cmpd="sng" w="12700">
            <a:solidFill>
              <a:srgbClr val="833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02336" y="1856232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02 — PLANEJAMENTO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02336" y="20574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Abr 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691640" y="20574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Marina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200400" y="1901952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3918204" y="1929384"/>
            <a:ext cx="354330" cy="292608"/>
          </a:xfrm>
          <a:prstGeom prst="rect">
            <a:avLst/>
          </a:prstGeom>
          <a:solidFill>
            <a:srgbClr val="8338EC"/>
          </a:solidFill>
          <a:ln cap="flat" cmpd="sng" w="12700">
            <a:solidFill>
              <a:srgbClr val="833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274320" y="2459736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274320" y="2459736"/>
            <a:ext cx="54864" cy="475488"/>
          </a:xfrm>
          <a:prstGeom prst="rect">
            <a:avLst/>
          </a:prstGeom>
          <a:solidFill>
            <a:srgbClr val="FF006E"/>
          </a:solidFill>
          <a:ln cap="flat" cmpd="sng" w="12700">
            <a:solidFill>
              <a:srgbClr val="FF0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02336" y="2478024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03 — PREPARAÇÃO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02336" y="26791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Mai S1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691640" y="26791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Lucas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200400" y="2523744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4626864" y="2551176"/>
            <a:ext cx="354330" cy="292608"/>
          </a:xfrm>
          <a:prstGeom prst="rect">
            <a:avLst/>
          </a:prstGeom>
          <a:solidFill>
            <a:srgbClr val="FF006E"/>
          </a:solidFill>
          <a:ln cap="flat" cmpd="sng" w="12700">
            <a:solidFill>
              <a:srgbClr val="FF0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274320" y="3081528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74320" y="3081528"/>
            <a:ext cx="54864" cy="47548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02336" y="3099816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04 — IMPLANTAÇÃO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02336" y="33009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Mai–Jun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691640" y="33009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Lucas + Rafael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200400" y="3145536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4626864" y="3172968"/>
            <a:ext cx="2834640" cy="29260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274320" y="3703320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274320" y="3703320"/>
            <a:ext cx="54864" cy="475488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02336" y="3721608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05 — TREINAMENTO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02336" y="392277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Jun S3–Jul S1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691640" y="392277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Marina + Lucas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200400" y="3767328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6752844" y="3794760"/>
            <a:ext cx="1417320" cy="292608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274320" y="4325112"/>
            <a:ext cx="28346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274320" y="4325112"/>
            <a:ext cx="54864" cy="475488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402336" y="434340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06 — ASSESSORIA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02336" y="4544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Jul S2–S4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691640" y="4544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6FFF"/>
                </a:solidFill>
                <a:latin typeface="Calibri"/>
                <a:ea typeface="Calibri"/>
                <a:cs typeface="Calibri"/>
                <a:sym typeface="Calibri"/>
              </a:rPr>
              <a:t>Lucas + Marina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200400" y="4389120"/>
            <a:ext cx="5669280" cy="3474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7815834" y="4416552"/>
            <a:ext cx="1017270" cy="292608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274320" y="4617720"/>
            <a:ext cx="2926080" cy="292608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365760" y="4709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meses  |  48 horas técnicas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ORÇAMENTO DO PROJETO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10"/>
          <p:cNvGraphicFramePr/>
          <p:nvPr/>
        </p:nvGraphicFramePr>
        <p:xfrm>
          <a:off x="182880" y="868680"/>
          <a:ext cx="4389120" cy="3931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72" name="Google Shape;372;p10"/>
          <p:cNvSpPr/>
          <p:nvPr/>
        </p:nvSpPr>
        <p:spPr>
          <a:xfrm>
            <a:off x="4754880" y="896112"/>
            <a:ext cx="41605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4754880" y="896112"/>
            <a:ext cx="64008" cy="56692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901184" y="9144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Hardware Apple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7132320" y="91440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R$ 73.994,00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901184" y="118872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76%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754880" y="1554480"/>
            <a:ext cx="41605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754880" y="1554480"/>
            <a:ext cx="64008" cy="566928"/>
          </a:xfrm>
          <a:prstGeom prst="rect">
            <a:avLst/>
          </a:prstGeom>
          <a:solidFill>
            <a:srgbClr val="74B9FF"/>
          </a:solidFill>
          <a:ln cap="flat" cmpd="sng" w="12700">
            <a:solidFill>
              <a:srgbClr val="74B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901184" y="157276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Monitores + Cabos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7132320" y="157276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4B9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4B9FF"/>
                </a:solidFill>
                <a:latin typeface="Trebuchet MS"/>
                <a:ea typeface="Trebuchet MS"/>
                <a:cs typeface="Trebuchet MS"/>
                <a:sym typeface="Trebuchet MS"/>
              </a:rPr>
              <a:t>R$ 2.132,00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901184" y="184708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2%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754880" y="2212848"/>
            <a:ext cx="41605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4754880" y="2212848"/>
            <a:ext cx="64008" cy="566928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4901184" y="223113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Infraestrutura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7132320" y="223113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4C759"/>
                </a:solidFill>
                <a:latin typeface="Trebuchet MS"/>
                <a:ea typeface="Trebuchet MS"/>
                <a:cs typeface="Trebuchet MS"/>
                <a:sym typeface="Trebuchet MS"/>
              </a:rPr>
              <a:t>R$ 767,00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901184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4754880" y="2871216"/>
            <a:ext cx="41605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4754880" y="2871216"/>
            <a:ext cx="64008" cy="566928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4901184" y="288950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Licenças Software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132320" y="288950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9500"/>
                </a:solidFill>
                <a:latin typeface="Trebuchet MS"/>
                <a:ea typeface="Trebuchet MS"/>
                <a:cs typeface="Trebuchet MS"/>
                <a:sym typeface="Trebuchet MS"/>
              </a:rPr>
              <a:t>R$ 32.270,40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901184" y="316382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33%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754880" y="3529584"/>
            <a:ext cx="41605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754880" y="3529584"/>
            <a:ext cx="64008" cy="566928"/>
          </a:xfrm>
          <a:prstGeom prst="rect">
            <a:avLst/>
          </a:prstGeom>
          <a:solidFill>
            <a:srgbClr val="A29BFE"/>
          </a:solidFill>
          <a:ln cap="flat" cmpd="sng" w="12700">
            <a:solidFill>
              <a:srgbClr val="A29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4901184" y="35478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Mão de Obra (48h)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7132320" y="35478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A29BFE"/>
                </a:solidFill>
                <a:latin typeface="Trebuchet MS"/>
                <a:ea typeface="Trebuchet MS"/>
                <a:cs typeface="Trebuchet MS"/>
                <a:sym typeface="Trebuchet MS"/>
              </a:rPr>
              <a:t>R$ 7.200,00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901184" y="382219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7%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754880" y="4206240"/>
            <a:ext cx="4160520" cy="658368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4892040" y="422452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TOTAL GERAL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6400800" y="4224528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R$ 97.441,40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ALCANÇADOS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274320" y="914400"/>
            <a:ext cx="1554480" cy="123444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274320" y="9601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274320" y="15727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011680" y="914400"/>
            <a:ext cx="1554480" cy="123444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2011680" y="9601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2011680" y="15727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3749040" y="914400"/>
            <a:ext cx="1554480" cy="1234440"/>
          </a:xfrm>
          <a:prstGeom prst="rect">
            <a:avLst/>
          </a:prstGeom>
          <a:solidFill>
            <a:srgbClr val="8338EC"/>
          </a:solidFill>
          <a:ln cap="flat" cmpd="sng" w="12700">
            <a:solidFill>
              <a:srgbClr val="8338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3749040" y="9601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48h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749040" y="15727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486400" y="914400"/>
            <a:ext cx="1554480" cy="123444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5486400" y="9601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486400" y="15727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7223760" y="914400"/>
            <a:ext cx="1554480" cy="123444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7223760" y="9601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R$350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223760" y="15727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74320" y="23317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274320" y="2331720"/>
            <a:ext cx="2743200" cy="5486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2404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1"/>
          <p:cNvSpPr/>
          <p:nvPr/>
        </p:nvSpPr>
        <p:spPr>
          <a:xfrm>
            <a:off x="804672" y="237744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Estúdio Forma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11480" y="297180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Travamentos cessaram. Produtividade visível nas 1ªs semanas. Time Machine eliminou risco de perda de projetos.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200400" y="23317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3200400" y="2331720"/>
            <a:ext cx="2743200" cy="5486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404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1"/>
          <p:cNvSpPr/>
          <p:nvPr/>
        </p:nvSpPr>
        <p:spPr>
          <a:xfrm>
            <a:off x="3730752" y="237744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PixelShift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3337560" y="297180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1º contrato de maior porte concluído. Receita mensal recorrente de R$350 — 1ª base estável da empresa.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126480" y="23317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6126480" y="2331720"/>
            <a:ext cx="2743200" cy="5486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208" y="2404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1"/>
          <p:cNvSpPr/>
          <p:nvPr/>
        </p:nvSpPr>
        <p:spPr>
          <a:xfrm>
            <a:off x="6656832" y="237744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Lição Aprendida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6263640" y="297180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Suporte pós-treinamento subestimado. Horas extras não previstas. Corrigido nas propostas seguintes.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2743200" y="1920240"/>
            <a:ext cx="3657600" cy="36576"/>
          </a:xfrm>
          <a:prstGeom prst="rect">
            <a:avLst/>
          </a:prstGeom>
          <a:solidFill>
            <a:srgbClr val="0F6FFF"/>
          </a:solidFill>
          <a:ln cap="flat" cmpd="sng" w="12700">
            <a:solidFill>
              <a:srgbClr val="0F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6FFF"/>
                </a:solidFill>
                <a:latin typeface="Trebuchet MS"/>
                <a:ea typeface="Trebuchet MS"/>
                <a:cs typeface="Trebuchet MS"/>
                <a:sym typeface="Trebuchet MS"/>
              </a:rPr>
              <a:t>PixelShift Soluções em 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Projeto: Migração Windows → macOS  |  Cliente: Estúdio Forma  | 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FATEC Praia Grande  ·  Análise e Desenvolvimento de Sistemas  ·  Sistemas Operacionais 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365760" y="43891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688"/>
                </a:solidFill>
                <a:latin typeface="Calibri"/>
                <a:ea typeface="Calibri"/>
                <a:cs typeface="Calibri"/>
                <a:sym typeface="Calibri"/>
              </a:rPr>
              <a:t>[Integrante 1]   ·   [Integrante 2]   ·   [Integrante 3]   ·   [Integrante 4]   ·   [Integrante 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2026-03-15T21:32:56Z</dcterms:created>
  <dc:creator>PptxGenJS</dc:creator>
</cp:coreProperties>
</file>