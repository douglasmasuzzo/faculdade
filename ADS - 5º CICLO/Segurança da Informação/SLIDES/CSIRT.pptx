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Black Ops One"/>
      <p:regular r:id="rId21"/>
    </p:embeddedFont>
    <p:embeddedFont>
      <p:font typeface="Comfortaa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Comfortaa-regular.fntdata"/><Relationship Id="rId10" Type="http://schemas.openxmlformats.org/officeDocument/2006/relationships/slide" Target="slides/slide5.xml"/><Relationship Id="rId21" Type="http://schemas.openxmlformats.org/officeDocument/2006/relationships/font" Target="fonts/BlackOpsOne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Comforta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9f865bfb6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9f865bfb6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9f865bfb6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9f865bfb6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9f865bfb6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9f865bfb6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9f865bfb6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9f865bfb6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a65bc1dfc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a65bc1dfc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9f865bfb6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9f865bfb6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9f865bfb68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9f865bfb6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9f865bfb68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9f865bfb6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9f865bfb6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9f865bfb6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9f865bfb68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9f865bfb68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9f865bfb6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9f865bfb6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9f865bfb6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9f865bfb6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a65bc1dfc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a65bc1dfc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9f865bfb6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9f865bfb6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855300" y="105700"/>
            <a:ext cx="7322100" cy="72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FF0000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Black Ops One"/>
              <a:buNone/>
              <a:defRPr sz="3000">
                <a:latin typeface="Black Ops One"/>
                <a:ea typeface="Black Ops One"/>
                <a:cs typeface="Black Ops One"/>
                <a:sym typeface="Black Ops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Black Ops One"/>
              <a:buNone/>
              <a:defRPr sz="3000">
                <a:latin typeface="Black Ops One"/>
                <a:ea typeface="Black Ops One"/>
                <a:cs typeface="Black Ops One"/>
                <a:sym typeface="Black Ops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Black Ops One"/>
              <a:buNone/>
              <a:defRPr sz="3000">
                <a:latin typeface="Black Ops One"/>
                <a:ea typeface="Black Ops One"/>
                <a:cs typeface="Black Ops One"/>
                <a:sym typeface="Black Ops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Black Ops One"/>
              <a:buNone/>
              <a:defRPr sz="3000">
                <a:latin typeface="Black Ops One"/>
                <a:ea typeface="Black Ops One"/>
                <a:cs typeface="Black Ops One"/>
                <a:sym typeface="Black Ops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Black Ops One"/>
              <a:buNone/>
              <a:defRPr sz="3000">
                <a:latin typeface="Black Ops One"/>
                <a:ea typeface="Black Ops One"/>
                <a:cs typeface="Black Ops One"/>
                <a:sym typeface="Black Ops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Black Ops One"/>
              <a:buNone/>
              <a:defRPr sz="3000">
                <a:latin typeface="Black Ops One"/>
                <a:ea typeface="Black Ops One"/>
                <a:cs typeface="Black Ops One"/>
                <a:sym typeface="Black Ops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Black Ops One"/>
              <a:buNone/>
              <a:defRPr sz="3000">
                <a:latin typeface="Black Ops One"/>
                <a:ea typeface="Black Ops One"/>
                <a:cs typeface="Black Ops One"/>
                <a:sym typeface="Black Ops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Black Ops One"/>
              <a:buNone/>
              <a:defRPr sz="3000">
                <a:latin typeface="Black Ops One"/>
                <a:ea typeface="Black Ops One"/>
                <a:cs typeface="Black Ops One"/>
                <a:sym typeface="Black Ops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Black Ops One"/>
              <a:buNone/>
              <a:defRPr sz="3000">
                <a:latin typeface="Black Ops One"/>
                <a:ea typeface="Black Ops One"/>
                <a:cs typeface="Black Ops One"/>
                <a:sym typeface="Black Ops On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86125" y="1310700"/>
            <a:ext cx="7938300" cy="28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mfortaa"/>
              <a:buChar char="●"/>
              <a:defRPr sz="18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○"/>
              <a:defRPr sz="1700">
                <a:solidFill>
                  <a:srgbClr val="FFFFFF"/>
                </a:solidFill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■"/>
              <a:defRPr sz="1700">
                <a:solidFill>
                  <a:srgbClr val="FFFFFF"/>
                </a:solidFill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  <a:defRPr sz="1700">
                <a:solidFill>
                  <a:srgbClr val="FFFFFF"/>
                </a:solidFill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○"/>
              <a:defRPr sz="1700">
                <a:solidFill>
                  <a:srgbClr val="FFFFFF"/>
                </a:solidFill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■"/>
              <a:defRPr sz="1700">
                <a:solidFill>
                  <a:srgbClr val="FFFFFF"/>
                </a:solidFill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  <a:defRPr sz="1700">
                <a:solidFill>
                  <a:srgbClr val="FFFFFF"/>
                </a:solidFill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○"/>
              <a:defRPr sz="1700">
                <a:solidFill>
                  <a:srgbClr val="FFFFFF"/>
                </a:solidFill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■"/>
              <a:defRPr sz="17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 amt="19000"/>
          </a:blip>
          <a:stretch>
            <a:fillRect/>
          </a:stretch>
        </p:blipFill>
        <p:spPr>
          <a:xfrm>
            <a:off x="1658850" y="3394500"/>
            <a:ext cx="5715000" cy="32956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credential.net/31700f45-2957-4e50-9d13-6bae26e4a800" TargetMode="External"/><Relationship Id="rId4" Type="http://schemas.openxmlformats.org/officeDocument/2006/relationships/hyperlink" Target="https://www.credential.net/31700f45-2957-4e50-9d13-6bae26e4a800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youtube.com/watch?v=flu6JPRHW04" TargetMode="External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cert.br/certcc/csirts/csirt_faq-br.html#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 rot="-444885">
            <a:off x="311718" y="744550"/>
            <a:ext cx="8366461" cy="247318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0"/>
              <a:t>CSIRT</a:t>
            </a:r>
            <a:endParaRPr sz="2000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464100" y="34919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Computer Security Incident Response Team</a:t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6313400" y="4242100"/>
            <a:ext cx="22773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Prof. Wagner Alves </a:t>
            </a:r>
            <a:endParaRPr sz="9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ETEC PG / CEETEPS</a:t>
            </a:r>
            <a:endParaRPr sz="9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23232F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952050" y="4582475"/>
            <a:ext cx="30000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CCCCCC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Information Security Management</a:t>
            </a:r>
            <a:endParaRPr sz="13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CCCCCC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Foundation (ISO/IEC 27001)</a:t>
            </a:r>
            <a:r>
              <a:rPr lang="pt-BR" sz="100">
                <a:solidFill>
                  <a:srgbClr val="CCCCCC"/>
                </a:solidFill>
              </a:rPr>
              <a:t> </a:t>
            </a:r>
            <a:r>
              <a:rPr lang="pt-BR" sz="900">
                <a:solidFill>
                  <a:srgbClr val="CCCCCC"/>
                </a:solidFill>
              </a:rPr>
              <a:t> Certification</a:t>
            </a:r>
            <a:endParaRPr sz="900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311700" y="2072125"/>
            <a:ext cx="8520600" cy="12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vídeo a seguir tem como objetivo introduzir este importante assunto.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egurança na Internet e nas redes é muito importante para as empresas. A maioria delas procura se proteger criando regras e, então, implantando procedimentos, equipamentos e softwares para fazer com que sejam cumpridas. Mas, mesmo assim, algumas vezes ainda há problemas, como acessos não autorizados a sistemas, ou ataques capazes de parar algum serviço importante, e estes devem ser tratados. O trabalho de uma equipe de Tratamento de Incidentes de Segurança é como o trabalho dos brigadistas, que realizam ações preventivas para evitar que incêndios ocorram, mas, mesmo assim, estão sempre prontos para apagá-los… Você tem uma 'brigada' em sua empresa especializada em tratar os problemas de segurança? Um CSIRT? Se não tem ainda, deveria pensar no assunto." id="68" name="Google Shape;68;p15" title="Tratamento de Incidentes de Seguranca na Internet, explicado pelo NIC.br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887" y="-228600"/>
            <a:ext cx="8024225" cy="549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 rot="-444885">
            <a:off x="493618" y="1335150"/>
            <a:ext cx="8366461" cy="247318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0">
                <a:solidFill>
                  <a:srgbClr val="980000"/>
                </a:solidFill>
              </a:rPr>
              <a:t>O QUE É ?</a:t>
            </a:r>
            <a:endParaRPr sz="18000">
              <a:solidFill>
                <a:srgbClr val="980000"/>
              </a:solidFill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7081825" y="4345375"/>
            <a:ext cx="23943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Prof. Wagner Alves </a:t>
            </a:r>
            <a:endParaRPr sz="9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CEETEPS</a:t>
            </a:r>
            <a:endParaRPr sz="9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798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pt-BR" sz="1700"/>
              <a:t>Um "Computer Security Incident Response Team (CSIRT)", ou Grupo de Resposta a Incidentes de Segurança, é uma organização responsável por receber, analisar e responder a notificações e atividades relacionadas a incidentes de segurança em computadores.</a:t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ctrTitle"/>
          </p:nvPr>
        </p:nvSpPr>
        <p:spPr>
          <a:xfrm rot="-444885">
            <a:off x="493618" y="1335150"/>
            <a:ext cx="8366461" cy="247318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300">
                <a:solidFill>
                  <a:srgbClr val="980000"/>
                </a:solidFill>
              </a:rPr>
              <a:t>COMO ATUA ?</a:t>
            </a:r>
            <a:endParaRPr sz="17300">
              <a:solidFill>
                <a:srgbClr val="980000"/>
              </a:solidFill>
            </a:endParaRPr>
          </a:p>
        </p:txBody>
      </p:sp>
      <p:sp>
        <p:nvSpPr>
          <p:cNvPr id="85" name="Google Shape;85;p18"/>
          <p:cNvSpPr txBox="1"/>
          <p:nvPr/>
        </p:nvSpPr>
        <p:spPr>
          <a:xfrm>
            <a:off x="7081825" y="4345375"/>
            <a:ext cx="23943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Prof. Wagner Alves </a:t>
            </a:r>
            <a:endParaRPr sz="9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CEETEPS</a:t>
            </a:r>
            <a:endParaRPr sz="9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798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pt-BR" sz="1700"/>
              <a:t>Um CSIRT normalmente presta serviços para uma comunidade bem definida, que pode ser a entidade que o mantém, como uma empresa, um órgão governamental ou uma organização acadêmica. </a:t>
            </a:r>
            <a:endParaRPr sz="17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pt-BR" sz="1700"/>
              <a:t>Um CSIRT também pode prestar serviços para uma comunidade maior, como um país, uma rede de pesquisa ou clientes que pagam por seus serviços.</a:t>
            </a:r>
            <a:endParaRPr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311700" y="798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/>
              <a:t>Um CSIRT pode ser um </a:t>
            </a:r>
            <a:r>
              <a:rPr b="1" lang="pt-BR" sz="1700">
                <a:solidFill>
                  <a:srgbClr val="FF0000"/>
                </a:solidFill>
              </a:rPr>
              <a:t>grupo forma</a:t>
            </a:r>
            <a:r>
              <a:rPr lang="pt-BR" sz="1700">
                <a:solidFill>
                  <a:srgbClr val="FF0000"/>
                </a:solidFill>
              </a:rPr>
              <a:t>l</a:t>
            </a:r>
            <a:r>
              <a:rPr lang="pt-BR" sz="1700"/>
              <a:t> ou um </a:t>
            </a:r>
            <a:r>
              <a:rPr b="1" lang="pt-BR" sz="1700">
                <a:solidFill>
                  <a:srgbClr val="FF0000"/>
                </a:solidFill>
              </a:rPr>
              <a:t>grupo "ad hoc"</a:t>
            </a:r>
            <a:r>
              <a:rPr lang="pt-BR" sz="1700"/>
              <a:t>. </a:t>
            </a:r>
            <a:endParaRPr sz="17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pt-BR" sz="1700">
                <a:solidFill>
                  <a:srgbClr val="FF0000"/>
                </a:solidFill>
              </a:rPr>
              <a:t>Grupo formal </a:t>
            </a:r>
            <a:r>
              <a:rPr lang="pt-BR" sz="1700"/>
              <a:t>tem no trabalho de resposta a incidentes a sua principal função. </a:t>
            </a:r>
            <a:endParaRPr sz="17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pt-BR" sz="1700">
                <a:solidFill>
                  <a:srgbClr val="FF0000"/>
                </a:solidFill>
              </a:rPr>
              <a:t>Grupo "ad hoc" </a:t>
            </a:r>
            <a:r>
              <a:rPr lang="pt-BR" sz="1700"/>
              <a:t>é reunido quando há um incidente de segurança em andamento ou para responder a um incidente quando necessário.</a:t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ctrTitle"/>
          </p:nvPr>
        </p:nvSpPr>
        <p:spPr>
          <a:xfrm rot="-444890">
            <a:off x="232096" y="1352094"/>
            <a:ext cx="8629058" cy="247318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0">
                <a:solidFill>
                  <a:srgbClr val="980000"/>
                </a:solidFill>
              </a:rPr>
              <a:t>INCIDENTE de SEGURANÇA</a:t>
            </a:r>
            <a:endParaRPr sz="17300">
              <a:solidFill>
                <a:srgbClr val="980000"/>
              </a:solidFill>
            </a:endParaRPr>
          </a:p>
        </p:txBody>
      </p:sp>
      <p:sp>
        <p:nvSpPr>
          <p:cNvPr id="101" name="Google Shape;101;p21"/>
          <p:cNvSpPr txBox="1"/>
          <p:nvPr/>
        </p:nvSpPr>
        <p:spPr>
          <a:xfrm>
            <a:off x="7081825" y="4345375"/>
            <a:ext cx="23943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Prof. Wagner Alves </a:t>
            </a:r>
            <a:endParaRPr sz="9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CEETEPS</a:t>
            </a:r>
            <a:endParaRPr sz="9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idx="1" type="body"/>
          </p:nvPr>
        </p:nvSpPr>
        <p:spPr>
          <a:xfrm>
            <a:off x="311700" y="215375"/>
            <a:ext cx="8520600" cy="39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/>
              <a:t>Cada organização deve definir o que é, em relação ao seu site, um incidente de segurança em computadores. 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/>
              <a:t>Dois possíveis exemplos de definições gerais para um incidente de segurança em computadores são:</a:t>
            </a:r>
            <a:endParaRPr sz="17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Char char="●"/>
            </a:pPr>
            <a:r>
              <a:rPr lang="pt-BR" sz="1700">
                <a:solidFill>
                  <a:srgbClr val="FF0000"/>
                </a:solidFill>
              </a:rPr>
              <a:t>Qualquer evento adverso, confirmado ou sob suspeita, relacionado à</a:t>
            </a:r>
            <a:endParaRPr sz="1700">
              <a:solidFill>
                <a:srgbClr val="FF0000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FF0000"/>
                </a:solidFill>
              </a:rPr>
              <a:t> segurança dos sistemas de computação ou das redes de computadores.</a:t>
            </a:r>
            <a:endParaRPr sz="17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0000"/>
              </a:solidFill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Char char="●"/>
            </a:pPr>
            <a:r>
              <a:rPr lang="pt-BR" sz="1700">
                <a:solidFill>
                  <a:srgbClr val="FF0000"/>
                </a:solidFill>
              </a:rPr>
              <a:t>O ato de violar uma política de segurança, explícita ou implícita.</a:t>
            </a:r>
            <a:endParaRPr sz="17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>
            <p:ph type="ctrTitle"/>
          </p:nvPr>
        </p:nvSpPr>
        <p:spPr>
          <a:xfrm rot="-444890">
            <a:off x="232096" y="1352094"/>
            <a:ext cx="8629058" cy="247318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600">
                <a:solidFill>
                  <a:srgbClr val="980000"/>
                </a:solidFill>
              </a:rPr>
              <a:t>EXEMPL</a:t>
            </a:r>
            <a:r>
              <a:rPr lang="pt-BR" sz="11600">
                <a:solidFill>
                  <a:srgbClr val="980000"/>
                </a:solidFill>
              </a:rPr>
              <a:t>O</a:t>
            </a:r>
            <a:r>
              <a:rPr lang="pt-BR" sz="11600">
                <a:solidFill>
                  <a:srgbClr val="980000"/>
                </a:solidFill>
              </a:rPr>
              <a:t>S</a:t>
            </a:r>
            <a:endParaRPr sz="11600">
              <a:solidFill>
                <a:srgbClr val="980000"/>
              </a:solidFill>
            </a:endParaRPr>
          </a:p>
        </p:txBody>
      </p:sp>
      <p:sp>
        <p:nvSpPr>
          <p:cNvPr id="112" name="Google Shape;112;p23"/>
          <p:cNvSpPr txBox="1"/>
          <p:nvPr/>
        </p:nvSpPr>
        <p:spPr>
          <a:xfrm>
            <a:off x="7081825" y="4345375"/>
            <a:ext cx="23943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Prof. Wagner Alves </a:t>
            </a:r>
            <a:endParaRPr sz="9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CEETEPS</a:t>
            </a:r>
            <a:endParaRPr sz="9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11700" y="493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pt-BR" sz="1700"/>
              <a:t>Tentativas (com ou sem sucesso) de ganhar acesso não autorizado a sistemas ou a seus dados;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pt-BR" sz="1700"/>
              <a:t>Interrupção indesejada ou negação de serviço;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pt-BR" sz="1700"/>
              <a:t>Uso não autorizado de um sistema para processamento ou armazenamento de dados;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pt-BR" sz="1700"/>
              <a:t>Modificações nas características de hardware, firmware ou software de um sistema, sem o conhecimento, instruções ou consentimento prévio do dono do sistema.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>
            <p:ph type="ctrTitle"/>
          </p:nvPr>
        </p:nvSpPr>
        <p:spPr>
          <a:xfrm rot="-444936">
            <a:off x="-6121" y="1077479"/>
            <a:ext cx="9097693" cy="247318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900">
                <a:solidFill>
                  <a:srgbClr val="980000"/>
                </a:solidFill>
              </a:rPr>
              <a:t>CONCLUSÃO</a:t>
            </a:r>
            <a:endParaRPr sz="10900">
              <a:solidFill>
                <a:srgbClr val="980000"/>
              </a:solidFill>
            </a:endParaRPr>
          </a:p>
        </p:txBody>
      </p:sp>
      <p:sp>
        <p:nvSpPr>
          <p:cNvPr id="123" name="Google Shape;123;p25"/>
          <p:cNvSpPr txBox="1"/>
          <p:nvPr/>
        </p:nvSpPr>
        <p:spPr>
          <a:xfrm>
            <a:off x="7081825" y="4345375"/>
            <a:ext cx="23943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Prof. Wagner Alves </a:t>
            </a:r>
            <a:endParaRPr sz="9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CEETEPS</a:t>
            </a:r>
            <a:endParaRPr sz="9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 txBox="1"/>
          <p:nvPr>
            <p:ph idx="1" type="body"/>
          </p:nvPr>
        </p:nvSpPr>
        <p:spPr>
          <a:xfrm>
            <a:off x="311700" y="417500"/>
            <a:ext cx="8520600" cy="42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Mesmo a melhor infra-estrutura de segurança da informação não pode garantir que intrusões ou outras ações maliciosas não ocorrerão. </a:t>
            </a:r>
            <a:endParaRPr sz="15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Quando um incidente de segurança ocorre, torna-se crítico para a organização ter uma maneira eficaz de responder a este incidente.</a:t>
            </a:r>
            <a:endParaRPr sz="15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A rapidez com que a organização pode reconhecer, analisar e responder a um incidente limitará os danos e diminuirá o custo de recuperação. </a:t>
            </a:r>
            <a:endParaRPr sz="15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Um CSIRT pode estar fisicamente presente e apto a conduzir uma resposta rápida para conter o incidente de segurança e para recuperar-se dele. </a:t>
            </a:r>
            <a:endParaRPr sz="15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CSIRTs também podem estar familiarizados com os sistemas comprometidos, e, portanto, melhor preparados para coordenar a recuperação e propor estratégias de erradicação e resposta aos problemas.</a:t>
            </a:r>
            <a:endParaRPr sz="15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/>
        </p:nvSpPr>
        <p:spPr>
          <a:xfrm>
            <a:off x="993150" y="2088850"/>
            <a:ext cx="71577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fonte: &lt;</a:t>
            </a:r>
            <a:r>
              <a:rPr lang="pt-BR" sz="1200" u="sng">
                <a:solidFill>
                  <a:schemeClr val="hlink"/>
                </a:solidFill>
                <a:latin typeface="Comfortaa"/>
                <a:ea typeface="Comfortaa"/>
                <a:cs typeface="Comfortaa"/>
                <a:sym typeface="Comfortaa"/>
                <a:hlinkClick r:id="rId3"/>
              </a:rPr>
              <a:t>https://www.cert.br/certcc/csirts/csirt_faq-br.html#1</a:t>
            </a:r>
            <a:r>
              <a:rPr lang="pt-BR" sz="12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&gt; acesso em 23.10.2020</a:t>
            </a:r>
            <a:endParaRPr sz="12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