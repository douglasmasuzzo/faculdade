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8229600" cx="14630400"/>
  <p:notesSz cx="8229600" cy="14630400"/>
  <p:embeddedFontLst>
    <p:embeddedFont>
      <p:font typeface="Montserrat"/>
      <p:regular r:id="rId18"/>
      <p:bold r:id="rId19"/>
      <p:italic r:id="rId20"/>
      <p:boldItalic r:id="rId21"/>
    </p:embeddedFont>
    <p:embeddedFont>
      <p:font typeface="Source Sans 3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SourceSans3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SourceSans3-italic.fntdata"/><Relationship Id="rId23" Type="http://schemas.openxmlformats.org/officeDocument/2006/relationships/font" Target="fonts/SourceSans3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SourceSans3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5" name="Google Shape;5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6"/>
          <p:cNvSpPr/>
          <p:nvPr/>
        </p:nvSpPr>
        <p:spPr>
          <a:xfrm>
            <a:off x="1185029" y="1792962"/>
            <a:ext cx="12260223" cy="1402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Montserrat"/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Fundamentos e Aplicação de Políticas de Segurança da Informação</a:t>
            </a:r>
            <a:endParaRPr b="0" i="0" sz="4400" u="none" cap="none" strike="noStrike"/>
          </a:p>
        </p:txBody>
      </p:sp>
      <p:sp>
        <p:nvSpPr>
          <p:cNvPr id="58" name="Google Shape;58;p16"/>
          <p:cNvSpPr/>
          <p:nvPr/>
        </p:nvSpPr>
        <p:spPr>
          <a:xfrm>
            <a:off x="1185029" y="3566041"/>
            <a:ext cx="12260223" cy="1481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Source Sans 3"/>
              <a:buNone/>
            </a:pPr>
            <a:r>
              <a:rPr b="0" i="0" lang="en-US" sz="1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Olá! Seja bem-vindo(a) à nossa aula sobre Políticas de Segurança da Informação (PSI). Como profissional de tecnologia, segurança e dados, é fundamental entender que a tecnologia por si só não garante a segurança de uma organização. A base de uma postura de cibersegurança robusta reside em um conjunto bem definido de regras e diretrizes que governam o comportamento humano e o uso dos recursos tecnológicos.</a:t>
            </a:r>
            <a:endParaRPr b="0" i="0" sz="1900" u="none" cap="none" strike="noStrike"/>
          </a:p>
        </p:txBody>
      </p:sp>
      <p:sp>
        <p:nvSpPr>
          <p:cNvPr id="59" name="Google Shape;59;p16"/>
          <p:cNvSpPr/>
          <p:nvPr/>
        </p:nvSpPr>
        <p:spPr>
          <a:xfrm>
            <a:off x="1185029" y="5325308"/>
            <a:ext cx="12260223" cy="1111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Source Sans 3"/>
              <a:buNone/>
            </a:pPr>
            <a:r>
              <a:rPr b="0" i="0" lang="en-US" sz="1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Nesta aula, seguiremos um plano didático-pedagógico para explorar as políticas mais cruciais, entender sua interdependência e analisar exemplos práticos que demonstram o valor (ou a falta dele) de uma PSI bem implementada.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/>
          <p:nvPr/>
        </p:nvSpPr>
        <p:spPr>
          <a:xfrm>
            <a:off x="1185029" y="911066"/>
            <a:ext cx="12260223" cy="1402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Montserrat"/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 Que é uma Política de Segurança da Informação?</a:t>
            </a:r>
            <a:endParaRPr b="0" i="0" sz="4400" u="none" cap="none" strike="noStrike"/>
          </a:p>
        </p:txBody>
      </p:sp>
      <p:sp>
        <p:nvSpPr>
          <p:cNvPr id="66" name="Google Shape;66;p17"/>
          <p:cNvSpPr/>
          <p:nvPr/>
        </p:nvSpPr>
        <p:spPr>
          <a:xfrm>
            <a:off x="1185029" y="2807613"/>
            <a:ext cx="12260223" cy="1481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Source Sans 3"/>
              <a:buNone/>
            </a:pPr>
            <a:r>
              <a:rPr b="0" i="0" lang="en-US" sz="1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Uma Política de Segurança da Informação (PSI) é um documento formal que define as regras, procedimentos e diretrizes para proteger os ativos de informação de uma organização. Ela serve como a espinha dorsal de um Sistema de Gestão da Segurança da Informação (SGSI), comunicando a todos os colaboradores o compromisso da empresa com a segurança e orientando sobre como agir para protegê-la.</a:t>
            </a:r>
            <a:endParaRPr b="0" i="0" sz="1900" u="none" cap="none" strike="noStrike"/>
          </a:p>
        </p:txBody>
      </p:sp>
      <p:sp>
        <p:nvSpPr>
          <p:cNvPr id="67" name="Google Shape;67;p17"/>
          <p:cNvSpPr/>
          <p:nvPr/>
        </p:nvSpPr>
        <p:spPr>
          <a:xfrm>
            <a:off x="1185029" y="4566880"/>
            <a:ext cx="12260223" cy="37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Source Sans 3"/>
              <a:buNone/>
            </a:pPr>
            <a:r>
              <a:rPr b="0" i="0" lang="en-US" sz="1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O principal objetivo de uma PSI é garantir os três pilares da segurança da informação:</a:t>
            </a:r>
            <a:endParaRPr b="0" i="0" sz="1900" u="none" cap="none" strike="noStrike"/>
          </a:p>
        </p:txBody>
      </p:sp>
      <p:sp>
        <p:nvSpPr>
          <p:cNvPr id="68" name="Google Shape;68;p17"/>
          <p:cNvSpPr/>
          <p:nvPr/>
        </p:nvSpPr>
        <p:spPr>
          <a:xfrm>
            <a:off x="1185029" y="5214938"/>
            <a:ext cx="3922157" cy="2103596"/>
          </a:xfrm>
          <a:prstGeom prst="roundRect">
            <a:avLst>
              <a:gd fmla="val 1760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7"/>
          <p:cNvSpPr/>
          <p:nvPr/>
        </p:nvSpPr>
        <p:spPr>
          <a:xfrm>
            <a:off x="1431846" y="5461754"/>
            <a:ext cx="2805470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D2E34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2D2E34"/>
                </a:solidFill>
                <a:latin typeface="Montserrat"/>
                <a:ea typeface="Montserrat"/>
                <a:cs typeface="Montserrat"/>
                <a:sym typeface="Montserrat"/>
              </a:rPr>
              <a:t>Confidencialidade</a:t>
            </a:r>
            <a:endParaRPr b="0" i="0" sz="2200" u="none" cap="none" strike="noStrike"/>
          </a:p>
        </p:txBody>
      </p:sp>
      <p:sp>
        <p:nvSpPr>
          <p:cNvPr id="70" name="Google Shape;70;p17"/>
          <p:cNvSpPr/>
          <p:nvPr/>
        </p:nvSpPr>
        <p:spPr>
          <a:xfrm>
            <a:off x="1431846" y="5960507"/>
            <a:ext cx="3428524" cy="740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Source Sans 3"/>
              <a:buNone/>
            </a:pPr>
            <a:r>
              <a:rPr b="0" i="0" lang="en-US" sz="1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Proteger a informação de acessos não autorizados.</a:t>
            </a:r>
            <a:endParaRPr b="0" i="0" sz="1900" u="none" cap="none" strike="noStrike"/>
          </a:p>
        </p:txBody>
      </p:sp>
      <p:sp>
        <p:nvSpPr>
          <p:cNvPr id="71" name="Google Shape;71;p17"/>
          <p:cNvSpPr/>
          <p:nvPr/>
        </p:nvSpPr>
        <p:spPr>
          <a:xfrm>
            <a:off x="5354003" y="5214938"/>
            <a:ext cx="3922157" cy="2103596"/>
          </a:xfrm>
          <a:prstGeom prst="roundRect">
            <a:avLst>
              <a:gd fmla="val 1760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7"/>
          <p:cNvSpPr/>
          <p:nvPr/>
        </p:nvSpPr>
        <p:spPr>
          <a:xfrm>
            <a:off x="5600819" y="5461754"/>
            <a:ext cx="2805470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D2E34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2D2E34"/>
                </a:solidFill>
                <a:latin typeface="Montserrat"/>
                <a:ea typeface="Montserrat"/>
                <a:cs typeface="Montserrat"/>
                <a:sym typeface="Montserrat"/>
              </a:rPr>
              <a:t>Integridade</a:t>
            </a:r>
            <a:endParaRPr b="0" i="0" sz="2200" u="none" cap="none" strike="noStrike"/>
          </a:p>
        </p:txBody>
      </p:sp>
      <p:sp>
        <p:nvSpPr>
          <p:cNvPr id="73" name="Google Shape;73;p17"/>
          <p:cNvSpPr/>
          <p:nvPr/>
        </p:nvSpPr>
        <p:spPr>
          <a:xfrm>
            <a:off x="5600819" y="5960507"/>
            <a:ext cx="3428524" cy="1111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Source Sans 3"/>
              <a:buNone/>
            </a:pPr>
            <a:r>
              <a:rPr b="0" i="0" lang="en-US" sz="1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Assegurar que a informação seja precisa e não seja alterada de forma indevida.</a:t>
            </a:r>
            <a:endParaRPr b="0" i="0" sz="1900" u="none" cap="none" strike="noStrike"/>
          </a:p>
        </p:txBody>
      </p:sp>
      <p:sp>
        <p:nvSpPr>
          <p:cNvPr id="74" name="Google Shape;74;p17"/>
          <p:cNvSpPr/>
          <p:nvPr/>
        </p:nvSpPr>
        <p:spPr>
          <a:xfrm>
            <a:off x="9522976" y="5214938"/>
            <a:ext cx="3922276" cy="2103596"/>
          </a:xfrm>
          <a:prstGeom prst="roundRect">
            <a:avLst>
              <a:gd fmla="val 1760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7"/>
          <p:cNvSpPr/>
          <p:nvPr/>
        </p:nvSpPr>
        <p:spPr>
          <a:xfrm>
            <a:off x="9769793" y="5461754"/>
            <a:ext cx="2805470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D2E34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2D2E34"/>
                </a:solidFill>
                <a:latin typeface="Montserrat"/>
                <a:ea typeface="Montserrat"/>
                <a:cs typeface="Montserrat"/>
                <a:sym typeface="Montserrat"/>
              </a:rPr>
              <a:t>Disponibilidade</a:t>
            </a:r>
            <a:endParaRPr b="0" i="0" sz="2200" u="none" cap="none" strike="noStrike"/>
          </a:p>
        </p:txBody>
      </p:sp>
      <p:sp>
        <p:nvSpPr>
          <p:cNvPr id="76" name="Google Shape;76;p17"/>
          <p:cNvSpPr/>
          <p:nvPr/>
        </p:nvSpPr>
        <p:spPr>
          <a:xfrm>
            <a:off x="9769793" y="5960507"/>
            <a:ext cx="3428643" cy="1111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Source Sans 3"/>
              <a:buNone/>
            </a:pPr>
            <a:r>
              <a:rPr b="0" i="0" lang="en-US" sz="1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Garantir que a informação e os sistemas estejam acessíveis quando necessário.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/>
          <p:nvPr/>
        </p:nvSpPr>
        <p:spPr>
          <a:xfrm>
            <a:off x="1185029" y="739497"/>
            <a:ext cx="8745260" cy="701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Montserrat"/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Política de Controle de Acesso</a:t>
            </a:r>
            <a:endParaRPr b="0" i="0" sz="4400" u="none" cap="none" strike="noStrike"/>
          </a:p>
        </p:txBody>
      </p:sp>
      <p:sp>
        <p:nvSpPr>
          <p:cNvPr id="83" name="Google Shape;83;p18"/>
          <p:cNvSpPr/>
          <p:nvPr/>
        </p:nvSpPr>
        <p:spPr>
          <a:xfrm>
            <a:off x="1185029" y="2033349"/>
            <a:ext cx="7115175" cy="740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Source Sans 3"/>
              <a:buNone/>
            </a:pPr>
            <a:r>
              <a:rPr b="1" i="0" lang="en-US" sz="1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O que é:</a:t>
            </a:r>
            <a:r>
              <a:rPr b="0" i="0" lang="en-US" sz="1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Define quem pode acessar quais recursos (sistemas, dados, redes) e sob quais condições.</a:t>
            </a:r>
            <a:endParaRPr b="0" i="0" sz="1900" u="none" cap="none" strike="noStrike"/>
          </a:p>
        </p:txBody>
      </p:sp>
      <p:sp>
        <p:nvSpPr>
          <p:cNvPr id="84" name="Google Shape;84;p18"/>
          <p:cNvSpPr/>
          <p:nvPr/>
        </p:nvSpPr>
        <p:spPr>
          <a:xfrm>
            <a:off x="1185029" y="2996327"/>
            <a:ext cx="7115175" cy="1111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Source Sans 3"/>
              <a:buNone/>
            </a:pPr>
            <a:r>
              <a:rPr b="1" i="0" lang="en-US" sz="1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Objetivo:</a:t>
            </a:r>
            <a:r>
              <a:rPr b="0" i="0" lang="en-US" sz="1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Limitar o acesso aos ativos de informação com base no princípio do "menor privilégio", onde os usuários têm acesso apenas ao que é estritamente necessário para desempenhar suas funções.</a:t>
            </a:r>
            <a:endParaRPr b="0" i="0" sz="1900" u="none" cap="none" strike="noStrike"/>
          </a:p>
        </p:txBody>
      </p:sp>
      <p:sp>
        <p:nvSpPr>
          <p:cNvPr id="85" name="Google Shape;85;p18"/>
          <p:cNvSpPr/>
          <p:nvPr/>
        </p:nvSpPr>
        <p:spPr>
          <a:xfrm>
            <a:off x="1185029" y="4329708"/>
            <a:ext cx="7115175" cy="37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Source Sans 3"/>
              <a:buNone/>
            </a:pPr>
            <a:r>
              <a:rPr b="1" i="0" lang="en-US" sz="1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Exemplos de Conteúdo:</a:t>
            </a:r>
            <a:endParaRPr b="0" i="0" sz="1900" u="none" cap="none" strike="noStrike"/>
          </a:p>
        </p:txBody>
      </p:sp>
      <p:sp>
        <p:nvSpPr>
          <p:cNvPr id="86" name="Google Shape;86;p18"/>
          <p:cNvSpPr/>
          <p:nvPr/>
        </p:nvSpPr>
        <p:spPr>
          <a:xfrm>
            <a:off x="1185029" y="4922282"/>
            <a:ext cx="7115175" cy="37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Source Sans 3"/>
              <a:buChar char="•"/>
            </a:pPr>
            <a:r>
              <a:rPr b="0" i="0" lang="en-US" sz="1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Procedimentos para criação e desativação de contas de usuário.</a:t>
            </a:r>
            <a:endParaRPr b="0" i="0" sz="1900" u="none" cap="none" strike="noStrike"/>
          </a:p>
        </p:txBody>
      </p:sp>
      <p:sp>
        <p:nvSpPr>
          <p:cNvPr id="87" name="Google Shape;87;p18"/>
          <p:cNvSpPr/>
          <p:nvPr/>
        </p:nvSpPr>
        <p:spPr>
          <a:xfrm>
            <a:off x="1185029" y="5379006"/>
            <a:ext cx="7115175" cy="740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Source Sans 3"/>
              <a:buChar char="•"/>
            </a:pPr>
            <a:r>
              <a:rPr b="0" i="0" lang="en-US" sz="1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Requisitos de complexidade e periodicidade para alteração de senhas.</a:t>
            </a:r>
            <a:endParaRPr b="0" i="0" sz="1900" u="none" cap="none" strike="noStrike"/>
          </a:p>
        </p:txBody>
      </p:sp>
      <p:sp>
        <p:nvSpPr>
          <p:cNvPr id="88" name="Google Shape;88;p18"/>
          <p:cNvSpPr/>
          <p:nvPr/>
        </p:nvSpPr>
        <p:spPr>
          <a:xfrm>
            <a:off x="1185029" y="6206133"/>
            <a:ext cx="7115175" cy="740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Source Sans 3"/>
              <a:buChar char="•"/>
            </a:pPr>
            <a:r>
              <a:rPr b="0" i="0" lang="en-US" sz="1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Definição de perfis de acesso baseados em funções (role-based access control - RBAC).</a:t>
            </a:r>
            <a:endParaRPr b="0" i="0" sz="1900" u="none" cap="none" strike="noStrike"/>
          </a:p>
        </p:txBody>
      </p:sp>
      <p:sp>
        <p:nvSpPr>
          <p:cNvPr id="89" name="Google Shape;89;p18"/>
          <p:cNvSpPr/>
          <p:nvPr/>
        </p:nvSpPr>
        <p:spPr>
          <a:xfrm>
            <a:off x="1185029" y="7033260"/>
            <a:ext cx="7115175" cy="37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Source Sans 3"/>
              <a:buChar char="•"/>
            </a:pPr>
            <a:r>
              <a:rPr b="0" i="0" lang="en-US" sz="1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Regras para uso de autenticação de múltiplos fatores (MFA).</a:t>
            </a:r>
            <a:endParaRPr b="0" i="0" sz="1900" u="none" cap="none" strike="noStrike"/>
          </a:p>
        </p:txBody>
      </p:sp>
      <p:pic>
        <p:nvPicPr>
          <p:cNvPr descr="preencoded.png" id="90" name="Google Shape;9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0042" y="2088833"/>
            <a:ext cx="4542711" cy="37459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6" name="Google Shape;9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/>
          <p:nvPr/>
        </p:nvSpPr>
        <p:spPr>
          <a:xfrm>
            <a:off x="6276499" y="621625"/>
            <a:ext cx="7563803" cy="1924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Montserrat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Política de Backup e Recuperação de Desastres (DRP)</a:t>
            </a:r>
            <a:endParaRPr b="0" i="0" sz="4000" u="none" cap="none" strike="noStrike"/>
          </a:p>
        </p:txBody>
      </p:sp>
      <p:sp>
        <p:nvSpPr>
          <p:cNvPr id="98" name="Google Shape;98;p19"/>
          <p:cNvSpPr/>
          <p:nvPr/>
        </p:nvSpPr>
        <p:spPr>
          <a:xfrm>
            <a:off x="6276499" y="2884408"/>
            <a:ext cx="7563803" cy="1015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428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50"/>
              <a:buFont typeface="Source Sans 3"/>
              <a:buNone/>
            </a:pPr>
            <a:r>
              <a:rPr b="1" i="0" lang="en-US" sz="17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O que é:</a:t>
            </a:r>
            <a:r>
              <a:rPr b="0" i="0" lang="en-US" sz="17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Estabelece os procedimentos para cópias de segurança (backups) e a restauração de dados e sistemas em caso de falha, desastre ou incidente cibernético.</a:t>
            </a:r>
            <a:endParaRPr b="0" i="0" sz="1750" u="none" cap="none" strike="noStrike"/>
          </a:p>
        </p:txBody>
      </p:sp>
      <p:sp>
        <p:nvSpPr>
          <p:cNvPr id="99" name="Google Shape;99;p19"/>
          <p:cNvSpPr/>
          <p:nvPr/>
        </p:nvSpPr>
        <p:spPr>
          <a:xfrm>
            <a:off x="6276499" y="4154210"/>
            <a:ext cx="7563803" cy="1015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428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50"/>
              <a:buFont typeface="Source Sans 3"/>
              <a:buNone/>
            </a:pPr>
            <a:r>
              <a:rPr b="1" i="0" lang="en-US" sz="17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Objetivo:</a:t>
            </a:r>
            <a:r>
              <a:rPr b="0" i="0" lang="en-US" sz="17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Garantir a continuidade dos negócios e a disponibilidade da informação após um evento disruptivo, minimizando o tempo de inatividade e a perda de dados.</a:t>
            </a:r>
            <a:endParaRPr b="0" i="0" sz="1750" u="none" cap="none" strike="noStrike"/>
          </a:p>
        </p:txBody>
      </p:sp>
      <p:sp>
        <p:nvSpPr>
          <p:cNvPr id="100" name="Google Shape;100;p19"/>
          <p:cNvSpPr/>
          <p:nvPr/>
        </p:nvSpPr>
        <p:spPr>
          <a:xfrm>
            <a:off x="6276499" y="5424011"/>
            <a:ext cx="7563803" cy="338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428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50"/>
              <a:buFont typeface="Source Sans 3"/>
              <a:buNone/>
            </a:pPr>
            <a:r>
              <a:rPr b="1" i="0" lang="en-US" sz="17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Exemplos de Conteúdo:</a:t>
            </a:r>
            <a:endParaRPr b="0" i="0" sz="1750" u="none" cap="none" strike="noStrike"/>
          </a:p>
        </p:txBody>
      </p:sp>
      <p:sp>
        <p:nvSpPr>
          <p:cNvPr id="101" name="Google Shape;101;p19"/>
          <p:cNvSpPr/>
          <p:nvPr/>
        </p:nvSpPr>
        <p:spPr>
          <a:xfrm>
            <a:off x="6276499" y="6016585"/>
            <a:ext cx="7563803" cy="338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1428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50"/>
              <a:buFont typeface="Source Sans 3"/>
              <a:buChar char="•"/>
            </a:pPr>
            <a:r>
              <a:rPr b="0" i="0" lang="en-US" sz="17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Frequência e tipo de backups (completo, incremental, diferencial).</a:t>
            </a:r>
            <a:endParaRPr b="0" i="0" sz="1750" u="none" cap="none" strike="noStrike"/>
          </a:p>
        </p:txBody>
      </p:sp>
      <p:sp>
        <p:nvSpPr>
          <p:cNvPr id="102" name="Google Shape;102;p19"/>
          <p:cNvSpPr/>
          <p:nvPr/>
        </p:nvSpPr>
        <p:spPr>
          <a:xfrm>
            <a:off x="6276499" y="6434138"/>
            <a:ext cx="7563803" cy="338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1428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50"/>
              <a:buFont typeface="Source Sans 3"/>
              <a:buChar char="•"/>
            </a:pPr>
            <a:r>
              <a:rPr b="0" i="0" lang="en-US" sz="17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Localização do armazenamento das cópias (off-site, em nuvem).</a:t>
            </a:r>
            <a:endParaRPr b="0" i="0" sz="1750" u="none" cap="none" strike="noStrike"/>
          </a:p>
        </p:txBody>
      </p:sp>
      <p:sp>
        <p:nvSpPr>
          <p:cNvPr id="103" name="Google Shape;103;p19"/>
          <p:cNvSpPr/>
          <p:nvPr/>
        </p:nvSpPr>
        <p:spPr>
          <a:xfrm>
            <a:off x="6276499" y="6851690"/>
            <a:ext cx="7563803" cy="338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1428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50"/>
              <a:buFont typeface="Source Sans 3"/>
              <a:buChar char="•"/>
            </a:pPr>
            <a:r>
              <a:rPr b="0" i="0" lang="en-US" sz="17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Responsabilidades pela execução e monitoramento dos backups.</a:t>
            </a:r>
            <a:endParaRPr b="0" i="0" sz="1750" u="none" cap="none" strike="noStrike"/>
          </a:p>
        </p:txBody>
      </p:sp>
      <p:sp>
        <p:nvSpPr>
          <p:cNvPr id="104" name="Google Shape;104;p19"/>
          <p:cNvSpPr/>
          <p:nvPr/>
        </p:nvSpPr>
        <p:spPr>
          <a:xfrm>
            <a:off x="6276499" y="7269242"/>
            <a:ext cx="7563803" cy="338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1428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50"/>
              <a:buFont typeface="Source Sans 3"/>
              <a:buChar char="•"/>
            </a:pPr>
            <a:r>
              <a:rPr b="0" i="0" lang="en-US" sz="17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Procedimentos de teste do plano de recuperação de desastres.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/>
          <p:nvPr/>
        </p:nvSpPr>
        <p:spPr>
          <a:xfrm>
            <a:off x="1185029" y="788551"/>
            <a:ext cx="6195298" cy="1774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Montserrat"/>
              <a:buNone/>
            </a:pPr>
            <a:r>
              <a:rPr b="1" i="0" lang="en-US" sz="3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Forma de Armazenamento do Backup</a:t>
            </a:r>
            <a:endParaRPr b="0" i="0" sz="3700" u="none" cap="none" strike="noStrike"/>
          </a:p>
        </p:txBody>
      </p:sp>
      <p:sp>
        <p:nvSpPr>
          <p:cNvPr id="111" name="Google Shape;111;p20"/>
          <p:cNvSpPr/>
          <p:nvPr/>
        </p:nvSpPr>
        <p:spPr>
          <a:xfrm>
            <a:off x="1185029" y="2770823"/>
            <a:ext cx="6195298" cy="936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00"/>
              <a:buFont typeface="Source Sans 3"/>
              <a:buNone/>
            </a:pPr>
            <a:r>
              <a:rPr b="1" i="0" lang="en-US" sz="16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Armazenamento on-site (local):</a:t>
            </a:r>
            <a:r>
              <a:rPr b="0" i="0" lang="en-US" sz="16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é quando o backup fica no mesmo ambiente da empresa ou da pessoa (por exemplo: HD externo, servidor interno, NAS).</a:t>
            </a:r>
            <a:endParaRPr b="0" i="0" sz="1600" u="none" cap="none" strike="noStrike"/>
          </a:p>
        </p:txBody>
      </p:sp>
      <p:sp>
        <p:nvSpPr>
          <p:cNvPr id="112" name="Google Shape;112;p20"/>
          <p:cNvSpPr/>
          <p:nvPr/>
        </p:nvSpPr>
        <p:spPr>
          <a:xfrm>
            <a:off x="1185029" y="3895011"/>
            <a:ext cx="6195298" cy="1561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00"/>
              <a:buFont typeface="Source Sans 3"/>
              <a:buNone/>
            </a:pPr>
            <a:r>
              <a:rPr b="1" i="0" lang="en-US" sz="16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Armazenamento off-site (fora do local):</a:t>
            </a:r>
            <a:r>
              <a:rPr b="0" i="0" lang="en-US" sz="16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significa que a cópia não está fisicamente no mesmo lugar dos dados originais. Isso protege contra perdas por incêndio, roubo, enchente ou falhas no sistema principal. Exemplos: um servidor em outra filial, um datacenter externo, um cofre de fitas de backup.</a:t>
            </a:r>
            <a:endParaRPr b="0" i="0" sz="1600" u="none" cap="none" strike="noStrike"/>
          </a:p>
        </p:txBody>
      </p:sp>
      <p:sp>
        <p:nvSpPr>
          <p:cNvPr id="113" name="Google Shape;113;p20"/>
          <p:cNvSpPr/>
          <p:nvPr/>
        </p:nvSpPr>
        <p:spPr>
          <a:xfrm>
            <a:off x="1185029" y="5643801"/>
            <a:ext cx="6195298" cy="1249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00"/>
              <a:buFont typeface="Source Sans 3"/>
              <a:buNone/>
            </a:pPr>
            <a:r>
              <a:rPr b="1" i="0" lang="en-US" sz="16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Armazenamento em nuvem:</a:t>
            </a:r>
            <a:r>
              <a:rPr b="0" i="0" lang="en-US" sz="16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é um tipo de </a:t>
            </a:r>
            <a:r>
              <a:rPr b="1" i="0" lang="en-US" sz="16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off-site</a:t>
            </a:r>
            <a:r>
              <a:rPr b="0" i="0" lang="en-US" sz="16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, onde os backups são enviados para provedores de serviços de nuvem (Google Cloud, AWS, Azure, Dropbox, etc.). Os dados ficam disponíveis via internet, geralmente com redundância e segurança avançada.</a:t>
            </a:r>
            <a:endParaRPr b="0" i="0" sz="1600" u="none" cap="none" strike="noStrike"/>
          </a:p>
        </p:txBody>
      </p:sp>
      <p:sp>
        <p:nvSpPr>
          <p:cNvPr id="114" name="Google Shape;114;p20"/>
          <p:cNvSpPr/>
          <p:nvPr/>
        </p:nvSpPr>
        <p:spPr>
          <a:xfrm>
            <a:off x="7895868" y="788551"/>
            <a:ext cx="4732020" cy="5913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Montserrat"/>
              <a:buNone/>
            </a:pPr>
            <a:r>
              <a:rPr b="1" i="0" lang="en-US" sz="3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Tipos  de Backup</a:t>
            </a:r>
            <a:endParaRPr b="0" i="0" sz="3700" u="none" cap="none" strike="noStrike"/>
          </a:p>
        </p:txBody>
      </p:sp>
      <p:sp>
        <p:nvSpPr>
          <p:cNvPr id="115" name="Google Shape;115;p20"/>
          <p:cNvSpPr/>
          <p:nvPr/>
        </p:nvSpPr>
        <p:spPr>
          <a:xfrm>
            <a:off x="7895868" y="1588056"/>
            <a:ext cx="2876788" cy="35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1. Backup Completo</a:t>
            </a:r>
            <a:endParaRPr b="0" i="0" sz="2200" u="none" cap="none" strike="noStrike"/>
          </a:p>
        </p:txBody>
      </p:sp>
      <p:sp>
        <p:nvSpPr>
          <p:cNvPr id="116" name="Google Shape;116;p20"/>
          <p:cNvSpPr/>
          <p:nvPr/>
        </p:nvSpPr>
        <p:spPr>
          <a:xfrm>
            <a:off x="7895868" y="2151102"/>
            <a:ext cx="5556885" cy="6246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00"/>
              <a:buFont typeface="Source Sans 3"/>
              <a:buNone/>
            </a:pPr>
            <a:r>
              <a:rPr b="1" i="0" lang="en-US" sz="16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O que é:</a:t>
            </a:r>
            <a:r>
              <a:rPr b="0" i="0" lang="en-US" sz="16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copia todos os dados selecionados em cada execução (arquivos, pastas ou sistemas inteiros).</a:t>
            </a:r>
            <a:endParaRPr b="0" i="0" sz="1600" u="none" cap="none" strike="noStrike"/>
          </a:p>
        </p:txBody>
      </p:sp>
      <p:sp>
        <p:nvSpPr>
          <p:cNvPr id="117" name="Google Shape;117;p20"/>
          <p:cNvSpPr/>
          <p:nvPr/>
        </p:nvSpPr>
        <p:spPr>
          <a:xfrm>
            <a:off x="7895868" y="2962989"/>
            <a:ext cx="5556885" cy="312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118" name="Google Shape;118;p20"/>
          <p:cNvSpPr/>
          <p:nvPr/>
        </p:nvSpPr>
        <p:spPr>
          <a:xfrm>
            <a:off x="7895868" y="3483412"/>
            <a:ext cx="3716774" cy="35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🔹 2. Backup Incremental</a:t>
            </a:r>
            <a:endParaRPr b="0" i="0" sz="2200" u="none" cap="none" strike="noStrike"/>
          </a:p>
        </p:txBody>
      </p:sp>
      <p:sp>
        <p:nvSpPr>
          <p:cNvPr id="119" name="Google Shape;119;p20"/>
          <p:cNvSpPr/>
          <p:nvPr/>
        </p:nvSpPr>
        <p:spPr>
          <a:xfrm>
            <a:off x="7895868" y="4046458"/>
            <a:ext cx="5556885" cy="6246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00"/>
              <a:buFont typeface="Source Sans 3"/>
              <a:buNone/>
            </a:pPr>
            <a:r>
              <a:rPr b="1" i="0" lang="en-US" sz="16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O que é:</a:t>
            </a:r>
            <a:r>
              <a:rPr b="0" i="0" lang="en-US" sz="16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copia apenas os dados </a:t>
            </a:r>
            <a:r>
              <a:rPr b="1" i="0" lang="en-US" sz="16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alterados ou adicionados desde o último backup (completo ou incremental)</a:t>
            </a:r>
            <a:r>
              <a:rPr b="0" i="0" lang="en-US" sz="16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.</a:t>
            </a:r>
            <a:endParaRPr b="0" i="0" sz="1600" u="none" cap="none" strike="noStrike"/>
          </a:p>
        </p:txBody>
      </p:sp>
      <p:sp>
        <p:nvSpPr>
          <p:cNvPr id="120" name="Google Shape;120;p20"/>
          <p:cNvSpPr/>
          <p:nvPr/>
        </p:nvSpPr>
        <p:spPr>
          <a:xfrm>
            <a:off x="7895868" y="4858345"/>
            <a:ext cx="5556885" cy="312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121" name="Google Shape;121;p20"/>
          <p:cNvSpPr/>
          <p:nvPr/>
        </p:nvSpPr>
        <p:spPr>
          <a:xfrm>
            <a:off x="7895868" y="5378768"/>
            <a:ext cx="3520083" cy="35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🔹 3. Backup Diferencial</a:t>
            </a:r>
            <a:endParaRPr b="0" i="0" sz="2200" u="none" cap="none" strike="noStrike"/>
          </a:p>
        </p:txBody>
      </p:sp>
      <p:sp>
        <p:nvSpPr>
          <p:cNvPr id="122" name="Google Shape;122;p20"/>
          <p:cNvSpPr/>
          <p:nvPr/>
        </p:nvSpPr>
        <p:spPr>
          <a:xfrm>
            <a:off x="7895868" y="5941814"/>
            <a:ext cx="5556885" cy="6246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00"/>
              <a:buFont typeface="Source Sans 3"/>
              <a:buNone/>
            </a:pPr>
            <a:r>
              <a:rPr b="1" i="0" lang="en-US" sz="16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O que é:</a:t>
            </a:r>
            <a:r>
              <a:rPr b="0" i="0" lang="en-US" sz="16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copia todos os dados </a:t>
            </a:r>
            <a:r>
              <a:rPr b="1" i="0" lang="en-US" sz="16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alterados desde o último backup completo</a:t>
            </a:r>
            <a:r>
              <a:rPr b="0" i="0" lang="en-US" sz="16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.</a:t>
            </a:r>
            <a:endParaRPr b="0" i="0" sz="1600" u="none" cap="none" strike="noStrike"/>
          </a:p>
        </p:txBody>
      </p:sp>
      <p:sp>
        <p:nvSpPr>
          <p:cNvPr id="123" name="Google Shape;123;p20"/>
          <p:cNvSpPr/>
          <p:nvPr/>
        </p:nvSpPr>
        <p:spPr>
          <a:xfrm>
            <a:off x="7895868" y="6639282"/>
            <a:ext cx="5556885" cy="936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00"/>
              <a:buFont typeface="Source Sans 3"/>
              <a:buNone/>
            </a:pPr>
            <a:r>
              <a:rPr b="1" i="0" lang="en-US" sz="16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Vantagem:</a:t>
            </a:r>
            <a:r>
              <a:rPr b="0" i="0" lang="en-US" sz="16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mais rápido que o completo e mais simples de restaurar que o incremental (precisa só do último completo + o último diferencial).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/>
          <p:nvPr/>
        </p:nvSpPr>
        <p:spPr>
          <a:xfrm>
            <a:off x="1185029" y="840224"/>
            <a:ext cx="6877407" cy="680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Montserrat"/>
              <a:buNone/>
            </a:pPr>
            <a:r>
              <a:rPr b="1" i="0" lang="en-US" sz="42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Política de Uso Aceitável</a:t>
            </a:r>
            <a:endParaRPr b="0" i="0" sz="4250" u="none" cap="none" strike="noStrike"/>
          </a:p>
        </p:txBody>
      </p:sp>
      <p:pic>
        <p:nvPicPr>
          <p:cNvPr descr="preencoded.png" id="130" name="Google Shape;13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5029" y="2149554"/>
            <a:ext cx="4553426" cy="341507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1"/>
          <p:cNvSpPr/>
          <p:nvPr/>
        </p:nvSpPr>
        <p:spPr>
          <a:xfrm>
            <a:off x="6330434" y="2095619"/>
            <a:ext cx="7122319" cy="1077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5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850"/>
              <a:buFont typeface="Source Sans 3"/>
              <a:buNone/>
            </a:pPr>
            <a:r>
              <a:rPr b="1" i="0" lang="en-US" sz="18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O que é:</a:t>
            </a:r>
            <a:r>
              <a:rPr b="0" i="0" lang="en-US" sz="18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Descreve como os recursos de TI da organização (computadores, redes, software, e-mail, internet) devem ser usados pelos colaboradores.</a:t>
            </a:r>
            <a:endParaRPr b="0" i="0" sz="1850" u="none" cap="none" strike="noStrike"/>
          </a:p>
        </p:txBody>
      </p:sp>
      <p:sp>
        <p:nvSpPr>
          <p:cNvPr id="132" name="Google Shape;132;p21"/>
          <p:cNvSpPr/>
          <p:nvPr/>
        </p:nvSpPr>
        <p:spPr>
          <a:xfrm>
            <a:off x="6330434" y="3389114"/>
            <a:ext cx="7122319" cy="7186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5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850"/>
              <a:buFont typeface="Source Sans 3"/>
              <a:buNone/>
            </a:pPr>
            <a:r>
              <a:rPr b="1" i="0" lang="en-US" sz="18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Objetivo:</a:t>
            </a:r>
            <a:r>
              <a:rPr b="0" i="0" lang="en-US" sz="18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Proteger a empresa contra uso indevido de seus recursos que possa comprometer a segurança, a produtividade ou a reputação.</a:t>
            </a:r>
            <a:endParaRPr b="0" i="0" sz="1850" u="none" cap="none" strike="noStrike"/>
          </a:p>
        </p:txBody>
      </p:sp>
      <p:sp>
        <p:nvSpPr>
          <p:cNvPr id="133" name="Google Shape;133;p21"/>
          <p:cNvSpPr/>
          <p:nvPr/>
        </p:nvSpPr>
        <p:spPr>
          <a:xfrm>
            <a:off x="6330434" y="4323278"/>
            <a:ext cx="7122319" cy="359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5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850"/>
              <a:buFont typeface="Source Sans 3"/>
              <a:buNone/>
            </a:pPr>
            <a:r>
              <a:rPr b="1" i="0" lang="en-US" sz="18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Exemplos de Conteúdo:</a:t>
            </a:r>
            <a:endParaRPr b="0" i="0" sz="1850" u="none" cap="none" strike="noStrike"/>
          </a:p>
        </p:txBody>
      </p:sp>
      <p:sp>
        <p:nvSpPr>
          <p:cNvPr id="134" name="Google Shape;134;p21"/>
          <p:cNvSpPr/>
          <p:nvPr/>
        </p:nvSpPr>
        <p:spPr>
          <a:xfrm>
            <a:off x="6330434" y="4898112"/>
            <a:ext cx="7122319" cy="7186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135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850"/>
              <a:buFont typeface="Source Sans 3"/>
              <a:buChar char="•"/>
            </a:pPr>
            <a:r>
              <a:rPr b="0" i="0" lang="en-US" sz="18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Regras para uso de e-mail corporativo (proibição de conteúdo ofensivo, spam).</a:t>
            </a:r>
            <a:endParaRPr b="0" i="0" sz="1850" u="none" cap="none" strike="noStrike"/>
          </a:p>
        </p:txBody>
      </p:sp>
      <p:sp>
        <p:nvSpPr>
          <p:cNvPr id="135" name="Google Shape;135;p21"/>
          <p:cNvSpPr/>
          <p:nvPr/>
        </p:nvSpPr>
        <p:spPr>
          <a:xfrm>
            <a:off x="6330434" y="5700593"/>
            <a:ext cx="7122319" cy="7186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135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850"/>
              <a:buFont typeface="Source Sans 3"/>
              <a:buChar char="•"/>
            </a:pPr>
            <a:r>
              <a:rPr b="0" i="0" lang="en-US" sz="18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Diretrizes para navegação na internet (sites proibidos, uso pessoal vs. profissional).</a:t>
            </a:r>
            <a:endParaRPr b="0" i="0" sz="1850" u="none" cap="none" strike="noStrike"/>
          </a:p>
        </p:txBody>
      </p:sp>
      <p:sp>
        <p:nvSpPr>
          <p:cNvPr id="136" name="Google Shape;136;p21"/>
          <p:cNvSpPr/>
          <p:nvPr/>
        </p:nvSpPr>
        <p:spPr>
          <a:xfrm>
            <a:off x="6330434" y="6503075"/>
            <a:ext cx="7122319" cy="359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135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850"/>
              <a:buFont typeface="Source Sans 3"/>
              <a:buChar char="•"/>
            </a:pPr>
            <a:r>
              <a:rPr b="0" i="0" lang="en-US" sz="18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Proibição de instalação de software não autorizado.</a:t>
            </a:r>
            <a:endParaRPr b="0" i="0" sz="1850" u="none" cap="none" strike="noStrike"/>
          </a:p>
        </p:txBody>
      </p:sp>
      <p:sp>
        <p:nvSpPr>
          <p:cNvPr id="137" name="Google Shape;137;p21"/>
          <p:cNvSpPr/>
          <p:nvPr/>
        </p:nvSpPr>
        <p:spPr>
          <a:xfrm>
            <a:off x="6330434" y="6946225"/>
            <a:ext cx="7122319" cy="359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135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850"/>
              <a:buFont typeface="Source Sans 3"/>
              <a:buChar char="•"/>
            </a:pPr>
            <a:r>
              <a:rPr b="0" i="0" lang="en-US" sz="18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Restrições ao download de arquivos de fontes não confiáveis.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/>
          <p:nvPr/>
        </p:nvSpPr>
        <p:spPr>
          <a:xfrm>
            <a:off x="1185029" y="519708"/>
            <a:ext cx="8627864" cy="536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7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Montserrat"/>
              <a:buNone/>
            </a:pPr>
            <a:r>
              <a:rPr b="1" i="0" lang="en-US" sz="33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Política de Classificação da Informação</a:t>
            </a:r>
            <a:endParaRPr b="0" i="0" sz="3350" u="none" cap="none" strike="noStrike"/>
          </a:p>
        </p:txBody>
      </p:sp>
      <p:sp>
        <p:nvSpPr>
          <p:cNvPr id="144" name="Google Shape;144;p22"/>
          <p:cNvSpPr/>
          <p:nvPr/>
        </p:nvSpPr>
        <p:spPr>
          <a:xfrm>
            <a:off x="1185029" y="1434584"/>
            <a:ext cx="12260223" cy="566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724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50"/>
              <a:buFont typeface="Source Sans 3"/>
              <a:buNone/>
            </a:pPr>
            <a:r>
              <a:rPr b="1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O que é:</a:t>
            </a:r>
            <a:r>
              <a:rPr b="0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Uma política que categoriza os dados de uma organização com base em seu nível de sensibilidade e valor, definindo o tratamento adequado para cada categoria.</a:t>
            </a:r>
            <a:endParaRPr b="0" i="0" sz="1450" u="none" cap="none" strike="noStrike"/>
          </a:p>
        </p:txBody>
      </p:sp>
      <p:sp>
        <p:nvSpPr>
          <p:cNvPr id="145" name="Google Shape;145;p22"/>
          <p:cNvSpPr/>
          <p:nvPr/>
        </p:nvSpPr>
        <p:spPr>
          <a:xfrm>
            <a:off x="1185029" y="2213848"/>
            <a:ext cx="12260223" cy="283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724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50"/>
              <a:buFont typeface="Source Sans 3"/>
              <a:buNone/>
            </a:pPr>
            <a:r>
              <a:rPr b="1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Objetivo:</a:t>
            </a:r>
            <a:r>
              <a:rPr b="0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Assegurar que os dados mais críticos recebam o mais alto nível de proteção.</a:t>
            </a:r>
            <a:endParaRPr b="0" i="0" sz="1450" u="none" cap="none" strike="noStrike"/>
          </a:p>
        </p:txBody>
      </p:sp>
      <p:sp>
        <p:nvSpPr>
          <p:cNvPr id="146" name="Google Shape;146;p22"/>
          <p:cNvSpPr/>
          <p:nvPr/>
        </p:nvSpPr>
        <p:spPr>
          <a:xfrm>
            <a:off x="1185029" y="2709743"/>
            <a:ext cx="188952" cy="236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724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50"/>
              <a:buFont typeface="Montserrat"/>
              <a:buNone/>
            </a:pPr>
            <a:r>
              <a:rPr b="0" i="0" lang="en-US" sz="145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450" u="none" cap="none" strike="noStrike"/>
          </a:p>
        </p:txBody>
      </p:sp>
      <p:sp>
        <p:nvSpPr>
          <p:cNvPr id="147" name="Google Shape;147;p22"/>
          <p:cNvSpPr/>
          <p:nvPr/>
        </p:nvSpPr>
        <p:spPr>
          <a:xfrm>
            <a:off x="1185029" y="3007995"/>
            <a:ext cx="6035635" cy="22860"/>
          </a:xfrm>
          <a:prstGeom prst="rect">
            <a:avLst/>
          </a:prstGeom>
          <a:solidFill>
            <a:srgbClr val="2D2E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2"/>
          <p:cNvSpPr/>
          <p:nvPr/>
        </p:nvSpPr>
        <p:spPr>
          <a:xfrm>
            <a:off x="1185029" y="3148132"/>
            <a:ext cx="2147649" cy="268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50"/>
              <a:buFont typeface="Montserrat"/>
              <a:buNone/>
            </a:pPr>
            <a:r>
              <a:rPr b="1" i="0" lang="en-US" sz="165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Público</a:t>
            </a:r>
            <a:endParaRPr b="0" i="0" sz="1650" u="none" cap="none" strike="noStrike"/>
          </a:p>
        </p:txBody>
      </p:sp>
      <p:sp>
        <p:nvSpPr>
          <p:cNvPr id="149" name="Google Shape;149;p22"/>
          <p:cNvSpPr/>
          <p:nvPr/>
        </p:nvSpPr>
        <p:spPr>
          <a:xfrm>
            <a:off x="1185029" y="3529965"/>
            <a:ext cx="6035635" cy="566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724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50"/>
              <a:buFont typeface="Source Sans 3"/>
              <a:buNone/>
            </a:pPr>
            <a:r>
              <a:rPr b="0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Informações que podem ser divulgadas publicamente sem causar danos à organização.</a:t>
            </a:r>
            <a:endParaRPr b="0" i="0" sz="1450" u="none" cap="none" strike="noStrike"/>
          </a:p>
        </p:txBody>
      </p:sp>
      <p:sp>
        <p:nvSpPr>
          <p:cNvPr id="150" name="Google Shape;150;p22"/>
          <p:cNvSpPr/>
          <p:nvPr/>
        </p:nvSpPr>
        <p:spPr>
          <a:xfrm>
            <a:off x="7409617" y="2709743"/>
            <a:ext cx="188952" cy="236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724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50"/>
              <a:buFont typeface="Montserrat"/>
              <a:buNone/>
            </a:pPr>
            <a:r>
              <a:rPr b="0" i="0" lang="en-US" sz="145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0" i="0" sz="1450" u="none" cap="none" strike="noStrike"/>
          </a:p>
        </p:txBody>
      </p:sp>
      <p:sp>
        <p:nvSpPr>
          <p:cNvPr id="151" name="Google Shape;151;p22"/>
          <p:cNvSpPr/>
          <p:nvPr/>
        </p:nvSpPr>
        <p:spPr>
          <a:xfrm>
            <a:off x="7409617" y="3007995"/>
            <a:ext cx="6035635" cy="22860"/>
          </a:xfrm>
          <a:prstGeom prst="rect">
            <a:avLst/>
          </a:prstGeom>
          <a:solidFill>
            <a:srgbClr val="2D2E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2"/>
          <p:cNvSpPr/>
          <p:nvPr/>
        </p:nvSpPr>
        <p:spPr>
          <a:xfrm>
            <a:off x="7409617" y="3148132"/>
            <a:ext cx="2147649" cy="268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50"/>
              <a:buFont typeface="Montserrat"/>
              <a:buNone/>
            </a:pPr>
            <a:r>
              <a:rPr b="1" i="0" lang="en-US" sz="165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Interno</a:t>
            </a:r>
            <a:endParaRPr b="0" i="0" sz="1650" u="none" cap="none" strike="noStrike"/>
          </a:p>
        </p:txBody>
      </p:sp>
      <p:sp>
        <p:nvSpPr>
          <p:cNvPr id="153" name="Google Shape;153;p22"/>
          <p:cNvSpPr/>
          <p:nvPr/>
        </p:nvSpPr>
        <p:spPr>
          <a:xfrm>
            <a:off x="7409617" y="3529965"/>
            <a:ext cx="6035635" cy="283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724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50"/>
              <a:buFont typeface="Source Sans 3"/>
              <a:buNone/>
            </a:pPr>
            <a:r>
              <a:rPr b="0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Dados para uso interno da organização, mas não confidenciais.</a:t>
            </a:r>
            <a:endParaRPr b="0" i="0" sz="1450" u="none" cap="none" strike="noStrike"/>
          </a:p>
        </p:txBody>
      </p:sp>
      <p:sp>
        <p:nvSpPr>
          <p:cNvPr id="154" name="Google Shape;154;p22"/>
          <p:cNvSpPr/>
          <p:nvPr/>
        </p:nvSpPr>
        <p:spPr>
          <a:xfrm>
            <a:off x="1185029" y="4427339"/>
            <a:ext cx="188952" cy="236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724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50"/>
              <a:buFont typeface="Montserrat"/>
              <a:buNone/>
            </a:pPr>
            <a:r>
              <a:rPr b="0" i="0" lang="en-US" sz="145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0" i="0" sz="1450" u="none" cap="none" strike="noStrike"/>
          </a:p>
        </p:txBody>
      </p:sp>
      <p:sp>
        <p:nvSpPr>
          <p:cNvPr id="155" name="Google Shape;155;p22"/>
          <p:cNvSpPr/>
          <p:nvPr/>
        </p:nvSpPr>
        <p:spPr>
          <a:xfrm>
            <a:off x="1185029" y="4725591"/>
            <a:ext cx="6035635" cy="22860"/>
          </a:xfrm>
          <a:prstGeom prst="rect">
            <a:avLst/>
          </a:prstGeom>
          <a:solidFill>
            <a:srgbClr val="2D2E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2"/>
          <p:cNvSpPr/>
          <p:nvPr/>
        </p:nvSpPr>
        <p:spPr>
          <a:xfrm>
            <a:off x="1185029" y="4865727"/>
            <a:ext cx="2147649" cy="268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50"/>
              <a:buFont typeface="Montserrat"/>
              <a:buNone/>
            </a:pPr>
            <a:r>
              <a:rPr b="1" i="0" lang="en-US" sz="165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Confidencial</a:t>
            </a:r>
            <a:endParaRPr b="0" i="0" sz="1650" u="none" cap="none" strike="noStrike"/>
          </a:p>
        </p:txBody>
      </p:sp>
      <p:sp>
        <p:nvSpPr>
          <p:cNvPr id="157" name="Google Shape;157;p22"/>
          <p:cNvSpPr/>
          <p:nvPr/>
        </p:nvSpPr>
        <p:spPr>
          <a:xfrm>
            <a:off x="1185029" y="5247561"/>
            <a:ext cx="6035635" cy="283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724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50"/>
              <a:buFont typeface="Source Sans 3"/>
              <a:buNone/>
            </a:pPr>
            <a:r>
              <a:rPr b="0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Informações sensíveis que requerem proteção especial.</a:t>
            </a:r>
            <a:endParaRPr b="0" i="0" sz="1450" u="none" cap="none" strike="noStrike"/>
          </a:p>
        </p:txBody>
      </p:sp>
      <p:sp>
        <p:nvSpPr>
          <p:cNvPr id="158" name="Google Shape;158;p22"/>
          <p:cNvSpPr/>
          <p:nvPr/>
        </p:nvSpPr>
        <p:spPr>
          <a:xfrm>
            <a:off x="7409617" y="4427339"/>
            <a:ext cx="188952" cy="236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724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50"/>
              <a:buFont typeface="Montserrat"/>
              <a:buNone/>
            </a:pPr>
            <a:r>
              <a:rPr b="0" i="0" lang="en-US" sz="145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b="0" i="0" sz="1450" u="none" cap="none" strike="noStrike"/>
          </a:p>
        </p:txBody>
      </p:sp>
      <p:sp>
        <p:nvSpPr>
          <p:cNvPr id="159" name="Google Shape;159;p22"/>
          <p:cNvSpPr/>
          <p:nvPr/>
        </p:nvSpPr>
        <p:spPr>
          <a:xfrm>
            <a:off x="7409617" y="4725591"/>
            <a:ext cx="6035635" cy="22860"/>
          </a:xfrm>
          <a:prstGeom prst="rect">
            <a:avLst/>
          </a:prstGeom>
          <a:solidFill>
            <a:srgbClr val="2D2E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2"/>
          <p:cNvSpPr/>
          <p:nvPr/>
        </p:nvSpPr>
        <p:spPr>
          <a:xfrm>
            <a:off x="7409617" y="4865727"/>
            <a:ext cx="2147649" cy="268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50"/>
              <a:buFont typeface="Montserrat"/>
              <a:buNone/>
            </a:pPr>
            <a:r>
              <a:rPr b="1" i="0" lang="en-US" sz="165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Restrito</a:t>
            </a:r>
            <a:endParaRPr b="0" i="0" sz="1650" u="none" cap="none" strike="noStrike"/>
          </a:p>
        </p:txBody>
      </p:sp>
      <p:sp>
        <p:nvSpPr>
          <p:cNvPr id="161" name="Google Shape;161;p22"/>
          <p:cNvSpPr/>
          <p:nvPr/>
        </p:nvSpPr>
        <p:spPr>
          <a:xfrm>
            <a:off x="7409617" y="5247561"/>
            <a:ext cx="6035635" cy="283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724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50"/>
              <a:buFont typeface="Source Sans 3"/>
              <a:buNone/>
            </a:pPr>
            <a:r>
              <a:rPr b="0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Dados altamente sensíveis com acesso extremamente limitado.</a:t>
            </a:r>
            <a:endParaRPr b="0" i="0" sz="1450" u="none" cap="none" strike="noStrike"/>
          </a:p>
        </p:txBody>
      </p:sp>
      <p:sp>
        <p:nvSpPr>
          <p:cNvPr id="162" name="Google Shape;162;p22"/>
          <p:cNvSpPr/>
          <p:nvPr/>
        </p:nvSpPr>
        <p:spPr>
          <a:xfrm>
            <a:off x="1185029" y="5885140"/>
            <a:ext cx="12260223" cy="283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724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50"/>
              <a:buFont typeface="Source Sans 3"/>
              <a:buNone/>
            </a:pPr>
            <a:r>
              <a:rPr b="1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Exemplos de Conteúdo:</a:t>
            </a:r>
            <a:endParaRPr b="0" i="0" sz="1450" u="none" cap="none" strike="noStrike"/>
          </a:p>
        </p:txBody>
      </p:sp>
      <p:sp>
        <p:nvSpPr>
          <p:cNvPr id="163" name="Google Shape;163;p22"/>
          <p:cNvSpPr/>
          <p:nvPr/>
        </p:nvSpPr>
        <p:spPr>
          <a:xfrm>
            <a:off x="1185029" y="6381036"/>
            <a:ext cx="12260223" cy="283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1724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50"/>
              <a:buFont typeface="Source Sans 3"/>
              <a:buChar char="•"/>
            </a:pPr>
            <a:r>
              <a:rPr b="0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Definição de classes de dados (ex: Público, Interno, Confidencial, Restrito).</a:t>
            </a:r>
            <a:endParaRPr b="0" i="0" sz="1450" u="none" cap="none" strike="noStrike"/>
          </a:p>
        </p:txBody>
      </p:sp>
      <p:sp>
        <p:nvSpPr>
          <p:cNvPr id="164" name="Google Shape;164;p22"/>
          <p:cNvSpPr/>
          <p:nvPr/>
        </p:nvSpPr>
        <p:spPr>
          <a:xfrm>
            <a:off x="1185029" y="6730484"/>
            <a:ext cx="12260223" cy="283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1724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50"/>
              <a:buFont typeface="Source Sans 3"/>
              <a:buChar char="•"/>
            </a:pPr>
            <a:r>
              <a:rPr b="0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Critérios para a classificação (legal, financeiro, estratégico).</a:t>
            </a:r>
            <a:endParaRPr b="0" i="0" sz="1450" u="none" cap="none" strike="noStrike"/>
          </a:p>
        </p:txBody>
      </p:sp>
      <p:sp>
        <p:nvSpPr>
          <p:cNvPr id="165" name="Google Shape;165;p22"/>
          <p:cNvSpPr/>
          <p:nvPr/>
        </p:nvSpPr>
        <p:spPr>
          <a:xfrm>
            <a:off x="1185029" y="7079933"/>
            <a:ext cx="12260223" cy="283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1724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50"/>
              <a:buFont typeface="Source Sans 3"/>
              <a:buChar char="•"/>
            </a:pPr>
            <a:r>
              <a:rPr b="0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Requisitos de manuseio, armazenamento e descarte para cada categoria.</a:t>
            </a:r>
            <a:endParaRPr b="0" i="0" sz="1450" u="none" cap="none" strike="noStrike"/>
          </a:p>
        </p:txBody>
      </p:sp>
      <p:sp>
        <p:nvSpPr>
          <p:cNvPr id="166" name="Google Shape;166;p22"/>
          <p:cNvSpPr/>
          <p:nvPr/>
        </p:nvSpPr>
        <p:spPr>
          <a:xfrm>
            <a:off x="1185029" y="7429381"/>
            <a:ext cx="12260223" cy="283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1724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50"/>
              <a:buFont typeface="Source Sans 3"/>
              <a:buChar char="•"/>
            </a:pPr>
            <a:r>
              <a:rPr b="0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Responsabilidades dos proprietários dos dados.</a:t>
            </a:r>
            <a:endParaRPr b="0" i="0" sz="14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/>
          <p:nvPr/>
        </p:nvSpPr>
        <p:spPr>
          <a:xfrm>
            <a:off x="1185029" y="1304449"/>
            <a:ext cx="11726585" cy="701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Montserrat"/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Política de Segurança Física e Ambiental</a:t>
            </a:r>
            <a:endParaRPr b="0" i="0" sz="4400" u="none" cap="none" strike="noStrike"/>
          </a:p>
        </p:txBody>
      </p:sp>
      <p:sp>
        <p:nvSpPr>
          <p:cNvPr id="173" name="Google Shape;173;p23"/>
          <p:cNvSpPr/>
          <p:nvPr/>
        </p:nvSpPr>
        <p:spPr>
          <a:xfrm>
            <a:off x="1185029" y="2499598"/>
            <a:ext cx="12260223" cy="740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Source Sans 3"/>
              <a:buNone/>
            </a:pPr>
            <a:r>
              <a:rPr b="1" i="0" lang="en-US" sz="1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O que é:</a:t>
            </a:r>
            <a:r>
              <a:rPr b="0" i="0" lang="en-US" sz="1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Define as medidas para proteger fisicamente os ativos de informação, como servidores, data centers e estações de trabalho.</a:t>
            </a:r>
            <a:endParaRPr b="0" i="0" sz="1900" u="none" cap="none" strike="noStrike"/>
          </a:p>
        </p:txBody>
      </p:sp>
      <p:sp>
        <p:nvSpPr>
          <p:cNvPr id="174" name="Google Shape;174;p23"/>
          <p:cNvSpPr/>
          <p:nvPr/>
        </p:nvSpPr>
        <p:spPr>
          <a:xfrm>
            <a:off x="1185029" y="3518059"/>
            <a:ext cx="12260223" cy="740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Source Sans 3"/>
              <a:buNone/>
            </a:pPr>
            <a:r>
              <a:rPr b="1" i="0" lang="en-US" sz="1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Objetivo:</a:t>
            </a:r>
            <a:r>
              <a:rPr b="0" i="0" lang="en-US" sz="1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Prevenir danos, roubo ou acesso não autorizado a equipamentos e locais onde a informação está armazenada.</a:t>
            </a:r>
            <a:endParaRPr b="0" i="0" sz="1900" u="none" cap="none" strike="noStrike"/>
          </a:p>
        </p:txBody>
      </p:sp>
      <p:sp>
        <p:nvSpPr>
          <p:cNvPr id="175" name="Google Shape;175;p23"/>
          <p:cNvSpPr/>
          <p:nvPr/>
        </p:nvSpPr>
        <p:spPr>
          <a:xfrm>
            <a:off x="1185029" y="4536519"/>
            <a:ext cx="12260223" cy="37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Source Sans 3"/>
              <a:buNone/>
            </a:pPr>
            <a:r>
              <a:rPr b="1" i="0" lang="en-US" sz="1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Exemplos de Conteúdo:</a:t>
            </a:r>
            <a:endParaRPr b="0" i="0" sz="1900" u="none" cap="none" strike="noStrike"/>
          </a:p>
        </p:txBody>
      </p:sp>
      <p:sp>
        <p:nvSpPr>
          <p:cNvPr id="176" name="Google Shape;176;p23"/>
          <p:cNvSpPr/>
          <p:nvPr/>
        </p:nvSpPr>
        <p:spPr>
          <a:xfrm>
            <a:off x="1185029" y="5184577"/>
            <a:ext cx="12260223" cy="37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Source Sans 3"/>
              <a:buChar char="•"/>
            </a:pPr>
            <a:r>
              <a:rPr b="0" i="0" lang="en-US" sz="1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Controle de acesso a áreas restritas (catracas, biometria).</a:t>
            </a:r>
            <a:endParaRPr b="0" i="0" sz="1900" u="none" cap="none" strike="noStrike"/>
          </a:p>
        </p:txBody>
      </p:sp>
      <p:sp>
        <p:nvSpPr>
          <p:cNvPr id="177" name="Google Shape;177;p23"/>
          <p:cNvSpPr/>
          <p:nvPr/>
        </p:nvSpPr>
        <p:spPr>
          <a:xfrm>
            <a:off x="1185029" y="5641300"/>
            <a:ext cx="12260223" cy="37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Source Sans 3"/>
              <a:buChar char="•"/>
            </a:pPr>
            <a:r>
              <a:rPr b="0" i="0" lang="en-US" sz="1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Requisitos para sistemas de vigilância (câmeras).</a:t>
            </a:r>
            <a:endParaRPr b="0" i="0" sz="1900" u="none" cap="none" strike="noStrike"/>
          </a:p>
        </p:txBody>
      </p:sp>
      <p:sp>
        <p:nvSpPr>
          <p:cNvPr id="178" name="Google Shape;178;p23"/>
          <p:cNvSpPr/>
          <p:nvPr/>
        </p:nvSpPr>
        <p:spPr>
          <a:xfrm>
            <a:off x="1185029" y="6098024"/>
            <a:ext cx="12260223" cy="37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Source Sans 3"/>
              <a:buChar char="•"/>
            </a:pPr>
            <a:r>
              <a:rPr b="0" i="0" lang="en-US" sz="1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Medidas contra incêndios (extintores, detectores), inundações e superaquecimento.</a:t>
            </a:r>
            <a:endParaRPr b="0" i="0" sz="1900" u="none" cap="none" strike="noStrike"/>
          </a:p>
        </p:txBody>
      </p:sp>
      <p:sp>
        <p:nvSpPr>
          <p:cNvPr id="179" name="Google Shape;179;p23"/>
          <p:cNvSpPr/>
          <p:nvPr/>
        </p:nvSpPr>
        <p:spPr>
          <a:xfrm>
            <a:off x="1185029" y="6554748"/>
            <a:ext cx="12260223" cy="37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Source Sans 3"/>
              <a:buChar char="•"/>
            </a:pPr>
            <a:r>
              <a:rPr b="0" i="0" lang="en-US" sz="1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Regras para acesso de visitantes e terceiros.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4"/>
          <p:cNvSpPr/>
          <p:nvPr/>
        </p:nvSpPr>
        <p:spPr>
          <a:xfrm>
            <a:off x="1185029" y="498157"/>
            <a:ext cx="6795968" cy="514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5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Montserrat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Política de Gestão de Incidentes</a:t>
            </a:r>
            <a:endParaRPr b="0" i="0" sz="3200" u="none" cap="none" strike="noStrike"/>
          </a:p>
        </p:txBody>
      </p:sp>
      <p:sp>
        <p:nvSpPr>
          <p:cNvPr id="186" name="Google Shape;186;p24"/>
          <p:cNvSpPr/>
          <p:nvPr/>
        </p:nvSpPr>
        <p:spPr>
          <a:xfrm>
            <a:off x="1185029" y="1375053"/>
            <a:ext cx="12260223" cy="271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None/>
            </a:pPr>
            <a:r>
              <a:rPr b="1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O que é:</a:t>
            </a: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Estabelece os procedimentos para identificar, analisar, conter, erradicar e recuperar-se de incidentes de segurança.</a:t>
            </a:r>
            <a:endParaRPr b="0" i="0" sz="1400" u="none" cap="none" strike="noStrike"/>
          </a:p>
        </p:txBody>
      </p:sp>
      <p:sp>
        <p:nvSpPr>
          <p:cNvPr id="187" name="Google Shape;187;p24"/>
          <p:cNvSpPr/>
          <p:nvPr/>
        </p:nvSpPr>
        <p:spPr>
          <a:xfrm>
            <a:off x="1185029" y="1850588"/>
            <a:ext cx="12260223" cy="271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None/>
            </a:pPr>
            <a:r>
              <a:rPr b="1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Objetivo:</a:t>
            </a: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Minimizar o impacto de um incidente, garantir uma resposta rápida e eficaz e aprender com o evento para prevenir futuras ocorrências.</a:t>
            </a:r>
            <a:endParaRPr b="0" i="0" sz="1400" u="none" cap="none" strike="noStrike"/>
          </a:p>
        </p:txBody>
      </p:sp>
      <p:pic>
        <p:nvPicPr>
          <p:cNvPr descr="preencoded.png" id="188" name="Google Shape;18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5029" y="2326124"/>
            <a:ext cx="6130052" cy="724614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4"/>
          <p:cNvSpPr/>
          <p:nvPr/>
        </p:nvSpPr>
        <p:spPr>
          <a:xfrm>
            <a:off x="1366123" y="3231833"/>
            <a:ext cx="2058591" cy="257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Identificação</a:t>
            </a:r>
            <a:endParaRPr b="0" i="0" sz="1600" u="none" cap="none" strike="noStrike"/>
          </a:p>
        </p:txBody>
      </p:sp>
      <p:sp>
        <p:nvSpPr>
          <p:cNvPr id="190" name="Google Shape;190;p24"/>
          <p:cNvSpPr/>
          <p:nvPr/>
        </p:nvSpPr>
        <p:spPr>
          <a:xfrm>
            <a:off x="1366123" y="3597712"/>
            <a:ext cx="5767864" cy="271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None/>
            </a:pP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Detectar e reconhecer incidentes de segurança</a:t>
            </a:r>
            <a:endParaRPr b="0" i="0" sz="1400" u="none" cap="none" strike="noStrike"/>
          </a:p>
        </p:txBody>
      </p:sp>
      <p:pic>
        <p:nvPicPr>
          <p:cNvPr descr="preencoded.png" id="191" name="Google Shape;19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081" y="2326124"/>
            <a:ext cx="6130171" cy="724614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4"/>
          <p:cNvSpPr/>
          <p:nvPr/>
        </p:nvSpPr>
        <p:spPr>
          <a:xfrm>
            <a:off x="7496175" y="3231833"/>
            <a:ext cx="2058591" cy="257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Contenção</a:t>
            </a:r>
            <a:endParaRPr b="0" i="0" sz="1600" u="none" cap="none" strike="noStrike"/>
          </a:p>
        </p:txBody>
      </p:sp>
      <p:sp>
        <p:nvSpPr>
          <p:cNvPr id="193" name="Google Shape;193;p24"/>
          <p:cNvSpPr/>
          <p:nvPr/>
        </p:nvSpPr>
        <p:spPr>
          <a:xfrm>
            <a:off x="7496175" y="3597712"/>
            <a:ext cx="5767983" cy="271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None/>
            </a:pP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Isolar e limitar o impacto do incidente</a:t>
            </a:r>
            <a:endParaRPr b="0" i="0" sz="1400" u="none" cap="none" strike="noStrike"/>
          </a:p>
        </p:txBody>
      </p:sp>
      <p:pic>
        <p:nvPicPr>
          <p:cNvPr descr="preencoded.png" id="194" name="Google Shape;19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5029" y="4050625"/>
            <a:ext cx="6130052" cy="724614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4"/>
          <p:cNvSpPr/>
          <p:nvPr/>
        </p:nvSpPr>
        <p:spPr>
          <a:xfrm>
            <a:off x="1366123" y="4956334"/>
            <a:ext cx="2058591" cy="257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Erradicação</a:t>
            </a:r>
            <a:endParaRPr b="0" i="0" sz="1600" u="none" cap="none" strike="noStrike"/>
          </a:p>
        </p:txBody>
      </p:sp>
      <p:sp>
        <p:nvSpPr>
          <p:cNvPr id="196" name="Google Shape;196;p24"/>
          <p:cNvSpPr/>
          <p:nvPr/>
        </p:nvSpPr>
        <p:spPr>
          <a:xfrm>
            <a:off x="1366123" y="5322213"/>
            <a:ext cx="5767864" cy="271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None/>
            </a:pP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Eliminar a causa raiz do problema</a:t>
            </a:r>
            <a:endParaRPr b="0" i="0" sz="1400" u="none" cap="none" strike="noStrike"/>
          </a:p>
        </p:txBody>
      </p:sp>
      <p:pic>
        <p:nvPicPr>
          <p:cNvPr descr="preencoded.png" id="197" name="Google Shape;197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15081" y="4050625"/>
            <a:ext cx="6130171" cy="72461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4"/>
          <p:cNvSpPr/>
          <p:nvPr/>
        </p:nvSpPr>
        <p:spPr>
          <a:xfrm>
            <a:off x="7496175" y="4956334"/>
            <a:ext cx="2058591" cy="257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Recuperação</a:t>
            </a:r>
            <a:endParaRPr b="0" i="0" sz="1600" u="none" cap="none" strike="noStrike"/>
          </a:p>
        </p:txBody>
      </p:sp>
      <p:sp>
        <p:nvSpPr>
          <p:cNvPr id="199" name="Google Shape;199;p24"/>
          <p:cNvSpPr/>
          <p:nvPr/>
        </p:nvSpPr>
        <p:spPr>
          <a:xfrm>
            <a:off x="7496175" y="5322213"/>
            <a:ext cx="5767983" cy="271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None/>
            </a:pP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Restaurar sistemas e operações normais</a:t>
            </a:r>
            <a:endParaRPr b="0" i="0" sz="1400" u="none" cap="none" strike="noStrike"/>
          </a:p>
        </p:txBody>
      </p:sp>
      <p:sp>
        <p:nvSpPr>
          <p:cNvPr id="200" name="Google Shape;200;p24"/>
          <p:cNvSpPr/>
          <p:nvPr/>
        </p:nvSpPr>
        <p:spPr>
          <a:xfrm>
            <a:off x="1185029" y="5978843"/>
            <a:ext cx="12260223" cy="271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None/>
            </a:pPr>
            <a:r>
              <a:rPr b="1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Exemplos de Conteúdo:</a:t>
            </a:r>
            <a:endParaRPr b="0" i="0" sz="1400" u="none" cap="none" strike="noStrike"/>
          </a:p>
        </p:txBody>
      </p:sp>
      <p:sp>
        <p:nvSpPr>
          <p:cNvPr id="201" name="Google Shape;201;p24"/>
          <p:cNvSpPr/>
          <p:nvPr/>
        </p:nvSpPr>
        <p:spPr>
          <a:xfrm>
            <a:off x="1185029" y="6454378"/>
            <a:ext cx="12260223" cy="271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Char char="•"/>
            </a:pP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Definição clara de "incidente de segurança".</a:t>
            </a:r>
            <a:endParaRPr b="0" i="0" sz="1400" u="none" cap="none" strike="noStrike"/>
          </a:p>
        </p:txBody>
      </p:sp>
      <p:sp>
        <p:nvSpPr>
          <p:cNvPr id="202" name="Google Shape;202;p24"/>
          <p:cNvSpPr/>
          <p:nvPr/>
        </p:nvSpPr>
        <p:spPr>
          <a:xfrm>
            <a:off x="1185029" y="6789539"/>
            <a:ext cx="12260223" cy="271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Char char="•"/>
            </a:pP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Papéis e responsabilidades da equipe de resposta a incidentes.</a:t>
            </a:r>
            <a:endParaRPr b="0" i="0" sz="1400" u="none" cap="none" strike="noStrike"/>
          </a:p>
        </p:txBody>
      </p:sp>
      <p:sp>
        <p:nvSpPr>
          <p:cNvPr id="203" name="Google Shape;203;p24"/>
          <p:cNvSpPr/>
          <p:nvPr/>
        </p:nvSpPr>
        <p:spPr>
          <a:xfrm>
            <a:off x="1185029" y="7124700"/>
            <a:ext cx="12260223" cy="271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Char char="•"/>
            </a:pP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Plano de comunicação durante e após o incidente.</a:t>
            </a:r>
            <a:endParaRPr b="0" i="0" sz="1400" u="none" cap="none" strike="noStrike"/>
          </a:p>
        </p:txBody>
      </p:sp>
      <p:sp>
        <p:nvSpPr>
          <p:cNvPr id="204" name="Google Shape;204;p24"/>
          <p:cNvSpPr/>
          <p:nvPr/>
        </p:nvSpPr>
        <p:spPr>
          <a:xfrm>
            <a:off x="1185029" y="7459861"/>
            <a:ext cx="12260223" cy="271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Char char="•"/>
            </a:pP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Procedimentos de análise forense e relatório pós-incidente.</a:t>
            </a:r>
            <a:endParaRPr b="0" i="0" sz="140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"/>
          <p:cNvSpPr/>
          <p:nvPr/>
        </p:nvSpPr>
        <p:spPr>
          <a:xfrm>
            <a:off x="1185029" y="602933"/>
            <a:ext cx="7987070" cy="572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ontserrat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Quadro Comparativo das Políticas</a:t>
            </a:r>
            <a:endParaRPr b="0" i="0" sz="3600" u="none" cap="none" strike="noStrike"/>
          </a:p>
        </p:txBody>
      </p:sp>
      <p:sp>
        <p:nvSpPr>
          <p:cNvPr id="211" name="Google Shape;211;p25"/>
          <p:cNvSpPr/>
          <p:nvPr/>
        </p:nvSpPr>
        <p:spPr>
          <a:xfrm>
            <a:off x="1185029" y="1578888"/>
            <a:ext cx="12260223" cy="6047661"/>
          </a:xfrm>
          <a:prstGeom prst="roundRect">
            <a:avLst>
              <a:gd fmla="val 500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5"/>
          <p:cNvSpPr/>
          <p:nvPr/>
        </p:nvSpPr>
        <p:spPr>
          <a:xfrm>
            <a:off x="1192649" y="1586508"/>
            <a:ext cx="12244983" cy="559475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5"/>
          <p:cNvSpPr/>
          <p:nvPr/>
        </p:nvSpPr>
        <p:spPr>
          <a:xfrm>
            <a:off x="1394341" y="1715095"/>
            <a:ext cx="2654260" cy="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61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550"/>
              <a:buFont typeface="Source Sans 3"/>
              <a:buNone/>
            </a:pPr>
            <a:r>
              <a:rPr b="1" i="0" lang="en-US" sz="15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Política</a:t>
            </a:r>
            <a:endParaRPr b="0" i="0" sz="1550" u="none" cap="none" strike="noStrike"/>
          </a:p>
        </p:txBody>
      </p:sp>
      <p:sp>
        <p:nvSpPr>
          <p:cNvPr id="214" name="Google Shape;214;p25"/>
          <p:cNvSpPr/>
          <p:nvPr/>
        </p:nvSpPr>
        <p:spPr>
          <a:xfrm>
            <a:off x="4459367" y="1715095"/>
            <a:ext cx="2650450" cy="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61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550"/>
              <a:buFont typeface="Source Sans 3"/>
              <a:buNone/>
            </a:pPr>
            <a:r>
              <a:rPr b="1" i="0" lang="en-US" sz="15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Objetivo Principal</a:t>
            </a:r>
            <a:endParaRPr b="0" i="0" sz="1550" u="none" cap="none" strike="noStrike"/>
          </a:p>
        </p:txBody>
      </p:sp>
      <p:sp>
        <p:nvSpPr>
          <p:cNvPr id="215" name="Google Shape;215;p25"/>
          <p:cNvSpPr/>
          <p:nvPr/>
        </p:nvSpPr>
        <p:spPr>
          <a:xfrm>
            <a:off x="7520583" y="1715095"/>
            <a:ext cx="2650450" cy="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61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550"/>
              <a:buFont typeface="Source Sans 3"/>
              <a:buNone/>
            </a:pPr>
            <a:r>
              <a:rPr b="1" i="0" lang="en-US" sz="15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Escopo</a:t>
            </a:r>
            <a:endParaRPr b="0" i="0" sz="1550" u="none" cap="none" strike="noStrike"/>
          </a:p>
        </p:txBody>
      </p:sp>
      <p:sp>
        <p:nvSpPr>
          <p:cNvPr id="216" name="Google Shape;216;p25"/>
          <p:cNvSpPr/>
          <p:nvPr/>
        </p:nvSpPr>
        <p:spPr>
          <a:xfrm>
            <a:off x="10581799" y="1715095"/>
            <a:ext cx="2654260" cy="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61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550"/>
              <a:buFont typeface="Source Sans 3"/>
              <a:buNone/>
            </a:pPr>
            <a:r>
              <a:rPr b="1" i="0" lang="en-US" sz="15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Componentes-Chave</a:t>
            </a:r>
            <a:endParaRPr b="0" i="0" sz="1550" u="none" cap="none" strike="noStrike"/>
          </a:p>
        </p:txBody>
      </p:sp>
      <p:sp>
        <p:nvSpPr>
          <p:cNvPr id="217" name="Google Shape;217;p25"/>
          <p:cNvSpPr/>
          <p:nvPr/>
        </p:nvSpPr>
        <p:spPr>
          <a:xfrm>
            <a:off x="1192649" y="2145983"/>
            <a:ext cx="12244983" cy="861774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5"/>
          <p:cNvSpPr/>
          <p:nvPr/>
        </p:nvSpPr>
        <p:spPr>
          <a:xfrm>
            <a:off x="1394341" y="2274570"/>
            <a:ext cx="2654260" cy="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612"/>
              </a:lnSpc>
              <a:spcBef>
                <a:spcPts val="0"/>
              </a:spcBef>
              <a:spcAft>
                <a:spcPts val="0"/>
              </a:spcAft>
              <a:buClr>
                <a:srgbClr val="2D2E34"/>
              </a:buClr>
              <a:buSzPts val="1550"/>
              <a:buFont typeface="Source Sans 3"/>
              <a:buNone/>
            </a:pPr>
            <a:r>
              <a:rPr b="1" i="0" lang="en-US" sz="1550" u="none" cap="none" strike="noStrike">
                <a:solidFill>
                  <a:srgbClr val="2D2E34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Controle de Acesso</a:t>
            </a:r>
            <a:endParaRPr b="0" i="0" sz="1550" u="none" cap="none" strike="noStrike"/>
          </a:p>
        </p:txBody>
      </p:sp>
      <p:sp>
        <p:nvSpPr>
          <p:cNvPr id="219" name="Google Shape;219;p25"/>
          <p:cNvSpPr/>
          <p:nvPr/>
        </p:nvSpPr>
        <p:spPr>
          <a:xfrm>
            <a:off x="4459367" y="2274570"/>
            <a:ext cx="2650450" cy="6045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61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550"/>
              <a:buFont typeface="Source Sans 3"/>
              <a:buNone/>
            </a:pPr>
            <a:r>
              <a:rPr b="0" i="0" lang="en-US" sz="15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Limitar quem pode acessar o quê.</a:t>
            </a:r>
            <a:endParaRPr b="0" i="0" sz="1550" u="none" cap="none" strike="noStrike"/>
          </a:p>
        </p:txBody>
      </p:sp>
      <p:sp>
        <p:nvSpPr>
          <p:cNvPr id="220" name="Google Shape;220;p25"/>
          <p:cNvSpPr/>
          <p:nvPr/>
        </p:nvSpPr>
        <p:spPr>
          <a:xfrm>
            <a:off x="7520583" y="2274570"/>
            <a:ext cx="2650450" cy="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61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550"/>
              <a:buFont typeface="Source Sans 3"/>
              <a:buNone/>
            </a:pPr>
            <a:r>
              <a:rPr b="0" i="0" lang="en-US" sz="15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Sistemas, redes, dados.</a:t>
            </a:r>
            <a:endParaRPr b="0" i="0" sz="1550" u="none" cap="none" strike="noStrike"/>
          </a:p>
        </p:txBody>
      </p:sp>
      <p:sp>
        <p:nvSpPr>
          <p:cNvPr id="221" name="Google Shape;221;p25"/>
          <p:cNvSpPr/>
          <p:nvPr/>
        </p:nvSpPr>
        <p:spPr>
          <a:xfrm>
            <a:off x="10581799" y="2274570"/>
            <a:ext cx="2654260" cy="6045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61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550"/>
              <a:buFont typeface="Source Sans 3"/>
              <a:buNone/>
            </a:pPr>
            <a:r>
              <a:rPr b="0" i="0" lang="en-US" sz="15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Papéis e privilégios, autenticação, senhas.</a:t>
            </a:r>
            <a:endParaRPr b="0" i="0" sz="1550" u="none" cap="none" strike="noStrike"/>
          </a:p>
        </p:txBody>
      </p:sp>
      <p:sp>
        <p:nvSpPr>
          <p:cNvPr id="222" name="Google Shape;222;p25"/>
          <p:cNvSpPr/>
          <p:nvPr/>
        </p:nvSpPr>
        <p:spPr>
          <a:xfrm>
            <a:off x="1192649" y="3007757"/>
            <a:ext cx="12244983" cy="1164074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5"/>
          <p:cNvSpPr/>
          <p:nvPr/>
        </p:nvSpPr>
        <p:spPr>
          <a:xfrm>
            <a:off x="1394341" y="3136344"/>
            <a:ext cx="2654260" cy="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612"/>
              </a:lnSpc>
              <a:spcBef>
                <a:spcPts val="0"/>
              </a:spcBef>
              <a:spcAft>
                <a:spcPts val="0"/>
              </a:spcAft>
              <a:buClr>
                <a:srgbClr val="2D2E34"/>
              </a:buClr>
              <a:buSzPts val="1550"/>
              <a:buFont typeface="Source Sans 3"/>
              <a:buNone/>
            </a:pPr>
            <a:r>
              <a:rPr b="1" i="0" lang="en-US" sz="1550" u="none" cap="none" strike="noStrike">
                <a:solidFill>
                  <a:srgbClr val="2D2E34"/>
                </a:solidFill>
                <a:latin typeface="Source Sans 3"/>
                <a:ea typeface="Source Sans 3"/>
                <a:cs typeface="Source Sans 3"/>
                <a:sym typeface="Source Sans 3"/>
              </a:rPr>
              <a:t>Backup e DRP</a:t>
            </a:r>
            <a:endParaRPr b="0" i="0" sz="1550" u="none" cap="none" strike="noStrike"/>
          </a:p>
        </p:txBody>
      </p:sp>
      <p:sp>
        <p:nvSpPr>
          <p:cNvPr id="224" name="Google Shape;224;p25"/>
          <p:cNvSpPr/>
          <p:nvPr/>
        </p:nvSpPr>
        <p:spPr>
          <a:xfrm>
            <a:off x="4459367" y="3136344"/>
            <a:ext cx="2650450" cy="6045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61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550"/>
              <a:buFont typeface="Source Sans 3"/>
              <a:buNone/>
            </a:pPr>
            <a:r>
              <a:rPr b="0" i="0" lang="en-US" sz="15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Garantir a continuidade dos negócios.</a:t>
            </a:r>
            <a:endParaRPr b="0" i="0" sz="1550" u="none" cap="none" strike="noStrike"/>
          </a:p>
        </p:txBody>
      </p:sp>
      <p:sp>
        <p:nvSpPr>
          <p:cNvPr id="225" name="Google Shape;225;p25"/>
          <p:cNvSpPr/>
          <p:nvPr/>
        </p:nvSpPr>
        <p:spPr>
          <a:xfrm>
            <a:off x="7520583" y="3136344"/>
            <a:ext cx="2650450" cy="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61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550"/>
              <a:buFont typeface="Source Sans 3"/>
              <a:buNone/>
            </a:pPr>
            <a:r>
              <a:rPr b="0" i="0" lang="en-US" sz="15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Dados e sistemas críticos.</a:t>
            </a:r>
            <a:endParaRPr b="0" i="0" sz="1550" u="none" cap="none" strike="noStrike"/>
          </a:p>
        </p:txBody>
      </p:sp>
      <p:sp>
        <p:nvSpPr>
          <p:cNvPr id="226" name="Google Shape;226;p25"/>
          <p:cNvSpPr/>
          <p:nvPr/>
        </p:nvSpPr>
        <p:spPr>
          <a:xfrm>
            <a:off x="10581799" y="3136344"/>
            <a:ext cx="2654260" cy="906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61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550"/>
              <a:buFont typeface="Source Sans 3"/>
              <a:buNone/>
            </a:pPr>
            <a:r>
              <a:rPr b="0" i="0" lang="en-US" sz="15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Frequência, tipo, armazenamento, testes de recuperação.</a:t>
            </a:r>
            <a:endParaRPr b="0" i="0" sz="1550" u="none" cap="none" strike="noStrike"/>
          </a:p>
        </p:txBody>
      </p:sp>
      <p:sp>
        <p:nvSpPr>
          <p:cNvPr id="227" name="Google Shape;227;p25"/>
          <p:cNvSpPr/>
          <p:nvPr/>
        </p:nvSpPr>
        <p:spPr>
          <a:xfrm>
            <a:off x="1192649" y="4171831"/>
            <a:ext cx="12244983" cy="861774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5"/>
          <p:cNvSpPr/>
          <p:nvPr/>
        </p:nvSpPr>
        <p:spPr>
          <a:xfrm>
            <a:off x="1394341" y="4300418"/>
            <a:ext cx="2654260" cy="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612"/>
              </a:lnSpc>
              <a:spcBef>
                <a:spcPts val="0"/>
              </a:spcBef>
              <a:spcAft>
                <a:spcPts val="0"/>
              </a:spcAft>
              <a:buClr>
                <a:srgbClr val="2D2E34"/>
              </a:buClr>
              <a:buSzPts val="1550"/>
              <a:buFont typeface="Source Sans 3"/>
              <a:buNone/>
            </a:pPr>
            <a:r>
              <a:rPr b="1" i="0" lang="en-US" sz="1550" u="none" cap="none" strike="noStrike">
                <a:solidFill>
                  <a:srgbClr val="2D2E34"/>
                </a:solidFill>
                <a:latin typeface="Source Sans 3"/>
                <a:ea typeface="Source Sans 3"/>
                <a:cs typeface="Source Sans 3"/>
                <a:sym typeface="Source Sans 3"/>
              </a:rPr>
              <a:t>Uso Aceitável</a:t>
            </a:r>
            <a:endParaRPr b="0" i="0" sz="1550" u="none" cap="none" strike="noStrike"/>
          </a:p>
        </p:txBody>
      </p:sp>
      <p:sp>
        <p:nvSpPr>
          <p:cNvPr id="229" name="Google Shape;229;p25"/>
          <p:cNvSpPr/>
          <p:nvPr/>
        </p:nvSpPr>
        <p:spPr>
          <a:xfrm>
            <a:off x="4459367" y="4300418"/>
            <a:ext cx="2650450" cy="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61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550"/>
              <a:buFont typeface="Source Sans 3"/>
              <a:buNone/>
            </a:pPr>
            <a:r>
              <a:rPr b="0" i="0" lang="en-US" sz="15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Proteger recursos e reputação.</a:t>
            </a:r>
            <a:endParaRPr b="0" i="0" sz="1550" u="none" cap="none" strike="noStrike"/>
          </a:p>
        </p:txBody>
      </p:sp>
      <p:sp>
        <p:nvSpPr>
          <p:cNvPr id="230" name="Google Shape;230;p25"/>
          <p:cNvSpPr/>
          <p:nvPr/>
        </p:nvSpPr>
        <p:spPr>
          <a:xfrm>
            <a:off x="7520583" y="4300418"/>
            <a:ext cx="2650450" cy="6045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61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550"/>
              <a:buFont typeface="Source Sans 3"/>
              <a:buNone/>
            </a:pPr>
            <a:r>
              <a:rPr b="0" i="0" lang="en-US" sz="15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Dispositivos e redes da organização.</a:t>
            </a:r>
            <a:endParaRPr b="0" i="0" sz="1550" u="none" cap="none" strike="noStrike"/>
          </a:p>
        </p:txBody>
      </p:sp>
      <p:sp>
        <p:nvSpPr>
          <p:cNvPr id="231" name="Google Shape;231;p25"/>
          <p:cNvSpPr/>
          <p:nvPr/>
        </p:nvSpPr>
        <p:spPr>
          <a:xfrm>
            <a:off x="10581799" y="4300418"/>
            <a:ext cx="2654260" cy="6045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61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550"/>
              <a:buFont typeface="Source Sans 3"/>
              <a:buNone/>
            </a:pPr>
            <a:r>
              <a:rPr b="0" i="0" lang="en-US" sz="15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Navegação na internet, e-mail, instalação de software.</a:t>
            </a:r>
            <a:endParaRPr b="0" i="0" sz="1550" u="none" cap="none" strike="noStrike"/>
          </a:p>
        </p:txBody>
      </p:sp>
      <p:sp>
        <p:nvSpPr>
          <p:cNvPr id="232" name="Google Shape;232;p25"/>
          <p:cNvSpPr/>
          <p:nvPr/>
        </p:nvSpPr>
        <p:spPr>
          <a:xfrm>
            <a:off x="1192649" y="5033605"/>
            <a:ext cx="12244983" cy="861774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5"/>
          <p:cNvSpPr/>
          <p:nvPr/>
        </p:nvSpPr>
        <p:spPr>
          <a:xfrm>
            <a:off x="1394341" y="5162193"/>
            <a:ext cx="2654260" cy="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612"/>
              </a:lnSpc>
              <a:spcBef>
                <a:spcPts val="0"/>
              </a:spcBef>
              <a:spcAft>
                <a:spcPts val="0"/>
              </a:spcAft>
              <a:buClr>
                <a:srgbClr val="2D2E34"/>
              </a:buClr>
              <a:buSzPts val="1550"/>
              <a:buFont typeface="Source Sans 3"/>
              <a:buNone/>
            </a:pPr>
            <a:r>
              <a:rPr b="1" i="0" lang="en-US" sz="1550" u="none" cap="none" strike="noStrike">
                <a:solidFill>
                  <a:srgbClr val="2D2E34"/>
                </a:solidFill>
                <a:latin typeface="Source Sans 3"/>
                <a:ea typeface="Source Sans 3"/>
                <a:cs typeface="Source Sans 3"/>
                <a:sym typeface="Source Sans 3"/>
              </a:rPr>
              <a:t>Classificação da Informação</a:t>
            </a:r>
            <a:endParaRPr b="0" i="0" sz="1550" u="none" cap="none" strike="noStrike"/>
          </a:p>
        </p:txBody>
      </p:sp>
      <p:sp>
        <p:nvSpPr>
          <p:cNvPr id="234" name="Google Shape;234;p25"/>
          <p:cNvSpPr/>
          <p:nvPr/>
        </p:nvSpPr>
        <p:spPr>
          <a:xfrm>
            <a:off x="4459367" y="5162193"/>
            <a:ext cx="2650450" cy="6045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61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550"/>
              <a:buFont typeface="Source Sans 3"/>
              <a:buNone/>
            </a:pPr>
            <a:r>
              <a:rPr b="0" i="0" lang="en-US" sz="15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Proteger dados com base em seu valor.</a:t>
            </a:r>
            <a:endParaRPr b="0" i="0" sz="1550" u="none" cap="none" strike="noStrike"/>
          </a:p>
        </p:txBody>
      </p:sp>
      <p:sp>
        <p:nvSpPr>
          <p:cNvPr id="235" name="Google Shape;235;p25"/>
          <p:cNvSpPr/>
          <p:nvPr/>
        </p:nvSpPr>
        <p:spPr>
          <a:xfrm>
            <a:off x="7520583" y="5162193"/>
            <a:ext cx="2650450" cy="6045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61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550"/>
              <a:buFont typeface="Source Sans 3"/>
              <a:buNone/>
            </a:pPr>
            <a:r>
              <a:rPr b="0" i="0" lang="en-US" sz="15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Todos os dados da organização.</a:t>
            </a:r>
            <a:endParaRPr b="0" i="0" sz="1550" u="none" cap="none" strike="noStrike"/>
          </a:p>
        </p:txBody>
      </p:sp>
      <p:sp>
        <p:nvSpPr>
          <p:cNvPr id="236" name="Google Shape;236;p25"/>
          <p:cNvSpPr/>
          <p:nvPr/>
        </p:nvSpPr>
        <p:spPr>
          <a:xfrm>
            <a:off x="10581799" y="5162193"/>
            <a:ext cx="2654260" cy="6045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61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550"/>
              <a:buFont typeface="Source Sans 3"/>
              <a:buNone/>
            </a:pPr>
            <a:r>
              <a:rPr b="0" i="0" lang="en-US" sz="15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Categorias de sensibilidade, manuseio, descarte.</a:t>
            </a:r>
            <a:endParaRPr b="0" i="0" sz="1550" u="none" cap="none" strike="noStrike"/>
          </a:p>
        </p:txBody>
      </p:sp>
      <p:sp>
        <p:nvSpPr>
          <p:cNvPr id="237" name="Google Shape;237;p25"/>
          <p:cNvSpPr/>
          <p:nvPr/>
        </p:nvSpPr>
        <p:spPr>
          <a:xfrm>
            <a:off x="1192649" y="5895380"/>
            <a:ext cx="12244983" cy="861774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5"/>
          <p:cNvSpPr/>
          <p:nvPr/>
        </p:nvSpPr>
        <p:spPr>
          <a:xfrm>
            <a:off x="1394341" y="6023967"/>
            <a:ext cx="2654260" cy="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612"/>
              </a:lnSpc>
              <a:spcBef>
                <a:spcPts val="0"/>
              </a:spcBef>
              <a:spcAft>
                <a:spcPts val="0"/>
              </a:spcAft>
              <a:buClr>
                <a:srgbClr val="2D2E34"/>
              </a:buClr>
              <a:buSzPts val="1550"/>
              <a:buFont typeface="Source Sans 3"/>
              <a:buNone/>
            </a:pPr>
            <a:r>
              <a:rPr b="1" i="0" lang="en-US" sz="1550" u="none" cap="none" strike="noStrike">
                <a:solidFill>
                  <a:srgbClr val="2D2E34"/>
                </a:solidFill>
                <a:latin typeface="Source Sans 3"/>
                <a:ea typeface="Source Sans 3"/>
                <a:cs typeface="Source Sans 3"/>
                <a:sym typeface="Source Sans 3"/>
              </a:rPr>
              <a:t>Segurança Física</a:t>
            </a:r>
            <a:endParaRPr b="0" i="0" sz="1550" u="none" cap="none" strike="noStrike"/>
          </a:p>
        </p:txBody>
      </p:sp>
      <p:sp>
        <p:nvSpPr>
          <p:cNvPr id="239" name="Google Shape;239;p25"/>
          <p:cNvSpPr/>
          <p:nvPr/>
        </p:nvSpPr>
        <p:spPr>
          <a:xfrm>
            <a:off x="4459367" y="6023967"/>
            <a:ext cx="2650450" cy="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61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550"/>
              <a:buFont typeface="Source Sans 3"/>
              <a:buNone/>
            </a:pPr>
            <a:r>
              <a:rPr b="0" i="0" lang="en-US" sz="15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Proteger ativos físicos.</a:t>
            </a:r>
            <a:endParaRPr b="0" i="0" sz="1550" u="none" cap="none" strike="noStrike"/>
          </a:p>
        </p:txBody>
      </p:sp>
      <p:sp>
        <p:nvSpPr>
          <p:cNvPr id="240" name="Google Shape;240;p25"/>
          <p:cNvSpPr/>
          <p:nvPr/>
        </p:nvSpPr>
        <p:spPr>
          <a:xfrm>
            <a:off x="7520583" y="6023967"/>
            <a:ext cx="2650450" cy="6045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61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550"/>
              <a:buFont typeface="Source Sans 3"/>
              <a:buNone/>
            </a:pPr>
            <a:r>
              <a:rPr b="0" i="0" lang="en-US" sz="15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Data centers, servidores, salas de TI, estações de trabalho.</a:t>
            </a:r>
            <a:endParaRPr b="0" i="0" sz="1550" u="none" cap="none" strike="noStrike"/>
          </a:p>
        </p:txBody>
      </p:sp>
      <p:sp>
        <p:nvSpPr>
          <p:cNvPr id="241" name="Google Shape;241;p25"/>
          <p:cNvSpPr/>
          <p:nvPr/>
        </p:nvSpPr>
        <p:spPr>
          <a:xfrm>
            <a:off x="10581799" y="6023967"/>
            <a:ext cx="2654260" cy="6045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61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550"/>
              <a:buFont typeface="Source Sans 3"/>
              <a:buNone/>
            </a:pPr>
            <a:r>
              <a:rPr b="0" i="0" lang="en-US" sz="15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Acesso físico, vigilância, controle ambiental.</a:t>
            </a:r>
            <a:endParaRPr b="0" i="0" sz="1550" u="none" cap="none" strike="noStrike"/>
          </a:p>
        </p:txBody>
      </p:sp>
      <p:sp>
        <p:nvSpPr>
          <p:cNvPr id="242" name="Google Shape;242;p25"/>
          <p:cNvSpPr/>
          <p:nvPr/>
        </p:nvSpPr>
        <p:spPr>
          <a:xfrm>
            <a:off x="1192649" y="6757154"/>
            <a:ext cx="12244983" cy="861774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5"/>
          <p:cNvSpPr/>
          <p:nvPr/>
        </p:nvSpPr>
        <p:spPr>
          <a:xfrm>
            <a:off x="1394341" y="6885742"/>
            <a:ext cx="2654260" cy="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612"/>
              </a:lnSpc>
              <a:spcBef>
                <a:spcPts val="0"/>
              </a:spcBef>
              <a:spcAft>
                <a:spcPts val="0"/>
              </a:spcAft>
              <a:buClr>
                <a:srgbClr val="2D2E34"/>
              </a:buClr>
              <a:buSzPts val="1550"/>
              <a:buFont typeface="Source Sans 3"/>
              <a:buNone/>
            </a:pPr>
            <a:r>
              <a:rPr b="1" i="0" lang="en-US" sz="1550" u="none" cap="none" strike="noStrike">
                <a:solidFill>
                  <a:srgbClr val="2D2E34"/>
                </a:solidFill>
                <a:latin typeface="Source Sans 3"/>
                <a:ea typeface="Source Sans 3"/>
                <a:cs typeface="Source Sans 3"/>
                <a:sym typeface="Source Sans 3"/>
              </a:rPr>
              <a:t>Gestão de Incidentes</a:t>
            </a:r>
            <a:endParaRPr b="0" i="0" sz="1550" u="none" cap="none" strike="noStrike"/>
          </a:p>
        </p:txBody>
      </p:sp>
      <p:sp>
        <p:nvSpPr>
          <p:cNvPr id="244" name="Google Shape;244;p25"/>
          <p:cNvSpPr/>
          <p:nvPr/>
        </p:nvSpPr>
        <p:spPr>
          <a:xfrm>
            <a:off x="4459367" y="6885742"/>
            <a:ext cx="2650450" cy="6045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61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550"/>
              <a:buFont typeface="Source Sans 3"/>
              <a:buNone/>
            </a:pPr>
            <a:r>
              <a:rPr b="0" i="0" lang="en-US" sz="15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Minimizar o impacto de um ataque.</a:t>
            </a:r>
            <a:endParaRPr b="0" i="0" sz="1550" u="none" cap="none" strike="noStrike"/>
          </a:p>
        </p:txBody>
      </p:sp>
      <p:sp>
        <p:nvSpPr>
          <p:cNvPr id="245" name="Google Shape;245;p25"/>
          <p:cNvSpPr/>
          <p:nvPr/>
        </p:nvSpPr>
        <p:spPr>
          <a:xfrm>
            <a:off x="7520583" y="6885742"/>
            <a:ext cx="2650450" cy="6045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61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550"/>
              <a:buFont typeface="Source Sans 3"/>
              <a:buNone/>
            </a:pPr>
            <a:r>
              <a:rPr b="0" i="0" lang="en-US" sz="15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Eventos de segurança, de violações a falhas.</a:t>
            </a:r>
            <a:endParaRPr b="0" i="0" sz="1550" u="none" cap="none" strike="noStrike"/>
          </a:p>
        </p:txBody>
      </p:sp>
      <p:sp>
        <p:nvSpPr>
          <p:cNvPr id="246" name="Google Shape;246;p25"/>
          <p:cNvSpPr/>
          <p:nvPr/>
        </p:nvSpPr>
        <p:spPr>
          <a:xfrm>
            <a:off x="10581799" y="6885742"/>
            <a:ext cx="2654260" cy="6045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612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550"/>
              <a:buFont typeface="Source Sans 3"/>
              <a:buNone/>
            </a:pPr>
            <a:r>
              <a:rPr b="0" i="0" lang="en-US" sz="15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Detecção, resposta, contenção, erradicação, recuperação.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6"/>
          <p:cNvSpPr/>
          <p:nvPr/>
        </p:nvSpPr>
        <p:spPr>
          <a:xfrm>
            <a:off x="1185029" y="492204"/>
            <a:ext cx="4068008" cy="50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Montserrat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Exemplos Práticos </a:t>
            </a:r>
            <a:endParaRPr b="0" i="0" sz="3200" u="none" cap="none" strike="noStrike"/>
          </a:p>
        </p:txBody>
      </p:sp>
      <p:sp>
        <p:nvSpPr>
          <p:cNvPr id="253" name="Google Shape;253;p26"/>
          <p:cNvSpPr/>
          <p:nvPr/>
        </p:nvSpPr>
        <p:spPr>
          <a:xfrm>
            <a:off x="1185029" y="1448157"/>
            <a:ext cx="4831913" cy="305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D2E34"/>
              </a:buClr>
              <a:buSzPts val="1900"/>
              <a:buFont typeface="Montserrat"/>
              <a:buNone/>
            </a:pPr>
            <a:r>
              <a:rPr b="1" i="0" lang="en-US" sz="1900" u="none" cap="none" strike="noStrike">
                <a:solidFill>
                  <a:srgbClr val="2D2E34"/>
                </a:solidFill>
                <a:latin typeface="Montserrat"/>
                <a:ea typeface="Montserrat"/>
                <a:cs typeface="Montserrat"/>
                <a:sym typeface="Montserrat"/>
              </a:rPr>
              <a:t>Cenário A: Uso Adequado das Políticas</a:t>
            </a:r>
            <a:endParaRPr b="0" i="0" sz="1900" u="none" cap="none" strike="noStrike"/>
          </a:p>
        </p:txBody>
      </p:sp>
      <p:sp>
        <p:nvSpPr>
          <p:cNvPr id="254" name="Google Shape;254;p26"/>
          <p:cNvSpPr/>
          <p:nvPr/>
        </p:nvSpPr>
        <p:spPr>
          <a:xfrm>
            <a:off x="1185029" y="1932146"/>
            <a:ext cx="5911691" cy="268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None/>
            </a:pPr>
            <a:r>
              <a:rPr b="1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Uma Startup de SaaS</a:t>
            </a:r>
            <a:endParaRPr b="0" i="0" sz="1400" u="none" cap="none" strike="noStrike"/>
          </a:p>
        </p:txBody>
      </p:sp>
      <p:sp>
        <p:nvSpPr>
          <p:cNvPr id="255" name="Google Shape;255;p26"/>
          <p:cNvSpPr/>
          <p:nvPr/>
        </p:nvSpPr>
        <p:spPr>
          <a:xfrm>
            <a:off x="1185029" y="2361605"/>
            <a:ext cx="5911691" cy="805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None/>
            </a:pP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Uma startup de software como serviço (SaaS) lida com dados sensíveis de clientes. A empresa implementou um conjunto de políticas de segurança da informação.</a:t>
            </a:r>
            <a:endParaRPr b="0" i="0" sz="1400" u="none" cap="none" strike="noStrike"/>
          </a:p>
        </p:txBody>
      </p:sp>
      <p:sp>
        <p:nvSpPr>
          <p:cNvPr id="256" name="Google Shape;256;p26"/>
          <p:cNvSpPr/>
          <p:nvPr/>
        </p:nvSpPr>
        <p:spPr>
          <a:xfrm>
            <a:off x="1185029" y="3327797"/>
            <a:ext cx="5911691" cy="805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None/>
            </a:pPr>
            <a:r>
              <a:rPr b="1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Política de Classificação da Informação:</a:t>
            </a: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Dados de clientes são classificados como "Confidenciais". Isso exige que sejam criptografados tanto em trânsito quanto em repouso.</a:t>
            </a:r>
            <a:endParaRPr b="0" i="0" sz="1400" u="none" cap="none" strike="noStrike"/>
          </a:p>
        </p:txBody>
      </p:sp>
      <p:sp>
        <p:nvSpPr>
          <p:cNvPr id="257" name="Google Shape;257;p26"/>
          <p:cNvSpPr/>
          <p:nvPr/>
        </p:nvSpPr>
        <p:spPr>
          <a:xfrm>
            <a:off x="1185029" y="4195524"/>
            <a:ext cx="5911691" cy="805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None/>
            </a:pPr>
            <a:r>
              <a:rPr b="1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Política de Controle de Acesso:</a:t>
            </a: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Apenas engenheiros de software e a equipe de suporte com justificativa de negócio têm acesso aos bancos de dados de produção. O acesso é baseado em perfis e requer MFA.</a:t>
            </a:r>
            <a:endParaRPr b="0" i="0" sz="1400" u="none" cap="none" strike="noStrike"/>
          </a:p>
        </p:txBody>
      </p:sp>
      <p:sp>
        <p:nvSpPr>
          <p:cNvPr id="258" name="Google Shape;258;p26"/>
          <p:cNvSpPr/>
          <p:nvPr/>
        </p:nvSpPr>
        <p:spPr>
          <a:xfrm>
            <a:off x="1185029" y="5063252"/>
            <a:ext cx="5911691" cy="805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None/>
            </a:pPr>
            <a:r>
              <a:rPr b="1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Política de Backup e DRP:</a:t>
            </a: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Backups diários são feitos para um serviço de armazenamento em nuvem em uma região diferente, e testes de restauração são realizados trimestralmente.</a:t>
            </a:r>
            <a:endParaRPr b="0" i="0" sz="1400" u="none" cap="none" strike="noStrike"/>
          </a:p>
        </p:txBody>
      </p:sp>
      <p:sp>
        <p:nvSpPr>
          <p:cNvPr id="259" name="Google Shape;259;p26"/>
          <p:cNvSpPr/>
          <p:nvPr/>
        </p:nvSpPr>
        <p:spPr>
          <a:xfrm>
            <a:off x="1185029" y="5930979"/>
            <a:ext cx="5911691" cy="1341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None/>
            </a:pPr>
            <a:r>
              <a:rPr b="1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Política de Gestão de Incidentes:</a:t>
            </a: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Um analista de segurança detecta uma atividade anômala em um servidor. A equipe de resposta a incidentes (IR) é acionada imediatamente. O plano de IR é executado, a conexão do servidor é isolada, a vulnerabilidade é corrigida e um relatório é gerado, detalhando a causa raiz e as medidas tomadas para evitar futuras ocorrências.</a:t>
            </a:r>
            <a:endParaRPr b="0" i="0" sz="1400" u="none" cap="none" strike="noStrike"/>
          </a:p>
        </p:txBody>
      </p:sp>
      <p:sp>
        <p:nvSpPr>
          <p:cNvPr id="260" name="Google Shape;260;p26"/>
          <p:cNvSpPr/>
          <p:nvPr/>
        </p:nvSpPr>
        <p:spPr>
          <a:xfrm>
            <a:off x="1185029" y="7433905"/>
            <a:ext cx="5911691" cy="805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None/>
            </a:pPr>
            <a:r>
              <a:rPr b="1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Consequência:</a:t>
            </a: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A startup mantém a confiança de seus clientes, evita perdas financeiras e tem uma resposta rápida e coordenada a qualquer ameaça, garantindo a continuidade das operações.</a:t>
            </a:r>
            <a:endParaRPr b="0" i="0" sz="1400" u="none" cap="none" strike="noStrike"/>
          </a:p>
        </p:txBody>
      </p:sp>
      <p:sp>
        <p:nvSpPr>
          <p:cNvPr id="261" name="Google Shape;261;p26"/>
          <p:cNvSpPr/>
          <p:nvPr/>
        </p:nvSpPr>
        <p:spPr>
          <a:xfrm>
            <a:off x="7541062" y="1448157"/>
            <a:ext cx="5284351" cy="305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D2E34"/>
              </a:buClr>
              <a:buSzPts val="1900"/>
              <a:buFont typeface="Montserrat"/>
              <a:buNone/>
            </a:pPr>
            <a:r>
              <a:rPr b="1" i="0" lang="en-US" sz="1900" u="none" cap="none" strike="noStrike">
                <a:solidFill>
                  <a:srgbClr val="2D2E34"/>
                </a:solidFill>
                <a:latin typeface="Montserrat"/>
                <a:ea typeface="Montserrat"/>
                <a:cs typeface="Montserrat"/>
                <a:sym typeface="Montserrat"/>
              </a:rPr>
              <a:t>Cenário B: Falta de Utilização das Políticas</a:t>
            </a:r>
            <a:endParaRPr b="0" i="0" sz="1900" u="none" cap="none" strike="noStrike"/>
          </a:p>
        </p:txBody>
      </p:sp>
      <p:sp>
        <p:nvSpPr>
          <p:cNvPr id="262" name="Google Shape;262;p26"/>
          <p:cNvSpPr/>
          <p:nvPr/>
        </p:nvSpPr>
        <p:spPr>
          <a:xfrm>
            <a:off x="7541062" y="1932146"/>
            <a:ext cx="5911691" cy="268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None/>
            </a:pPr>
            <a:r>
              <a:rPr b="1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Uma Empresa de Varejo</a:t>
            </a:r>
            <a:endParaRPr b="0" i="0" sz="1400" u="none" cap="none" strike="noStrike"/>
          </a:p>
        </p:txBody>
      </p:sp>
      <p:sp>
        <p:nvSpPr>
          <p:cNvPr id="263" name="Google Shape;263;p26"/>
          <p:cNvSpPr/>
          <p:nvPr/>
        </p:nvSpPr>
        <p:spPr>
          <a:xfrm>
            <a:off x="7541062" y="2361605"/>
            <a:ext cx="5911691" cy="536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None/>
            </a:pP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Uma empresa de varejo, em crescimento acelerado, não priorizou a segurança da informação, operando com políticas de segurança fracas ou inexistentes.</a:t>
            </a:r>
            <a:endParaRPr b="0" i="0" sz="1400" u="none" cap="none" strike="noStrike"/>
          </a:p>
        </p:txBody>
      </p:sp>
      <p:sp>
        <p:nvSpPr>
          <p:cNvPr id="264" name="Google Shape;264;p26"/>
          <p:cNvSpPr/>
          <p:nvPr/>
        </p:nvSpPr>
        <p:spPr>
          <a:xfrm>
            <a:off x="7541062" y="3059430"/>
            <a:ext cx="5911691" cy="805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None/>
            </a:pPr>
            <a:r>
              <a:rPr b="1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Falta de Política de Controle de Acesso:</a:t>
            </a: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Vários funcionários, inclusive estagiários, têm acesso a sistemas e dados financeiros sensíveis. As senhas são fracas e raramente alteradas.</a:t>
            </a:r>
            <a:endParaRPr b="0" i="0" sz="1400" u="none" cap="none" strike="noStrike"/>
          </a:p>
        </p:txBody>
      </p:sp>
      <p:sp>
        <p:nvSpPr>
          <p:cNvPr id="265" name="Google Shape;265;p26"/>
          <p:cNvSpPr/>
          <p:nvPr/>
        </p:nvSpPr>
        <p:spPr>
          <a:xfrm>
            <a:off x="7541062" y="3927157"/>
            <a:ext cx="5911691" cy="805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None/>
            </a:pPr>
            <a:r>
              <a:rPr b="1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Falta de Política de Backup:</a:t>
            </a: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Backups são feitos de forma inconsistente em discos rígidos externos não protegidos, e nunca houve um teste de restauração.</a:t>
            </a:r>
            <a:endParaRPr b="0" i="0" sz="1400" u="none" cap="none" strike="noStrike"/>
          </a:p>
        </p:txBody>
      </p:sp>
      <p:sp>
        <p:nvSpPr>
          <p:cNvPr id="266" name="Google Shape;266;p26"/>
          <p:cNvSpPr/>
          <p:nvPr/>
        </p:nvSpPr>
        <p:spPr>
          <a:xfrm>
            <a:off x="7541062" y="4794885"/>
            <a:ext cx="5911691" cy="536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None/>
            </a:pPr>
            <a:r>
              <a:rPr b="1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Falta de Política de Uso Aceitável:</a:t>
            </a: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Funcionários usam seus e-mails corporativos para tarefas pessoais e clicam em links maliciosos de phishing.</a:t>
            </a:r>
            <a:endParaRPr b="0" i="0" sz="1400" u="none" cap="none" strike="noStrike"/>
          </a:p>
        </p:txBody>
      </p:sp>
      <p:sp>
        <p:nvSpPr>
          <p:cNvPr id="267" name="Google Shape;267;p26"/>
          <p:cNvSpPr/>
          <p:nvPr/>
        </p:nvSpPr>
        <p:spPr>
          <a:xfrm>
            <a:off x="7541062" y="5492710"/>
            <a:ext cx="5911691" cy="16102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None/>
            </a:pPr>
            <a:r>
              <a:rPr b="1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 Falha:</a:t>
            </a: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Um funcionário não treinado clica em um link de um e-mail de phishing, o que instala um ransomware na rede. Como não há controle de acesso, o malware se espalha rapidamente, criptografando dados críticos de clientes e financeiros. A falta de backups testados significa que a recuperação é impossível sem o pagamento do resgate. A equipe de TI, sem um plano de gestão de incidentes, entra em pânico e demora a conter o ataque.</a:t>
            </a:r>
            <a:endParaRPr b="0" i="0" sz="1400" u="none" cap="none" strike="noStrike"/>
          </a:p>
        </p:txBody>
      </p:sp>
      <p:sp>
        <p:nvSpPr>
          <p:cNvPr id="268" name="Google Shape;268;p26"/>
          <p:cNvSpPr/>
          <p:nvPr/>
        </p:nvSpPr>
        <p:spPr>
          <a:xfrm>
            <a:off x="7541062" y="7264003"/>
            <a:ext cx="5911691" cy="805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None/>
            </a:pPr>
            <a:r>
              <a:rPr b="1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Consequência:</a:t>
            </a: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A empresa sofre uma violação de dados massiva, a marca é severamente danificada, há perda de confiança dos clientes, interrupção das operações por dias, multas regulatórias e perdas financeiras significativas.</a:t>
            </a:r>
            <a:endParaRPr b="0" i="0" sz="1400" u="none" cap="none" strike="noStrike"/>
          </a:p>
        </p:txBody>
      </p:sp>
      <p:sp>
        <p:nvSpPr>
          <p:cNvPr id="269" name="Google Shape;269;p26"/>
          <p:cNvSpPr/>
          <p:nvPr/>
        </p:nvSpPr>
        <p:spPr>
          <a:xfrm>
            <a:off x="7541062" y="8248055"/>
            <a:ext cx="2440781" cy="305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</a:pPr>
            <a:r>
              <a:t/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7"/>
          <p:cNvSpPr/>
          <p:nvPr/>
        </p:nvSpPr>
        <p:spPr>
          <a:xfrm>
            <a:off x="1185029" y="1817965"/>
            <a:ext cx="4217194" cy="420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2D2E34"/>
              </a:buClr>
              <a:buSzPts val="2650"/>
              <a:buFont typeface="Montserrat"/>
              <a:buNone/>
            </a:pPr>
            <a:r>
              <a:rPr b="1" i="0" lang="en-US" sz="2650" u="none" cap="none" strike="noStrike">
                <a:solidFill>
                  <a:srgbClr val="2D2E34"/>
                </a:solidFill>
                <a:latin typeface="Montserrat"/>
                <a:ea typeface="Montserrat"/>
                <a:cs typeface="Montserrat"/>
                <a:sym typeface="Montserrat"/>
              </a:rPr>
              <a:t>Referências de Pesquisa</a:t>
            </a:r>
            <a:endParaRPr b="0" i="0" sz="2650" u="none" cap="none" strike="noStrike"/>
          </a:p>
        </p:txBody>
      </p:sp>
      <p:sp>
        <p:nvSpPr>
          <p:cNvPr id="276" name="Google Shape;276;p27"/>
          <p:cNvSpPr/>
          <p:nvPr/>
        </p:nvSpPr>
        <p:spPr>
          <a:xfrm>
            <a:off x="1185029" y="2732603"/>
            <a:ext cx="12260223" cy="740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Source Sans 3"/>
              <a:buNone/>
            </a:pPr>
            <a:r>
              <a:rPr b="1" i="0" lang="en-US" sz="1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ABNT NBR ISO/IEC 27001:2022:</a:t>
            </a:r>
            <a:r>
              <a:rPr b="0" i="0" lang="en-US" sz="1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A norma internacional para Sistemas de Gestão da Segurança da Informação (SGSI), que fornece a estrutura para a implementação de políticas.</a:t>
            </a:r>
            <a:endParaRPr b="0" i="0" sz="1900" u="none" cap="none" strike="noStrike"/>
          </a:p>
        </p:txBody>
      </p:sp>
      <p:sp>
        <p:nvSpPr>
          <p:cNvPr id="277" name="Google Shape;277;p27"/>
          <p:cNvSpPr/>
          <p:nvPr/>
        </p:nvSpPr>
        <p:spPr>
          <a:xfrm>
            <a:off x="1185029" y="3559731"/>
            <a:ext cx="12260223" cy="740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Source Sans 3"/>
              <a:buNone/>
            </a:pPr>
            <a:r>
              <a:rPr b="1" i="0" lang="en-US" sz="1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ABNT NBR ISO/IEC 27002:2022:</a:t>
            </a:r>
            <a:r>
              <a:rPr b="0" i="0" lang="en-US" sz="1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Fornece um código de prática com uma ampla gama de controles de segurança da informação, servindo de guia para a implementação de políticas.</a:t>
            </a:r>
            <a:endParaRPr b="0" i="0" sz="1900" u="none" cap="none" strike="noStrike"/>
          </a:p>
        </p:txBody>
      </p:sp>
      <p:sp>
        <p:nvSpPr>
          <p:cNvPr id="278" name="Google Shape;278;p27"/>
          <p:cNvSpPr/>
          <p:nvPr/>
        </p:nvSpPr>
        <p:spPr>
          <a:xfrm>
            <a:off x="1185029" y="4386858"/>
            <a:ext cx="12260223" cy="1111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Source Sans 3"/>
              <a:buNone/>
            </a:pPr>
            <a:r>
              <a:rPr b="1" i="0" lang="en-US" sz="1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NIST Cybersecurity Framework (CSF): </a:t>
            </a:r>
            <a:r>
              <a:rPr b="0" i="0" lang="en-US" sz="1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Uma estrutura voluntária do Instituto Nacional de Padrões e Tecnologia dos EUA que ajuda as organizações a gerenciar e reduzir riscos de cibersegurança, com funções essenciais como Identificar, Proteger, Detectar, Responder e Recuperar.</a:t>
            </a:r>
            <a:endParaRPr b="0" i="0" sz="1900" u="none" cap="none" strike="noStrike"/>
          </a:p>
        </p:txBody>
      </p:sp>
      <p:sp>
        <p:nvSpPr>
          <p:cNvPr id="279" name="Google Shape;279;p27"/>
          <p:cNvSpPr/>
          <p:nvPr/>
        </p:nvSpPr>
        <p:spPr>
          <a:xfrm>
            <a:off x="1185029" y="5584388"/>
            <a:ext cx="12260223" cy="37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Source Sans 3"/>
              <a:buNone/>
            </a:pPr>
            <a:r>
              <a:rPr b="1" i="0" lang="en-US" sz="1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Fundamentos de Segurança da Informação: </a:t>
            </a:r>
            <a:r>
              <a:rPr b="0" i="0" lang="en-US" sz="1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 Base na ISO 27001 e na ISO 27002, de Jule Hintzbergen et al.</a:t>
            </a:r>
            <a:endParaRPr b="0" i="0" sz="1900" u="none" cap="none" strike="noStrike"/>
          </a:p>
        </p:txBody>
      </p:sp>
      <p:sp>
        <p:nvSpPr>
          <p:cNvPr id="280" name="Google Shape;280;p27"/>
          <p:cNvSpPr/>
          <p:nvPr/>
        </p:nvSpPr>
        <p:spPr>
          <a:xfrm>
            <a:off x="1185029" y="6041112"/>
            <a:ext cx="12260223" cy="37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Source Sans 3"/>
              <a:buNone/>
            </a:pPr>
            <a:r>
              <a:rPr b="1" i="0" lang="en-US" sz="1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Segurança da Informação:</a:t>
            </a:r>
            <a:r>
              <a:rPr b="0" i="0" lang="en-US" sz="1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Gestão e Governança, de Edison Fontes.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8"/>
          <p:cNvSpPr/>
          <p:nvPr/>
        </p:nvSpPr>
        <p:spPr>
          <a:xfrm>
            <a:off x="1185029" y="836533"/>
            <a:ext cx="3366611" cy="420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Montserrat"/>
              <a:buNone/>
            </a:pPr>
            <a:r>
              <a:rPr b="1" i="0" lang="en-US" sz="26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Atividade Proposta</a:t>
            </a:r>
            <a:endParaRPr b="0" i="0" sz="2650" u="none" cap="none" strike="noStrike"/>
          </a:p>
        </p:txBody>
      </p:sp>
      <p:sp>
        <p:nvSpPr>
          <p:cNvPr id="287" name="Google Shape;287;p28"/>
          <p:cNvSpPr/>
          <p:nvPr/>
        </p:nvSpPr>
        <p:spPr>
          <a:xfrm>
            <a:off x="1185029" y="1751171"/>
            <a:ext cx="12260223" cy="37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Source Sans 3"/>
              <a:buNone/>
            </a:pPr>
            <a:r>
              <a:rPr b="1" i="0" lang="en-US" sz="1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Análise de Cenário e Plano de Ação:</a:t>
            </a:r>
            <a:endParaRPr b="0" i="0" sz="1900" u="none" cap="none" strike="noStrike"/>
          </a:p>
        </p:txBody>
      </p:sp>
      <p:sp>
        <p:nvSpPr>
          <p:cNvPr id="288" name="Google Shape;288;p28"/>
          <p:cNvSpPr/>
          <p:nvPr/>
        </p:nvSpPr>
        <p:spPr>
          <a:xfrm>
            <a:off x="1185029" y="2399228"/>
            <a:ext cx="12260223" cy="1481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Source Sans 3"/>
              <a:buNone/>
            </a:pPr>
            <a:r>
              <a:rPr b="1" i="0" lang="en-US" sz="1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Cenário:</a:t>
            </a:r>
            <a:r>
              <a:rPr b="0" i="0" lang="en-US" sz="1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Você foi contratado(a) como consultor(a) de segurança da informação para uma empresa de logística que está enfrentando problemas. O gestor de TI relata que "algo estranho" está acontecendo: arquivos estão sendo apagados em uma rede compartilhada, e a equipe não sabe quem está fazendo isso. Além disso, a empresa tem um servidor antigo no escritório que armazena dados importantes, mas ele fica em um cômodo sem tranca, acessível a todos.</a:t>
            </a:r>
            <a:endParaRPr b="0" i="0" sz="1900" u="none" cap="none" strike="noStrike"/>
          </a:p>
        </p:txBody>
      </p:sp>
      <p:sp>
        <p:nvSpPr>
          <p:cNvPr id="289" name="Google Shape;289;p28"/>
          <p:cNvSpPr/>
          <p:nvPr/>
        </p:nvSpPr>
        <p:spPr>
          <a:xfrm>
            <a:off x="1185029" y="4158496"/>
            <a:ext cx="12260223" cy="37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Source Sans 3"/>
              <a:buNone/>
            </a:pPr>
            <a:r>
              <a:rPr b="1" i="0" lang="en-US" sz="1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Sua Tarefa:</a:t>
            </a:r>
            <a:endParaRPr b="0" i="0" sz="1900" u="none" cap="none" strike="noStrike"/>
          </a:p>
        </p:txBody>
      </p:sp>
      <p:sp>
        <p:nvSpPr>
          <p:cNvPr id="290" name="Google Shape;290;p28"/>
          <p:cNvSpPr/>
          <p:nvPr/>
        </p:nvSpPr>
        <p:spPr>
          <a:xfrm>
            <a:off x="1185029" y="4806553"/>
            <a:ext cx="12260223" cy="740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Source Sans 3"/>
              <a:buNone/>
            </a:pPr>
            <a:r>
              <a:rPr b="1" i="0" lang="en-US" sz="1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Identifique as Políticas de Segurança que estão ausentes ou sendo negligenciadas</a:t>
            </a:r>
            <a:r>
              <a:rPr b="0" i="0" lang="en-US" sz="1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neste cenário. Justifique sua resposta, relacionando cada problema a uma política específica.</a:t>
            </a:r>
            <a:endParaRPr b="0" i="0" sz="1900" u="none" cap="none" strike="noStrike"/>
          </a:p>
        </p:txBody>
      </p:sp>
      <p:sp>
        <p:nvSpPr>
          <p:cNvPr id="291" name="Google Shape;291;p28"/>
          <p:cNvSpPr/>
          <p:nvPr/>
        </p:nvSpPr>
        <p:spPr>
          <a:xfrm>
            <a:off x="1185029" y="5633680"/>
            <a:ext cx="12260223" cy="740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Source Sans 3"/>
              <a:buNone/>
            </a:pPr>
            <a:r>
              <a:rPr b="1" i="0" lang="en-US" sz="1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Proponha um plano de ação inicial.</a:t>
            </a:r>
            <a:r>
              <a:rPr b="0" i="0" lang="en-US" sz="1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Para cada política identificada no item 1, descreva duas medidas práticas e imediatas que você recomendaria à empresa para mitigar os riscos.</a:t>
            </a:r>
            <a:endParaRPr b="0" i="0" sz="1900" u="none" cap="none" strike="noStrike"/>
          </a:p>
        </p:txBody>
      </p:sp>
      <p:sp>
        <p:nvSpPr>
          <p:cNvPr id="292" name="Google Shape;292;p28"/>
          <p:cNvSpPr/>
          <p:nvPr/>
        </p:nvSpPr>
        <p:spPr>
          <a:xfrm>
            <a:off x="1185029" y="6652141"/>
            <a:ext cx="12260223" cy="740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Source Sans 3"/>
              <a:buNone/>
            </a:pPr>
            <a:r>
              <a:rPr b="0" i="0" lang="en-US" sz="1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Ao concluir, você terá um entendimento mais profundo de como as políticas de segurança da informação se aplicam e a importância de um plano de ação coordenado.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