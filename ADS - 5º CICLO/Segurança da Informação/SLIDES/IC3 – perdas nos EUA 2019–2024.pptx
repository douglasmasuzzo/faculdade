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8229600" cx="14630400"/>
  <p:notesSz cx="8229600" cy="14630400"/>
  <p:embeddedFontLst>
    <p:embeddedFont>
      <p:font typeface="Inconsolata"/>
      <p:regular r:id="rId12"/>
      <p:bold r:id="rId13"/>
    </p:embeddedFont>
    <p:embeddedFont>
      <p:font typeface="Montserra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Inconsolata-bold.fntdata"/><Relationship Id="rId12" Type="http://schemas.openxmlformats.org/officeDocument/2006/relationships/font" Target="fonts/Inconsolat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DE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" name="Google Shape;3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0"/>
          <p:cNvSpPr/>
          <p:nvPr/>
        </p:nvSpPr>
        <p:spPr>
          <a:xfrm>
            <a:off x="793790" y="2271713"/>
            <a:ext cx="7556421" cy="1240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900"/>
              <a:buFont typeface="Montserrat"/>
              <a:buNone/>
            </a:pPr>
            <a:r>
              <a:rPr b="1" i="0" lang="en-US" sz="39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IC3 – perdas nos EUA 2019–2024</a:t>
            </a:r>
            <a:endParaRPr b="0" i="0" sz="3900" u="none" cap="none" strike="noStrike"/>
          </a:p>
        </p:txBody>
      </p:sp>
      <p:sp>
        <p:nvSpPr>
          <p:cNvPr id="39" name="Google Shape;39;p10"/>
          <p:cNvSpPr/>
          <p:nvPr/>
        </p:nvSpPr>
        <p:spPr>
          <a:xfrm>
            <a:off x="793790" y="3809524"/>
            <a:ext cx="7556421" cy="992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Ransomware nas violações (DBIR) 2024 vs 2025</a:t>
            </a:r>
            <a:endParaRPr b="0" i="0" sz="3100" u="none" cap="none" strike="noStrike"/>
          </a:p>
        </p:txBody>
      </p:sp>
      <p:sp>
        <p:nvSpPr>
          <p:cNvPr id="40" name="Google Shape;40;p10"/>
          <p:cNvSpPr/>
          <p:nvPr/>
        </p:nvSpPr>
        <p:spPr>
          <a:xfrm>
            <a:off x="793790" y="5099447"/>
            <a:ext cx="75564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Brasil — prejuízos com golpes (FEBRABAN) 2023–2024</a:t>
            </a:r>
            <a:endParaRPr b="0" i="0" sz="1550" u="none" cap="none" strike="noStrike"/>
          </a:p>
        </p:txBody>
      </p:sp>
      <p:sp>
        <p:nvSpPr>
          <p:cNvPr id="41" name="Google Shape;41;p10"/>
          <p:cNvSpPr/>
          <p:nvPr/>
        </p:nvSpPr>
        <p:spPr>
          <a:xfrm>
            <a:off x="793790" y="5640229"/>
            <a:ext cx="75564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Brasil — composição 2024 (fraudes via Pix)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4113133" y="1938457"/>
            <a:ext cx="6404134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F2DED0"/>
              </a:buClr>
              <a:buSzPts val="3900"/>
              <a:buFont typeface="Montserrat"/>
              <a:buNone/>
            </a:pPr>
            <a:r>
              <a:rPr b="1" i="0" lang="en-US" sz="3900" u="none" cap="none" strike="noStrike">
                <a:solidFill>
                  <a:srgbClr val="F2DED0"/>
                </a:solidFill>
                <a:latin typeface="Montserrat"/>
                <a:ea typeface="Montserrat"/>
                <a:cs typeface="Montserrat"/>
                <a:sym typeface="Montserrat"/>
              </a:rPr>
              <a:t>Destaques (com fontes)</a:t>
            </a:r>
            <a:endParaRPr b="0" i="0" sz="3900" u="none" cap="none" strike="noStrike"/>
          </a:p>
        </p:txBody>
      </p:sp>
      <p:sp>
        <p:nvSpPr>
          <p:cNvPr id="48" name="Google Shape;48;p11"/>
          <p:cNvSpPr/>
          <p:nvPr/>
        </p:nvSpPr>
        <p:spPr>
          <a:xfrm>
            <a:off x="793790" y="2955369"/>
            <a:ext cx="6422231" cy="1568648"/>
          </a:xfrm>
          <a:prstGeom prst="roundRect">
            <a:avLst>
              <a:gd fmla="val 583" name="adj"/>
            </a:avLst>
          </a:prstGeom>
          <a:solidFill>
            <a:srgbClr val="151617"/>
          </a:solidFill>
          <a:ln cap="flat" cmpd="sng" w="22850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/>
          <p:nvPr/>
        </p:nvSpPr>
        <p:spPr>
          <a:xfrm>
            <a:off x="793790" y="2955369"/>
            <a:ext cx="91440" cy="1568648"/>
          </a:xfrm>
          <a:prstGeom prst="roundRect">
            <a:avLst>
              <a:gd fmla="val 10000" name="adj"/>
            </a:avLst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/>
          <p:nvPr/>
        </p:nvSpPr>
        <p:spPr>
          <a:xfrm>
            <a:off x="1106448" y="3176588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Montserrat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Perdas Recordes</a:t>
            </a:r>
            <a:endParaRPr b="0" i="0" sz="2300" u="none" cap="none" strike="noStrike"/>
          </a:p>
        </p:txBody>
      </p:sp>
      <p:sp>
        <p:nvSpPr>
          <p:cNvPr id="51" name="Google Shape;51;p11"/>
          <p:cNvSpPr/>
          <p:nvPr/>
        </p:nvSpPr>
        <p:spPr>
          <a:xfrm>
            <a:off x="1106448" y="3667720"/>
            <a:ext cx="5888355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Nos EUA, o IC3/FBI reportou US$ 16,6 bilhões em perdas em 2024, um aumento de 33% em relação a 2023.</a:t>
            </a:r>
            <a:endParaRPr b="0" i="0" sz="1550" u="none" cap="none" strike="noStrike"/>
          </a:p>
        </p:txBody>
      </p:sp>
      <p:sp>
        <p:nvSpPr>
          <p:cNvPr id="52" name="Google Shape;52;p11"/>
          <p:cNvSpPr/>
          <p:nvPr/>
        </p:nvSpPr>
        <p:spPr>
          <a:xfrm>
            <a:off x="7414379" y="2955369"/>
            <a:ext cx="6422231" cy="1568648"/>
          </a:xfrm>
          <a:prstGeom prst="roundRect">
            <a:avLst>
              <a:gd fmla="val 583" name="adj"/>
            </a:avLst>
          </a:prstGeom>
          <a:solidFill>
            <a:srgbClr val="151617"/>
          </a:solidFill>
          <a:ln cap="flat" cmpd="sng" w="22850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/>
          <p:nvPr/>
        </p:nvSpPr>
        <p:spPr>
          <a:xfrm>
            <a:off x="7414379" y="2955369"/>
            <a:ext cx="91440" cy="1568648"/>
          </a:xfrm>
          <a:prstGeom prst="roundRect">
            <a:avLst>
              <a:gd fmla="val 10000" name="adj"/>
            </a:avLst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/>
          <p:nvPr/>
        </p:nvSpPr>
        <p:spPr>
          <a:xfrm>
            <a:off x="7727037" y="3176588"/>
            <a:ext cx="3440430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Montserrat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Ransomware em Alta</a:t>
            </a:r>
            <a:endParaRPr b="0" i="0" sz="2300" u="none" cap="none" strike="noStrike"/>
          </a:p>
        </p:txBody>
      </p:sp>
      <p:sp>
        <p:nvSpPr>
          <p:cNvPr id="55" name="Google Shape;55;p11"/>
          <p:cNvSpPr/>
          <p:nvPr/>
        </p:nvSpPr>
        <p:spPr>
          <a:xfrm>
            <a:off x="7727037" y="3667720"/>
            <a:ext cx="5888355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Participação do ransomware em 44% das violações em 2025 (aumento de 32% em 2024), segundo o DBIR.</a:t>
            </a:r>
            <a:endParaRPr b="0" i="0" sz="1550" u="none" cap="none" strike="noStrike"/>
          </a:p>
        </p:txBody>
      </p:sp>
      <p:sp>
        <p:nvSpPr>
          <p:cNvPr id="56" name="Google Shape;56;p11"/>
          <p:cNvSpPr/>
          <p:nvPr/>
        </p:nvSpPr>
        <p:spPr>
          <a:xfrm>
            <a:off x="793790" y="4722376"/>
            <a:ext cx="6422231" cy="1568648"/>
          </a:xfrm>
          <a:prstGeom prst="roundRect">
            <a:avLst>
              <a:gd fmla="val 583" name="adj"/>
            </a:avLst>
          </a:prstGeom>
          <a:solidFill>
            <a:srgbClr val="151617"/>
          </a:solidFill>
          <a:ln cap="flat" cmpd="sng" w="22850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/>
          <p:nvPr/>
        </p:nvSpPr>
        <p:spPr>
          <a:xfrm>
            <a:off x="793790" y="4722376"/>
            <a:ext cx="91440" cy="1568648"/>
          </a:xfrm>
          <a:prstGeom prst="roundRect">
            <a:avLst>
              <a:gd fmla="val 10000" name="adj"/>
            </a:avLst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1106448" y="4943594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Montserrat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Brasil</a:t>
            </a:r>
            <a:endParaRPr b="0" i="0" sz="2300" u="none" cap="none" strike="noStrike"/>
          </a:p>
        </p:txBody>
      </p:sp>
      <p:sp>
        <p:nvSpPr>
          <p:cNvPr id="59" name="Google Shape;59;p11"/>
          <p:cNvSpPr/>
          <p:nvPr/>
        </p:nvSpPr>
        <p:spPr>
          <a:xfrm>
            <a:off x="1106448" y="5434727"/>
            <a:ext cx="5888355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Prejuízos com golpes: R$ 10,1 bilhões em 2024 (aumento de 17% vs. 2023), segundo a FEBRABAN.</a:t>
            </a:r>
            <a:endParaRPr b="0" i="0" sz="1550" u="none" cap="none" strike="noStrike"/>
          </a:p>
        </p:txBody>
      </p:sp>
      <p:sp>
        <p:nvSpPr>
          <p:cNvPr id="60" name="Google Shape;60;p11"/>
          <p:cNvSpPr/>
          <p:nvPr/>
        </p:nvSpPr>
        <p:spPr>
          <a:xfrm>
            <a:off x="7414379" y="4722376"/>
            <a:ext cx="6422231" cy="1568648"/>
          </a:xfrm>
          <a:prstGeom prst="roundRect">
            <a:avLst>
              <a:gd fmla="val 583" name="adj"/>
            </a:avLst>
          </a:prstGeom>
          <a:solidFill>
            <a:srgbClr val="151617"/>
          </a:solidFill>
          <a:ln cap="flat" cmpd="sng" w="22850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1"/>
          <p:cNvSpPr/>
          <p:nvPr/>
        </p:nvSpPr>
        <p:spPr>
          <a:xfrm>
            <a:off x="7414379" y="4722376"/>
            <a:ext cx="91440" cy="1568648"/>
          </a:xfrm>
          <a:prstGeom prst="roundRect">
            <a:avLst>
              <a:gd fmla="val 10000" name="adj"/>
            </a:avLst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1"/>
          <p:cNvSpPr/>
          <p:nvPr/>
        </p:nvSpPr>
        <p:spPr>
          <a:xfrm>
            <a:off x="7727037" y="4943594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Montserrat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Fraudes via Pix</a:t>
            </a:r>
            <a:endParaRPr b="0" i="0" sz="2300" u="none" cap="none" strike="noStrike"/>
          </a:p>
        </p:txBody>
      </p:sp>
      <p:sp>
        <p:nvSpPr>
          <p:cNvPr id="63" name="Google Shape;63;p11"/>
          <p:cNvSpPr/>
          <p:nvPr/>
        </p:nvSpPr>
        <p:spPr>
          <a:xfrm>
            <a:off x="7727037" y="5434727"/>
            <a:ext cx="5888355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R$ 2,7 bilhões dos prejuízos em 2024; notificações de fraude superaram 390 mil/mês no ano.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/>
          <p:nvPr/>
        </p:nvSpPr>
        <p:spPr>
          <a:xfrm>
            <a:off x="793790" y="764024"/>
            <a:ext cx="4961811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900"/>
              <a:buFont typeface="Montserrat"/>
              <a:buNone/>
            </a:pPr>
            <a:r>
              <a:rPr b="1" i="0" lang="en-US" sz="39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Mundo</a:t>
            </a:r>
            <a:endParaRPr b="0" i="0" sz="3900" u="none" cap="none" strike="noStrike"/>
          </a:p>
        </p:txBody>
      </p:sp>
      <p:sp>
        <p:nvSpPr>
          <p:cNvPr id="70" name="Google Shape;70;p12"/>
          <p:cNvSpPr/>
          <p:nvPr/>
        </p:nvSpPr>
        <p:spPr>
          <a:xfrm>
            <a:off x="793790" y="1860352"/>
            <a:ext cx="7632025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Perdas recordes nos EUA (IC3/FBI): US$ 16,6 bilhões em 2024 (↑33% vs. 2023), com 859.532 queixas. Crimes mais citados: phishing, extorsão de dados e violações de dados.</a:t>
            </a:r>
            <a:endParaRPr b="0" i="0" sz="1550" u="none" cap="none" strike="noStrike"/>
          </a:p>
        </p:txBody>
      </p:sp>
      <p:sp>
        <p:nvSpPr>
          <p:cNvPr id="71" name="Google Shape;71;p12"/>
          <p:cNvSpPr/>
          <p:nvPr/>
        </p:nvSpPr>
        <p:spPr>
          <a:xfrm>
            <a:off x="793790" y="2991564"/>
            <a:ext cx="7632025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Fraudes ao consumidor (FTC): americanos reportaram US$ 12,5 bilhões perdidos a golpes em 2024 (↑25% vs. 2023). Um em cada três que reportou fraude perdeu dinheiro.</a:t>
            </a:r>
            <a:endParaRPr b="0" i="0" sz="1550" u="none" cap="none" strike="noStrike"/>
          </a:p>
        </p:txBody>
      </p:sp>
      <p:sp>
        <p:nvSpPr>
          <p:cNvPr id="72" name="Google Shape;72;p12"/>
          <p:cNvSpPr/>
          <p:nvPr/>
        </p:nvSpPr>
        <p:spPr>
          <a:xfrm>
            <a:off x="793790" y="4122777"/>
            <a:ext cx="7632025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Ransomware em alta nas quebras: participação do ransomware em 44% das violações em 2025 (↑ de 32% em 2024), segundo o DBIR.</a:t>
            </a:r>
            <a:endParaRPr b="0" i="0" sz="1550" u="none" cap="none" strike="noStrike"/>
          </a:p>
        </p:txBody>
      </p:sp>
      <p:sp>
        <p:nvSpPr>
          <p:cNvPr id="73" name="Google Shape;73;p12"/>
          <p:cNvSpPr/>
          <p:nvPr/>
        </p:nvSpPr>
        <p:spPr>
          <a:xfrm>
            <a:off x="793790" y="4936450"/>
            <a:ext cx="7632025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Custo médio de violação: US$ 4,88 milhões no mundo em 2024 (IBM), maior salto desde a pandemia.</a:t>
            </a:r>
            <a:endParaRPr b="0" i="0" sz="1550" u="none" cap="none" strike="noStrike"/>
          </a:p>
        </p:txBody>
      </p:sp>
      <p:pic>
        <p:nvPicPr>
          <p:cNvPr descr="preencoded.png" id="74" name="Google Shape;7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7543" y="1905000"/>
            <a:ext cx="4926568" cy="307490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2"/>
          <p:cNvSpPr/>
          <p:nvPr/>
        </p:nvSpPr>
        <p:spPr>
          <a:xfrm>
            <a:off x="8917543" y="5203150"/>
            <a:ext cx="4926568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Risco sistêmico: o WEF 2025 aponta intensificação de fraudes ciberhabilitadas e phishing como tendência.</a:t>
            </a:r>
            <a:endParaRPr b="0" i="0" sz="1550" u="none" cap="none" strike="noStrike"/>
          </a:p>
        </p:txBody>
      </p:sp>
      <p:sp>
        <p:nvSpPr>
          <p:cNvPr id="76" name="Google Shape;76;p12"/>
          <p:cNvSpPr/>
          <p:nvPr/>
        </p:nvSpPr>
        <p:spPr>
          <a:xfrm>
            <a:off x="8917543" y="6334363"/>
            <a:ext cx="4926568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Projeção de impacto macro: estimativa amplamente citada de US$ 10,5 trilhões/ano em 2025 para custos globais de cibercrime.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650915" y="449104"/>
            <a:ext cx="4068842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200"/>
              <a:buFont typeface="Montserrat"/>
              <a:buNone/>
            </a:pPr>
            <a:r>
              <a:rPr b="1" i="0" lang="en-US" sz="3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Brasil</a:t>
            </a:r>
            <a:endParaRPr b="0" i="0" sz="3200" u="none" cap="none" strike="noStrike"/>
          </a:p>
        </p:txBody>
      </p:sp>
      <p:sp>
        <p:nvSpPr>
          <p:cNvPr id="83" name="Google Shape;83;p13"/>
          <p:cNvSpPr/>
          <p:nvPr/>
        </p:nvSpPr>
        <p:spPr>
          <a:xfrm>
            <a:off x="650915" y="1364337"/>
            <a:ext cx="4307205" cy="537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4200"/>
              <a:buFont typeface="Montserrat"/>
              <a:buNone/>
            </a:pPr>
            <a:r>
              <a:rPr b="1" i="0" lang="en-US" sz="4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R$ 10,1B</a:t>
            </a:r>
            <a:endParaRPr b="0" i="0" sz="4200" u="none" cap="none" strike="noStrike"/>
          </a:p>
        </p:txBody>
      </p:sp>
      <p:sp>
        <p:nvSpPr>
          <p:cNvPr id="84" name="Google Shape;84;p13"/>
          <p:cNvSpPr/>
          <p:nvPr/>
        </p:nvSpPr>
        <p:spPr>
          <a:xfrm>
            <a:off x="1628656" y="2104787"/>
            <a:ext cx="2351723" cy="254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Prejuízos com golpes</a:t>
            </a:r>
            <a:endParaRPr b="0" i="0" sz="1600" u="none" cap="none" strike="noStrike"/>
          </a:p>
        </p:txBody>
      </p:sp>
      <p:sp>
        <p:nvSpPr>
          <p:cNvPr id="85" name="Google Shape;85;p13"/>
          <p:cNvSpPr/>
          <p:nvPr/>
        </p:nvSpPr>
        <p:spPr>
          <a:xfrm>
            <a:off x="650915" y="2456736"/>
            <a:ext cx="4307205" cy="26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250"/>
              <a:buFont typeface="Inconsolata"/>
              <a:buNone/>
            </a:pPr>
            <a:r>
              <a:rPr b="0" i="0" lang="en-US" sz="12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Em 2024 (↑17% vs. 2023), segundo a FEBRABAN.</a:t>
            </a:r>
            <a:endParaRPr b="0" i="0" sz="1250" u="none" cap="none" strike="noStrike"/>
          </a:p>
        </p:txBody>
      </p:sp>
      <p:sp>
        <p:nvSpPr>
          <p:cNvPr id="86" name="Google Shape;86;p13"/>
          <p:cNvSpPr/>
          <p:nvPr/>
        </p:nvSpPr>
        <p:spPr>
          <a:xfrm>
            <a:off x="5161478" y="1364337"/>
            <a:ext cx="4307324" cy="537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4200"/>
              <a:buFont typeface="Montserrat"/>
              <a:buNone/>
            </a:pPr>
            <a:r>
              <a:rPr b="1" i="0" lang="en-US" sz="4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R$ 2,7B</a:t>
            </a:r>
            <a:endParaRPr b="0" i="0" sz="4200" u="none" cap="none" strike="noStrike"/>
          </a:p>
        </p:txBody>
      </p:sp>
      <p:sp>
        <p:nvSpPr>
          <p:cNvPr id="87" name="Google Shape;87;p13"/>
          <p:cNvSpPr/>
          <p:nvPr/>
        </p:nvSpPr>
        <p:spPr>
          <a:xfrm>
            <a:off x="6297930" y="2104787"/>
            <a:ext cx="2034421" cy="254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Fraudes via Pix</a:t>
            </a:r>
            <a:endParaRPr b="0" i="0" sz="1600" u="none" cap="none" strike="noStrike"/>
          </a:p>
        </p:txBody>
      </p:sp>
      <p:sp>
        <p:nvSpPr>
          <p:cNvPr id="88" name="Google Shape;88;p13"/>
          <p:cNvSpPr/>
          <p:nvPr/>
        </p:nvSpPr>
        <p:spPr>
          <a:xfrm>
            <a:off x="5161478" y="2456736"/>
            <a:ext cx="4307324" cy="520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250"/>
              <a:buFont typeface="Inconsolata"/>
              <a:buNone/>
            </a:pPr>
            <a:r>
              <a:rPr b="0" i="0" lang="en-US" sz="12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Dos prejuízos em 2024; notificações de fraude superaram 390 mil/mês no ano.</a:t>
            </a:r>
            <a:endParaRPr b="0" i="0" sz="1250" u="none" cap="none" strike="noStrike"/>
          </a:p>
        </p:txBody>
      </p:sp>
      <p:sp>
        <p:nvSpPr>
          <p:cNvPr id="89" name="Google Shape;89;p13"/>
          <p:cNvSpPr/>
          <p:nvPr/>
        </p:nvSpPr>
        <p:spPr>
          <a:xfrm>
            <a:off x="9672161" y="1364337"/>
            <a:ext cx="4307324" cy="537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4200"/>
              <a:buFont typeface="Montserrat"/>
              <a:buNone/>
            </a:pPr>
            <a:r>
              <a:rPr b="1" i="0" lang="en-US" sz="4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100.077</a:t>
            </a:r>
            <a:endParaRPr b="0" i="0" sz="4200" u="none" cap="none" strike="noStrike"/>
          </a:p>
        </p:txBody>
      </p:sp>
      <p:sp>
        <p:nvSpPr>
          <p:cNvPr id="90" name="Google Shape;90;p13"/>
          <p:cNvSpPr/>
          <p:nvPr/>
        </p:nvSpPr>
        <p:spPr>
          <a:xfrm>
            <a:off x="10808613" y="2104787"/>
            <a:ext cx="2034421" cy="254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Denúncias</a:t>
            </a:r>
            <a:endParaRPr b="0" i="0" sz="1600" u="none" cap="none" strike="noStrike"/>
          </a:p>
        </p:txBody>
      </p:sp>
      <p:sp>
        <p:nvSpPr>
          <p:cNvPr id="91" name="Google Shape;91;p13"/>
          <p:cNvSpPr/>
          <p:nvPr/>
        </p:nvSpPr>
        <p:spPr>
          <a:xfrm>
            <a:off x="9672161" y="2456736"/>
            <a:ext cx="4307324" cy="1041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250"/>
              <a:buFont typeface="Inconsolata"/>
              <a:buNone/>
            </a:pPr>
            <a:r>
              <a:rPr b="0" i="0" lang="en-US" sz="12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A SaferNet registrou 100.077 relatos em 2024 (−34% vs. 2023), porém com casos mais graves; o Brasil ficou 5º no mundo em denúncias de abuso sexual infantil online.</a:t>
            </a:r>
            <a:endParaRPr b="0" i="0" sz="1250" u="none" cap="none" strike="noStrike"/>
          </a:p>
        </p:txBody>
      </p:sp>
      <p:pic>
        <p:nvPicPr>
          <p:cNvPr descr="preencoded.png" id="92" name="Google Shape;9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915" y="3681293"/>
            <a:ext cx="4496157" cy="365581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/>
          <p:nvPr/>
        </p:nvSpPr>
        <p:spPr>
          <a:xfrm>
            <a:off x="650915" y="7520107"/>
            <a:ext cx="13328571" cy="26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250"/>
              <a:buFont typeface="Inconsolata"/>
              <a:buNone/>
            </a:pPr>
            <a:r>
              <a:rPr b="0" i="0" lang="en-US" sz="12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Medidas do BCB para Pix: bloqueio cautelar/MED e ajustes regulatórios para mitigar fraudes.</a:t>
            </a:r>
            <a:endParaRPr b="0" i="0" sz="12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007" y="1619607"/>
            <a:ext cx="4990386" cy="499038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/>
          <p:nvPr/>
        </p:nvSpPr>
        <p:spPr>
          <a:xfrm>
            <a:off x="6280190" y="1464350"/>
            <a:ext cx="6267688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BAB6AA"/>
              </a:buClr>
              <a:buSzPts val="3900"/>
              <a:buFont typeface="Montserrat"/>
              <a:buNone/>
            </a:pPr>
            <a:r>
              <a:rPr b="1" i="0" lang="en-US" sz="3900" u="none" cap="none" strike="noStrike">
                <a:solidFill>
                  <a:srgbClr val="BAB6AA"/>
                </a:solidFill>
                <a:latin typeface="Montserrat"/>
                <a:ea typeface="Montserrat"/>
                <a:cs typeface="Montserrat"/>
                <a:sym typeface="Montserrat"/>
              </a:rPr>
              <a:t>Projeções e tendências</a:t>
            </a:r>
            <a:endParaRPr b="0" i="0" sz="3900" u="none" cap="none" strike="noStrike"/>
          </a:p>
        </p:txBody>
      </p:sp>
      <p:pic>
        <p:nvPicPr>
          <p:cNvPr descr="preencoded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2382083"/>
            <a:ext cx="992267" cy="1461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/>
          <p:nvPr/>
        </p:nvSpPr>
        <p:spPr>
          <a:xfrm>
            <a:off x="7470815" y="2580442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950"/>
              <a:buFont typeface="Montserrat"/>
              <a:buNone/>
            </a:pPr>
            <a:r>
              <a:rPr b="1" i="0" lang="en-US" sz="195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Custos Globais</a:t>
            </a:r>
            <a:endParaRPr b="0" i="0" sz="1950" u="none" cap="none" strike="noStrike"/>
          </a:p>
        </p:txBody>
      </p:sp>
      <p:sp>
        <p:nvSpPr>
          <p:cNvPr id="103" name="Google Shape;103;p14"/>
          <p:cNvSpPr/>
          <p:nvPr/>
        </p:nvSpPr>
        <p:spPr>
          <a:xfrm>
            <a:off x="7470815" y="3009662"/>
            <a:ext cx="6365796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Seguem elevados (ordem de US$ 10,5 tri/ano em 2025) e devem permanecer em patamares altos na segunda metade da década.</a:t>
            </a:r>
            <a:endParaRPr b="0" i="0" sz="1550" u="none" cap="none" strike="noStrike"/>
          </a:p>
        </p:txBody>
      </p:sp>
      <p:pic>
        <p:nvPicPr>
          <p:cNvPr descr="preencoded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0190" y="3843099"/>
            <a:ext cx="992267" cy="1461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/>
          <p:nvPr/>
        </p:nvSpPr>
        <p:spPr>
          <a:xfrm>
            <a:off x="7470815" y="4041458"/>
            <a:ext cx="2935962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950"/>
              <a:buFont typeface="Montserrat"/>
              <a:buNone/>
            </a:pPr>
            <a:r>
              <a:rPr b="1" i="0" lang="en-US" sz="195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Ameaças Dominantes</a:t>
            </a:r>
            <a:endParaRPr b="0" i="0" sz="1950" u="none" cap="none" strike="noStrike"/>
          </a:p>
        </p:txBody>
      </p:sp>
      <p:sp>
        <p:nvSpPr>
          <p:cNvPr id="106" name="Google Shape;106;p14"/>
          <p:cNvSpPr/>
          <p:nvPr/>
        </p:nvSpPr>
        <p:spPr>
          <a:xfrm>
            <a:off x="7470815" y="4470678"/>
            <a:ext cx="6365796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Ransomware, BEC (fraude de e-mail corporativo) e golpes de investimento/cripto seguem puxando as perdas (IC3/FTC).</a:t>
            </a:r>
            <a:endParaRPr b="0" i="0" sz="1550" u="none" cap="none" strike="noStrike"/>
          </a:p>
        </p:txBody>
      </p:sp>
      <p:pic>
        <p:nvPicPr>
          <p:cNvPr descr="preencoded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190" y="5304115"/>
            <a:ext cx="992267" cy="1461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/>
          <p:nvPr/>
        </p:nvSpPr>
        <p:spPr>
          <a:xfrm>
            <a:off x="7470815" y="5502473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950"/>
              <a:buFont typeface="Montserrat"/>
              <a:buNone/>
            </a:pPr>
            <a:r>
              <a:rPr b="1" i="0" lang="en-US" sz="195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Dados Setoriais</a:t>
            </a:r>
            <a:endParaRPr b="0" i="0" sz="1950" u="none" cap="none" strike="noStrike"/>
          </a:p>
        </p:txBody>
      </p:sp>
      <p:sp>
        <p:nvSpPr>
          <p:cNvPr id="109" name="Google Shape;109;p14"/>
          <p:cNvSpPr/>
          <p:nvPr/>
        </p:nvSpPr>
        <p:spPr>
          <a:xfrm>
            <a:off x="7470815" y="5931694"/>
            <a:ext cx="6365796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Custo médio de violação tende a se manter alto; em 2024, global US$ 4,88 mi (IBM).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4463415" y="1187768"/>
            <a:ext cx="5703570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900"/>
              <a:buFont typeface="Montserrat"/>
              <a:buNone/>
            </a:pPr>
            <a:r>
              <a:rPr b="1" i="0" lang="en-US" sz="39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O que está nos slides</a:t>
            </a:r>
            <a:endParaRPr b="0" i="0" sz="3900" u="none" cap="none" strike="noStrike"/>
          </a:p>
        </p:txBody>
      </p:sp>
      <p:sp>
        <p:nvSpPr>
          <p:cNvPr id="116" name="Google Shape;116;p15"/>
          <p:cNvSpPr/>
          <p:nvPr/>
        </p:nvSpPr>
        <p:spPr>
          <a:xfrm>
            <a:off x="7303770" y="2204680"/>
            <a:ext cx="22860" cy="4837152"/>
          </a:xfrm>
          <a:prstGeom prst="roundRect">
            <a:avLst>
              <a:gd fmla="val 40000" name="adj"/>
            </a:avLst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6519505" y="2416493"/>
            <a:ext cx="595313" cy="22860"/>
          </a:xfrm>
          <a:prstGeom prst="roundRect">
            <a:avLst>
              <a:gd fmla="val 40000" name="adj"/>
            </a:avLst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7091958" y="2204680"/>
            <a:ext cx="446484" cy="446484"/>
          </a:xfrm>
          <a:prstGeom prst="roundRect">
            <a:avLst>
              <a:gd fmla="val 2048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7166372" y="2241887"/>
            <a:ext cx="297656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300"/>
              <a:buFont typeface="Montserrat"/>
              <a:buNone/>
            </a:pPr>
            <a:r>
              <a:rPr b="1" i="0" lang="en-US" sz="23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2300" u="none" cap="none" strike="noStrike"/>
          </a:p>
        </p:txBody>
      </p:sp>
      <p:sp>
        <p:nvSpPr>
          <p:cNvPr id="120" name="Google Shape;120;p15"/>
          <p:cNvSpPr/>
          <p:nvPr/>
        </p:nvSpPr>
        <p:spPr>
          <a:xfrm>
            <a:off x="2433161" y="2241828"/>
            <a:ext cx="3889772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300"/>
              <a:buFont typeface="Montserrat"/>
              <a:buNone/>
            </a:pPr>
            <a:r>
              <a:rPr b="1" i="0" lang="en-US" sz="23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1. Conceitos e tipologias</a:t>
            </a:r>
            <a:endParaRPr b="0" i="0" sz="2300" u="none" cap="none" strike="noStrike"/>
          </a:p>
        </p:txBody>
      </p:sp>
      <p:sp>
        <p:nvSpPr>
          <p:cNvPr id="121" name="Google Shape;121;p15"/>
          <p:cNvSpPr/>
          <p:nvPr/>
        </p:nvSpPr>
        <p:spPr>
          <a:xfrm>
            <a:off x="793790" y="2732961"/>
            <a:ext cx="5529143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Phishing/smishing/ishing, ransomware, BEC, engenharia social, golpes de WhatsApp/Pix etc.</a:t>
            </a:r>
            <a:endParaRPr b="0" i="0" sz="1550" u="none" cap="none" strike="noStrike"/>
          </a:p>
        </p:txBody>
      </p:sp>
      <p:sp>
        <p:nvSpPr>
          <p:cNvPr id="122" name="Google Shape;122;p15"/>
          <p:cNvSpPr/>
          <p:nvPr/>
        </p:nvSpPr>
        <p:spPr>
          <a:xfrm>
            <a:off x="7515582" y="3607118"/>
            <a:ext cx="595313" cy="22860"/>
          </a:xfrm>
          <a:prstGeom prst="roundRect">
            <a:avLst>
              <a:gd fmla="val 40000" name="adj"/>
            </a:avLst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7091958" y="3395305"/>
            <a:ext cx="446484" cy="446484"/>
          </a:xfrm>
          <a:prstGeom prst="roundRect">
            <a:avLst>
              <a:gd fmla="val 2048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7166372" y="3432512"/>
            <a:ext cx="297656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300"/>
              <a:buFont typeface="Montserrat"/>
              <a:buNone/>
            </a:pPr>
            <a:r>
              <a:rPr b="1" i="0" lang="en-US" sz="23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2300" u="none" cap="none" strike="noStrike"/>
          </a:p>
        </p:txBody>
      </p:sp>
      <p:sp>
        <p:nvSpPr>
          <p:cNvPr id="125" name="Google Shape;125;p15"/>
          <p:cNvSpPr/>
          <p:nvPr/>
        </p:nvSpPr>
        <p:spPr>
          <a:xfrm>
            <a:off x="8307467" y="3432453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300"/>
              <a:buFont typeface="Montserrat"/>
              <a:buNone/>
            </a:pPr>
            <a:r>
              <a:rPr b="1" i="0" lang="en-US" sz="23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2. Mundo</a:t>
            </a:r>
            <a:endParaRPr b="0" i="0" sz="2300" u="none" cap="none" strike="noStrike"/>
          </a:p>
        </p:txBody>
      </p:sp>
      <p:sp>
        <p:nvSpPr>
          <p:cNvPr id="126" name="Google Shape;126;p15"/>
          <p:cNvSpPr/>
          <p:nvPr/>
        </p:nvSpPr>
        <p:spPr>
          <a:xfrm>
            <a:off x="8307467" y="3923586"/>
            <a:ext cx="5529143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Séries históricas do IC3 (2019–2024) e dados da FTC.</a:t>
            </a:r>
            <a:endParaRPr b="0" i="0" sz="1550" u="none" cap="none" strike="noStrike"/>
          </a:p>
        </p:txBody>
      </p:sp>
      <p:sp>
        <p:nvSpPr>
          <p:cNvPr id="127" name="Google Shape;127;p15"/>
          <p:cNvSpPr/>
          <p:nvPr/>
        </p:nvSpPr>
        <p:spPr>
          <a:xfrm>
            <a:off x="6519505" y="4617958"/>
            <a:ext cx="595313" cy="22860"/>
          </a:xfrm>
          <a:prstGeom prst="roundRect">
            <a:avLst>
              <a:gd fmla="val 40000" name="adj"/>
            </a:avLst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7091958" y="4406146"/>
            <a:ext cx="446484" cy="446484"/>
          </a:xfrm>
          <a:prstGeom prst="roundRect">
            <a:avLst>
              <a:gd fmla="val 2048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7166372" y="4443353"/>
            <a:ext cx="297656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300"/>
              <a:buFont typeface="Montserrat"/>
              <a:buNone/>
            </a:pPr>
            <a:r>
              <a:rPr b="1" i="0" lang="en-US" sz="23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2300" u="none" cap="none" strike="noStrike"/>
          </a:p>
        </p:txBody>
      </p:sp>
      <p:sp>
        <p:nvSpPr>
          <p:cNvPr id="130" name="Google Shape;130;p15"/>
          <p:cNvSpPr/>
          <p:nvPr/>
        </p:nvSpPr>
        <p:spPr>
          <a:xfrm>
            <a:off x="3345894" y="4443293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300"/>
              <a:buFont typeface="Montserrat"/>
              <a:buNone/>
            </a:pPr>
            <a:r>
              <a:rPr b="1" i="0" lang="en-US" sz="23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3. Brasil</a:t>
            </a:r>
            <a:endParaRPr b="0" i="0" sz="2300" u="none" cap="none" strike="noStrike"/>
          </a:p>
        </p:txBody>
      </p:sp>
      <p:sp>
        <p:nvSpPr>
          <p:cNvPr id="131" name="Google Shape;131;p15"/>
          <p:cNvSpPr/>
          <p:nvPr/>
        </p:nvSpPr>
        <p:spPr>
          <a:xfrm>
            <a:off x="793790" y="4934426"/>
            <a:ext cx="5529143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Totais FEBRABAN 2023–2024 e recorte Pix 2024; notas sobre denúncias SaferNet.</a:t>
            </a:r>
            <a:endParaRPr b="0" i="0" sz="1550" u="none" cap="none" strike="noStrike"/>
          </a:p>
        </p:txBody>
      </p:sp>
      <p:sp>
        <p:nvSpPr>
          <p:cNvPr id="132" name="Google Shape;132;p15"/>
          <p:cNvSpPr/>
          <p:nvPr/>
        </p:nvSpPr>
        <p:spPr>
          <a:xfrm>
            <a:off x="7515582" y="5628799"/>
            <a:ext cx="595313" cy="22860"/>
          </a:xfrm>
          <a:prstGeom prst="roundRect">
            <a:avLst>
              <a:gd fmla="val 40000" name="adj"/>
            </a:avLst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7091958" y="5416987"/>
            <a:ext cx="446484" cy="446484"/>
          </a:xfrm>
          <a:prstGeom prst="roundRect">
            <a:avLst>
              <a:gd fmla="val 2048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7166372" y="5454194"/>
            <a:ext cx="297656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300"/>
              <a:buFont typeface="Montserrat"/>
              <a:buNone/>
            </a:pPr>
            <a:r>
              <a:rPr b="1" i="0" lang="en-US" sz="23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2300" u="none" cap="none" strike="noStrike"/>
          </a:p>
        </p:txBody>
      </p:sp>
      <p:sp>
        <p:nvSpPr>
          <p:cNvPr id="135" name="Google Shape;135;p15"/>
          <p:cNvSpPr/>
          <p:nvPr/>
        </p:nvSpPr>
        <p:spPr>
          <a:xfrm>
            <a:off x="8307467" y="5454134"/>
            <a:ext cx="406407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300"/>
              <a:buFont typeface="Montserrat"/>
              <a:buNone/>
            </a:pPr>
            <a:r>
              <a:rPr b="1" i="0" lang="en-US" sz="23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4. Ameaças em destaque</a:t>
            </a:r>
            <a:endParaRPr b="0" i="0" sz="2300" u="none" cap="none" strike="noStrike"/>
          </a:p>
        </p:txBody>
      </p:sp>
      <p:sp>
        <p:nvSpPr>
          <p:cNvPr id="136" name="Google Shape;136;p15"/>
          <p:cNvSpPr/>
          <p:nvPr/>
        </p:nvSpPr>
        <p:spPr>
          <a:xfrm>
            <a:off x="8307467" y="5945267"/>
            <a:ext cx="5529143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Gráfico DBIR (ransomware).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/>
          <p:nvPr/>
        </p:nvSpPr>
        <p:spPr>
          <a:xfrm>
            <a:off x="3005376" y="448032"/>
            <a:ext cx="8619530" cy="509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DED0"/>
              </a:buClr>
              <a:buSzPts val="3200"/>
              <a:buFont typeface="Montserrat"/>
              <a:buNone/>
            </a:pPr>
            <a:r>
              <a:rPr b="1" i="0" lang="en-US" sz="3200" u="none" cap="none" strike="noStrike">
                <a:solidFill>
                  <a:srgbClr val="F2DED0"/>
                </a:solidFill>
                <a:latin typeface="Montserrat"/>
                <a:ea typeface="Montserrat"/>
                <a:cs typeface="Montserrat"/>
                <a:sym typeface="Montserrat"/>
              </a:rPr>
              <a:t>5. Projeções e recomendações práticas</a:t>
            </a:r>
            <a:endParaRPr b="0" i="0" sz="3200" u="none" cap="none" strike="noStrike"/>
          </a:p>
        </p:txBody>
      </p:sp>
      <p:pic>
        <p:nvPicPr>
          <p:cNvPr descr="preencoded.png" id="143" name="Google Shape;1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629" y="1282898"/>
            <a:ext cx="3659624" cy="365962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/>
          <p:nvPr/>
        </p:nvSpPr>
        <p:spPr>
          <a:xfrm>
            <a:off x="651629" y="5125760"/>
            <a:ext cx="6582132" cy="676989"/>
          </a:xfrm>
          <a:prstGeom prst="roundRect">
            <a:avLst>
              <a:gd fmla="val 1351" name="adj"/>
            </a:avLst>
          </a:prstGeom>
          <a:solidFill>
            <a:srgbClr val="151617"/>
          </a:solidFill>
          <a:ln cap="flat" cmpd="sng" w="22850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524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837367" y="5311497"/>
            <a:ext cx="2443877" cy="30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BAB6AA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BAB6AA"/>
                </a:solidFill>
                <a:latin typeface="Montserrat"/>
                <a:ea typeface="Montserrat"/>
                <a:cs typeface="Montserrat"/>
                <a:sym typeface="Montserrat"/>
              </a:rPr>
              <a:t>MFA em tudo</a:t>
            </a:r>
            <a:endParaRPr b="0" i="0" sz="1900" u="none" cap="none" strike="noStrike"/>
          </a:p>
        </p:txBody>
      </p:sp>
      <p:sp>
        <p:nvSpPr>
          <p:cNvPr id="146" name="Google Shape;146;p16"/>
          <p:cNvSpPr/>
          <p:nvPr/>
        </p:nvSpPr>
        <p:spPr>
          <a:xfrm>
            <a:off x="7396639" y="5125760"/>
            <a:ext cx="6582132" cy="676989"/>
          </a:xfrm>
          <a:prstGeom prst="roundRect">
            <a:avLst>
              <a:gd fmla="val 1351" name="adj"/>
            </a:avLst>
          </a:prstGeom>
          <a:solidFill>
            <a:srgbClr val="151617"/>
          </a:solidFill>
          <a:ln cap="flat" cmpd="sng" w="22850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524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7582376" y="5311497"/>
            <a:ext cx="2443877" cy="30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BAB6AA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BAB6AA"/>
                </a:solidFill>
                <a:latin typeface="Montserrat"/>
                <a:ea typeface="Montserrat"/>
                <a:cs typeface="Montserrat"/>
                <a:sym typeface="Montserrat"/>
              </a:rPr>
              <a:t>Zero trust</a:t>
            </a:r>
            <a:endParaRPr b="0" i="0" sz="1900" u="none" cap="none" strike="noStrike"/>
          </a:p>
        </p:txBody>
      </p:sp>
      <p:sp>
        <p:nvSpPr>
          <p:cNvPr id="148" name="Google Shape;148;p16"/>
          <p:cNvSpPr/>
          <p:nvPr/>
        </p:nvSpPr>
        <p:spPr>
          <a:xfrm>
            <a:off x="651629" y="5965627"/>
            <a:ext cx="6582132" cy="676989"/>
          </a:xfrm>
          <a:prstGeom prst="roundRect">
            <a:avLst>
              <a:gd fmla="val 1351" name="adj"/>
            </a:avLst>
          </a:prstGeom>
          <a:solidFill>
            <a:srgbClr val="151617"/>
          </a:solidFill>
          <a:ln cap="flat" cmpd="sng" w="22850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524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837367" y="6151364"/>
            <a:ext cx="2972395" cy="30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BAB6AA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BAB6AA"/>
                </a:solidFill>
                <a:latin typeface="Montserrat"/>
                <a:ea typeface="Montserrat"/>
                <a:cs typeface="Montserrat"/>
                <a:sym typeface="Montserrat"/>
              </a:rPr>
              <a:t>Gestão de identidades</a:t>
            </a:r>
            <a:endParaRPr b="0" i="0" sz="1900" u="none" cap="none" strike="noStrike"/>
          </a:p>
        </p:txBody>
      </p:sp>
      <p:sp>
        <p:nvSpPr>
          <p:cNvPr id="150" name="Google Shape;150;p16"/>
          <p:cNvSpPr/>
          <p:nvPr/>
        </p:nvSpPr>
        <p:spPr>
          <a:xfrm>
            <a:off x="7396639" y="5965627"/>
            <a:ext cx="6582132" cy="676989"/>
          </a:xfrm>
          <a:prstGeom prst="roundRect">
            <a:avLst>
              <a:gd fmla="val 1351" name="adj"/>
            </a:avLst>
          </a:prstGeom>
          <a:solidFill>
            <a:srgbClr val="151617"/>
          </a:solidFill>
          <a:ln cap="flat" cmpd="sng" w="22850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524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7582376" y="6151364"/>
            <a:ext cx="2443877" cy="30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BAB6AA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BAB6AA"/>
                </a:solidFill>
                <a:latin typeface="Montserrat"/>
                <a:ea typeface="Montserrat"/>
                <a:cs typeface="Montserrat"/>
                <a:sym typeface="Montserrat"/>
              </a:rPr>
              <a:t>Backup imutável</a:t>
            </a:r>
            <a:endParaRPr b="0" i="0" sz="1900" u="none" cap="none" strike="noStrike"/>
          </a:p>
        </p:txBody>
      </p:sp>
      <p:sp>
        <p:nvSpPr>
          <p:cNvPr id="152" name="Google Shape;152;p16"/>
          <p:cNvSpPr/>
          <p:nvPr/>
        </p:nvSpPr>
        <p:spPr>
          <a:xfrm>
            <a:off x="651629" y="6805493"/>
            <a:ext cx="6582132" cy="982504"/>
          </a:xfrm>
          <a:prstGeom prst="roundRect">
            <a:avLst>
              <a:gd fmla="val 931" name="adj"/>
            </a:avLst>
          </a:prstGeom>
          <a:solidFill>
            <a:srgbClr val="151617"/>
          </a:solidFill>
          <a:ln cap="flat" cmpd="sng" w="22850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524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837367" y="6991231"/>
            <a:ext cx="2443877" cy="30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BAB6AA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BAB6AA"/>
                </a:solidFill>
                <a:latin typeface="Montserrat"/>
                <a:ea typeface="Montserrat"/>
                <a:cs typeface="Montserrat"/>
                <a:sym typeface="Montserrat"/>
              </a:rPr>
              <a:t>EDR/XDR 24x7</a:t>
            </a:r>
            <a:endParaRPr b="0" i="0" sz="1900" u="none" cap="none" strike="noStrike"/>
          </a:p>
        </p:txBody>
      </p:sp>
      <p:sp>
        <p:nvSpPr>
          <p:cNvPr id="154" name="Google Shape;154;p16"/>
          <p:cNvSpPr/>
          <p:nvPr/>
        </p:nvSpPr>
        <p:spPr>
          <a:xfrm>
            <a:off x="7396639" y="6805493"/>
            <a:ext cx="6582132" cy="982504"/>
          </a:xfrm>
          <a:prstGeom prst="roundRect">
            <a:avLst>
              <a:gd fmla="val 931" name="adj"/>
            </a:avLst>
          </a:prstGeom>
          <a:solidFill>
            <a:srgbClr val="151617"/>
          </a:solidFill>
          <a:ln cap="flat" cmpd="sng" w="22850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524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7582376" y="6991231"/>
            <a:ext cx="6210657" cy="611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Educação do usuário com foco em Pix/WhatsApp/BEC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