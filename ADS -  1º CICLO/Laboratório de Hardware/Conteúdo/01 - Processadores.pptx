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74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5" r:id="rId11"/>
    <p:sldId id="276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9C4D6-CBC4-4BA9-B358-9AB90D3498E0}" v="2" dt="2023-08-08T20:51:25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SA" userId="94edb27a-f0a8-4624-8ff3-eae76013cbb2" providerId="ADAL" clId="{A499C4D6-CBC4-4BA9-B358-9AB90D3498E0}"/>
    <pc:docChg chg="undo custSel addSld delSld modSld">
      <pc:chgData name="FABIO SA" userId="94edb27a-f0a8-4624-8ff3-eae76013cbb2" providerId="ADAL" clId="{A499C4D6-CBC4-4BA9-B358-9AB90D3498E0}" dt="2023-08-08T20:52:32.625" v="532" actId="1076"/>
      <pc:docMkLst>
        <pc:docMk/>
      </pc:docMkLst>
      <pc:sldChg chg="modSp mod">
        <pc:chgData name="FABIO SA" userId="94edb27a-f0a8-4624-8ff3-eae76013cbb2" providerId="ADAL" clId="{A499C4D6-CBC4-4BA9-B358-9AB90D3498E0}" dt="2023-08-08T20:31:02.506" v="16" actId="20577"/>
        <pc:sldMkLst>
          <pc:docMk/>
          <pc:sldMk cId="0" sldId="275"/>
        </pc:sldMkLst>
        <pc:spChg chg="mod">
          <ac:chgData name="FABIO SA" userId="94edb27a-f0a8-4624-8ff3-eae76013cbb2" providerId="ADAL" clId="{A499C4D6-CBC4-4BA9-B358-9AB90D3498E0}" dt="2023-08-08T20:30:32.678" v="2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FABIO SA" userId="94edb27a-f0a8-4624-8ff3-eae76013cbb2" providerId="ADAL" clId="{A499C4D6-CBC4-4BA9-B358-9AB90D3498E0}" dt="2023-08-08T20:31:02.506" v="16" actId="20577"/>
          <ac:spMkLst>
            <pc:docMk/>
            <pc:sldMk cId="0" sldId="275"/>
            <ac:spMk id="3" creationId="{00000000-0000-0000-0000-000000000000}"/>
          </ac:spMkLst>
        </pc:spChg>
      </pc:sldChg>
      <pc:sldChg chg="addSp delSp modSp add mod">
        <pc:chgData name="FABIO SA" userId="94edb27a-f0a8-4624-8ff3-eae76013cbb2" providerId="ADAL" clId="{A499C4D6-CBC4-4BA9-B358-9AB90D3498E0}" dt="2023-08-08T20:52:32.625" v="532" actId="1076"/>
        <pc:sldMkLst>
          <pc:docMk/>
          <pc:sldMk cId="1846957960" sldId="276"/>
        </pc:sldMkLst>
        <pc:spChg chg="mod">
          <ac:chgData name="FABIO SA" userId="94edb27a-f0a8-4624-8ff3-eae76013cbb2" providerId="ADAL" clId="{A499C4D6-CBC4-4BA9-B358-9AB90D3498E0}" dt="2023-08-08T20:31:22.296" v="47" actId="20577"/>
          <ac:spMkLst>
            <pc:docMk/>
            <pc:sldMk cId="1846957960" sldId="276"/>
            <ac:spMk id="2" creationId="{00000000-0000-0000-0000-000000000000}"/>
          </ac:spMkLst>
        </pc:spChg>
        <pc:spChg chg="mod">
          <ac:chgData name="FABIO SA" userId="94edb27a-f0a8-4624-8ff3-eae76013cbb2" providerId="ADAL" clId="{A499C4D6-CBC4-4BA9-B358-9AB90D3498E0}" dt="2023-08-08T20:52:31.318" v="531" actId="1076"/>
          <ac:spMkLst>
            <pc:docMk/>
            <pc:sldMk cId="1846957960" sldId="276"/>
            <ac:spMk id="3" creationId="{00000000-0000-0000-0000-000000000000}"/>
          </ac:spMkLst>
        </pc:spChg>
        <pc:picChg chg="add mod modCrop">
          <ac:chgData name="FABIO SA" userId="94edb27a-f0a8-4624-8ff3-eae76013cbb2" providerId="ADAL" clId="{A499C4D6-CBC4-4BA9-B358-9AB90D3498E0}" dt="2023-08-08T20:52:32.625" v="532" actId="1076"/>
          <ac:picMkLst>
            <pc:docMk/>
            <pc:sldMk cId="1846957960" sldId="276"/>
            <ac:picMk id="5" creationId="{B945D04F-DA33-A11A-20A4-B644A87A736D}"/>
          </ac:picMkLst>
        </pc:picChg>
        <pc:picChg chg="del">
          <ac:chgData name="FABIO SA" userId="94edb27a-f0a8-4624-8ff3-eae76013cbb2" providerId="ADAL" clId="{A499C4D6-CBC4-4BA9-B358-9AB90D3498E0}" dt="2023-08-08T20:31:28.736" v="49" actId="478"/>
          <ac:picMkLst>
            <pc:docMk/>
            <pc:sldMk cId="1846957960" sldId="276"/>
            <ac:picMk id="2050" creationId="{00000000-0000-0000-0000-000000000000}"/>
          </ac:picMkLst>
        </pc:picChg>
      </pc:sldChg>
      <pc:sldChg chg="new del">
        <pc:chgData name="FABIO SA" userId="94edb27a-f0a8-4624-8ff3-eae76013cbb2" providerId="ADAL" clId="{A499C4D6-CBC4-4BA9-B358-9AB90D3498E0}" dt="2023-08-08T20:34:49.956" v="322" actId="680"/>
        <pc:sldMkLst>
          <pc:docMk/>
          <pc:sldMk cId="320819048" sldId="277"/>
        </pc:sldMkLst>
      </pc:sldChg>
    </pc:docChg>
  </pc:docChgLst>
  <pc:docChgLst>
    <pc:chgData name="FABIO PESSOA DE SA" userId="94edb27a-f0a8-4624-8ff3-eae76013cbb2" providerId="ADAL" clId="{1CE78798-BE81-4BCD-A06A-B4671053B8F5}"/>
    <pc:docChg chg="custSel modSld">
      <pc:chgData name="FABIO PESSOA DE SA" userId="94edb27a-f0a8-4624-8ff3-eae76013cbb2" providerId="ADAL" clId="{1CE78798-BE81-4BCD-A06A-B4671053B8F5}" dt="2021-08-17T00:17:07.150" v="24" actId="478"/>
      <pc:docMkLst>
        <pc:docMk/>
      </pc:docMkLst>
      <pc:sldChg chg="addSp delSp modSp mod">
        <pc:chgData name="FABIO PESSOA DE SA" userId="94edb27a-f0a8-4624-8ff3-eae76013cbb2" providerId="ADAL" clId="{1CE78798-BE81-4BCD-A06A-B4671053B8F5}" dt="2021-08-16T20:25:57.645" v="22" actId="478"/>
        <pc:sldMkLst>
          <pc:docMk/>
          <pc:sldMk cId="0" sldId="264"/>
        </pc:sldMkLst>
        <pc:spChg chg="add del mod">
          <ac:chgData name="FABIO PESSOA DE SA" userId="94edb27a-f0a8-4624-8ff3-eae76013cbb2" providerId="ADAL" clId="{1CE78798-BE81-4BCD-A06A-B4671053B8F5}" dt="2021-08-16T20:25:57.645" v="22" actId="478"/>
          <ac:spMkLst>
            <pc:docMk/>
            <pc:sldMk cId="0" sldId="264"/>
            <ac:spMk id="7" creationId="{3B6D5A13-FE19-4B8E-AED0-72346B34C00D}"/>
          </ac:spMkLst>
        </pc:spChg>
      </pc:sldChg>
      <pc:sldChg chg="addSp delSp modSp mod">
        <pc:chgData name="FABIO PESSOA DE SA" userId="94edb27a-f0a8-4624-8ff3-eae76013cbb2" providerId="ADAL" clId="{1CE78798-BE81-4BCD-A06A-B4671053B8F5}" dt="2021-08-17T00:17:07.150" v="24" actId="478"/>
        <pc:sldMkLst>
          <pc:docMk/>
          <pc:sldMk cId="0" sldId="274"/>
        </pc:sldMkLst>
        <pc:spChg chg="add del mod">
          <ac:chgData name="FABIO PESSOA DE SA" userId="94edb27a-f0a8-4624-8ff3-eae76013cbb2" providerId="ADAL" clId="{1CE78798-BE81-4BCD-A06A-B4671053B8F5}" dt="2021-08-17T00:17:07.150" v="24" actId="478"/>
          <ac:spMkLst>
            <pc:docMk/>
            <pc:sldMk cId="0" sldId="274"/>
            <ac:spMk id="3" creationId="{8AB43DD7-B251-437F-906F-BEE7D2CF6F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Processadores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67000" y="3933056"/>
            <a:ext cx="6477000" cy="1828800"/>
          </a:xfrm>
        </p:spPr>
        <p:txBody>
          <a:bodyPr/>
          <a:lstStyle/>
          <a:p>
            <a:pPr algn="r"/>
            <a:r>
              <a:rPr lang="pt-BR" dirty="0"/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  <p:pic>
        <p:nvPicPr>
          <p:cNvPr id="7" name="Imagem 6" descr="Nehalem-Glamour-Shot-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96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Processadores</a:t>
            </a:r>
          </a:p>
        </p:txBody>
      </p:sp>
      <p:pic>
        <p:nvPicPr>
          <p:cNvPr id="2050" name="Picture 2" descr="hard-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064" y="2636912"/>
            <a:ext cx="767987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3A9663D1-4FCB-49D0-A3AB-05C369194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44824"/>
            <a:ext cx="8153400" cy="532656"/>
          </a:xfrm>
        </p:spPr>
        <p:txBody>
          <a:bodyPr>
            <a:normAutofit/>
          </a:bodyPr>
          <a:lstStyle/>
          <a:p>
            <a:r>
              <a:rPr lang="pt-BR" sz="2500" i="1" dirty="0"/>
              <a:t>Manuseio</a:t>
            </a:r>
            <a:endParaRPr lang="pt-BR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Soquetes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416942"/>
            <a:ext cx="8153400" cy="532656"/>
          </a:xfrm>
        </p:spPr>
        <p:txBody>
          <a:bodyPr>
            <a:normAutofit/>
          </a:bodyPr>
          <a:lstStyle/>
          <a:p>
            <a:r>
              <a:rPr lang="pt-BR" sz="2500" i="1" dirty="0"/>
              <a:t>Soquete</a:t>
            </a:r>
            <a:r>
              <a:rPr lang="pt-BR" sz="2500" dirty="0"/>
              <a:t>: Conector do Processador localizado na placa mãe.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://www.gdhpress.com.br/hmc/leia/cap2-41_html_m33f5b9c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1" y="1944415"/>
            <a:ext cx="2000250" cy="1524001"/>
          </a:xfrm>
          <a:prstGeom prst="rect">
            <a:avLst/>
          </a:prstGeom>
          <a:noFill/>
        </p:spPr>
      </p:pic>
      <p:pic>
        <p:nvPicPr>
          <p:cNvPr id="1032" name="Picture 8" descr="http://t1.gstatic.com/images?q=tbn:ANd9GcQHn-enoSwd8wy3Xdkn2QN4JnRPSVgf6TcGljSTw-ucd8skKxJYFA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4234" y="1944415"/>
            <a:ext cx="1719461" cy="1491151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335751" y="3375283"/>
            <a:ext cx="1979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478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719730" y="3384575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462</a:t>
            </a:r>
          </a:p>
        </p:txBody>
      </p:sp>
      <p:pic>
        <p:nvPicPr>
          <p:cNvPr id="1034" name="Picture 10" descr="http://www.infowester.com/img_art/proc2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35743" y="1944415"/>
            <a:ext cx="2002477" cy="1589907"/>
          </a:xfrm>
          <a:prstGeom prst="rect">
            <a:avLst/>
          </a:prstGeom>
          <a:noFill/>
        </p:spPr>
      </p:pic>
      <p:sp>
        <p:nvSpPr>
          <p:cNvPr id="11" name="CaixaDeTexto 10"/>
          <p:cNvSpPr txBox="1"/>
          <p:nvPr/>
        </p:nvSpPr>
        <p:spPr>
          <a:xfrm>
            <a:off x="4763735" y="3384575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LGA 775</a:t>
            </a:r>
          </a:p>
        </p:txBody>
      </p:sp>
      <p:pic>
        <p:nvPicPr>
          <p:cNvPr id="1036" name="Picture 12" descr="http://upload.wikimedia.org/wikipedia/commons/4/42/Asus_P7P55-M_LGA_115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1944415"/>
            <a:ext cx="1919927" cy="1440160"/>
          </a:xfrm>
          <a:prstGeom prst="rect">
            <a:avLst/>
          </a:prstGeom>
          <a:noFill/>
        </p:spPr>
      </p:pic>
      <p:sp>
        <p:nvSpPr>
          <p:cNvPr id="13" name="CaixaDeTexto 12"/>
          <p:cNvSpPr txBox="1"/>
          <p:nvPr/>
        </p:nvSpPr>
        <p:spPr>
          <a:xfrm>
            <a:off x="7020272" y="3384575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LGA 1156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F5E077-275F-4B3B-ACF0-4FBC9F5A9A43}"/>
              </a:ext>
            </a:extLst>
          </p:cNvPr>
          <p:cNvSpPr/>
          <p:nvPr/>
        </p:nvSpPr>
        <p:spPr>
          <a:xfrm>
            <a:off x="4748764" y="3715546"/>
            <a:ext cx="207448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00" i="1" dirty="0">
                <a:solidFill>
                  <a:srgbClr val="666666"/>
                </a:solidFill>
                <a:latin typeface="Roboto"/>
              </a:rPr>
              <a:t>Celeron, Xeon e em todos Core 2 Duo, Core 2 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Quad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 e Core Extreme</a:t>
            </a:r>
            <a:endParaRPr lang="pt-BR" sz="1300" i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3AF187-A99C-40CC-AA73-D27CCB68A670}"/>
              </a:ext>
            </a:extLst>
          </p:cNvPr>
          <p:cNvSpPr/>
          <p:nvPr/>
        </p:nvSpPr>
        <p:spPr>
          <a:xfrm>
            <a:off x="6972553" y="3731035"/>
            <a:ext cx="1787977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00" i="1" dirty="0">
                <a:solidFill>
                  <a:srgbClr val="666666"/>
                </a:solidFill>
                <a:latin typeface="Roboto"/>
              </a:rPr>
              <a:t> 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i3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 ; 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i5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 ; 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i7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 </a:t>
            </a:r>
            <a:endParaRPr lang="pt-BR" sz="1300" i="1" dirty="0"/>
          </a:p>
        </p:txBody>
      </p:sp>
      <p:pic>
        <p:nvPicPr>
          <p:cNvPr id="6" name="Picture 2" descr="https://images-blogger-opensocial.googleusercontent.com/gadgets/proxy?url=http%3A%2F%2Fupload.wikimedia.org%2Fwikipedia%2Fcommons%2F0%2F00%2FIntel_Socket_1150_IMGP8593_smial_wp.jpg&amp;container=blogger&amp;gadget=a&amp;rewriteMime=image%2F*">
            <a:extLst>
              <a:ext uri="{FF2B5EF4-FFF2-40B4-BE49-F238E27FC236}">
                <a16:creationId xmlns:a16="http://schemas.microsoft.com/office/drawing/2014/main" id="{DEA48CEF-3B43-434F-8721-CE70669167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5" t="17921" b="19003"/>
          <a:stretch/>
        </p:blipFill>
        <p:spPr bwMode="auto">
          <a:xfrm>
            <a:off x="420256" y="4449896"/>
            <a:ext cx="2182301" cy="160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01E21A1F-3678-41FB-8745-73AB451F60A4}"/>
              </a:ext>
            </a:extLst>
          </p:cNvPr>
          <p:cNvSpPr txBox="1"/>
          <p:nvPr/>
        </p:nvSpPr>
        <p:spPr>
          <a:xfrm>
            <a:off x="480041" y="6015842"/>
            <a:ext cx="221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LGA</a:t>
            </a:r>
            <a:r>
              <a:rPr lang="pt-BR" dirty="0"/>
              <a:t> 1150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5FC6B98-DBB8-4FDD-B0DE-8D079BC45912}"/>
              </a:ext>
            </a:extLst>
          </p:cNvPr>
          <p:cNvSpPr/>
          <p:nvPr/>
        </p:nvSpPr>
        <p:spPr>
          <a:xfrm>
            <a:off x="543155" y="6376972"/>
            <a:ext cx="207463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00" i="1" dirty="0">
                <a:solidFill>
                  <a:srgbClr val="666666"/>
                </a:solidFill>
                <a:latin typeface="Roboto"/>
              </a:rPr>
              <a:t> 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i3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; 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i5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; </a:t>
            </a:r>
            <a:r>
              <a:rPr lang="pt-BR" sz="1300" i="1" dirty="0" err="1">
                <a:solidFill>
                  <a:srgbClr val="666666"/>
                </a:solidFill>
                <a:latin typeface="Roboto"/>
              </a:rPr>
              <a:t>i7</a:t>
            </a:r>
            <a:r>
              <a:rPr lang="pt-BR" sz="1300" i="1" dirty="0">
                <a:solidFill>
                  <a:srgbClr val="666666"/>
                </a:solidFill>
                <a:latin typeface="Roboto"/>
              </a:rPr>
              <a:t> (4ª geração) </a:t>
            </a:r>
            <a:endParaRPr lang="pt-BR" sz="1300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5CCF30F-37AB-41D0-A9C1-69202437D5DC}"/>
              </a:ext>
            </a:extLst>
          </p:cNvPr>
          <p:cNvSpPr/>
          <p:nvPr/>
        </p:nvSpPr>
        <p:spPr>
          <a:xfrm>
            <a:off x="344543" y="3719498"/>
            <a:ext cx="207463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00" i="1" dirty="0">
                <a:solidFill>
                  <a:srgbClr val="666666"/>
                </a:solidFill>
                <a:latin typeface="Roboto"/>
              </a:rPr>
              <a:t>Pentium 4</a:t>
            </a:r>
            <a:endParaRPr lang="pt-BR" sz="1300" i="1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6E075A6-8A4A-45C3-B39D-05630ECEB3EF}"/>
              </a:ext>
            </a:extLst>
          </p:cNvPr>
          <p:cNvSpPr/>
          <p:nvPr/>
        </p:nvSpPr>
        <p:spPr>
          <a:xfrm>
            <a:off x="2568332" y="3717032"/>
            <a:ext cx="207463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00" i="1" dirty="0">
                <a:solidFill>
                  <a:srgbClr val="666666"/>
                </a:solidFill>
                <a:latin typeface="Roboto"/>
              </a:rPr>
              <a:t>Athlon; Duron</a:t>
            </a:r>
            <a:endParaRPr lang="pt-BR" sz="13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8447" y="1628513"/>
            <a:ext cx="8153400" cy="4997152"/>
          </a:xfrm>
        </p:spPr>
        <p:txBody>
          <a:bodyPr>
            <a:noAutofit/>
          </a:bodyPr>
          <a:lstStyle/>
          <a:p>
            <a:r>
              <a:rPr lang="pt-BR" sz="2500" i="1" dirty="0"/>
              <a:t>Velocidade de um processador é medida em MHz (megahertz) ou GHz (Gigahertz);</a:t>
            </a:r>
            <a:br>
              <a:rPr lang="pt-BR" sz="2500" i="1" dirty="0"/>
            </a:br>
            <a:r>
              <a:rPr lang="pt-BR" sz="2500" i="1" dirty="0"/>
              <a:t>1 GHz = 1000 </a:t>
            </a:r>
            <a:r>
              <a:rPr lang="pt-BR" sz="2500" i="1" dirty="0" err="1"/>
              <a:t>Mhz</a:t>
            </a:r>
            <a:r>
              <a:rPr lang="pt-BR" sz="2500" i="1" dirty="0"/>
              <a:t> = 1 bilhão de ciclos por segundo</a:t>
            </a:r>
          </a:p>
          <a:p>
            <a:endParaRPr lang="pt-BR" sz="2500" i="1" dirty="0"/>
          </a:p>
          <a:p>
            <a:r>
              <a:rPr lang="pt-BR" sz="2500" i="1" dirty="0"/>
              <a:t>Quanto maior o número de GHz, maior será o número de operações realizadas por segundo.</a:t>
            </a:r>
          </a:p>
          <a:p>
            <a:endParaRPr lang="pt-BR" sz="2500" i="1" dirty="0"/>
          </a:p>
          <a:p>
            <a:r>
              <a:rPr lang="pt-BR" sz="2500" i="1" dirty="0"/>
              <a:t>Velocidade do processador é chamada de </a:t>
            </a:r>
            <a:r>
              <a:rPr lang="pt-BR" sz="2500" i="1" dirty="0" err="1"/>
              <a:t>clock</a:t>
            </a:r>
            <a:r>
              <a:rPr lang="pt-BR" sz="2500" i="1" dirty="0"/>
              <a:t>. </a:t>
            </a:r>
            <a:br>
              <a:rPr lang="pt-BR" sz="2500" i="1" dirty="0"/>
            </a:br>
            <a:r>
              <a:rPr lang="pt-BR" sz="2500" i="1" dirty="0"/>
              <a:t>Ex.: </a:t>
            </a:r>
            <a:r>
              <a:rPr lang="pt-BR" sz="2500" b="1" i="1" dirty="0"/>
              <a:t>Pentium 4</a:t>
            </a:r>
            <a:r>
              <a:rPr lang="pt-BR" sz="2500" i="1" dirty="0"/>
              <a:t> 3.2 tem </a:t>
            </a:r>
            <a:r>
              <a:rPr lang="pt-BR" sz="2500" i="1" dirty="0" err="1"/>
              <a:t>clock</a:t>
            </a:r>
            <a:r>
              <a:rPr lang="pt-BR" sz="2500" i="1" dirty="0"/>
              <a:t> de 3.2 GHz</a:t>
            </a:r>
          </a:p>
          <a:p>
            <a:pPr>
              <a:buNone/>
            </a:pPr>
            <a:endParaRPr lang="pt-BR" sz="2500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997152"/>
          </a:xfrm>
        </p:spPr>
        <p:txBody>
          <a:bodyPr>
            <a:noAutofit/>
          </a:bodyPr>
          <a:lstStyle/>
          <a:p>
            <a:r>
              <a:rPr lang="pt-BR" sz="2500" i="1" dirty="0"/>
              <a:t>Atualmente os processadores têm seus </a:t>
            </a:r>
            <a:r>
              <a:rPr lang="pt-BR" sz="2500" i="1" dirty="0" err="1"/>
              <a:t>clocks</a:t>
            </a:r>
            <a:r>
              <a:rPr lang="pt-BR" sz="2500" i="1" dirty="0"/>
              <a:t> interno e externo configurados de forma automática;</a:t>
            </a:r>
          </a:p>
          <a:p>
            <a:r>
              <a:rPr lang="pt-BR" sz="2500" i="1" dirty="0"/>
              <a:t>Todas as placas mãe possuem um circuito que controla a velocidade do processador, o gerador de </a:t>
            </a:r>
            <a:r>
              <a:rPr lang="pt-BR" sz="2500" i="1" dirty="0" err="1"/>
              <a:t>clock</a:t>
            </a:r>
            <a:r>
              <a:rPr lang="pt-BR" sz="2500" i="1" dirty="0"/>
              <a:t>;</a:t>
            </a:r>
          </a:p>
          <a:p>
            <a:r>
              <a:rPr lang="pt-BR" sz="2500" i="1" dirty="0"/>
              <a:t>O </a:t>
            </a:r>
            <a:r>
              <a:rPr lang="pt-BR" sz="2500" i="1" dirty="0" err="1"/>
              <a:t>clock</a:t>
            </a:r>
            <a:r>
              <a:rPr lang="pt-BR" sz="2500" i="1" dirty="0"/>
              <a:t> é um sinal eletrônico que realiza rápidas transições entre uma tensão máxima e uma tensão mínima, </a:t>
            </a:r>
            <a:r>
              <a:rPr lang="pt-BR" sz="2500" i="1" dirty="0" err="1"/>
              <a:t>proxima</a:t>
            </a:r>
            <a:r>
              <a:rPr lang="pt-BR" sz="2500" i="1" dirty="0"/>
              <a:t> de 0 volt.</a:t>
            </a:r>
          </a:p>
          <a:p>
            <a:r>
              <a:rPr lang="pt-BR" sz="2500" i="1" dirty="0"/>
              <a:t>O chip gerador de </a:t>
            </a:r>
            <a:r>
              <a:rPr lang="pt-BR" sz="2500" i="1" dirty="0" err="1"/>
              <a:t>clocks</a:t>
            </a:r>
            <a:r>
              <a:rPr lang="pt-BR" sz="2500" i="1" dirty="0"/>
              <a:t> define a </a:t>
            </a:r>
            <a:br>
              <a:rPr lang="pt-BR" sz="2500" i="1" dirty="0"/>
            </a:br>
            <a:r>
              <a:rPr lang="pt-BR" sz="2500" i="1" dirty="0"/>
              <a:t>velocidade do processador, memória, </a:t>
            </a:r>
            <a:br>
              <a:rPr lang="pt-BR" sz="2500" i="1" dirty="0"/>
            </a:br>
            <a:r>
              <a:rPr lang="pt-BR" sz="2500" i="1" dirty="0" err="1"/>
              <a:t>chipset</a:t>
            </a:r>
            <a:r>
              <a:rPr lang="pt-BR" sz="2500" i="1" dirty="0"/>
              <a:t>, PCI, AGP.</a:t>
            </a:r>
            <a:endParaRPr lang="pt-BR" sz="2500" dirty="0"/>
          </a:p>
          <a:p>
            <a:endParaRPr lang="pt-BR" sz="2500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338" name="Picture 2" descr="http://www.laercio.com.br/artigos/hardware/hard-052/a03_01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4414398"/>
            <a:ext cx="2982466" cy="19616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997152"/>
          </a:xfrm>
        </p:spPr>
        <p:txBody>
          <a:bodyPr>
            <a:noAutofit/>
          </a:bodyPr>
          <a:lstStyle/>
          <a:p>
            <a:r>
              <a:rPr lang="pt-BR" sz="2500" i="1" dirty="0"/>
              <a:t>Todo Processador tem duas velocidades:</a:t>
            </a:r>
          </a:p>
          <a:p>
            <a:r>
              <a:rPr lang="pt-BR" sz="2500" b="1" i="1" dirty="0" err="1"/>
              <a:t>Clock</a:t>
            </a:r>
            <a:r>
              <a:rPr lang="pt-BR" sz="2500" b="1" i="1" dirty="0"/>
              <a:t> Interno</a:t>
            </a:r>
            <a:r>
              <a:rPr lang="pt-BR" sz="2500" i="1" dirty="0"/>
              <a:t>: Velocidade de </a:t>
            </a:r>
            <a:br>
              <a:rPr lang="pt-BR" sz="2500" i="1" dirty="0"/>
            </a:br>
            <a:r>
              <a:rPr lang="pt-BR" sz="2500" i="1" dirty="0"/>
              <a:t>execução de programas;</a:t>
            </a:r>
          </a:p>
          <a:p>
            <a:r>
              <a:rPr lang="pt-BR" sz="2500" b="1" i="1" dirty="0" err="1"/>
              <a:t>Clock</a:t>
            </a:r>
            <a:r>
              <a:rPr lang="pt-BR" sz="2500" b="1" i="1" dirty="0"/>
              <a:t> Externo</a:t>
            </a:r>
            <a:r>
              <a:rPr lang="pt-BR" sz="2500" i="1" dirty="0"/>
              <a:t>: Velocidade de </a:t>
            </a:r>
            <a:br>
              <a:rPr lang="pt-BR" sz="2500" i="1" dirty="0"/>
            </a:br>
            <a:r>
              <a:rPr lang="pt-BR" sz="2500" i="1" dirty="0"/>
              <a:t>acesso à memória e outras </a:t>
            </a:r>
            <a:br>
              <a:rPr lang="pt-BR" sz="2500" i="1" dirty="0"/>
            </a:br>
            <a:r>
              <a:rPr lang="pt-BR" sz="2500" i="1" dirty="0"/>
              <a:t>partes do computador</a:t>
            </a:r>
          </a:p>
          <a:p>
            <a:endParaRPr lang="pt-BR" sz="2500" dirty="0"/>
          </a:p>
          <a:p>
            <a:r>
              <a:rPr lang="pt-BR" sz="2500" i="1" dirty="0"/>
              <a:t>Ex.: Core 2 </a:t>
            </a:r>
            <a:r>
              <a:rPr lang="pt-BR" sz="2500" i="1" dirty="0" err="1"/>
              <a:t>Quad</a:t>
            </a:r>
            <a:r>
              <a:rPr lang="pt-BR" sz="2500" i="1" dirty="0"/>
              <a:t> modelo </a:t>
            </a:r>
            <a:br>
              <a:rPr lang="pt-BR" sz="2500" i="1" dirty="0"/>
            </a:br>
            <a:r>
              <a:rPr lang="pt-BR" sz="2500" i="1" dirty="0"/>
              <a:t>Q9650</a:t>
            </a:r>
          </a:p>
          <a:p>
            <a:r>
              <a:rPr lang="pt-BR" sz="2500" b="1" dirty="0" err="1"/>
              <a:t>Clock</a:t>
            </a:r>
            <a:r>
              <a:rPr lang="pt-BR" sz="2500" b="1" dirty="0"/>
              <a:t> Interno</a:t>
            </a:r>
            <a:r>
              <a:rPr lang="pt-BR" sz="2500" dirty="0"/>
              <a:t>: 3 GHz</a:t>
            </a:r>
          </a:p>
          <a:p>
            <a:r>
              <a:rPr lang="pt-BR" sz="2500" b="1" dirty="0" err="1"/>
              <a:t>Clock</a:t>
            </a:r>
            <a:r>
              <a:rPr lang="pt-BR" sz="2500" b="1" dirty="0"/>
              <a:t> Externo</a:t>
            </a:r>
            <a:r>
              <a:rPr lang="pt-BR" sz="2500" dirty="0"/>
              <a:t>: 1,3 GHz</a:t>
            </a:r>
          </a:p>
          <a:p>
            <a:endParaRPr lang="pt-BR" sz="2500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 l="35139" t="21282" r="34976" b="26547"/>
          <a:stretch>
            <a:fillRect/>
          </a:stretch>
        </p:blipFill>
        <p:spPr bwMode="auto">
          <a:xfrm>
            <a:off x="4962102" y="2276872"/>
            <a:ext cx="418189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691680" y="4581128"/>
            <a:ext cx="6408712" cy="13681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997152"/>
          </a:xfrm>
        </p:spPr>
        <p:txBody>
          <a:bodyPr>
            <a:noAutofit/>
          </a:bodyPr>
          <a:lstStyle/>
          <a:p>
            <a:r>
              <a:rPr lang="pt-BR" sz="2500" i="1" dirty="0"/>
              <a:t>FSB (Front </a:t>
            </a:r>
            <a:r>
              <a:rPr lang="pt-BR" sz="2500" i="1" dirty="0" err="1"/>
              <a:t>Side</a:t>
            </a:r>
            <a:r>
              <a:rPr lang="pt-BR" sz="2500" i="1" dirty="0"/>
              <a:t> Bus – barramento do sistema – barramento externo – </a:t>
            </a:r>
            <a:r>
              <a:rPr lang="pt-BR" sz="2500" i="1" dirty="0" err="1"/>
              <a:t>clock</a:t>
            </a:r>
            <a:r>
              <a:rPr lang="pt-BR" sz="2500" i="1" dirty="0"/>
              <a:t> externo).</a:t>
            </a:r>
          </a:p>
          <a:p>
            <a:r>
              <a:rPr lang="pt-BR" sz="2500" i="1" dirty="0"/>
              <a:t>Para que um processador seja compatível com uma placa mãe, é preciso que a placa tenha o tipo de soquete requerido e a velocidade do FSB COMPATÍVEL:</a:t>
            </a:r>
          </a:p>
          <a:p>
            <a:endParaRPr lang="pt-BR" sz="2500" i="1" dirty="0"/>
          </a:p>
          <a:p>
            <a:endParaRPr lang="pt-BR" sz="2500" i="1" dirty="0"/>
          </a:p>
          <a:p>
            <a:pPr algn="ctr">
              <a:buNone/>
            </a:pPr>
            <a:r>
              <a:rPr lang="pt-BR" sz="2500" i="1" dirty="0"/>
              <a:t>A VELOCIDADE DO FSB DA PLACA MÃE </a:t>
            </a:r>
            <a:br>
              <a:rPr lang="pt-BR" sz="2500" i="1" dirty="0"/>
            </a:br>
            <a:r>
              <a:rPr lang="pt-BR" sz="2500" i="1" dirty="0"/>
              <a:t>DEVE SER IGUAL OU SUPERIOR À DO FSB DO PROCESSADOR</a:t>
            </a:r>
          </a:p>
          <a:p>
            <a:endParaRPr lang="pt-BR" sz="2500" dirty="0"/>
          </a:p>
          <a:p>
            <a:endParaRPr lang="pt-BR" sz="2500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8434" name="Picture 2" descr="http://proavirtualg13.pbworks.com/f/clock%20extern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844824"/>
            <a:ext cx="7277100" cy="38290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Processadores - </a:t>
            </a:r>
            <a:r>
              <a:rPr lang="pt-BR" sz="2800" i="1" dirty="0" err="1"/>
              <a:t>Clocks</a:t>
            </a:r>
            <a:endParaRPr lang="pt-BR" sz="28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1560" y="1700808"/>
            <a:ext cx="8153400" cy="4997152"/>
          </a:xfrm>
        </p:spPr>
        <p:txBody>
          <a:bodyPr>
            <a:noAutofit/>
          </a:bodyPr>
          <a:lstStyle/>
          <a:p>
            <a:r>
              <a:rPr lang="pt-BR" sz="2500" i="1" dirty="0"/>
              <a:t>A cache é uma pequena quantidade de memória super rápida e cara, que serve para acelerar o desempenho da memória RAM;</a:t>
            </a:r>
          </a:p>
          <a:p>
            <a:endParaRPr lang="pt-BR" sz="2500" i="1" dirty="0"/>
          </a:p>
          <a:p>
            <a:r>
              <a:rPr lang="pt-BR" sz="2500" i="1" dirty="0"/>
              <a:t>Necessária para acompanhar a</a:t>
            </a:r>
            <a:br>
              <a:rPr lang="pt-BR" sz="2500" i="1" dirty="0"/>
            </a:br>
            <a:r>
              <a:rPr lang="pt-BR" sz="2500" i="1" dirty="0"/>
              <a:t>velocidade do CPU.</a:t>
            </a:r>
          </a:p>
          <a:p>
            <a:endParaRPr lang="pt-BR" sz="2500" i="1" dirty="0"/>
          </a:p>
          <a:p>
            <a:endParaRPr lang="pt-BR" sz="2500" dirty="0"/>
          </a:p>
          <a:p>
            <a:endParaRPr lang="pt-BR" sz="2500" dirty="0"/>
          </a:p>
        </p:txBody>
      </p:sp>
      <p:pic>
        <p:nvPicPr>
          <p:cNvPr id="8" name="Picture 2" descr="http://www.hardware.com.br/imagens/img-de3f8c59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2780927"/>
            <a:ext cx="4075515" cy="3785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Identificando os componentes de hardware.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23528" y="1700808"/>
            <a:ext cx="5039472" cy="4536504"/>
          </a:xfrm>
        </p:spPr>
        <p:txBody>
          <a:bodyPr>
            <a:noAutofit/>
          </a:bodyPr>
          <a:lstStyle/>
          <a:p>
            <a:r>
              <a:rPr lang="pt-BR" sz="2500" i="1" dirty="0"/>
              <a:t>Observe as informações no processador;</a:t>
            </a:r>
          </a:p>
          <a:p>
            <a:endParaRPr lang="pt-BR" sz="2500" i="1" dirty="0"/>
          </a:p>
          <a:p>
            <a:r>
              <a:rPr lang="pt-BR" sz="2500" i="1" dirty="0"/>
              <a:t>Verifique a necessidade de trocar a pasta térmica do processador (em casa);</a:t>
            </a:r>
          </a:p>
          <a:p>
            <a:endParaRPr lang="pt-BR" sz="2500" i="1" dirty="0"/>
          </a:p>
          <a:p>
            <a:r>
              <a:rPr lang="pt-BR" sz="2500" i="1" dirty="0"/>
              <a:t>Recoloque o Processador de acordo com o chanfro (nunca force o componente).</a:t>
            </a:r>
          </a:p>
        </p:txBody>
      </p:sp>
      <p:pic>
        <p:nvPicPr>
          <p:cNvPr id="2050" name="Picture 2" descr="Fotos de  VENDO PROCESSADOR PENTIUM 4 - 2.4 GHZ SOCKET 47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1700808"/>
            <a:ext cx="3635896" cy="36358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Tarefa no Laboratório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504" y="1440160"/>
            <a:ext cx="9036496" cy="54178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2400" b="1" dirty="0"/>
              <a:t>Em duplas ou trios pesquisem: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A)</a:t>
            </a:r>
            <a:r>
              <a:rPr lang="pt-BR" sz="1800" dirty="0"/>
              <a:t> </a:t>
            </a:r>
            <a:r>
              <a:rPr lang="pt-BR" sz="1800" b="1" dirty="0"/>
              <a:t>No Laboratório </a:t>
            </a:r>
            <a:r>
              <a:rPr lang="pt-BR" sz="1800" dirty="0"/>
              <a:t>- os 03 soquetes de CPU mais recentes (Intel ou AMD) dos processadores de </a:t>
            </a:r>
            <a:r>
              <a:rPr lang="pt-BR" sz="1800" dirty="0" err="1"/>
              <a:t>PC’s</a:t>
            </a:r>
            <a:r>
              <a:rPr lang="pt-BR" sz="18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Ex.:</a:t>
            </a:r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B) Em casa </a:t>
            </a:r>
            <a:r>
              <a:rPr lang="pt-BR" sz="1800" dirty="0"/>
              <a:t>-</a:t>
            </a:r>
            <a:r>
              <a:rPr lang="pt-BR" sz="1800" b="1" dirty="0"/>
              <a:t> </a:t>
            </a:r>
            <a:r>
              <a:rPr lang="pt-BR" sz="1800" dirty="0"/>
              <a:t>com ajuda de uma ferramenta (ex. CPU-Z) identifique as características do processador do seu computador explicadas na aula (ex. cache; </a:t>
            </a:r>
            <a:r>
              <a:rPr lang="pt-BR" sz="1800" dirty="0" err="1"/>
              <a:t>clock</a:t>
            </a:r>
            <a:r>
              <a:rPr lang="pt-BR" sz="1800" dirty="0"/>
              <a:t>; tecnologia; modelo; marca; </a:t>
            </a:r>
            <a:r>
              <a:rPr lang="pt-BR" sz="1800" dirty="0" err="1"/>
              <a:t>etc</a:t>
            </a:r>
            <a:r>
              <a:rPr lang="pt-BR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Envie relatório digitado (não é print) único (</a:t>
            </a:r>
            <a:r>
              <a:rPr lang="pt-BR" sz="1800" b="1" dirty="0"/>
              <a:t>A</a:t>
            </a:r>
            <a:r>
              <a:rPr lang="pt-BR" sz="1800" dirty="0"/>
              <a:t> e </a:t>
            </a:r>
            <a:r>
              <a:rPr lang="pt-BR" sz="1800" b="1" dirty="0"/>
              <a:t>B</a:t>
            </a:r>
            <a:r>
              <a:rPr lang="pt-BR" sz="1800" dirty="0"/>
              <a:t>) para e-mail: </a:t>
            </a:r>
            <a:r>
              <a:rPr lang="pt-BR" sz="1800" b="1" dirty="0"/>
              <a:t>fabio@fatecpg.edu.br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Assunto: </a:t>
            </a:r>
            <a:r>
              <a:rPr lang="pt-BR" sz="1800" b="1" dirty="0"/>
              <a:t>TRABALHO LH </a:t>
            </a:r>
            <a:br>
              <a:rPr lang="pt-BR" sz="1800" b="1" dirty="0"/>
            </a:br>
            <a:r>
              <a:rPr lang="pt-BR" sz="1800" dirty="0"/>
              <a:t>Incluir: </a:t>
            </a:r>
            <a:r>
              <a:rPr lang="pt-BR" sz="1800" b="1" dirty="0"/>
              <a:t>Nomes completos dos alunos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Prazo: </a:t>
            </a:r>
            <a:r>
              <a:rPr lang="pt-BR" sz="1800" b="1" dirty="0"/>
              <a:t>01 semana</a:t>
            </a:r>
            <a:br>
              <a:rPr lang="pt-BR" sz="2500" b="1" dirty="0"/>
            </a:br>
            <a:endParaRPr lang="pt-BR" sz="25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45D04F-DA33-A11A-20A4-B644A87A7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4119"/>
          <a:stretch/>
        </p:blipFill>
        <p:spPr>
          <a:xfrm>
            <a:off x="1337853" y="2204864"/>
            <a:ext cx="6468294" cy="1845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69579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438</TotalTime>
  <Words>593</Words>
  <Application>Microsoft Office PowerPoint</Application>
  <PresentationFormat>Apresentação na tela (4:3)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Roboto</vt:lpstr>
      <vt:lpstr>Tw Cen MT</vt:lpstr>
      <vt:lpstr>Wingdings</vt:lpstr>
      <vt:lpstr>Wingdings 2</vt:lpstr>
      <vt:lpstr>Plano de Marketing</vt:lpstr>
      <vt:lpstr>Laboratório de Hardware</vt:lpstr>
      <vt:lpstr>Laboratório de Hardware – ADS  Processadores</vt:lpstr>
      <vt:lpstr>Laboratório de Hardware – ADS Processadores - Soquetes</vt:lpstr>
      <vt:lpstr>Laboratório de Hardware – ADS Processadores - Clocks</vt:lpstr>
      <vt:lpstr>Laboratório de Hardware – ADS Processadores - Clocks</vt:lpstr>
      <vt:lpstr>Laboratório de Hardware – ADS Processadores - Clocks</vt:lpstr>
      <vt:lpstr>Laboratório de Hardware – ADS Processadores - Clocks</vt:lpstr>
      <vt:lpstr>Laboratório de Hardware – ADS Processadores - Clocks</vt:lpstr>
      <vt:lpstr>Laboratório de Hardware – ADS Processadores - Clocks</vt:lpstr>
      <vt:lpstr>Laboratório de Hardware – ADS Identificando os componentes de hardware.</vt:lpstr>
      <vt:lpstr>Laboratório de Hardware – ADS  Tarefa no Laboratório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Pessoa de Sá</cp:lastModifiedBy>
  <cp:revision>42</cp:revision>
  <dcterms:created xsi:type="dcterms:W3CDTF">2011-02-18T05:14:19Z</dcterms:created>
  <dcterms:modified xsi:type="dcterms:W3CDTF">2024-08-19T23:12:41Z</dcterms:modified>
</cp:coreProperties>
</file>