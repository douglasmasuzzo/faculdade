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256" r:id="rId2"/>
    <p:sldId id="264" r:id="rId3"/>
    <p:sldId id="274" r:id="rId4"/>
    <p:sldId id="269" r:id="rId5"/>
    <p:sldId id="265" r:id="rId6"/>
    <p:sldId id="268" r:id="rId7"/>
    <p:sldId id="284" r:id="rId8"/>
    <p:sldId id="285" r:id="rId9"/>
    <p:sldId id="270" r:id="rId10"/>
    <p:sldId id="271" r:id="rId11"/>
    <p:sldId id="272" r:id="rId12"/>
    <p:sldId id="273" r:id="rId13"/>
    <p:sldId id="279" r:id="rId14"/>
    <p:sldId id="280" r:id="rId15"/>
    <p:sldId id="281" r:id="rId16"/>
    <p:sldId id="282" r:id="rId17"/>
    <p:sldId id="286" r:id="rId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29967-D75A-4804-AB12-4FA893D62DF0}" v="2" dt="2023-08-08T20:49:56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SA" userId="94edb27a-f0a8-4624-8ff3-eae76013cbb2" providerId="ADAL" clId="{70D29967-D75A-4804-AB12-4FA893D62DF0}"/>
    <pc:docChg chg="undo custSel addSld delSld modSld">
      <pc:chgData name="FABIO SA" userId="94edb27a-f0a8-4624-8ff3-eae76013cbb2" providerId="ADAL" clId="{70D29967-D75A-4804-AB12-4FA893D62DF0}" dt="2023-08-08T20:50:56.185" v="68" actId="1076"/>
      <pc:docMkLst>
        <pc:docMk/>
      </pc:docMkLst>
      <pc:sldChg chg="addSp delSp modSp add mod">
        <pc:chgData name="FABIO SA" userId="94edb27a-f0a8-4624-8ff3-eae76013cbb2" providerId="ADAL" clId="{70D29967-D75A-4804-AB12-4FA893D62DF0}" dt="2023-08-08T20:50:56.185" v="68" actId="1076"/>
        <pc:sldMkLst>
          <pc:docMk/>
          <pc:sldMk cId="1846957960" sldId="276"/>
        </pc:sldMkLst>
        <pc:spChg chg="mod">
          <ac:chgData name="FABIO SA" userId="94edb27a-f0a8-4624-8ff3-eae76013cbb2" providerId="ADAL" clId="{70D29967-D75A-4804-AB12-4FA893D62DF0}" dt="2023-08-08T20:50:52.337" v="67" actId="20577"/>
          <ac:spMkLst>
            <pc:docMk/>
            <pc:sldMk cId="1846957960" sldId="276"/>
            <ac:spMk id="3" creationId="{00000000-0000-0000-0000-000000000000}"/>
          </ac:spMkLst>
        </pc:spChg>
        <pc:picChg chg="del">
          <ac:chgData name="FABIO SA" userId="94edb27a-f0a8-4624-8ff3-eae76013cbb2" providerId="ADAL" clId="{70D29967-D75A-4804-AB12-4FA893D62DF0}" dt="2023-08-08T20:49:20.092" v="46" actId="478"/>
          <ac:picMkLst>
            <pc:docMk/>
            <pc:sldMk cId="1846957960" sldId="276"/>
            <ac:picMk id="5" creationId="{B945D04F-DA33-A11A-20A4-B644A87A736D}"/>
          </ac:picMkLst>
        </pc:picChg>
        <pc:picChg chg="add mod">
          <ac:chgData name="FABIO SA" userId="94edb27a-f0a8-4624-8ff3-eae76013cbb2" providerId="ADAL" clId="{70D29967-D75A-4804-AB12-4FA893D62DF0}" dt="2023-08-08T20:50:56.185" v="68" actId="1076"/>
          <ac:picMkLst>
            <pc:docMk/>
            <pc:sldMk cId="1846957960" sldId="276"/>
            <ac:picMk id="6" creationId="{F27429FC-251F-0C0B-C4A1-801838B0EC50}"/>
          </ac:picMkLst>
        </pc:picChg>
      </pc:sldChg>
      <pc:sldChg chg="del">
        <pc:chgData name="FABIO SA" userId="94edb27a-f0a8-4624-8ff3-eae76013cbb2" providerId="ADAL" clId="{70D29967-D75A-4804-AB12-4FA893D62DF0}" dt="2023-08-08T20:47:23.827" v="1" actId="2696"/>
        <pc:sldMkLst>
          <pc:docMk/>
          <pc:sldMk cId="0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28/08/2023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Sem Título-1.jpg"/>
          <p:cNvPicPr>
            <a:picLocks noChangeAspect="1"/>
          </p:cNvPicPr>
          <p:nvPr/>
        </p:nvPicPr>
        <p:blipFill>
          <a:blip r:embed="rId2" cstate="print"/>
          <a:srcRect t="10629"/>
          <a:stretch>
            <a:fillRect/>
          </a:stretch>
        </p:blipFill>
        <p:spPr>
          <a:xfrm>
            <a:off x="3347864" y="1556792"/>
            <a:ext cx="2987824" cy="2421728"/>
          </a:xfrm>
          <a:prstGeom prst="rect">
            <a:avLst/>
          </a:prstGeom>
        </p:spPr>
      </p:pic>
      <p:pic>
        <p:nvPicPr>
          <p:cNvPr id="8" name="Imagem 7" descr="Sem Título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861048"/>
            <a:ext cx="2808312" cy="2106234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Memória Principal e </a:t>
            </a:r>
            <a:br>
              <a:rPr lang="pt-BR" dirty="0"/>
            </a:br>
            <a:r>
              <a:rPr lang="pt-BR" dirty="0"/>
              <a:t>Secundária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1520" y="-315416"/>
            <a:ext cx="8892480" cy="1828800"/>
          </a:xfrm>
        </p:spPr>
        <p:txBody>
          <a:bodyPr/>
          <a:lstStyle/>
          <a:p>
            <a:r>
              <a:rPr lang="pt-BR" dirty="0"/>
              <a:t>Laboratório de Hardware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  <a:endParaRPr lang="pt-BR" dirty="0"/>
          </a:p>
        </p:txBody>
      </p:sp>
      <p:pic>
        <p:nvPicPr>
          <p:cNvPr id="3074" name="Picture 2" descr="http://4.bp.blogspot.com/_PmoPI7TIOqc/TOyA_EOtFnI/AAAAAAAAANE/4MesUMevCw0/s320/Memoria-ra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3919105"/>
            <a:ext cx="3096344" cy="2109384"/>
          </a:xfrm>
          <a:prstGeom prst="rect">
            <a:avLst/>
          </a:prstGeom>
          <a:noFill/>
        </p:spPr>
      </p:pic>
      <p:pic>
        <p:nvPicPr>
          <p:cNvPr id="3076" name="Picture 4" descr="Corsair Dominator GT low voltaje Dominator GT DDR3 2133Mhz de baixa voltagem"/>
          <p:cNvPicPr>
            <a:picLocks noChangeAspect="1" noChangeArrowheads="1"/>
          </p:cNvPicPr>
          <p:nvPr/>
        </p:nvPicPr>
        <p:blipFill>
          <a:blip r:embed="rId5" cstate="print"/>
          <a:srcRect l="12190"/>
          <a:stretch>
            <a:fillRect/>
          </a:stretch>
        </p:blipFill>
        <p:spPr bwMode="auto">
          <a:xfrm>
            <a:off x="0" y="1556792"/>
            <a:ext cx="3375394" cy="2376264"/>
          </a:xfrm>
          <a:prstGeom prst="rect">
            <a:avLst/>
          </a:prstGeom>
          <a:noFill/>
        </p:spPr>
      </p:pic>
      <p:pic>
        <p:nvPicPr>
          <p:cNvPr id="9" name="Picture 4" descr="http://macmagazine.com.br/wp-content/uploads/2008/05/27-lacie_d2_bluray.jpg"/>
          <p:cNvPicPr>
            <a:picLocks noChangeAspect="1" noChangeArrowheads="1"/>
          </p:cNvPicPr>
          <p:nvPr/>
        </p:nvPicPr>
        <p:blipFill>
          <a:blip r:embed="rId6" cstate="print"/>
          <a:srcRect t="9630" r="33682"/>
          <a:stretch>
            <a:fillRect/>
          </a:stretch>
        </p:blipFill>
        <p:spPr bwMode="auto">
          <a:xfrm>
            <a:off x="5796136" y="3645024"/>
            <a:ext cx="3347864" cy="2376264"/>
          </a:xfrm>
          <a:prstGeom prst="rect">
            <a:avLst/>
          </a:prstGeom>
          <a:noFill/>
        </p:spPr>
      </p:pic>
      <p:pic>
        <p:nvPicPr>
          <p:cNvPr id="10" name="Picture 6" descr="http://www.vozativa.kit.net/Mini_hd.jpg"/>
          <p:cNvPicPr>
            <a:picLocks noChangeAspect="1" noChangeArrowheads="1"/>
          </p:cNvPicPr>
          <p:nvPr/>
        </p:nvPicPr>
        <p:blipFill>
          <a:blip r:embed="rId7" cstate="print"/>
          <a:srcRect l="2920" t="16251" r="11029" b="5654"/>
          <a:stretch>
            <a:fillRect/>
          </a:stretch>
        </p:blipFill>
        <p:spPr bwMode="auto">
          <a:xfrm>
            <a:off x="6330896" y="1556792"/>
            <a:ext cx="2813104" cy="21019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1560" y="3284984"/>
            <a:ext cx="8153400" cy="676672"/>
          </a:xfrm>
        </p:spPr>
        <p:txBody>
          <a:bodyPr>
            <a:normAutofit/>
          </a:bodyPr>
          <a:lstStyle/>
          <a:p>
            <a:r>
              <a:rPr lang="pt-BR" sz="2500" dirty="0"/>
              <a:t>Manuseio</a:t>
            </a:r>
            <a:endParaRPr lang="pt-BR" sz="25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0" name="Picture 2" descr="http://www.baixaki.com.br/imagens/materias/3207/983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00500"/>
            <a:ext cx="3810000" cy="2857500"/>
          </a:xfrm>
          <a:prstGeom prst="rect">
            <a:avLst/>
          </a:prstGeom>
          <a:noFill/>
        </p:spPr>
      </p:pic>
      <p:pic>
        <p:nvPicPr>
          <p:cNvPr id="16" name="Picture 3" descr="hard-0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9973" y="1484784"/>
            <a:ext cx="4714027" cy="173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3340968"/>
          </a:xfrm>
        </p:spPr>
        <p:txBody>
          <a:bodyPr>
            <a:normAutofit/>
          </a:bodyPr>
          <a:lstStyle/>
          <a:p>
            <a:r>
              <a:rPr lang="pt-BR" sz="2500" b="1" dirty="0"/>
              <a:t>Duas grandes categorias: ROM e RAM</a:t>
            </a:r>
          </a:p>
          <a:p>
            <a:endParaRPr lang="pt-BR" sz="2500" dirty="0"/>
          </a:p>
          <a:p>
            <a:r>
              <a:rPr lang="pt-BR" sz="2500" b="1" i="1" dirty="0" err="1"/>
              <a:t>Read</a:t>
            </a:r>
            <a:r>
              <a:rPr lang="pt-BR" sz="2500" b="1" i="1" dirty="0"/>
              <a:t> </a:t>
            </a:r>
            <a:r>
              <a:rPr lang="pt-BR" sz="2500" b="1" i="1" dirty="0" err="1"/>
              <a:t>Only</a:t>
            </a:r>
            <a:r>
              <a:rPr lang="pt-BR" sz="2500" b="1" i="1" dirty="0"/>
              <a:t> Memory</a:t>
            </a:r>
            <a:r>
              <a:rPr lang="pt-BR" sz="2500" b="1" dirty="0"/>
              <a:t> </a:t>
            </a:r>
            <a:r>
              <a:rPr lang="pt-BR" sz="2500" dirty="0"/>
              <a:t>(dados não voláteis, somente leitura).</a:t>
            </a:r>
            <a:br>
              <a:rPr lang="pt-BR" sz="2500" dirty="0"/>
            </a:br>
            <a:r>
              <a:rPr lang="pt-BR" sz="2500" dirty="0" err="1"/>
              <a:t>Bios</a:t>
            </a:r>
            <a:r>
              <a:rPr lang="pt-BR" sz="2500" dirty="0"/>
              <a:t>; Firmware; </a:t>
            </a:r>
            <a:r>
              <a:rPr lang="pt-BR" sz="2500" dirty="0" err="1"/>
              <a:t>SO’s</a:t>
            </a:r>
            <a:r>
              <a:rPr lang="pt-BR" sz="2500" dirty="0"/>
              <a:t> de dispositivos portáteis;</a:t>
            </a:r>
          </a:p>
          <a:p>
            <a:r>
              <a:rPr lang="pt-BR" sz="2500" b="1" i="1" dirty="0" err="1"/>
              <a:t>Random</a:t>
            </a:r>
            <a:r>
              <a:rPr lang="pt-BR" sz="2500" b="1" i="1" dirty="0"/>
              <a:t> Access Memory</a:t>
            </a:r>
            <a:r>
              <a:rPr lang="pt-BR" sz="2500" b="1" dirty="0"/>
              <a:t> </a:t>
            </a:r>
            <a:r>
              <a:rPr lang="pt-BR" sz="2500" dirty="0"/>
              <a:t>(dados voláteis, leitura e escrita).</a:t>
            </a:r>
            <a:br>
              <a:rPr lang="pt-BR" sz="2500" dirty="0"/>
            </a:br>
            <a:r>
              <a:rPr lang="pt-BR" sz="2500" dirty="0"/>
              <a:t>Memória principal</a:t>
            </a:r>
            <a:endParaRPr lang="pt-BR" sz="25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" name="Picture 3" descr="hard-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973" y="5122487"/>
            <a:ext cx="4714027" cy="173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7975" y="1600200"/>
            <a:ext cx="4480049" cy="2620888"/>
          </a:xfrm>
        </p:spPr>
        <p:txBody>
          <a:bodyPr>
            <a:normAutofit lnSpcReduction="10000"/>
          </a:bodyPr>
          <a:lstStyle/>
          <a:p>
            <a:r>
              <a:rPr lang="pt-BR" sz="2500" b="1" dirty="0" err="1"/>
              <a:t>RAMs</a:t>
            </a:r>
            <a:r>
              <a:rPr lang="pt-BR" sz="2500" b="1" dirty="0"/>
              <a:t> estáticas e dinâmicas:</a:t>
            </a:r>
          </a:p>
          <a:p>
            <a:endParaRPr lang="pt-BR" sz="2500" dirty="0"/>
          </a:p>
          <a:p>
            <a:pPr algn="r">
              <a:buNone/>
            </a:pPr>
            <a:r>
              <a:rPr lang="pt-BR" sz="2500" b="1" dirty="0" err="1"/>
              <a:t>SRAM</a:t>
            </a:r>
            <a:r>
              <a:rPr lang="pt-BR" sz="2500" b="1" dirty="0"/>
              <a:t>: </a:t>
            </a:r>
            <a:r>
              <a:rPr lang="pt-BR" sz="2500" dirty="0"/>
              <a:t>Cache </a:t>
            </a:r>
            <a:r>
              <a:rPr lang="pt-BR" sz="2500" dirty="0" err="1"/>
              <a:t>L1</a:t>
            </a:r>
            <a:r>
              <a:rPr lang="pt-BR" sz="2500" dirty="0"/>
              <a:t> e </a:t>
            </a:r>
            <a:r>
              <a:rPr lang="pt-BR" sz="2500" dirty="0" err="1"/>
              <a:t>L2</a:t>
            </a:r>
            <a:r>
              <a:rPr lang="pt-BR" sz="2500" i="1" dirty="0"/>
              <a:t>. </a:t>
            </a:r>
            <a:br>
              <a:rPr lang="pt-BR" sz="2500" i="1" dirty="0"/>
            </a:br>
            <a:endParaRPr lang="pt-BR" sz="2500" i="1" dirty="0"/>
          </a:p>
          <a:p>
            <a:pPr algn="r">
              <a:buNone/>
            </a:pPr>
            <a:r>
              <a:rPr lang="pt-BR" sz="2500" i="1" dirty="0"/>
              <a:t>Mais Veloz e cara, localizada dentro do processador.</a:t>
            </a:r>
            <a:endParaRPr lang="pt-BR" sz="2500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6386" name="Picture 2" descr="http://images.guiadohardware.net/imagens/img-8bbd63c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600200"/>
            <a:ext cx="3203848" cy="2987588"/>
          </a:xfrm>
          <a:prstGeom prst="rect">
            <a:avLst/>
          </a:prstGeom>
          <a:noFill/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466A955-04A8-477C-A889-E92DFD4CDEF6}"/>
              </a:ext>
            </a:extLst>
          </p:cNvPr>
          <p:cNvSpPr/>
          <p:nvPr/>
        </p:nvSpPr>
        <p:spPr>
          <a:xfrm>
            <a:off x="711324" y="4630068"/>
            <a:ext cx="8153399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sz="2500" b="1" dirty="0" err="1"/>
              <a:t>DRAM</a:t>
            </a:r>
            <a:r>
              <a:rPr lang="pt-BR" sz="2500" b="1" dirty="0"/>
              <a:t>: </a:t>
            </a:r>
            <a:r>
              <a:rPr lang="pt-BR" sz="2500" dirty="0"/>
              <a:t>Memória principal, (</a:t>
            </a:r>
            <a:r>
              <a:rPr lang="pt-BR" sz="2500" dirty="0" err="1"/>
              <a:t>SDRAM</a:t>
            </a:r>
            <a:r>
              <a:rPr lang="pt-BR" sz="2500" dirty="0"/>
              <a:t>, DDR). Sincronizadas por </a:t>
            </a:r>
            <a:r>
              <a:rPr lang="pt-BR" sz="2500" dirty="0" err="1"/>
              <a:t>clock</a:t>
            </a:r>
            <a:r>
              <a:rPr lang="pt-BR" sz="2500" dirty="0"/>
              <a:t>. </a:t>
            </a:r>
            <a:r>
              <a:rPr lang="pt-BR" sz="2500" i="1" dirty="0"/>
              <a:t>Ex. </a:t>
            </a:r>
            <a:r>
              <a:rPr lang="pt-BR" sz="2500" i="1" dirty="0" err="1"/>
              <a:t>DDR400</a:t>
            </a:r>
            <a:r>
              <a:rPr lang="pt-BR" sz="2500" i="1" dirty="0"/>
              <a:t> a </a:t>
            </a:r>
            <a:r>
              <a:rPr lang="pt-BR" sz="2500" i="1" dirty="0" err="1"/>
              <a:t>200Mhz</a:t>
            </a:r>
            <a:r>
              <a:rPr lang="pt-BR" sz="2500" i="1" dirty="0"/>
              <a:t> realizam duas operações a cada ciclo, resultando em 400 milhões de acesso por segundo</a:t>
            </a:r>
            <a:r>
              <a:rPr lang="pt-BR" i="1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1468760"/>
          </a:xfrm>
        </p:spPr>
        <p:txBody>
          <a:bodyPr>
            <a:normAutofit/>
          </a:bodyPr>
          <a:lstStyle/>
          <a:p>
            <a:r>
              <a:rPr lang="pt-BR" sz="2500" dirty="0"/>
              <a:t>Módulos: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" name="Picture 3" descr="hard-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837536"/>
            <a:ext cx="2771800" cy="102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http://www.dewassoc.com/performance/memory/images/168dim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64" y="1777003"/>
            <a:ext cx="5111308" cy="1431166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3711177" y="3188167"/>
            <a:ext cx="4932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DIMM/168 (SDRAM) </a:t>
            </a:r>
            <a:r>
              <a:rPr lang="pt-BR" i="1" dirty="0"/>
              <a:t>Dual </a:t>
            </a:r>
            <a:r>
              <a:rPr lang="pt-BR" i="1" dirty="0" err="1"/>
              <a:t>Inline</a:t>
            </a:r>
            <a:r>
              <a:rPr lang="pt-BR" i="1" dirty="0"/>
              <a:t> Memory Module</a:t>
            </a:r>
            <a:r>
              <a:rPr lang="pt-BR" dirty="0"/>
              <a:t>, operam com 64 bits, tipo de memória SDRAM.</a:t>
            </a:r>
            <a:br>
              <a:rPr lang="pt-BR" dirty="0"/>
            </a:br>
            <a:r>
              <a:rPr lang="pt-BR" dirty="0"/>
              <a:t>Pentium II, K6, Pentium III, </a:t>
            </a:r>
            <a:r>
              <a:rPr lang="pt-BR" dirty="0" err="1"/>
              <a:t>Celeron</a:t>
            </a:r>
            <a:r>
              <a:rPr lang="pt-BR" dirty="0"/>
              <a:t>.</a:t>
            </a:r>
          </a:p>
        </p:txBody>
      </p:sp>
      <p:pic>
        <p:nvPicPr>
          <p:cNvPr id="13" name="Picture 6" descr="http://ryan.com.br/imagens/memorias/184pindimm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91880" y="4644237"/>
            <a:ext cx="5151776" cy="1324744"/>
          </a:xfrm>
          <a:prstGeom prst="rect">
            <a:avLst/>
          </a:prstGeom>
          <a:noFill/>
        </p:spPr>
      </p:pic>
      <p:sp>
        <p:nvSpPr>
          <p:cNvPr id="15" name="CaixaDeTexto 14"/>
          <p:cNvSpPr txBox="1"/>
          <p:nvPr/>
        </p:nvSpPr>
        <p:spPr>
          <a:xfrm>
            <a:off x="4627243" y="5975429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DIMM/184 (DDR) </a:t>
            </a:r>
            <a:r>
              <a:rPr lang="pt-BR" i="1" dirty="0"/>
              <a:t>Double Data Rate. Pentium 4, </a:t>
            </a:r>
            <a:r>
              <a:rPr lang="pt-BR" i="1" dirty="0" err="1"/>
              <a:t>Athlon</a:t>
            </a:r>
            <a:r>
              <a:rPr lang="pt-BR" i="1" dirty="0"/>
              <a:t>, </a:t>
            </a:r>
            <a:r>
              <a:rPr lang="pt-BR" i="1" dirty="0" err="1"/>
              <a:t>Sempron</a:t>
            </a:r>
            <a:endParaRPr lang="pt-BR" i="1" dirty="0"/>
          </a:p>
        </p:txBody>
      </p:sp>
      <p:pic>
        <p:nvPicPr>
          <p:cNvPr id="11" name="Picture 4" descr="https://upload.wikimedia.org/wikipedia/commons/thumb/1/1b/Desktop_DDR_Memory_Comparison.svg/220px-Desktop_DDR_Memory_Comparison.svg.png">
            <a:extLst>
              <a:ext uri="{FF2B5EF4-FFF2-40B4-BE49-F238E27FC236}">
                <a16:creationId xmlns:a16="http://schemas.microsoft.com/office/drawing/2014/main" id="{CD767E0F-DD04-4D76-81B3-E41C2DEB0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7" y="2286148"/>
            <a:ext cx="2095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1468760"/>
          </a:xfrm>
        </p:spPr>
        <p:txBody>
          <a:bodyPr>
            <a:normAutofit/>
          </a:bodyPr>
          <a:lstStyle/>
          <a:p>
            <a:r>
              <a:rPr lang="pt-BR" sz="2500" dirty="0"/>
              <a:t>Módulos: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" name="Picture 3" descr="hard-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837536"/>
            <a:ext cx="2771800" cy="102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3635896" y="3068960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DIMM/240 (DDR2)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355976" y="5733256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DIMM/240 (DDR3) Core I7, Core I5</a:t>
            </a:r>
            <a:endParaRPr lang="pt-BR" i="1" dirty="0"/>
          </a:p>
        </p:txBody>
      </p:sp>
      <p:pic>
        <p:nvPicPr>
          <p:cNvPr id="12290" name="Picture 2" descr="http://www.execute.com.br/loja/images/5555.jpg"/>
          <p:cNvPicPr>
            <a:picLocks noChangeAspect="1" noChangeArrowheads="1"/>
          </p:cNvPicPr>
          <p:nvPr/>
        </p:nvPicPr>
        <p:blipFill>
          <a:blip r:embed="rId3" cstate="print"/>
          <a:srcRect t="29077" b="39610"/>
          <a:stretch>
            <a:fillRect/>
          </a:stretch>
        </p:blipFill>
        <p:spPr bwMode="auto">
          <a:xfrm>
            <a:off x="3347863" y="1897800"/>
            <a:ext cx="5285653" cy="1243168"/>
          </a:xfrm>
          <a:prstGeom prst="rect">
            <a:avLst/>
          </a:prstGeom>
          <a:noFill/>
        </p:spPr>
      </p:pic>
      <p:pic>
        <p:nvPicPr>
          <p:cNvPr id="12292" name="Picture 4" descr="http://t0.gstatic.com/images?q=tbn:ANd9GcQq_dYq3MJociSooeTp4BDfwL90BFr8oxFv4-HxL9b-Y-ZidTO5&amp;t=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4368776"/>
            <a:ext cx="5290026" cy="1468760"/>
          </a:xfrm>
          <a:prstGeom prst="rect">
            <a:avLst/>
          </a:prstGeom>
          <a:noFill/>
        </p:spPr>
      </p:pic>
      <p:pic>
        <p:nvPicPr>
          <p:cNvPr id="11" name="Picture 4" descr="https://upload.wikimedia.org/wikipedia/commons/thumb/1/1b/Desktop_DDR_Memory_Comparison.svg/220px-Desktop_DDR_Memory_Comparison.svg.png">
            <a:extLst>
              <a:ext uri="{FF2B5EF4-FFF2-40B4-BE49-F238E27FC236}">
                <a16:creationId xmlns:a16="http://schemas.microsoft.com/office/drawing/2014/main" id="{2DD79929-C956-4402-840A-B26EFDE83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7" y="2286148"/>
            <a:ext cx="2095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1468760"/>
          </a:xfrm>
        </p:spPr>
        <p:txBody>
          <a:bodyPr>
            <a:normAutofit/>
          </a:bodyPr>
          <a:lstStyle/>
          <a:p>
            <a:r>
              <a:rPr lang="pt-BR" sz="2500" dirty="0"/>
              <a:t>Módulos: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4" name="Picture 3" descr="hard-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5837536"/>
            <a:ext cx="2771800" cy="102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3855893" y="3544431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DIMM/288 (</a:t>
            </a:r>
            <a:r>
              <a:rPr lang="pt-BR" dirty="0" err="1"/>
              <a:t>DDR4</a:t>
            </a:r>
            <a:r>
              <a:rPr lang="pt-BR" dirty="0"/>
              <a:t>)</a:t>
            </a:r>
          </a:p>
        </p:txBody>
      </p:sp>
      <p:pic>
        <p:nvPicPr>
          <p:cNvPr id="4" name="Picture 2" descr="Two 8 GB DDR4-2133 ECC 1.2 V RDIMMs (straightened).jpg">
            <a:extLst>
              <a:ext uri="{FF2B5EF4-FFF2-40B4-BE49-F238E27FC236}">
                <a16:creationId xmlns:a16="http://schemas.microsoft.com/office/drawing/2014/main" id="{6F56B41B-BA9B-424B-8787-8767EBF15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893" y="2204864"/>
            <a:ext cx="4756343" cy="1268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upload.wikimedia.org/wikipedia/commons/thumb/1/1b/Desktop_DDR_Memory_Comparison.svg/220px-Desktop_DDR_Memory_Comparison.svg.png">
            <a:extLst>
              <a:ext uri="{FF2B5EF4-FFF2-40B4-BE49-F238E27FC236}">
                <a16:creationId xmlns:a16="http://schemas.microsoft.com/office/drawing/2014/main" id="{0D69917E-C4F5-4423-9064-8B4999F92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7" y="2286148"/>
            <a:ext cx="2095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14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Memória Principal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282A57C-6650-47FA-AC2A-5F43FFF58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808176"/>
              </p:ext>
            </p:extLst>
          </p:nvPr>
        </p:nvGraphicFramePr>
        <p:xfrm>
          <a:off x="0" y="1844824"/>
          <a:ext cx="9144000" cy="45259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4814">
                  <a:extLst>
                    <a:ext uri="{9D8B030D-6E8A-4147-A177-3AD203B41FA5}">
                      <a16:colId xmlns:a16="http://schemas.microsoft.com/office/drawing/2014/main" val="994006473"/>
                    </a:ext>
                  </a:extLst>
                </a:gridCol>
                <a:gridCol w="772890">
                  <a:extLst>
                    <a:ext uri="{9D8B030D-6E8A-4147-A177-3AD203B41FA5}">
                      <a16:colId xmlns:a16="http://schemas.microsoft.com/office/drawing/2014/main" val="348724724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018719"/>
                    </a:ext>
                  </a:extLst>
                </a:gridCol>
                <a:gridCol w="1253532">
                  <a:extLst>
                    <a:ext uri="{9D8B030D-6E8A-4147-A177-3AD203B41FA5}">
                      <a16:colId xmlns:a16="http://schemas.microsoft.com/office/drawing/2014/main" val="2928903368"/>
                    </a:ext>
                  </a:extLst>
                </a:gridCol>
                <a:gridCol w="1133917">
                  <a:extLst>
                    <a:ext uri="{9D8B030D-6E8A-4147-A177-3AD203B41FA5}">
                      <a16:colId xmlns:a16="http://schemas.microsoft.com/office/drawing/2014/main" val="3392645855"/>
                    </a:ext>
                  </a:extLst>
                </a:gridCol>
                <a:gridCol w="1122255">
                  <a:extLst>
                    <a:ext uri="{9D8B030D-6E8A-4147-A177-3AD203B41FA5}">
                      <a16:colId xmlns:a16="http://schemas.microsoft.com/office/drawing/2014/main" val="1540000036"/>
                    </a:ext>
                  </a:extLst>
                </a:gridCol>
                <a:gridCol w="1122255">
                  <a:extLst>
                    <a:ext uri="{9D8B030D-6E8A-4147-A177-3AD203B41FA5}">
                      <a16:colId xmlns:a16="http://schemas.microsoft.com/office/drawing/2014/main" val="1327766614"/>
                    </a:ext>
                  </a:extLst>
                </a:gridCol>
                <a:gridCol w="1236185">
                  <a:extLst>
                    <a:ext uri="{9D8B030D-6E8A-4147-A177-3AD203B41FA5}">
                      <a16:colId xmlns:a16="http://schemas.microsoft.com/office/drawing/2014/main" val="3128069107"/>
                    </a:ext>
                  </a:extLst>
                </a:gridCol>
              </a:tblGrid>
              <a:tr h="14481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DDR SDRAM</a:t>
                      </a:r>
                      <a:br>
                        <a:rPr lang="pt-BR" sz="1500">
                          <a:effectLst/>
                        </a:rPr>
                      </a:br>
                      <a:r>
                        <a:rPr lang="pt-BR" sz="1500">
                          <a:effectLst/>
                        </a:rPr>
                        <a:t>standard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dirty="0">
                          <a:effectLst/>
                        </a:rPr>
                        <a:t>Release</a:t>
                      </a:r>
                      <a:br>
                        <a:rPr lang="pt-BR" sz="1500" dirty="0">
                          <a:effectLst/>
                        </a:rPr>
                      </a:br>
                      <a:r>
                        <a:rPr lang="pt-BR" sz="1500" dirty="0" err="1">
                          <a:effectLst/>
                        </a:rPr>
                        <a:t>year</a:t>
                      </a:r>
                      <a:endParaRPr lang="pt-BR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Bus clock</a:t>
                      </a:r>
                      <a:br>
                        <a:rPr lang="pt-BR" sz="1500">
                          <a:effectLst/>
                        </a:rPr>
                      </a:br>
                      <a:r>
                        <a:rPr lang="pt-BR" sz="1500">
                          <a:effectLst/>
                        </a:rPr>
                        <a:t>(MHz)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Internal memory clock</a:t>
                      </a:r>
                      <a:br>
                        <a:rPr lang="pt-BR" sz="1500">
                          <a:effectLst/>
                        </a:rPr>
                      </a:br>
                      <a:r>
                        <a:rPr lang="pt-BR" sz="1500">
                          <a:effectLst/>
                        </a:rPr>
                        <a:t>(MHz)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Voltage (V)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u="none" dirty="0" err="1">
                          <a:effectLst/>
                        </a:rPr>
                        <a:t>DIMM</a:t>
                      </a:r>
                      <a:br>
                        <a:rPr lang="pt-BR" sz="1500" dirty="0">
                          <a:effectLst/>
                        </a:rPr>
                      </a:br>
                      <a:r>
                        <a:rPr lang="pt-BR" sz="1500" dirty="0">
                          <a:effectLst/>
                        </a:rPr>
                        <a:t>pins</a:t>
                      </a:r>
                      <a:endParaRPr lang="pt-BR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u="none" dirty="0" err="1">
                          <a:effectLst/>
                        </a:rPr>
                        <a:t>SO-DIMM</a:t>
                      </a:r>
                      <a:br>
                        <a:rPr lang="pt-BR" sz="1500" dirty="0">
                          <a:effectLst/>
                        </a:rPr>
                      </a:br>
                      <a:r>
                        <a:rPr lang="pt-BR" sz="1500" dirty="0">
                          <a:effectLst/>
                        </a:rPr>
                        <a:t>pins</a:t>
                      </a:r>
                      <a:endParaRPr lang="pt-BR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u="none" dirty="0" err="1">
                          <a:effectLst/>
                        </a:rPr>
                        <a:t>MicroDIMM</a:t>
                      </a:r>
                      <a:br>
                        <a:rPr lang="pt-BR" sz="1500" dirty="0">
                          <a:effectLst/>
                        </a:rPr>
                      </a:br>
                      <a:r>
                        <a:rPr lang="pt-BR" sz="1500" dirty="0">
                          <a:effectLst/>
                        </a:rPr>
                        <a:t>pins</a:t>
                      </a:r>
                      <a:endParaRPr lang="pt-BR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extLst>
                  <a:ext uri="{0D108BD9-81ED-4DB2-BD59-A6C34878D82A}">
                    <a16:rowId xmlns:a16="http://schemas.microsoft.com/office/drawing/2014/main" val="981874048"/>
                  </a:ext>
                </a:extLst>
              </a:tr>
              <a:tr h="6335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DDR1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100–200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100–200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2.5/2.6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184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172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extLst>
                  <a:ext uri="{0D108BD9-81ED-4DB2-BD59-A6C34878D82A}">
                    <a16:rowId xmlns:a16="http://schemas.microsoft.com/office/drawing/2014/main" val="2120091497"/>
                  </a:ext>
                </a:extLst>
              </a:tr>
              <a:tr h="905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DDR2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2003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200–533.33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100–266.67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1.8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240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214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extLst>
                  <a:ext uri="{0D108BD9-81ED-4DB2-BD59-A6C34878D82A}">
                    <a16:rowId xmlns:a16="http://schemas.microsoft.com/office/drawing/2014/main" val="118672152"/>
                  </a:ext>
                </a:extLst>
              </a:tr>
              <a:tr h="905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DDR3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2007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400–1066.67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100–266.67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1.5/1.35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240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204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214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extLst>
                  <a:ext uri="{0D108BD9-81ED-4DB2-BD59-A6C34878D82A}">
                    <a16:rowId xmlns:a16="http://schemas.microsoft.com/office/drawing/2014/main" val="2299080107"/>
                  </a:ext>
                </a:extLst>
              </a:tr>
              <a:tr h="6335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DDR4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2014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800–1600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200-400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1.2/1.05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288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>
                          <a:effectLst/>
                        </a:rPr>
                        <a:t>256</a:t>
                      </a:r>
                      <a:endParaRPr lang="pt-BR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1500" dirty="0">
                          <a:effectLst/>
                        </a:rPr>
                        <a:t>—</a:t>
                      </a:r>
                      <a:endParaRPr lang="pt-BR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86" marR="90786" marT="45076" marB="45076" anchor="ctr"/>
                </a:tc>
                <a:extLst>
                  <a:ext uri="{0D108BD9-81ED-4DB2-BD59-A6C34878D82A}">
                    <a16:rowId xmlns:a16="http://schemas.microsoft.com/office/drawing/2014/main" val="3776688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54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79512" y="1700808"/>
            <a:ext cx="4896544" cy="2736304"/>
          </a:xfrm>
        </p:spPr>
        <p:txBody>
          <a:bodyPr>
            <a:noAutofit/>
          </a:bodyPr>
          <a:lstStyle/>
          <a:p>
            <a:r>
              <a:rPr lang="pt-BR" sz="2500" b="1" dirty="0"/>
              <a:t>SPD – Serial </a:t>
            </a:r>
            <a:r>
              <a:rPr lang="pt-BR" sz="2500" b="1" dirty="0" err="1"/>
              <a:t>Presence</a:t>
            </a:r>
            <a:r>
              <a:rPr lang="pt-BR" sz="2500" b="1" dirty="0"/>
              <a:t> </a:t>
            </a:r>
            <a:r>
              <a:rPr lang="pt-BR" sz="2500" b="1" dirty="0" err="1"/>
              <a:t>Detect</a:t>
            </a:r>
            <a:endParaRPr lang="pt-BR" sz="2500" b="1" dirty="0"/>
          </a:p>
          <a:p>
            <a:endParaRPr lang="pt-BR" sz="2500" dirty="0"/>
          </a:p>
          <a:p>
            <a:pPr>
              <a:buNone/>
            </a:pPr>
            <a:r>
              <a:rPr lang="pt-BR" sz="2500" dirty="0"/>
              <a:t>Pequeno </a:t>
            </a:r>
            <a:r>
              <a:rPr lang="pt-BR" sz="2500" i="1" dirty="0"/>
              <a:t>chip</a:t>
            </a:r>
            <a:r>
              <a:rPr lang="pt-BR" sz="2500" dirty="0"/>
              <a:t> EPRON existente nos módulos de memória.</a:t>
            </a:r>
          </a:p>
          <a:p>
            <a:pPr>
              <a:buNone/>
            </a:pPr>
            <a:r>
              <a:rPr lang="pt-BR" sz="2500" i="1" dirty="0"/>
              <a:t>Ficam gravadas informações técnicas sobre o módulo.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5362" name="Picture 2" descr="http://www.gdhpress.com.br/hardware/leia/cap4-8_html_253f853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4653136"/>
            <a:ext cx="3385729" cy="2511083"/>
          </a:xfrm>
          <a:prstGeom prst="rect">
            <a:avLst/>
          </a:prstGeom>
          <a:noFill/>
        </p:spPr>
      </p:pic>
      <p:sp>
        <p:nvSpPr>
          <p:cNvPr id="7" name="CaixaDeTexto 6"/>
          <p:cNvSpPr txBox="1"/>
          <p:nvPr/>
        </p:nvSpPr>
        <p:spPr>
          <a:xfrm>
            <a:off x="251520" y="4725144"/>
            <a:ext cx="460851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/>
              <a:t>Serve para a </a:t>
            </a:r>
            <a:r>
              <a:rPr lang="pt-BR" sz="2500" i="1" dirty="0"/>
              <a:t>BIOS</a:t>
            </a:r>
            <a:r>
              <a:rPr lang="pt-BR" sz="2500" dirty="0"/>
              <a:t> identificar e configurar o </a:t>
            </a:r>
            <a:r>
              <a:rPr lang="pt-BR" sz="2500" i="1" dirty="0" err="1"/>
              <a:t>chipset</a:t>
            </a:r>
            <a:r>
              <a:rPr lang="pt-BR" sz="2500" dirty="0"/>
              <a:t> da placa mãe operar com velocidade compatível.</a:t>
            </a:r>
          </a:p>
          <a:p>
            <a:endParaRPr lang="pt-BR" dirty="0"/>
          </a:p>
        </p:txBody>
      </p:sp>
      <p:pic>
        <p:nvPicPr>
          <p:cNvPr id="15364" name="Picture 4" descr="http://img.tomshardware.com/us/2008/01/04/ddr3-1333_speed_and_latency_shootout/aeneon_ddr3-1333_cl8_axh760ud00-13g_spd-tabl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908720"/>
            <a:ext cx="3384376" cy="3861661"/>
          </a:xfrm>
          <a:prstGeom prst="rect">
            <a:avLst/>
          </a:prstGeom>
          <a:noFill/>
        </p:spPr>
      </p:pic>
      <p:sp>
        <p:nvSpPr>
          <p:cNvPr id="9" name="Elipse 8"/>
          <p:cNvSpPr/>
          <p:nvPr/>
        </p:nvSpPr>
        <p:spPr>
          <a:xfrm>
            <a:off x="7308304" y="5013176"/>
            <a:ext cx="864096" cy="86409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544" y="1700808"/>
            <a:ext cx="8352928" cy="1080120"/>
          </a:xfrm>
        </p:spPr>
        <p:txBody>
          <a:bodyPr>
            <a:noAutofit/>
          </a:bodyPr>
          <a:lstStyle/>
          <a:p>
            <a:r>
              <a:rPr lang="pt-BR" sz="2500" b="1" dirty="0"/>
              <a:t>Memórias DDR (Double Data Rate)</a:t>
            </a:r>
            <a:endParaRPr lang="pt-BR" sz="2500" dirty="0"/>
          </a:p>
          <a:p>
            <a:pPr>
              <a:buNone/>
            </a:pPr>
            <a:r>
              <a:rPr lang="pt-BR" sz="2500" dirty="0"/>
              <a:t>Trabalham em dobro. Em cada ciclo fazem duas operações.</a:t>
            </a:r>
          </a:p>
          <a:p>
            <a:pPr>
              <a:buNone/>
            </a:pPr>
            <a:endParaRPr lang="pt-BR" sz="2500" dirty="0"/>
          </a:p>
          <a:p>
            <a:pPr>
              <a:buNone/>
            </a:pPr>
            <a:r>
              <a:rPr lang="pt-BR" sz="2500" dirty="0"/>
              <a:t> </a:t>
            </a:r>
            <a:endParaRPr lang="pt-BR" sz="25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467544" y="2780928"/>
          <a:ext cx="8424936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6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Memória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Clock</a:t>
                      </a:r>
                      <a:r>
                        <a:rPr lang="pt-BR" dirty="0"/>
                        <a:t>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Clock</a:t>
                      </a:r>
                      <a:r>
                        <a:rPr lang="pt-BR" dirty="0"/>
                        <a:t> Dobrado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Taxa de Transferência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DDR200/PC1600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1,6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DDR400/PC3200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3,2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DDR2-400/PC2-3200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3,2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DDR2-1066/PC2-8400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533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1066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8,4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DDR3/800 ou PC3-6400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6,4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DDR3/1333</a:t>
                      </a:r>
                      <a:r>
                        <a:rPr lang="pt-BR" baseline="0" dirty="0"/>
                        <a:t> ou PC3-10600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667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1333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10,6 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DDR3/1600 OU PC3-12800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12,8</a:t>
                      </a:r>
                      <a:r>
                        <a:rPr lang="pt-BR" baseline="0" dirty="0"/>
                        <a:t> GB/s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544" y="1700808"/>
            <a:ext cx="8352928" cy="1944216"/>
          </a:xfrm>
        </p:spPr>
        <p:txBody>
          <a:bodyPr>
            <a:noAutofit/>
          </a:bodyPr>
          <a:lstStyle/>
          <a:p>
            <a:r>
              <a:rPr lang="pt-BR" sz="2500" b="1" dirty="0"/>
              <a:t>Memórias </a:t>
            </a:r>
            <a:r>
              <a:rPr lang="pt-BR" sz="2500" b="1" dirty="0" err="1"/>
              <a:t>Multi</a:t>
            </a:r>
            <a:r>
              <a:rPr lang="pt-BR" sz="2500" b="1" dirty="0"/>
              <a:t> </a:t>
            </a:r>
            <a:r>
              <a:rPr lang="pt-BR" sz="2500" b="1" dirty="0" err="1"/>
              <a:t>Channel</a:t>
            </a:r>
            <a:endParaRPr lang="pt-BR" sz="2500" dirty="0"/>
          </a:p>
          <a:p>
            <a:pPr>
              <a:buNone/>
            </a:pPr>
            <a:r>
              <a:rPr lang="pt-BR" sz="2500" dirty="0"/>
              <a:t>Aumenta o número de bits de memória de 64 para 128 bits.</a:t>
            </a:r>
          </a:p>
          <a:p>
            <a:pPr>
              <a:buNone/>
            </a:pPr>
            <a:r>
              <a:rPr lang="pt-BR" sz="2500" dirty="0"/>
              <a:t>Quatro soquetes de memória. Cada dupla é um canal de 64 bits.</a:t>
            </a:r>
          </a:p>
          <a:p>
            <a:pPr>
              <a:buNone/>
            </a:pPr>
            <a:r>
              <a:rPr lang="pt-BR" sz="2500" dirty="0"/>
              <a:t> </a:t>
            </a:r>
            <a:endParaRPr lang="pt-BR" sz="25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7410" name="Picture 2" descr="http://img.tomshardware.com/us/2007/10/17/parallel_processing/ram-dual-chann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696620"/>
            <a:ext cx="3563888" cy="3161379"/>
          </a:xfrm>
          <a:prstGeom prst="rect">
            <a:avLst/>
          </a:prstGeom>
          <a:noFill/>
        </p:spPr>
      </p:pic>
      <p:sp>
        <p:nvSpPr>
          <p:cNvPr id="8" name="CaixaDeTexto 7"/>
          <p:cNvSpPr txBox="1"/>
          <p:nvPr/>
        </p:nvSpPr>
        <p:spPr>
          <a:xfrm>
            <a:off x="467544" y="4077072"/>
            <a:ext cx="496855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dirty="0"/>
              <a:t>Ex. DDR400 com desempenho de 800 MHz.</a:t>
            </a:r>
          </a:p>
          <a:p>
            <a:endParaRPr lang="pt-BR" sz="2500" dirty="0"/>
          </a:p>
          <a:p>
            <a:r>
              <a:rPr lang="pt-BR" sz="2500" dirty="0"/>
              <a:t>Utilizar módulos idênticos por canal.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Memória Principal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544" y="1700808"/>
            <a:ext cx="8352928" cy="4680520"/>
          </a:xfrm>
        </p:spPr>
        <p:txBody>
          <a:bodyPr>
            <a:noAutofit/>
          </a:bodyPr>
          <a:lstStyle/>
          <a:p>
            <a:r>
              <a:rPr lang="pt-BR" sz="2500" dirty="0"/>
              <a:t>Limpar com um pedaço de borracha </a:t>
            </a:r>
            <a:r>
              <a:rPr lang="pt-BR" sz="2500" b="1" dirty="0"/>
              <a:t>macia e limpa</a:t>
            </a:r>
            <a:r>
              <a:rPr lang="pt-BR" sz="2500" dirty="0"/>
              <a:t> os contatos da memória;</a:t>
            </a:r>
          </a:p>
          <a:p>
            <a:pPr marL="0" indent="0">
              <a:buNone/>
            </a:pPr>
            <a:endParaRPr lang="pt-BR" sz="2500" dirty="0"/>
          </a:p>
          <a:p>
            <a:r>
              <a:rPr lang="pt-BR" sz="2500" dirty="0"/>
              <a:t>Limpa </a:t>
            </a:r>
            <a:r>
              <a:rPr lang="pt-BR" sz="2500" b="1" u="sng" dirty="0"/>
              <a:t>contatos;</a:t>
            </a:r>
          </a:p>
          <a:p>
            <a:endParaRPr lang="pt-BR" sz="2500" b="1" u="sng" dirty="0"/>
          </a:p>
          <a:p>
            <a:r>
              <a:rPr lang="pt-BR" sz="2500" dirty="0"/>
              <a:t>Álcool Isopropílico.</a:t>
            </a:r>
          </a:p>
          <a:p>
            <a:pPr>
              <a:buNone/>
            </a:pPr>
            <a:r>
              <a:rPr lang="pt-BR" sz="2500" dirty="0"/>
              <a:t> </a:t>
            </a:r>
            <a:endParaRPr lang="pt-BR" sz="2500" i="1" dirty="0"/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482" name="Picture 2" descr="http://www.centrocomercialtiradentes.net.br/imagens/centrocomercialtiradentes.net.br/produtos/limpa_contato_27305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0769" y="3452009"/>
            <a:ext cx="1429192" cy="27029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2" descr="http://www.digitonet.com.br/Imagens/Produtos/%7B5F8D6F37-4BDA-4448-BA77-93FDFD1513EB%7D_ALCOOL%20ISOPROPILIC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3789040"/>
            <a:ext cx="2381250" cy="2381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300" b="1" dirty="0"/>
              <a:t>Laboratório de </a:t>
            </a:r>
            <a:br>
              <a:rPr lang="pt-BR" sz="3300" b="1" dirty="0"/>
            </a:br>
            <a:r>
              <a:rPr lang="pt-BR" sz="3300" b="1" dirty="0"/>
              <a:t>Hardware – ADS</a:t>
            </a:r>
            <a:br>
              <a:rPr lang="pt-BR" b="1" dirty="0"/>
            </a:br>
            <a:r>
              <a:rPr lang="pt-BR" sz="2800" dirty="0"/>
              <a:t>Memória Secundária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4320480" cy="4608512"/>
          </a:xfrm>
        </p:spPr>
        <p:txBody>
          <a:bodyPr>
            <a:normAutofit fontScale="92500" lnSpcReduction="10000"/>
          </a:bodyPr>
          <a:lstStyle/>
          <a:p>
            <a:r>
              <a:rPr lang="pt-BR" sz="2500" dirty="0"/>
              <a:t>HD – </a:t>
            </a:r>
            <a:r>
              <a:rPr lang="pt-BR" sz="2500" dirty="0" err="1"/>
              <a:t>Hard</a:t>
            </a:r>
            <a:r>
              <a:rPr lang="pt-BR" sz="2500" dirty="0"/>
              <a:t> Disk – Disco Rígido</a:t>
            </a:r>
          </a:p>
          <a:p>
            <a:r>
              <a:rPr lang="pt-BR" sz="2500" i="1" dirty="0"/>
              <a:t>Gigabytes (GB) Bilhões </a:t>
            </a:r>
            <a:br>
              <a:rPr lang="pt-BR" sz="2500" i="1" dirty="0"/>
            </a:br>
            <a:r>
              <a:rPr lang="pt-BR" sz="2500" i="1" dirty="0" err="1"/>
              <a:t>Terabytes</a:t>
            </a:r>
            <a:r>
              <a:rPr lang="pt-BR" sz="2500" i="1" dirty="0"/>
              <a:t> (TB) Trilhões</a:t>
            </a:r>
            <a:endParaRPr lang="pt-BR" sz="2500" dirty="0"/>
          </a:p>
          <a:p>
            <a:r>
              <a:rPr lang="pt-BR" sz="2500" dirty="0"/>
              <a:t>Pratos ou mídias (disco) – superfície magnética;</a:t>
            </a:r>
          </a:p>
          <a:p>
            <a:r>
              <a:rPr lang="pt-BR" sz="2500" dirty="0"/>
              <a:t>Braço tem acesso a qualquer região do disco;</a:t>
            </a:r>
          </a:p>
          <a:p>
            <a:r>
              <a:rPr lang="pt-BR" sz="2500" dirty="0"/>
              <a:t>Discos giram em elevada rotação: </a:t>
            </a:r>
            <a:br>
              <a:rPr lang="pt-BR" sz="2500" dirty="0"/>
            </a:br>
            <a:r>
              <a:rPr lang="pt-BR" sz="2500" dirty="0"/>
              <a:t>7200 RPM; </a:t>
            </a:r>
            <a:br>
              <a:rPr lang="pt-BR" sz="2500" dirty="0"/>
            </a:br>
            <a:r>
              <a:rPr lang="pt-BR" sz="2500" dirty="0"/>
              <a:t>10.000 RPM;</a:t>
            </a:r>
            <a:br>
              <a:rPr lang="pt-BR" sz="2500" dirty="0"/>
            </a:br>
            <a:r>
              <a:rPr lang="pt-BR" sz="2500" dirty="0"/>
              <a:t>15.000 RPM</a:t>
            </a:r>
          </a:p>
          <a:p>
            <a:endParaRPr lang="pt-BR" sz="2500" i="1" dirty="0"/>
          </a:p>
          <a:p>
            <a:endParaRPr lang="pt-BR" sz="2500" i="1" dirty="0"/>
          </a:p>
          <a:p>
            <a:endParaRPr lang="pt-BR" sz="2500" i="1" dirty="0"/>
          </a:p>
        </p:txBody>
      </p:sp>
      <p:pic>
        <p:nvPicPr>
          <p:cNvPr id="4098" name="Picture 2" descr="http://static.commentcamarche.net/en.kioskea.net/faq/images/0-rJyqeeyR-hd-lables-s-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61426" y="3212976"/>
            <a:ext cx="4582573" cy="3645024"/>
          </a:xfrm>
          <a:prstGeom prst="rect">
            <a:avLst/>
          </a:prstGeom>
          <a:noFill/>
        </p:spPr>
      </p:pic>
      <p:grpSp>
        <p:nvGrpSpPr>
          <p:cNvPr id="3" name="Grupo 12"/>
          <p:cNvGrpSpPr/>
          <p:nvPr/>
        </p:nvGrpSpPr>
        <p:grpSpPr>
          <a:xfrm>
            <a:off x="5652120" y="260648"/>
            <a:ext cx="3131840" cy="3050958"/>
            <a:chOff x="5039544" y="1988840"/>
            <a:chExt cx="4104456" cy="3843046"/>
          </a:xfrm>
        </p:grpSpPr>
        <p:pic>
          <p:nvPicPr>
            <p:cNvPr id="6" name="Imagem 5" descr="Sem Título-1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3560" y="3212976"/>
              <a:ext cx="3491880" cy="2618910"/>
            </a:xfrm>
            <a:prstGeom prst="rect">
              <a:avLst/>
            </a:prstGeom>
          </p:spPr>
        </p:pic>
        <p:sp>
          <p:nvSpPr>
            <p:cNvPr id="8" name="Texto Explicativo 2 7"/>
            <p:cNvSpPr/>
            <p:nvPr/>
          </p:nvSpPr>
          <p:spPr>
            <a:xfrm>
              <a:off x="8063880" y="3068960"/>
              <a:ext cx="1080120" cy="57606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80877"/>
                <a:gd name="adj6" fmla="val -36248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tx1"/>
                  </a:solidFill>
                </a:rPr>
                <a:t>Disco</a:t>
              </a:r>
            </a:p>
          </p:txBody>
        </p:sp>
        <p:sp>
          <p:nvSpPr>
            <p:cNvPr id="9" name="Texto Explicativo 2 8"/>
            <p:cNvSpPr/>
            <p:nvPr/>
          </p:nvSpPr>
          <p:spPr>
            <a:xfrm>
              <a:off x="7343800" y="1988840"/>
              <a:ext cx="1800200" cy="864096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20763"/>
                <a:gd name="adj6" fmla="val -2530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tx1"/>
                  </a:solidFill>
                </a:rPr>
                <a:t>Cabeças de leitura e gravação</a:t>
              </a:r>
            </a:p>
          </p:txBody>
        </p:sp>
        <p:sp>
          <p:nvSpPr>
            <p:cNvPr id="10" name="Texto Explicativo 2 9"/>
            <p:cNvSpPr/>
            <p:nvPr/>
          </p:nvSpPr>
          <p:spPr>
            <a:xfrm flipH="1">
              <a:off x="5039544" y="2348880"/>
              <a:ext cx="936104" cy="57606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54138"/>
                <a:gd name="adj6" fmla="val -4536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tx1"/>
                  </a:solidFill>
                </a:rPr>
                <a:t>Braço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Memória Secundária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55576" y="3573016"/>
            <a:ext cx="4752528" cy="28803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71600" y="3724417"/>
            <a:ext cx="2688299" cy="258490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2051720" y="4776842"/>
            <a:ext cx="480053" cy="480053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/>
          <p:cNvCxnSpPr>
            <a:stCxn id="8" idx="7"/>
          </p:cNvCxnSpPr>
          <p:nvPr/>
        </p:nvCxnSpPr>
        <p:spPr>
          <a:xfrm rot="16200000" flipH="1">
            <a:off x="2815926" y="4553246"/>
            <a:ext cx="1702297" cy="8017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rot="5400000" flipH="1" flipV="1">
            <a:off x="4283968" y="4365104"/>
            <a:ext cx="1728192" cy="11521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3635896" y="5902243"/>
            <a:ext cx="1296144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3707904" y="5877272"/>
            <a:ext cx="1080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500" b="1" dirty="0"/>
              <a:t>MEMÓRIA INTERNA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6012160" y="4077072"/>
            <a:ext cx="122413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ângulo 23"/>
          <p:cNvSpPr/>
          <p:nvPr/>
        </p:nvSpPr>
        <p:spPr>
          <a:xfrm>
            <a:off x="755576" y="1700808"/>
            <a:ext cx="806489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500" b="1" dirty="0"/>
              <a:t>c) Taxa de transferência externa (MB/s) </a:t>
            </a:r>
            <a:br>
              <a:rPr lang="pt-BR" sz="2500" b="1" dirty="0"/>
            </a:br>
            <a:r>
              <a:rPr lang="pt-BR" sz="2500" dirty="0"/>
              <a:t>velocidade em que os dados transitam entre sua memória interna (</a:t>
            </a:r>
            <a:r>
              <a:rPr lang="pt-BR" sz="2500" dirty="0" err="1"/>
              <a:t>cache</a:t>
            </a:r>
            <a:r>
              <a:rPr lang="pt-BR" sz="2500" dirty="0"/>
              <a:t>) e a memória da placa mãe.</a:t>
            </a:r>
            <a:endParaRPr lang="pt-BR" sz="25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Memória Secundária</a:t>
            </a:r>
          </a:p>
        </p:txBody>
      </p:sp>
      <p:sp>
        <p:nvSpPr>
          <p:cNvPr id="1026" name="AutoShape 2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8" name="AutoShape 4" descr="data:image/jpg;base64,/9j/4AAQSkZJRgABAQAAAQABAAD/2wCEAAkGBhQSERQTExQWFRUWGRwaFxgYGB8aHxwbHx8cGB0gHiEfGyYfGhwjGhwcHzIgIycpLCwsFx4xNTAqNSYrLCkBCQoKDgwOGg8PGiokHBwqKSkpKSksKSksLCkpLCksKSkpKSkpLCwpKSksKSwpLCwsLCwsLCwpLCkpLCwpLCksKf/AABEIAJsAyAMBIgACEQEDEQH/xAAcAAACAgMBAQAAAAAAAAAAAAAFBgQHAAECAwj/xABHEAACAQIEAwUGAgYGCQUBAAABAhEDIQAEEjEFIkEGEzJRYQcjQnGBsRSRM0NSYqHBFSRjctHwFzRzgpKTorLCRFPS4eIW/8QAGAEAAwEBAAAAAAAAAAAAAAAAAQIDAAT/xAAhEQACAgIDAAMBAQAAAAAAAAAAAQIREiEDMUETUWEyIv/aAAwDAQACEQMRAD8AUcik64Use98pv/wGPzGOOHcGovxSjSrHXTqVPeAGBBvB9JscccNrWdnCqO9trIBn0BQz9IxvO8GcVHqBagGokMCukXExzAzHTC2PVo+laeURVWmkKqxCjYAdBil/ajToU+KOAI10laoEC+INaZ6kYZD24rLlmNNA7IjRV1KFhY5iskzeSB5YQxWSvWd2YVnYg1ajiAsiAomwFpGA2mZxoIUOH6qa1C9NA0G9BLA2uf541nOC93USuKiwHp8ipFtpBBtJvgPXoVu8KkqKUwolfD06zg3kODO9QFdJ5dJlwBHTp9cRqmZLwtipmEqU2UhDKncgzbqDhS7LdpKmTpomcChDCpVUyrHoDHMrfMRjxmrlwI0G0FTUWXAsFBi03wv5fg9Vi2vLLUAf3Sh1kGDMkmbCwM9MNlRTGyy8z2zy/dyK1NSbAlv8/lgDV9owYPSy/vaukkuFYogHxExJgXgYUWyldUZ6WXApLRP6RdXvfXmF+k3x6U+KkFQ1I0nak+ru1J1FhyxECCZiBbDZ+mx8BP8ARPeUnrIxKk2DcxqN8UMQOpnbY42K9dWZEZmK6Va6gLNhJ6wbeWC2Sqt3WWFRKwamDMqwiGmw0kGdsTM5xHxkK0ErJalqkBtRu0QOuJOWxMNkeg2ZalTqNmSjJUZatiQg2XmEKT9YOBNTtbVYlfxJrBTdYKi3UmcbpUZWsTr5q+rwqFg7SAbYBjhVbmCqNOo3neeu2GTXoZJ+B3K8TJWo8lSoDAamOs3sBqmR8uuIArNmGWKba2PQNLEmd2641wrLV0JYqBcEHe4vvpnDBluIVS6B1ZlLLOmZ3nqY69TgN0KotkXsLx7NZKsaVSk3dVV70AkBgJ3S/NP7O+H8+1DJBZ74A9QVYEehEWwk0aFWnTVTlq2pQChFIErDk767Wx3UqVIfVQq0xLOGFLUG1A7yeQiRbDKeyijQY4x7ZMsoHcE1qhsiKCJPSSenyxO9neer1aVatmiFqPUJKkgFRFrdBhBp5eotFLeJZGikJtFydFjiTSNdnBFJgS6Eao+EEGfddcFyTAk7GjtpSNTMJUDxTp0/eAE31GF8Ije9ziCiJpPPFtw0fDeOaQZwu1c2i8maR1o1E0Ncqs6tQuKe4FgN8LB4RRpsj9/RdC1tKux5SDB5BeCMBK+jSdMe6YYVV7pKzhlp6XKarifFIHnviJxjsbSZ+8NSqzOAXVDCkjbSAp1geY2wQOcWqtN6XeaCo5UR43J6QJttGCAehppKKlUsqmoiiowLWM9OQA204ROmCKsr88UqUa7UGRmBcRqMEauk7EYzDdlc1lMxm0q06iNXy8BkrwusD9k7ahtONYWXHFu2i8efkiqTFDLKamtas1IqiCzGREQLIRgRxvOMcw3KszAIHSes7n1wV4dSl3Gkx3u/+UP3GCfGuBU62WbMZcE1aOpawXeRsSPljq6Oam0DOxuQNasaSZNs0v6yH0AfNoIEG/0xrtdkDlmfL1KJoudBjX3gcDVLBtuoti9uxGTpUshl0UBGNNS2lYJJFyfM4B+2Hhq1ctl6arrqvWUUyBLdS0ekYzXptvRA9nPAMvXyCPVpK7EtJInY4aE7MZVdqCD6YCdi6jZbKpSXL1XGojVyjrvBM4bTjlZ0xWiAOz2XF+5Sflj3yGSpqsBFEE9BiRGN5JeX64y7CZNOAeSJjpE41VCEEAKGA/L/AAxDO/hEz+ikWE+PbfrjzUix1SDs8j3m/KbYLaMCVymdOn+sU77X3+Vr48c9wjN1KVRDmKcbEzt18sG/O0RuJHurbi2Nzt1mdIke9sLm1sIElZYKAqHTq0iwi8dR6Y6FanAMrBMTbfbEMuN9RgG7zdTI5RbbHQJmIGrqk2Anxbb4NmJvfJJEgFRJHkPXGvxKnTcc/h9fliACLGZHwtN3Pk1tsYT4ukDngn3dvhtjWagPU4XX52/FgBTfe3pjnMdm67q1I5ocy+R288GiTIiCxB0CTDi12tvjJEbnRPik6tU7beHACe3DqwSjTUuGsF1XgkWxJOcUaubweLe2IPNJ21RziTAW91/expTZYn+zJLXt8eNYKIfbTJLmcn3ZPK7rf62wgdp+xSZGgqrrrGoW0xT1FTAO4NgcWPxqe6QHfWu2BnbGkGqZcEExrIj5L+eGjJiTimhP7M1BTy1MOKysAJApt0M4EJxKg1UEVFLLSKqPw5gMW5tRnYD4sNXBiFo1Cbfn/P8AyPXFe53h8uKVGFWqTL1XAk7wW2AxSKTZz9IK5TNZd6JVETWtXuzV1imXSoZaRoP0J2xmIvAKFSkuliVPfUzAepEfNFYfc41h6DF6I3Dv0lTlNqnzt/wH7jBTL5gpWpfh3VKrO3eaF1OwZgNLqTBgSR88CuHJ7ypyk+88gf8AwP3GCtHN6Xh1otK1O60LNQOTC6irg2PXphpAiG//AO0r5J3Dse4SqVVTTCwNxbUSOttsReCdpmznFaLmoXSToUgjRIuBh87E8MWpkqf4imr1ADqLjU2oTuT1wm/hUTtBCKqrIOlQAPBc2thH0VTdlidnT7gf3m+5wSUTgV2cb3A+bfc4LoBjnRY6K4zJHl+uOau+N5Q8v1w67MyAag/bOmbPN9U+E22xoEzEDVbUuqyi91tvjvm19O8i6306Z3H72OCSKNTTdNDaSZ1bGZnCsx33DD/d8JLeO2zWxndnaRDeLnutvh9MV1kuLVSMialNi1QOpL62DW8osRGJGXzQqMiVUWnU7wKaaSyxE7hp9drYNAsfSD4pWRYDVYiRc+uNNSAtrGkXnXeZ2P7uK4zCFMtUqKqjQlN2ZkYkkOy7kRcfnj2oZelWZlpUm1F6YYMQG0ESYuBFpuu+NoFj6agEFnpgtZhrgQP2b73xz3ygH3lPk8HPvb4r3witxBg1KlUU1tVKoxBCOQQdIYQkqSLH5Y8OHCnXya1qmXUFKTEl10gwYB5UHpODSNkWAa9M2NWnpbxe8vq/dviSKLTqldYt1jTPz3jFR8Rp0i0olEAZhIKMvMSL8pAYRi2KgBnUpYSu33+mFegp2cACFgHTPJYyGv4r+HGtJ5pEn9YIPNb4L46AMm4JPiaBDi/KL745VRA6AeEwPd2+K/XCDGuKUZpppBIDKYi4HrgT2x/S5fl1We4It4Lwd8M1M2uem+Kr4flHoMNZJUmsyve6Flg3mB8x0xSK9Em6RNyg/q9X67D/AD+WECjw7MohFXLVjTgmTTJgb/liweEPNBypESCNvn09MS+K9q6GqvTNdCWpmCLAmPvikSOOQicNzL1CpLFj3tMKdDE6QLDkdT+Qn1xmB3Bcq7hSqqQrKW1Ktj66oMQPPGYoTR68Kog1KhIMCrvEx/0n7jDGqUaYSvNNa1NmLMKvjG6SFMr1H1wtcLo62fln3pg6Z/joMfmMGMzV4fpamwpJVeQ9QatSkxeNjttjSGWkCaXbrPKDozNRASSFkGJMxJEnE/sNn6lbilKpVc1HYmWb0W3phXqoiuRJdAxuLEqOo8rYc+xfZyvTzdDMU8tV7rSWLFlazC3ljS6BC2y1Ozf6Bf7zfc4MocA+zDH8OkgqZaQdxc74MpjmR1nbm+Ocr4frjb745yvh+pw3piDAgWbRNhfUGnc38OMfw1dQ59HMYOk2MRf7Y6g6pkaoEvFmEnlF98Yg904BCLpMKd0sZm+FMIfD8qC9PmrCEJUuWVVYreCTyqbCfXG+H8SpCp+Hpd3SAprWpkAAlviBdmOr5jfHhluH02jTRWoj07t3iGSQQDBbbVeMD+8yiHLiotWoTS7kU6dQuEvdmOmNJ9No2wyJyeyfT4vrraDmLV6SuqsF0UyjE6UJB1QeuJY4ozd261y/f8rK1RAQwBAMqoi/ngX+Gp06gnLq65am1Me/i45nJDQSYgiBiZla2VRaTZWi9UKsh0HeDUwNjrgSDv1wWZM5p9rEnLljUXvjURj3msoRuLETe87XxMo8XrVEpJRqK0mopLBTpCsN0m66Tf6YDs2Yy9HK93laVchXdgVSzFrEaW33EHEvhletpp1MxSWmUrVB3dIITzi4ZZmSdr7YLQEwLxChq0MamWLJVVYRFDHfYi+Lam559HMN+vpfzxU3EatR+5YirHeDVqp01CmSPhEjFtiYblDcw+gjfE5FVo8go2gAD4OX3W/NjAfkSf7vvrfyxmvbmmfC0j3m/KbY1qsZMAeKDekY+G22AEnAwptFtvK22KTyudqrSosqVFpirWV6hfUp6hdPQWnfpi5swhYKqsRqtqG+2K07V9hKWTpU2pvUYhmsxtzAzI+2Hg0uyc02tEjs5xZqqizaGF1K6TNpi8FTPXCZ2nqmmzVFRFSYCgmcM3YurWzFCmxXUyaueQOUEL0G8dDvhc4zl6tR6lFggXUDTNvFvDEXuJicUj/RB/yLVHP1GYuzCRcBpA+kG2MxKymTDd0KnKhqLrY2GkkA36H54zFSYU4OnO/LcVfLb/oP3GBnED76p/eOCXC1mpUtPvT0mP8AoP3GNcQ4TqRnp06juapBKkFCsbAROoH16410M1YDq7fTH0N2EH9Uo/7NPtigs3kHRzSYc43AM3iY+eL/AOw9spS/2afbE+Twpwrsl8I/R/77f9xwRQXwO4OPdf7z/wDccEkxBdnQabfGsr4fqcbqb488sOX88a9hIgAsNMAfq+Xk358c1z7mqbMdB95bmsftjYYWOqxIipIlzJ5TbbHnmiO5rAtpPdnUgg6LHb74wCr+N9qKqUUqAUC+vQSacgiJmCog/LEXg2ep1sqFFUZUUgwcrU8beKQIsCbb2i2JfAshS0tSqV1qor+7OYVriLQJsbjHfCeK0qlJqkPTakqUqkIh3aJEKeWJvuMV0c+7thPJFzSpV9T5gOCjuKaNZDqWdcEkzc4EnKUKWb0VQ4R1ZgkCVg6p0hoEz06Yk8VynctVPO70PeISpK1KdQ6TqQoApUDxDzx3kjTy9XMvSeoKqCnDOoqDumkmOWSZMT5RgVQbvRAzeWZqFOm+Wev3QOl6eZEFXutht5EYM8HyRFDu177KlqjAU5aq0DSSZkgMB6YH8d4bHuu5qV6YU1KDAmkQrmSrHSA3NcHHpwajUpxpyYVpPcHvNR1GFqCqRzC2xO2MFPdEPO0CoAbMVmPfgaXQqGuf3f54tUgCZJXnER1PrHTFV5+hXIosyFV70aprM979CIxbBLc2mN7z5RePXE2VPDWbzvHvACYUXult8bUnljeD3e8MIHj9ccjZYmP1cgypj4/TGyLNIMfrAAZY+aX2wo5Lcc1P5/ywse0OgHpUwzFRrEkCSAQRtGGeoRNPpfr8sL/bioRTQqrMdQgKwU/x3wyFfQo8F4UlDLDu3qv3bHekzC5Bk6QPL1xlXI0HaozUHZtK6itJ0ncaiGYE3A22xI0utMpVp924PL3lZlLDc6dEqItv9MdZZhNcaQToS61e9i5tLQQfQCMN6SUU0kL9c5V0Ma9LSrk0CzWuIYmC02vjMTBEhdRBEHSGj4ZkgYzFBaSFng9KajGP1pk/5Q/fBbKvnzXQd1Vaird4FUKkptIaL7YE8GpS72n3pvH/AOT9xgxkcnl6rnTXzShOVhqHj3YLty7EYeQqJVfhiVa5zNWhmZJLE2JMbRBg2npgt2D7Y12rplmFPuyrQQIIC7DeDbrhVfI1MvVB7nMGnJDmpU5YuBpK7TPXE3sLUB4ggHRXv9MTfQU/9FscDeaKnzLH+JwSpnArs9/q6fX7nBZDiUToNVBjMoh0z5YypjMoeTBXZiECdRsNUc6yYUXutvFjwzzf1WtF17ptLHxHlO9setoXfRPJ4tWq/i/dx4Z+ppoV2IlxTJYCdJMGImRhTFacNyOa/D0H/EOtMRpBppKm12aY0Hz3tj243wilTp5imjZdO97rvXV3Yq2sgmNgT4on7Y8czxYNnVpmnWWjUoDXTGkBiLi2iIxKXjdPXTIWqyZjLsKqgo0mmYUkFTEDqIxUnRF4/nctQqZmhUqtUdkpprZGOkAy4s8G0HGyoqvmAlBh32inQZKTEMii5u8g7GIxFXhWUZ9ZpKBUNBwhcmAxZXXyIJjc4kZvjhShApOO4zWmmyHlAnodEzFt8N+IWnZxxXg1Mk00LZo0ECMuo0zqjUYIkQALg4l8Ey1WnBo5egjEHu31sSJI1BySA4G22Bme413OeruAUXSGejVLFXlSCbAEGevriH2i7QB8rl9NKjoqI2kDUGpOIDMCDefXApmtXZPqcPqjum0UUQVuYI7EyT5ExEYtyoBeVJ5rEdDG59Bil62a1pw5ijBmYcxYkHYbRGLoc3PMBzbW5rbX88JLRVHkRvMEnxGB70Rst8YOl4idLQPd7Wa++NEiP2Y6cvubb4wHpEkgnTb3u3NiY5Ortyk7kAkH1jFF53thWZKZrzmAQ3KxKgENAPL6WxeGbMU26crfbFLdmag0JJEQ0/8AETisKJcl6oj5TtipApVKCLScgVGfW8eTSACCMSMn2gyyZipoARCoRCgYhm1b3uJtidxl4yjEcxLEROrVva0SPTCtla4V1atlStMGXKUWDAeYLEgHFEk9kLaGYZTNyqzSBLKId0BI9L+WMxGo1ErMtT3i1hVUKzCkp0t1AYi/rMY1jbKJ2DuCp7xxA/SnpP8A4n7jBPIdoKQ1ismXDU20qChXUAfEYMFvX0wM4JBqPaPfHy/+JNvniBUzmXFZu9pFgHOs6ze9yI2th2rJXRb/AGW7G5Kvliw1k1wO8IqMA9yR12wp8F4UmW429GlOhA+kEybqDvjfAvacmXpLRVUKpIBCNtfT1xB7J8WfMcV7+oFD1FqEhRAEKB5nCSWiiq0Wx2dP9Wp/X74KJgV2aP8AVqfy/ngqpi+OdF0Y64zK+D88dO0/xxrLHkGHXZmQCDJNtRA1tFnW9lv4scmjroVEBCqUhVNisiOa+M0iPDAGyWmmb8x9MckfIk7+H31umF6MKlLsBUnU1aaltBDsNIA6dTjQ7BVAdS5hFAsCGa0mWG/U4aiR5gATDcs0rC2O4vGkTv3doe/j23xrNQq/6PTrnvaYgDlg2X5FrXvjlPZ8IScwpUknY87G0+KDhrDbHVaeWpaSZPIbbY1q3tERqWR7u3iW2BZqE2t7MgS7NmlJHilZgestj0rezCmzr79QdNgKYvtJ3w2ztBknwX/SiPitjCwgyx0ydTTdDay28ONkwYoT8z7M6TslT8UVFNxphBAYEWufPDoTEqSrtOprRpXzHqMaBbXsNfVZOkrPi28WOUYQsE6SeRpMk3s1tsa7GSSNT4YMz4DP6S2zWxkiGkkKPEwJlD5LbbGE2aQf7QDVa3wY6E6h+1B0HmgrbxfvYFhZ4cfrstMKklnBURF7euKsy/AauX0066shVdQMxIk+R/hi1eLD3mX/AL5+2FL2l5nRWQ/2TdJ6+WHg3dCTSoH8Pq6u4MxNUG5+u7XxYHabNJ+CzALLPdtuR5YpPiOaJyYHTCutWR1PzJOOhRs5s0hw4Lxc1UUtpTTVpCzQDA660dZ+v0xmIPZaoeWC16y+HvB0PVJ+04zGaQ0HaJXA6786W0GsTGkEz89Mj88Cl4nTp1izUqdnNyGJa++9jgjwJZduX9c3QefnGFriagVqpcSdbRfa+GRN9B+vxAVj3tSiWPhJIKA76QCJAMfniPluKvlVFWmBrDst5tK3+uCnYzsRn8wrVFpEUnRgpqWD+QAkGP3sBOOh1U0q1M0qyPzowv4Yn1nzxqBfpdXYzP5hsplz+HGgi7d4JjziL/LDUJwC7Az/AEdlv9mMHscp2Lo0x3xvLHkH1xoriJl+OZcIAa9IRuDUX/HBXYWcgzF5mIe3vN+U482YAHoB4rj3VulsSH7Q5OBFegI/tF/xxEzvavKKjkV6TMATpDrJ9MZwYEzuTPm0HSs2qC12tvjNYjxHTPi+JWnw7eHCpV9qtIbUqh+TLiBmPbFTOlRRrICwlzEKJuYgzgYMOSHvUZNhqjmW8aZN1t4scq9luSP1ZMyTBs/pjKnajKrSFU5imKbRDT57W3/hiPT7Z5MiRmU/j/hgYsxIZrPMx+sA1WMfB6Y2dWoftwdO+krbxfvYHf6QsiDHfz8kY/yxxX9oeT0sVdmIBgCm9z5bYOLCElAjZtGq1m1Bp/7cd6GlpXmj3ljDCD4b74r3/SlmT/6Fvq5xGzntMzbAL+EZVJElSxMTePXBwYuSLGWmeWAZj3Rg8tvjvjopZuQ6Z51gyWtdb7YFJ7RsrHhr/wDJbG19oeW/Yr/8k4XBhsJcUHvMv/fP2xXPtl4gaeZogKG1UzvP7XocMXF+0T5yrlU4cSSGL1HZORV2IafinpvgB244bVzVVtnq0lYUz4bC5t1OKQjT2JOVqkJdbiqPS7uoArAbUwT63kwDgdToUbR3jAmJDAR8xGBv4dgNV/8A79cNvZH2fZrNoa1L3VxoaopCt5kH0PkOuL9HIDuFpFUCkjPpqAzPX1KwR8pxrHfafg2byNVUzK7yyMpOlzNyCLzjMarDdBbsqNZ1x+tJ28/WML1R1bNkVLAVua0yNX+GJPZjPqrySVAaTtF7dRiNx+k3fVJ5dLHpEk3xl2FvR9X5NIAI06SBpi0DpHpinPbTl6dXOIaZTWlFu+mR1BWSAek4A+z/ALbcQJNGn3lamFOw1lABaJIB++JnC8+lVGZSSxJ70P4tXXVOBOVA62x74MCvCacGIojmBj6g48/xlAogeoWMf+7/AIG+FcVGCaJYU9tN9PnHl9MB+E8JorxTLqy8jnUVuIkH+GIRSkyq50M1HOLRzju5dMuqgSzMVltrk9ce+ayuVJnTTGojTKgSTtFrzhz7VcFonJVwFJ005Akm4Er1vcYB9mex+cr0UbPVtIhdNJFAIi41MZgjyGG+Jj/KgVU4TSTxUUW5HhAuNxtvjilw6mdWmkCViQEuJsOnXD83ZNSZNWpMzOrrETt5YUe1XZnN0GFalmGq0rd6hUawo2IIHMAbxvjPjZlyJgyplkBPum5ZDRSNo36dMZUygQamosBCmStoadP5xjxcMejc0nep8QEzfr/PEqnlgKbKyEiVK+I7WAu+wwtBsDlcrP6La/hmP44lrm0K6hSbSCAToE3uLTOEPi+VJzVVUpMxBkqiExbqBtjzpUWAYVEdOXl1KVuPKd98PgqE+WiywjaBU0HSU1jadMwbeY8scrqZA2ggFdYllBidJtO89MKn9Mt3IpCnT8GmSG/Pf7YlDjdIU2U0o0ooTZ+b4ixMEDrhcQrksPnJvIAAu5TxqQCOpg2HrjX9HP6XUsOYfCdJG+/X5YI9iuy1PM0RWzAVVYyiJyki92g7H9nDkeG5RNqa+W2MuO0bO/BAfhLhivKebTIa22oH5dPniDl6jMmoU2APrPXSenTf5YfON9iqdZddBjSqrdGBJUnydZhgccdkc6aeWSnXKrUUlWGobz87DBwoOdijU46OHUe7plCO8YEgl+YjVqIAnSTbCTxbjDHNpmkqIKujWU0uAd5FxaRhz7Xceo08xWBq0wQRbUJ2n9kxgPUztPNg06damWdCIOmb+pUbfMYZaEl9IRqtZHNRqJK65L0yPDPkdiJx9A9iqoHD8qgXTNMcp+Vzj547QcMag/dKDpidREa7xO8QNsTOBdsM9RAy9GrCsdKq0EAm1ifCMUaET3stT2xURmKdDLUqZfMa9QVbwoEGT0ny64zCfQ/G5U1HzmXrFdUmuhmD+0SN1jGYS34F0JWR4Wz1NGnTqkEkGBhp7ZcMD08vULqaoC0qun4h8LgHrFji90yyQOVdvIYqTtJSBRwQI1+V+vXcYX5LGcKLe7NdnMvlctTp0UCrAmQJYxu3qcJPangNGjxWj+H0K2YRhVpRa0FXgQASbYYPZ/xOpVyNBqjFjESQOm3TADuw+azWYYaq1N1VHN9K+QG0fTDzaxEx8BuY/wBVNjPfGwmNsCO2edejn6dWmSrJTQrNx+RG2J9bMsabLbT3hMQN7+mFztXmGeujMZOgCfl8sQh2Khp7N9vM5ms1SoVXTQ5OoKguAJjFtisdPy88UR7OVniVD5n7Yv6otiOmOpGv7FSr27oLXp0TU5qh0qRdZ8iZtOGerT1pfqMfPWSGvi2TptdBmDb5Ex64+itPLgRtrZSdJ6KEbIor1Faowh2AlmNtRA2ddhiZkuDIwJ1QIvq1DzPWrjxbmz4om9NmJZfMmrp+e1sQuM5JTVoSDzqytc3AqQOvlbEfwL7HX2aUUpVcwUAgqkt577y7T9Dgp7S+GfisvTWm6KdRJLbbR0viqRlRSz+YoUyyUlLQquwiCoF5nYnDfkcqC6SW+NfG2yoWHxXIN53w90qAknsHJ2YpoIquWYzBpkgCDFwd7+uImZ7HNoINenHhJ0NH5z1wV4HS11AjlmU5dWILseYtc7yD8sRGyCnM1FOshWqkA1HIBUrp3bpias2KSLT4dkilNVUWAA+wwo9r+2q5PWAveFCNQJiPOD54sTh/6NfkMIPb7szl62doGpTnX4uZgGjaQGAOKuOjRml4NXZ3Nd5TV1nQ6hlncAiYOKT9qiAcTqxaVUmLXg+uL/ydEKihRAAAAHlihfa0g/pKp/dT+eG+gXaYspxKqxgNfzKqfzOnHeZ4zU06Fc/vEBQT+Si2I9NyKRjqb48CLYNE7DdFkz1Cnl3rLSzNInunqGFqI1ypbowPng/7I+AlOJMuZVBUSnKBgGBv4lve3UYGcK4ZSY5cNTQ69OqVBmd8WN2f4XSSpRZKaqysyggQQvlhHKhqvY6ZunT0uXgJB1TdYi8+kYzCJ244pV77LUNZ7qrV01FtzLIsTvGMwHJfRXE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4" name="Retângulo 23"/>
          <p:cNvSpPr/>
          <p:nvPr/>
        </p:nvSpPr>
        <p:spPr>
          <a:xfrm>
            <a:off x="107504" y="1700808"/>
            <a:ext cx="626469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500" b="1" dirty="0"/>
              <a:t>Taxa de transferência externa (MB/s)</a:t>
            </a:r>
            <a:br>
              <a:rPr lang="pt-BR" sz="2500" b="1" dirty="0"/>
            </a:br>
            <a:r>
              <a:rPr lang="pt-BR" sz="2500" b="1" dirty="0"/>
              <a:t>IDE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323528" y="486916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Taxa</a:t>
                      </a:r>
                      <a:r>
                        <a:rPr lang="pt-BR" baseline="0" dirty="0"/>
                        <a:t> de Transferência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SATA-I (1ª Geração)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150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SATA-II (2ª Geração)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300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SATA-III (3ª Geração)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600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323528" y="249289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Padrão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Taxa</a:t>
                      </a:r>
                      <a:r>
                        <a:rPr lang="pt-BR" baseline="0" dirty="0"/>
                        <a:t> de Transferência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ATA-33 ou</a:t>
                      </a:r>
                      <a:r>
                        <a:rPr lang="pt-BR" baseline="0" dirty="0"/>
                        <a:t> Ultra DMA 33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33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ATA-66 ou</a:t>
                      </a:r>
                      <a:r>
                        <a:rPr lang="pt-BR" baseline="0" dirty="0"/>
                        <a:t> Ultra DMA 66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66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ATA-100 ou</a:t>
                      </a:r>
                      <a:r>
                        <a:rPr lang="pt-BR" baseline="0" dirty="0"/>
                        <a:t> Ultra DMA 100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100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ATA-133 ou</a:t>
                      </a:r>
                      <a:r>
                        <a:rPr lang="pt-BR" baseline="0" dirty="0"/>
                        <a:t> Ultra DMA 133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133 MB/s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107504" y="4437112"/>
            <a:ext cx="10801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SATA</a:t>
            </a:r>
          </a:p>
        </p:txBody>
      </p:sp>
      <p:pic>
        <p:nvPicPr>
          <p:cNvPr id="4" name="Picture 4" descr="http://compuescazu.com/tienda/images/conexiones-hama-cable-plano-ide-40-pins-hembras-60-c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1628800"/>
            <a:ext cx="1836667" cy="1483271"/>
          </a:xfrm>
          <a:prstGeom prst="rect">
            <a:avLst/>
          </a:prstGeom>
          <a:noFill/>
        </p:spPr>
      </p:pic>
      <p:pic>
        <p:nvPicPr>
          <p:cNvPr id="1030" name="Picture 6" descr="http://www.cablesdirect.com/prodimages/IDEU-1B_L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3429000"/>
            <a:ext cx="1872208" cy="1172003"/>
          </a:xfrm>
          <a:prstGeom prst="rect">
            <a:avLst/>
          </a:prstGeom>
          <a:noFill/>
        </p:spPr>
      </p:pic>
      <p:pic>
        <p:nvPicPr>
          <p:cNvPr id="1032" name="Picture 8" descr="http://www.satacables.com/assets/images/right-to-right-sata-cable-signal-cable-for-sata-device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92280" y="4941168"/>
            <a:ext cx="1619672" cy="15646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Tarefa no Laboratório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0" y="1440160"/>
            <a:ext cx="9144000" cy="54178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2400" b="1" dirty="0"/>
              <a:t>Em duplas ou trios pesquisem: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A)</a:t>
            </a:r>
            <a:r>
              <a:rPr lang="pt-BR" sz="1800" dirty="0"/>
              <a:t> </a:t>
            </a:r>
            <a:r>
              <a:rPr lang="pt-BR" sz="1800" b="1" dirty="0"/>
              <a:t>No Laboratório </a:t>
            </a:r>
            <a:r>
              <a:rPr lang="pt-BR" sz="1800" dirty="0"/>
              <a:t>– as especificações de velocidade mais recentes dos módulos de </a:t>
            </a:r>
            <a:r>
              <a:rPr lang="pt-BR" sz="1800"/>
              <a:t>memória RAM </a:t>
            </a:r>
            <a:r>
              <a:rPr lang="pt-BR" sz="1800" dirty="0"/>
              <a:t>de </a:t>
            </a:r>
            <a:r>
              <a:rPr lang="pt-BR" sz="1800" dirty="0" err="1"/>
              <a:t>PC’s</a:t>
            </a:r>
            <a:r>
              <a:rPr lang="pt-BR" sz="18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Ex.: </a:t>
            </a:r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b="1" dirty="0"/>
              <a:t>B) Em casa </a:t>
            </a:r>
            <a:r>
              <a:rPr lang="pt-BR" sz="1800" dirty="0"/>
              <a:t>-</a:t>
            </a:r>
            <a:r>
              <a:rPr lang="pt-BR" sz="1800" b="1" dirty="0"/>
              <a:t> </a:t>
            </a:r>
            <a:r>
              <a:rPr lang="pt-BR" sz="1800" dirty="0"/>
              <a:t>com ajuda de uma ferramenta (ex. CPU-Z ou </a:t>
            </a:r>
            <a:r>
              <a:rPr lang="pt-BR" sz="1800" dirty="0" err="1"/>
              <a:t>Speecy</a:t>
            </a:r>
            <a:r>
              <a:rPr lang="pt-BR" sz="1800" dirty="0"/>
              <a:t>) as especificações dos módulos de memória do seu computador explicadas na aula (ex. fabricante, tipo, tamanho, </a:t>
            </a:r>
            <a:r>
              <a:rPr lang="pt-BR" sz="1800" dirty="0" err="1"/>
              <a:t>chanels</a:t>
            </a:r>
            <a:r>
              <a:rPr lang="pt-BR" sz="1800" dirty="0"/>
              <a:t>, </a:t>
            </a:r>
            <a:r>
              <a:rPr lang="pt-BR" sz="1800" dirty="0" err="1"/>
              <a:t>clock</a:t>
            </a:r>
            <a:r>
              <a:rPr lang="pt-BR" sz="1800" dirty="0"/>
              <a:t>  e </a:t>
            </a:r>
            <a:r>
              <a:rPr lang="pt-BR" sz="1800" dirty="0" err="1"/>
              <a:t>clock</a:t>
            </a:r>
            <a:r>
              <a:rPr lang="pt-BR" sz="1800" dirty="0"/>
              <a:t> atual, </a:t>
            </a:r>
            <a:r>
              <a:rPr lang="pt-BR" sz="1800" dirty="0" err="1"/>
              <a:t>etc</a:t>
            </a:r>
            <a:r>
              <a:rPr lang="pt-BR" sz="1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Envie relatório único (</a:t>
            </a:r>
            <a:r>
              <a:rPr lang="pt-BR" sz="1800" b="1" dirty="0"/>
              <a:t>A</a:t>
            </a:r>
            <a:r>
              <a:rPr lang="pt-BR" sz="1800" dirty="0"/>
              <a:t> e </a:t>
            </a:r>
            <a:r>
              <a:rPr lang="pt-BR" sz="1800" b="1" dirty="0"/>
              <a:t>B</a:t>
            </a:r>
            <a:r>
              <a:rPr lang="pt-BR" sz="1800" dirty="0"/>
              <a:t>) para e-mail: </a:t>
            </a:r>
            <a:r>
              <a:rPr lang="pt-BR" sz="1800" b="1" dirty="0"/>
              <a:t>fabio@fatecpg.edu.br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Assunto: </a:t>
            </a:r>
            <a:r>
              <a:rPr lang="pt-BR" sz="1800" b="1" dirty="0"/>
              <a:t>TRABALHO LH </a:t>
            </a:r>
            <a:br>
              <a:rPr lang="pt-BR" sz="1800" b="1" dirty="0"/>
            </a:br>
            <a:r>
              <a:rPr lang="pt-BR" sz="1800" dirty="0"/>
              <a:t>Incluir: </a:t>
            </a:r>
            <a:r>
              <a:rPr lang="pt-BR" sz="1800" b="1" dirty="0"/>
              <a:t>Nomes completos dos alunos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Prazo: </a:t>
            </a:r>
            <a:r>
              <a:rPr lang="pt-BR" sz="1800" b="1" dirty="0"/>
              <a:t>01 semana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Envie único e-mail para: </a:t>
            </a:r>
            <a:r>
              <a:rPr lang="pt-BR" sz="1800" b="1" dirty="0"/>
              <a:t>fabio@fatecpg.edu.br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Assunto: </a:t>
            </a:r>
            <a:r>
              <a:rPr lang="pt-BR" sz="1800" b="1" dirty="0"/>
              <a:t>TRABALHO LH </a:t>
            </a:r>
            <a:br>
              <a:rPr lang="pt-BR" sz="1800" b="1" dirty="0"/>
            </a:br>
            <a:r>
              <a:rPr lang="pt-BR" sz="1800" dirty="0"/>
              <a:t>Incluir: </a:t>
            </a:r>
            <a:r>
              <a:rPr lang="pt-BR" sz="1800" b="1" dirty="0"/>
              <a:t>Nomes completos dos alunos</a:t>
            </a:r>
            <a:endParaRPr lang="pt-BR" sz="18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800" dirty="0"/>
              <a:t>Prazo: </a:t>
            </a:r>
            <a:r>
              <a:rPr lang="pt-BR" sz="1800" b="1" dirty="0"/>
              <a:t>01 semana</a:t>
            </a:r>
            <a:br>
              <a:rPr lang="pt-BR" sz="2500" b="1" dirty="0"/>
            </a:br>
            <a:endParaRPr lang="pt-BR" sz="25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B4B2013-51A4-69DD-FC70-89FE5EC8F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592" y="2492896"/>
            <a:ext cx="5549801" cy="1528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601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507</TotalTime>
  <Words>978</Words>
  <Application>Microsoft Office PowerPoint</Application>
  <PresentationFormat>Apresentação na tela (4:3)</PresentationFormat>
  <Paragraphs>194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Calibri</vt:lpstr>
      <vt:lpstr>Times New Roman</vt:lpstr>
      <vt:lpstr>Tw Cen MT</vt:lpstr>
      <vt:lpstr>Wingdings</vt:lpstr>
      <vt:lpstr>Wingdings 2</vt:lpstr>
      <vt:lpstr>Plano de Marketing</vt:lpstr>
      <vt:lpstr>Laboratório de Hardware</vt:lpstr>
      <vt:lpstr>Laboratório de Hardware – ADS Memória Principal</vt:lpstr>
      <vt:lpstr>Laboratório de Hardware – ADS  Memória Principal</vt:lpstr>
      <vt:lpstr>Laboratório de Hardware – ADS  Memória Principal</vt:lpstr>
      <vt:lpstr>Laboratório de Hardware – ADS  Memória Principal</vt:lpstr>
      <vt:lpstr>Laboratório de Hardware – ADS Memória Principal</vt:lpstr>
      <vt:lpstr>Laboratório de Hardware – ADS Memória Principal</vt:lpstr>
      <vt:lpstr>Laboratório de Hardware – ADS Memória Principal</vt:lpstr>
      <vt:lpstr>Laboratório de Hardware – ADS  Memória Principal</vt:lpstr>
      <vt:lpstr>Laboratório de Hardware – ADS  Memória Principal</vt:lpstr>
      <vt:lpstr>Laboratório de Hardware – ADS  Memória Principal</vt:lpstr>
      <vt:lpstr>Laboratório de Hardware – ADS  Memória Principal</vt:lpstr>
      <vt:lpstr>Laboratório de  Hardware – ADS Memória Secundária</vt:lpstr>
      <vt:lpstr>Laboratório de Hardware – ADS Memória Secundária</vt:lpstr>
      <vt:lpstr>Laboratório de Hardware – ADS Memória Secundária</vt:lpstr>
      <vt:lpstr>Laboratório de Hardware – ADS Memória Secundária</vt:lpstr>
      <vt:lpstr>Laboratório de Hardware – ADS  Tarefa no Laboratório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Fábio Pessoa de Sá</cp:lastModifiedBy>
  <cp:revision>56</cp:revision>
  <dcterms:created xsi:type="dcterms:W3CDTF">2011-02-18T05:14:19Z</dcterms:created>
  <dcterms:modified xsi:type="dcterms:W3CDTF">2023-08-28T20:42:08Z</dcterms:modified>
</cp:coreProperties>
</file>