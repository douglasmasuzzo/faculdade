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2" r:id="rId4"/>
  </p:sldMasterIdLst>
  <p:sldIdLst>
    <p:sldId id="256" r:id="rId5"/>
    <p:sldId id="307" r:id="rId6"/>
    <p:sldId id="308" r:id="rId7"/>
    <p:sldId id="309" r:id="rId8"/>
    <p:sldId id="303" r:id="rId9"/>
    <p:sldId id="306" r:id="rId10"/>
    <p:sldId id="301" r:id="rId11"/>
    <p:sldId id="311" r:id="rId12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368" autoAdjust="0"/>
    <p:restoredTop sz="94660"/>
  </p:normalViewPr>
  <p:slideViewPr>
    <p:cSldViewPr>
      <p:cViewPr varScale="1">
        <p:scale>
          <a:sx n="68" d="100"/>
          <a:sy n="68" d="100"/>
        </p:scale>
        <p:origin x="588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o títul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pt-BR"/>
          </a:p>
        </p:txBody>
      </p:sp>
      <p:sp>
        <p:nvSpPr>
          <p:cNvPr id="10" name="Rectangle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pt-BR"/>
          </a:p>
        </p:txBody>
      </p:sp>
      <p:sp>
        <p:nvSpPr>
          <p:cNvPr id="11" name="Rectangle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pt-BR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 latinLnBrk="0">
              <a:defRPr lang="pt-BR" cap="all" baseline="0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515100" cy="685800"/>
          </a:xfrm>
        </p:spPr>
        <p:txBody>
          <a:bodyPr anchor="ctr"/>
          <a:lstStyle>
            <a:lvl1pPr marL="0" indent="0" algn="l" latinLnBrk="0">
              <a:buNone/>
              <a:defRPr lang="pt-BR" sz="28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</p:spPr>
        <p:txBody>
          <a:bodyPr>
            <a:noAutofit/>
          </a:bodyPr>
          <a:lstStyle>
            <a:lvl1pPr algn="ctr" latinLnBrk="0">
              <a:defRPr lang="pt-BR" sz="2000">
                <a:solidFill>
                  <a:srgbClr val="FFFFFF"/>
                </a:solidFill>
              </a:defRPr>
            </a:lvl1pPr>
          </a:lstStyle>
          <a:p>
            <a:fld id="{5CCC34FB-0DEE-40D2-BD68-D907C33B9AF4}" type="datetimeFigureOut">
              <a:rPr lang="pt-BR" smtClean="0"/>
              <a:pPr/>
              <a:t>03/06/2024</a:t>
            </a:fld>
            <a:endParaRPr lang="pt-BR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</p:spPr>
        <p:txBody>
          <a:bodyPr/>
          <a:lstStyle>
            <a:lvl1pPr algn="r" latinLnBrk="0">
              <a:defRPr lang="pt-BR">
                <a:solidFill>
                  <a:schemeClr val="tx2"/>
                </a:solidFill>
              </a:defRPr>
            </a:lvl1pPr>
          </a:lstStyle>
          <a:p>
            <a:endParaRPr lang="pt-BR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 latinLnBrk="0">
              <a:defRPr lang="pt-BR">
                <a:solidFill>
                  <a:schemeClr val="tx2"/>
                </a:solidFill>
              </a:defRPr>
            </a:lvl1pPr>
          </a:lstStyle>
          <a:p>
            <a:fld id="{5F8E9163-724E-4E4B-A2F9-B369A10AA010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ítulo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pt-BR"/>
              <a:t>Clique para editar estilo de títulos Mestre</a:t>
            </a:r>
          </a:p>
        </p:txBody>
      </p:sp>
      <p:sp>
        <p:nvSpPr>
          <p:cNvPr id="12" name="Rectangle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Rectangl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C34FB-0DEE-40D2-BD68-D907C33B9AF4}" type="datetimeFigureOut">
              <a:rPr lang="pt-BR" smtClean="0"/>
              <a:pPr/>
              <a:t>03/06/2024</a:t>
            </a:fld>
            <a:endParaRPr lang="pt-BR"/>
          </a:p>
        </p:txBody>
      </p:sp>
      <p:sp>
        <p:nvSpPr>
          <p:cNvPr id="28" name="Rectangl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9" name="Rectangl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E9163-724E-4E4B-A2F9-B369A10AA010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C34FB-0DEE-40D2-BD68-D907C33B9AF4}" type="datetimeFigureOut">
              <a:rPr lang="pt-BR" smtClean="0"/>
              <a:pPr/>
              <a:t>03/06/2024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latinLnBrk="0">
              <a:defRPr lang="pt-BR">
                <a:solidFill>
                  <a:srgbClr val="FFFFFF"/>
                </a:solidFill>
              </a:defRPr>
            </a:lvl1pPr>
          </a:lstStyle>
          <a:p>
            <a:fld id="{5F8E9163-724E-4E4B-A2F9-B369A10AA010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penas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C34FB-0DEE-40D2-BD68-D907C33B9AF4}" type="datetimeFigureOut">
              <a:rPr lang="pt-BR" smtClean="0"/>
              <a:pPr/>
              <a:t>03/06/2024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latinLnBrk="0">
              <a:defRPr lang="pt-BR">
                <a:solidFill>
                  <a:srgbClr val="FFFFFF"/>
                </a:solidFill>
              </a:defRPr>
            </a:lvl1pPr>
          </a:lstStyle>
          <a:p>
            <a:fld id="{5F8E9163-724E-4E4B-A2F9-B369A10AA010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C34FB-0DEE-40D2-BD68-D907C33B9AF4}" type="datetimeFigureOut">
              <a:rPr lang="pt-BR" smtClean="0"/>
              <a:pPr/>
              <a:t>03/06/2024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 latinLnBrk="0">
              <a:defRPr lang="pt-BR">
                <a:solidFill>
                  <a:schemeClr val="tx2"/>
                </a:solidFill>
              </a:defRPr>
            </a:lvl1pPr>
          </a:lstStyle>
          <a:p>
            <a:fld id="{5F8E9163-724E-4E4B-A2F9-B369A10AA010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ítulo e conteúd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pt-BR"/>
              <a:t>Clique para editar estilo de títulos Mestre</a:t>
            </a:r>
          </a:p>
        </p:txBody>
      </p:sp>
      <p:sp>
        <p:nvSpPr>
          <p:cNvPr id="3" name="Rectangle 3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4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Rectangle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C34FB-0DEE-40D2-BD68-D907C33B9AF4}" type="datetimeFigureOut">
              <a:rPr lang="pt-BR" smtClean="0"/>
              <a:pPr/>
              <a:t>03/06/2024</a:t>
            </a:fld>
            <a:endParaRPr lang="pt-BR"/>
          </a:p>
        </p:txBody>
      </p:sp>
      <p:sp>
        <p:nvSpPr>
          <p:cNvPr id="6" name="Rectangl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Rectangl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E9163-724E-4E4B-A2F9-B369A10AA010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 preserve="1">
  <p:cSld name="Título e texto em duas 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pt-BR"/>
              <a:t>Clique para editar estilo de títulos Mestre</a:t>
            </a:r>
          </a:p>
        </p:txBody>
      </p:sp>
      <p:sp>
        <p:nvSpPr>
          <p:cNvPr id="3" name="Rectangle 3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4"/>
          <p:cNvSpPr>
            <a:spLocks noGrp="1"/>
          </p:cNvSpPr>
          <p:nvPr>
            <p:ph type="body"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Rectangle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C34FB-0DEE-40D2-BD68-D907C33B9AF4}" type="datetimeFigureOut">
              <a:rPr lang="pt-BR" smtClean="0"/>
              <a:pPr/>
              <a:t>03/06/2024</a:t>
            </a:fld>
            <a:endParaRPr lang="pt-BR"/>
          </a:p>
        </p:txBody>
      </p:sp>
      <p:sp>
        <p:nvSpPr>
          <p:cNvPr id="6" name="Rectangl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Rectangl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E9163-724E-4E4B-A2F9-B369A10AA010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lang="pt-BR"/>
              <a:t>Clique para editar estilo de títulos Mestre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/>
            <a:r>
              <a:rPr lang="pt-BR"/>
              <a:t>Clique para 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  <a:p>
            <a:pPr lvl="5"/>
            <a:r>
              <a:rPr lang="pt-BR"/>
              <a:t>Sexto nível</a:t>
            </a:r>
          </a:p>
          <a:p>
            <a:pPr lvl="6"/>
            <a:r>
              <a:rPr lang="pt-BR"/>
              <a:t>Sétimo nível</a:t>
            </a:r>
          </a:p>
          <a:p>
            <a:pPr lvl="7"/>
            <a:r>
              <a:rPr lang="pt-BR"/>
              <a:t>Oitavo nível</a:t>
            </a:r>
          </a:p>
          <a:p>
            <a:pPr lvl="8"/>
            <a:r>
              <a:rPr lang="pt-BR"/>
              <a:t>Nono nível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latinLnBrk="0">
              <a:defRPr lang="pt-BR" sz="1400">
                <a:solidFill>
                  <a:schemeClr val="tx2"/>
                </a:solidFill>
              </a:defRPr>
            </a:lvl1pPr>
          </a:lstStyle>
          <a:p>
            <a:fld id="{5CCC34FB-0DEE-40D2-BD68-D907C33B9AF4}" type="datetimeFigureOut">
              <a:rPr lang="pt-BR" smtClean="0"/>
              <a:pPr/>
              <a:t>03/06/2024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vert="horz" anchor="ctr"/>
          <a:lstStyle>
            <a:lvl1pPr algn="r" latinLnBrk="0">
              <a:defRPr lang="pt-BR" sz="1400">
                <a:solidFill>
                  <a:schemeClr val="tx2"/>
                </a:solidFill>
              </a:defRPr>
            </a:lvl1pPr>
          </a:lstStyle>
          <a:p>
            <a:endParaRPr lang="pt-BR"/>
          </a:p>
        </p:txBody>
      </p:sp>
      <p:sp>
        <p:nvSpPr>
          <p:cNvPr id="7" name="Rectangle 6"/>
          <p:cNvSpPr/>
          <p:nvPr/>
        </p:nvSpPr>
        <p:spPr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pt-BR"/>
          </a:p>
        </p:txBody>
      </p:sp>
      <p:sp>
        <p:nvSpPr>
          <p:cNvPr id="8" name="Rectangle 7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pt-BR"/>
          </a:p>
        </p:txBody>
      </p:sp>
      <p:sp>
        <p:nvSpPr>
          <p:cNvPr id="9" name="Rectangle 8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pt-BR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latinLnBrk="0">
              <a:defRPr lang="pt-BR" sz="1400" b="1">
                <a:solidFill>
                  <a:srgbClr val="FFFFFF"/>
                </a:solidFill>
              </a:defRPr>
            </a:lvl1pPr>
          </a:lstStyle>
          <a:p>
            <a:fld id="{5F8E9163-724E-4E4B-A2F9-B369A10AA010}" type="slidenum">
              <a:rPr lang="pt-BR" smtClean="0"/>
              <a:pPr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94" r:id="rId2"/>
    <p:sldLayoutId id="2147483695" r:id="rId3"/>
    <p:sldLayoutId id="2147483696" r:id="rId4"/>
    <p:sldLayoutId id="2147483697" r:id="rId5"/>
    <p:sldLayoutId id="2147483698" r:id="rId6"/>
    <p:sldLayoutId id="2147483699" r:id="rId7"/>
  </p:sldLayoutIdLst>
  <p:txStyles>
    <p:titleStyle>
      <a:lvl1pPr algn="l" rtl="0" eaLnBrk="1" latinLnBrk="0" hangingPunct="1">
        <a:spcBef>
          <a:spcPct val="0"/>
        </a:spcBef>
        <a:buNone/>
        <a:defRPr lang="pt-BR" sz="4400" kern="1200">
          <a:solidFill>
            <a:schemeClr val="tx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lang="pt-BR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lang="pt-BR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lang="pt-BR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lang="pt-BR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lang="pt-BR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lang="pt-BR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lang="pt-BR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lang="pt-BR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lang="pt-BR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lang="pt-BR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hangingPunct="1">
        <a:defRPr lang="pt-BR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hangingPunct="1">
        <a:defRPr lang="pt-BR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hangingPunct="1">
        <a:defRPr lang="pt-BR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hangingPunct="1">
        <a:defRPr lang="pt-BR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hangingPunct="1">
        <a:defRPr lang="pt-BR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hangingPunct="1">
        <a:defRPr lang="pt-BR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hangingPunct="1">
        <a:defRPr lang="pt-BR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hangingPunct="1">
        <a:defRPr lang="pt-BR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pt.wikipedia.org/w/index.php?title=Unidades_de_disco_r%C3%ADgido&amp;action=edit&amp;redlink=1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pt-BR" sz="2400" dirty="0"/>
              <a:t>Ferramentas de </a:t>
            </a:r>
            <a:br>
              <a:rPr lang="pt-BR" sz="2400" dirty="0"/>
            </a:br>
            <a:r>
              <a:rPr lang="pt-BR" sz="2400" dirty="0"/>
              <a:t>Manutenção Corretiva</a:t>
            </a:r>
          </a:p>
        </p:txBody>
      </p: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0" y="5229200"/>
            <a:ext cx="9144000" cy="720080"/>
          </a:xfrm>
        </p:spPr>
        <p:style>
          <a:lnRef idx="0">
            <a:schemeClr val="accent2"/>
          </a:lnRef>
          <a:fillRef idx="1001">
            <a:schemeClr val="dk1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r>
              <a:rPr lang="pt-BR" dirty="0">
                <a:solidFill>
                  <a:schemeClr val="accent2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Laboratório de Hardware</a:t>
            </a:r>
          </a:p>
        </p:txBody>
      </p:sp>
      <p:sp>
        <p:nvSpPr>
          <p:cNvPr id="6" name="Retângulo 5"/>
          <p:cNvSpPr/>
          <p:nvPr/>
        </p:nvSpPr>
        <p:spPr>
          <a:xfrm>
            <a:off x="6610358" y="6237312"/>
            <a:ext cx="253364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b="1" dirty="0"/>
              <a:t>Prof. Fábio </a:t>
            </a:r>
            <a:r>
              <a:rPr lang="pt-BR" b="1" dirty="0" err="1"/>
              <a:t>Pessôa</a:t>
            </a:r>
            <a:r>
              <a:rPr lang="pt-BR" b="1" dirty="0"/>
              <a:t> de Sá</a:t>
            </a:r>
            <a:endParaRPr lang="pt-BR" dirty="0"/>
          </a:p>
        </p:txBody>
      </p:sp>
      <p:pic>
        <p:nvPicPr>
          <p:cNvPr id="7174" name="Picture 6" descr="http://hddsurgery.files.wordpress.com/2010/11/1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83" y="0"/>
            <a:ext cx="9141917" cy="530120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b="1" dirty="0"/>
              <a:t>Laboratório de Hardware – ADS</a:t>
            </a:r>
            <a:br>
              <a:rPr lang="pt-BR" b="1" dirty="0"/>
            </a:br>
            <a:r>
              <a:rPr lang="pt-BR" sz="2000" dirty="0"/>
              <a:t>Ferramentas de Manutenção Corretiva</a:t>
            </a:r>
            <a:br>
              <a:rPr lang="pt-BR" sz="2000" dirty="0"/>
            </a:br>
            <a:endParaRPr lang="pt-BR" sz="2200" dirty="0"/>
          </a:p>
        </p:txBody>
      </p:sp>
      <p:sp>
        <p:nvSpPr>
          <p:cNvPr id="13" name="Elipse 12"/>
          <p:cNvSpPr/>
          <p:nvPr/>
        </p:nvSpPr>
        <p:spPr>
          <a:xfrm>
            <a:off x="7092280" y="5589240"/>
            <a:ext cx="1152128" cy="1008112"/>
          </a:xfrm>
          <a:prstGeom prst="ellipse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CaixaDeTexto 8"/>
          <p:cNvSpPr txBox="1"/>
          <p:nvPr/>
        </p:nvSpPr>
        <p:spPr>
          <a:xfrm>
            <a:off x="682588" y="1916832"/>
            <a:ext cx="8007424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500" b="1" dirty="0"/>
              <a:t>Recuperação de Dados - Conceitos</a:t>
            </a:r>
          </a:p>
          <a:p>
            <a:pPr>
              <a:buFont typeface="Arial" pitchFamily="34" charset="0"/>
              <a:buChar char="•"/>
            </a:pPr>
            <a:endParaRPr lang="pt-BR" sz="2500" dirty="0"/>
          </a:p>
          <a:p>
            <a:r>
              <a:rPr lang="pt-BR" sz="2500" b="1" dirty="0"/>
              <a:t>• </a:t>
            </a:r>
            <a:r>
              <a:rPr lang="pt-BR" sz="2500" dirty="0"/>
              <a:t>Conjunto de técnicas e procedimentos específicos, utilizados por profissionais qualificados, para extrair informações em dispositivos de armazenamento digital (</a:t>
            </a:r>
            <a:r>
              <a:rPr lang="pt-BR" sz="2500" dirty="0" err="1"/>
              <a:t>hd</a:t>
            </a:r>
            <a:r>
              <a:rPr lang="pt-BR" sz="2500" dirty="0"/>
              <a:t>, </a:t>
            </a:r>
            <a:r>
              <a:rPr lang="pt-BR" sz="2500" dirty="0" err="1"/>
              <a:t>raid</a:t>
            </a:r>
            <a:r>
              <a:rPr lang="pt-BR" sz="2500" dirty="0"/>
              <a:t>, </a:t>
            </a:r>
            <a:r>
              <a:rPr lang="pt-BR" sz="2500" dirty="0" err="1"/>
              <a:t>storage</a:t>
            </a:r>
            <a:r>
              <a:rPr lang="pt-BR" sz="2500" dirty="0"/>
              <a:t> </a:t>
            </a:r>
            <a:r>
              <a:rPr lang="pt-BR" sz="2500" dirty="0" err="1"/>
              <a:t>etc</a:t>
            </a:r>
            <a:r>
              <a:rPr lang="pt-BR" sz="2500" dirty="0"/>
              <a:t>) que não podem mais ser acessados de modo convencional.</a:t>
            </a:r>
          </a:p>
        </p:txBody>
      </p:sp>
    </p:spTree>
    <p:extLst>
      <p:ext uri="{BB962C8B-B14F-4D97-AF65-F5344CB8AC3E}">
        <p14:creationId xmlns:p14="http://schemas.microsoft.com/office/powerpoint/2010/main" val="16815081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b="1" dirty="0"/>
              <a:t>Laboratório de Hardware – ADS</a:t>
            </a:r>
            <a:br>
              <a:rPr lang="pt-BR" b="1" dirty="0"/>
            </a:br>
            <a:r>
              <a:rPr lang="pt-BR" sz="2000" dirty="0"/>
              <a:t>Ferramentas de Manutenção Corretiva</a:t>
            </a:r>
            <a:br>
              <a:rPr lang="pt-BR" sz="2000" dirty="0"/>
            </a:br>
            <a:endParaRPr lang="pt-BR" sz="2200" dirty="0"/>
          </a:p>
        </p:txBody>
      </p:sp>
      <p:sp>
        <p:nvSpPr>
          <p:cNvPr id="13" name="Elipse 12"/>
          <p:cNvSpPr/>
          <p:nvPr/>
        </p:nvSpPr>
        <p:spPr>
          <a:xfrm>
            <a:off x="7092280" y="5589240"/>
            <a:ext cx="1152128" cy="1008112"/>
          </a:xfrm>
          <a:prstGeom prst="ellipse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CaixaDeTexto 8"/>
          <p:cNvSpPr txBox="1"/>
          <p:nvPr/>
        </p:nvSpPr>
        <p:spPr>
          <a:xfrm>
            <a:off x="682588" y="1916832"/>
            <a:ext cx="8007424" cy="27853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500" b="1" dirty="0"/>
              <a:t>Recuperação de Dados - Conceitos</a:t>
            </a:r>
          </a:p>
          <a:p>
            <a:pPr>
              <a:buFont typeface="Arial" pitchFamily="34" charset="0"/>
              <a:buChar char="•"/>
            </a:pPr>
            <a:endParaRPr lang="pt-BR" sz="2500" dirty="0"/>
          </a:p>
          <a:p>
            <a:r>
              <a:rPr lang="pt-BR" sz="2500" b="1" dirty="0"/>
              <a:t>• </a:t>
            </a:r>
            <a:r>
              <a:rPr lang="pt-BR" sz="2500" dirty="0"/>
              <a:t>Geralmente os dados estão sendo recuperados de mídias de armazenamento, como unidades</a:t>
            </a:r>
            <a:r>
              <a:rPr lang="pt-BR" sz="2500" dirty="0">
                <a:hlinkClick r:id="rId2" tooltip="Unidades de disco rígido (página não existe)"/>
              </a:rPr>
              <a:t> </a:t>
            </a:r>
            <a:r>
              <a:rPr lang="pt-BR" sz="2500" dirty="0"/>
              <a:t>de disco rígido internas ou externas, unidades de estado sólido (SSD), unidade flash USB, fitas de armazenamento, CDs, DVDs, RAID e outros eletrônicos.</a:t>
            </a:r>
          </a:p>
        </p:txBody>
      </p:sp>
    </p:spTree>
    <p:extLst>
      <p:ext uri="{BB962C8B-B14F-4D97-AF65-F5344CB8AC3E}">
        <p14:creationId xmlns:p14="http://schemas.microsoft.com/office/powerpoint/2010/main" val="4098497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b="1" dirty="0"/>
              <a:t>Laboratório de Hardware – ADS</a:t>
            </a:r>
            <a:br>
              <a:rPr lang="pt-BR" b="1" dirty="0"/>
            </a:br>
            <a:r>
              <a:rPr lang="pt-BR" sz="2000" dirty="0"/>
              <a:t>Ferramentas de Manutenção Corretiva</a:t>
            </a:r>
            <a:br>
              <a:rPr lang="pt-BR" sz="2000" dirty="0"/>
            </a:br>
            <a:endParaRPr lang="pt-BR" sz="2200" dirty="0"/>
          </a:p>
        </p:txBody>
      </p:sp>
      <p:sp>
        <p:nvSpPr>
          <p:cNvPr id="13" name="Elipse 12"/>
          <p:cNvSpPr/>
          <p:nvPr/>
        </p:nvSpPr>
        <p:spPr>
          <a:xfrm>
            <a:off x="7092280" y="5589240"/>
            <a:ext cx="1152128" cy="1008112"/>
          </a:xfrm>
          <a:prstGeom prst="ellipse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CaixaDeTexto 8"/>
          <p:cNvSpPr txBox="1"/>
          <p:nvPr/>
        </p:nvSpPr>
        <p:spPr>
          <a:xfrm>
            <a:off x="682588" y="1916832"/>
            <a:ext cx="8007424" cy="27853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500" b="1" dirty="0"/>
              <a:t>Recuperação de Dados - Conceitos</a:t>
            </a:r>
          </a:p>
          <a:p>
            <a:pPr>
              <a:buFont typeface="Arial" pitchFamily="34" charset="0"/>
              <a:buChar char="•"/>
            </a:pPr>
            <a:endParaRPr lang="pt-BR" sz="2500" dirty="0"/>
          </a:p>
          <a:p>
            <a:r>
              <a:rPr lang="pt-BR" sz="2500" b="1" dirty="0"/>
              <a:t>• </a:t>
            </a:r>
            <a:r>
              <a:rPr lang="pt-BR" sz="2500" dirty="0"/>
              <a:t>A recuperação pode ser necessária devido a defeito físico do dispositivo de armazenamento ou defeito lógico do sistema de arquivos que impede que o impede de ser montado pelo sistema operacional (SO) do hospedeiro.</a:t>
            </a:r>
          </a:p>
          <a:p>
            <a:endParaRPr lang="pt-BR" sz="2500" dirty="0"/>
          </a:p>
        </p:txBody>
      </p:sp>
    </p:spTree>
    <p:extLst>
      <p:ext uri="{BB962C8B-B14F-4D97-AF65-F5344CB8AC3E}">
        <p14:creationId xmlns:p14="http://schemas.microsoft.com/office/powerpoint/2010/main" val="3321096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b="1" dirty="0"/>
              <a:t>Laboratório de Hardware – ADS</a:t>
            </a:r>
            <a:br>
              <a:rPr lang="pt-BR" b="1" dirty="0"/>
            </a:br>
            <a:r>
              <a:rPr lang="pt-BR" sz="2000" dirty="0"/>
              <a:t>Ferramentas de Manutenção Corretiva</a:t>
            </a:r>
            <a:br>
              <a:rPr lang="pt-BR" sz="2000" dirty="0"/>
            </a:br>
            <a:endParaRPr lang="pt-BR" sz="2200" dirty="0"/>
          </a:p>
        </p:txBody>
      </p:sp>
      <p:sp>
        <p:nvSpPr>
          <p:cNvPr id="13" name="Elipse 12"/>
          <p:cNvSpPr/>
          <p:nvPr/>
        </p:nvSpPr>
        <p:spPr>
          <a:xfrm>
            <a:off x="7092280" y="5589240"/>
            <a:ext cx="1152128" cy="1008112"/>
          </a:xfrm>
          <a:prstGeom prst="ellipse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CaixaDeTexto 8"/>
          <p:cNvSpPr txBox="1"/>
          <p:nvPr/>
        </p:nvSpPr>
        <p:spPr>
          <a:xfrm>
            <a:off x="755576" y="1916832"/>
            <a:ext cx="8136904" cy="3939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500" b="1" dirty="0"/>
              <a:t>Recuperação de Dados - Prática</a:t>
            </a:r>
          </a:p>
          <a:p>
            <a:pPr>
              <a:buFont typeface="Arial" pitchFamily="34" charset="0"/>
              <a:buChar char="•"/>
            </a:pPr>
            <a:endParaRPr lang="pt-BR" sz="2500" dirty="0"/>
          </a:p>
          <a:p>
            <a:pPr>
              <a:buFont typeface="Arial" pitchFamily="34" charset="0"/>
              <a:buChar char="•"/>
            </a:pPr>
            <a:r>
              <a:rPr lang="pt-BR" sz="2500" dirty="0"/>
              <a:t> A recuperação é possível porque os arquivos não são na verdade apagados e sim, seus setores tornam-se disponíveis para futuras gravações de dados;</a:t>
            </a:r>
          </a:p>
          <a:p>
            <a:pPr>
              <a:buFont typeface="Arial" pitchFamily="34" charset="0"/>
              <a:buChar char="•"/>
            </a:pPr>
            <a:endParaRPr lang="pt-BR" sz="2500" dirty="0"/>
          </a:p>
          <a:p>
            <a:pPr>
              <a:buFont typeface="Arial" pitchFamily="34" charset="0"/>
              <a:buChar char="•"/>
            </a:pPr>
            <a:r>
              <a:rPr lang="pt-BR" sz="2500" dirty="0"/>
              <a:t> A recuperação pode ocorrer em partições formatadas, com ferramentas adequadas.</a:t>
            </a:r>
          </a:p>
          <a:p>
            <a:pPr>
              <a:buFont typeface="Arial" pitchFamily="34" charset="0"/>
              <a:buChar char="•"/>
            </a:pPr>
            <a:endParaRPr lang="pt-BR" sz="2500" dirty="0"/>
          </a:p>
          <a:p>
            <a:pPr>
              <a:buFont typeface="Arial" pitchFamily="34" charset="0"/>
              <a:buChar char="•"/>
            </a:pPr>
            <a:endParaRPr lang="pt-BR" sz="2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b="1" dirty="0"/>
              <a:t>Laboratório de Hardware – ADS</a:t>
            </a:r>
            <a:br>
              <a:rPr lang="pt-BR" b="1" dirty="0"/>
            </a:br>
            <a:r>
              <a:rPr lang="pt-BR" sz="2000" dirty="0"/>
              <a:t>Ferramentas de Manutenção Corretiva</a:t>
            </a:r>
            <a:br>
              <a:rPr lang="pt-BR" sz="2000" dirty="0"/>
            </a:br>
            <a:endParaRPr lang="pt-BR" sz="2200" dirty="0"/>
          </a:p>
        </p:txBody>
      </p:sp>
      <p:sp>
        <p:nvSpPr>
          <p:cNvPr id="13" name="Elipse 12"/>
          <p:cNvSpPr/>
          <p:nvPr/>
        </p:nvSpPr>
        <p:spPr>
          <a:xfrm>
            <a:off x="7092280" y="5589240"/>
            <a:ext cx="1152128" cy="1008112"/>
          </a:xfrm>
          <a:prstGeom prst="ellipse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CaixaDeTexto 8"/>
          <p:cNvSpPr txBox="1"/>
          <p:nvPr/>
        </p:nvSpPr>
        <p:spPr>
          <a:xfrm>
            <a:off x="755576" y="1700808"/>
            <a:ext cx="7920880" cy="27853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500" b="1" dirty="0"/>
              <a:t>Recuperação de Dados - Prática</a:t>
            </a:r>
          </a:p>
          <a:p>
            <a:pPr>
              <a:buFont typeface="Arial" pitchFamily="34" charset="0"/>
              <a:buChar char="•"/>
            </a:pPr>
            <a:endParaRPr lang="pt-BR" sz="2500" dirty="0"/>
          </a:p>
          <a:p>
            <a:r>
              <a:rPr lang="pt-BR" sz="2500" dirty="0"/>
              <a:t>• Isole o local afetado</a:t>
            </a:r>
          </a:p>
          <a:p>
            <a:endParaRPr lang="pt-BR" sz="2500" dirty="0"/>
          </a:p>
          <a:p>
            <a:pPr>
              <a:buFont typeface="Arial" pitchFamily="34" charset="0"/>
              <a:buChar char="•"/>
            </a:pPr>
            <a:r>
              <a:rPr lang="pt-BR" sz="2500" dirty="0"/>
              <a:t> Não executar o aplicativo recuperador a partir do local original e nem recuperar para o local danificado.</a:t>
            </a:r>
          </a:p>
          <a:p>
            <a:pPr>
              <a:buFont typeface="Arial" pitchFamily="34" charset="0"/>
              <a:buChar char="•"/>
            </a:pPr>
            <a:endParaRPr lang="pt-BR" sz="2500" dirty="0"/>
          </a:p>
        </p:txBody>
      </p:sp>
    </p:spTree>
    <p:extLst>
      <p:ext uri="{BB962C8B-B14F-4D97-AF65-F5344CB8AC3E}">
        <p14:creationId xmlns:p14="http://schemas.microsoft.com/office/powerpoint/2010/main" val="37435924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b="1" dirty="0"/>
              <a:t>Laboratório de Hardware – ADS</a:t>
            </a:r>
            <a:br>
              <a:rPr lang="pt-BR" b="1" dirty="0"/>
            </a:br>
            <a:r>
              <a:rPr lang="pt-BR" sz="2000" dirty="0"/>
              <a:t>Ferramentas de Manutenção Corretiva</a:t>
            </a:r>
            <a:br>
              <a:rPr lang="pt-BR" sz="2000" dirty="0"/>
            </a:br>
            <a:endParaRPr lang="pt-BR" sz="2200" dirty="0"/>
          </a:p>
        </p:txBody>
      </p:sp>
      <p:sp>
        <p:nvSpPr>
          <p:cNvPr id="13" name="Elipse 12"/>
          <p:cNvSpPr/>
          <p:nvPr/>
        </p:nvSpPr>
        <p:spPr>
          <a:xfrm>
            <a:off x="7092280" y="5589240"/>
            <a:ext cx="1152128" cy="1008112"/>
          </a:xfrm>
          <a:prstGeom prst="ellipse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CaixaDeTexto 8"/>
          <p:cNvSpPr txBox="1"/>
          <p:nvPr/>
        </p:nvSpPr>
        <p:spPr>
          <a:xfrm>
            <a:off x="755576" y="1916832"/>
            <a:ext cx="8007424" cy="3939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500" b="1" dirty="0"/>
              <a:t>Resumo - Ferramentas</a:t>
            </a:r>
          </a:p>
          <a:p>
            <a:pPr>
              <a:buFont typeface="Arial" pitchFamily="34" charset="0"/>
              <a:buChar char="•"/>
            </a:pPr>
            <a:endParaRPr lang="pt-BR" sz="2500" dirty="0"/>
          </a:p>
          <a:p>
            <a:pPr>
              <a:buFont typeface="Arial" pitchFamily="34" charset="0"/>
              <a:buChar char="•"/>
            </a:pPr>
            <a:r>
              <a:rPr lang="pt-BR" sz="2500" dirty="0"/>
              <a:t> Recuperador de Dados.</a:t>
            </a:r>
          </a:p>
          <a:p>
            <a:endParaRPr lang="pt-BR" sz="2500" i="1" dirty="0"/>
          </a:p>
          <a:p>
            <a:r>
              <a:rPr lang="pt-BR" sz="2500" b="1" i="1" dirty="0" err="1"/>
              <a:t>Recuva</a:t>
            </a:r>
            <a:endParaRPr lang="pt-BR" sz="2500" b="1" i="1" dirty="0"/>
          </a:p>
          <a:p>
            <a:r>
              <a:rPr lang="pt-BR" sz="2500" dirty="0"/>
              <a:t>https://www.piriform.com/recuva</a:t>
            </a:r>
          </a:p>
          <a:p>
            <a:endParaRPr lang="pt-BR" sz="2500" dirty="0"/>
          </a:p>
          <a:p>
            <a:r>
              <a:rPr lang="pt-BR" sz="2500" b="1" i="1" dirty="0" err="1"/>
              <a:t>Easy</a:t>
            </a:r>
            <a:r>
              <a:rPr lang="pt-BR" sz="2500" b="1" i="1" dirty="0"/>
              <a:t> Recovery</a:t>
            </a:r>
          </a:p>
          <a:p>
            <a:r>
              <a:rPr lang="pt-BR" sz="2500" dirty="0"/>
              <a:t>http://easyrecovery-professional.br.uptodown.com/windows</a:t>
            </a:r>
          </a:p>
          <a:p>
            <a:endParaRPr lang="pt-BR" sz="2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b="1" dirty="0"/>
              <a:t>Laboratório de Hardware – ADS</a:t>
            </a:r>
            <a:br>
              <a:rPr lang="pt-BR" b="1" dirty="0"/>
            </a:br>
            <a:r>
              <a:rPr lang="pt-BR" sz="2800" dirty="0"/>
              <a:t> Tarefa no Laboratório e Casa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9929" y="1700808"/>
            <a:ext cx="9134071" cy="3905627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pt-BR" sz="1700" b="1" dirty="0"/>
              <a:t>Em duplas ou trios pesquisem Ferramenta de Recuperação de Dados:</a:t>
            </a:r>
          </a:p>
          <a:p>
            <a:pPr marL="0" indent="0" algn="ctr">
              <a:spcBef>
                <a:spcPts val="0"/>
              </a:spcBef>
              <a:buNone/>
            </a:pPr>
            <a:endParaRPr lang="pt-BR" sz="1700" b="1" dirty="0"/>
          </a:p>
          <a:p>
            <a:pPr marL="0" indent="0">
              <a:spcBef>
                <a:spcPts val="0"/>
              </a:spcBef>
              <a:buNone/>
            </a:pPr>
            <a:r>
              <a:rPr lang="pt-BR" sz="1700" b="1" dirty="0"/>
              <a:t>A)</a:t>
            </a:r>
            <a:r>
              <a:rPr lang="pt-BR" sz="1700" dirty="0"/>
              <a:t> </a:t>
            </a:r>
            <a:r>
              <a:rPr lang="pt-BR" sz="1700" b="1" dirty="0"/>
              <a:t>No Laboratório </a:t>
            </a:r>
            <a:r>
              <a:rPr lang="pt-BR" sz="1700" dirty="0"/>
              <a:t>– Baixar a versão portátil de um recuperador de arquivos (Ex. </a:t>
            </a:r>
            <a:r>
              <a:rPr lang="pt-BR" sz="1700" dirty="0" err="1"/>
              <a:t>Recuva</a:t>
            </a:r>
            <a:r>
              <a:rPr lang="pt-BR" sz="1700" dirty="0"/>
              <a:t>). Tentar recuperar algum arquivo do Disco.</a:t>
            </a:r>
          </a:p>
          <a:p>
            <a:pPr marL="0" indent="0">
              <a:spcBef>
                <a:spcPts val="0"/>
              </a:spcBef>
              <a:buNone/>
            </a:pPr>
            <a:r>
              <a:rPr lang="pt-BR" sz="1700" dirty="0"/>
              <a:t>- Documentar por meio de prints e relatório textual.</a:t>
            </a:r>
            <a:endParaRPr lang="pt-BR" sz="1700" baseline="30000" dirty="0"/>
          </a:p>
          <a:p>
            <a:pPr marL="0" indent="0">
              <a:spcBef>
                <a:spcPts val="0"/>
              </a:spcBef>
              <a:buNone/>
            </a:pPr>
            <a:endParaRPr lang="pt-BR" sz="1700" dirty="0"/>
          </a:p>
          <a:p>
            <a:pPr marL="0" indent="0">
              <a:spcBef>
                <a:spcPts val="0"/>
              </a:spcBef>
              <a:buNone/>
            </a:pPr>
            <a:r>
              <a:rPr lang="pt-BR" sz="1700" b="1" dirty="0"/>
              <a:t>B) Em casa </a:t>
            </a:r>
            <a:r>
              <a:rPr lang="pt-BR" sz="1700" dirty="0"/>
              <a:t>–</a:t>
            </a:r>
            <a:r>
              <a:rPr lang="pt-BR" sz="1700" b="1" dirty="0"/>
              <a:t> </a:t>
            </a:r>
            <a:r>
              <a:rPr lang="pt-BR" sz="1700" dirty="0"/>
              <a:t>Idem item (A)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E14850BA-6ACA-BC8F-7BD9-88EB22FB645A}"/>
              </a:ext>
            </a:extLst>
          </p:cNvPr>
          <p:cNvSpPr txBox="1"/>
          <p:nvPr/>
        </p:nvSpPr>
        <p:spPr>
          <a:xfrm>
            <a:off x="91411" y="5664150"/>
            <a:ext cx="419255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Enviar relatório único (</a:t>
            </a:r>
            <a:r>
              <a:rPr kumimoji="0" lang="pt-B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A</a:t>
            </a:r>
            <a:r>
              <a:rPr kumimoji="0" lang="pt-B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 e </a:t>
            </a:r>
            <a:r>
              <a:rPr kumimoji="0" lang="pt-B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B</a:t>
            </a:r>
            <a:r>
              <a:rPr kumimoji="0" lang="pt-B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) para e-mail: </a:t>
            </a:r>
            <a:r>
              <a:rPr kumimoji="0" lang="pt-B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fabio@fatecpg.edu.br </a:t>
            </a:r>
            <a:r>
              <a:rPr kumimoji="0" lang="pt-B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-</a:t>
            </a:r>
            <a:r>
              <a:rPr kumimoji="0" lang="pt-B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 </a:t>
            </a:r>
            <a:r>
              <a:rPr kumimoji="0" lang="pt-B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Assunto: </a:t>
            </a:r>
            <a:r>
              <a:rPr kumimoji="0" lang="pt-B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TRABALHO LH </a:t>
            </a:r>
            <a:br>
              <a:rPr kumimoji="0" lang="pt-B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</a:br>
            <a:r>
              <a:rPr kumimoji="0" lang="pt-B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Incluir: </a:t>
            </a:r>
            <a:r>
              <a:rPr kumimoji="0" lang="pt-B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Nomes completos dos alunos</a:t>
            </a:r>
            <a:endParaRPr kumimoji="0" lang="pt-BR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Prazo: </a:t>
            </a:r>
            <a:r>
              <a:rPr kumimoji="0" lang="pt-B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01 semana</a:t>
            </a:r>
            <a:endParaRPr kumimoji="0" lang="pt-BR" sz="16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233373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lano de Marketing">
  <a:themeElements>
    <a:clrScheme name="Mediano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F7915"/>
      </a:hlink>
      <a:folHlink>
        <a:srgbClr val="996600"/>
      </a:folHlink>
    </a:clrScheme>
    <a:fontScheme name="Mediano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diano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624BE820261C45458D3C294760BB95C6" ma:contentTypeVersion="0" ma:contentTypeDescription="Crie um novo documento." ma:contentTypeScope="" ma:versionID="2fc3e394314c66203ac46a04a4355a1a">
  <xsd:schema xmlns:xsd="http://www.w3.org/2001/XMLSchema" xmlns:p="http://schemas.microsoft.com/office/2006/metadata/properties" targetNamespace="http://schemas.microsoft.com/office/2006/metadata/properties" ma:root="true" ma:fieldsID="834597303d62dd03ddcd59f56325a213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office/internal/2005/internalDocumentation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 ma:readOnly="tru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lastPrinted" minOccurs="0" maxOccurs="1" type="xsd:dateTime"/>
        <xsd:element name="contentStatus" minOccurs="0" maxOccurs="1" type="xsd:string"/>
      </xsd:all>
    </xsd:complexType>
  </xsd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>
  <documentManagement/>
</p:properties>
</file>

<file path=customXml/itemProps1.xml><?xml version="1.0" encoding="utf-8"?>
<ds:datastoreItem xmlns:ds="http://schemas.openxmlformats.org/officeDocument/2006/customXml" ds:itemID="{B1107893-9493-4DC1-A12E-5B8E629C505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office/internal/2005/internalDocumentation"/>
  </ds:schemaRefs>
</ds:datastoreItem>
</file>

<file path=customXml/itemProps2.xml><?xml version="1.0" encoding="utf-8"?>
<ds:datastoreItem xmlns:ds="http://schemas.openxmlformats.org/officeDocument/2006/customXml" ds:itemID="{533056FF-FA9C-45FB-836F-636AF23F6C3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9F2FE7E-C618-420E-B2DA-0E5D98600513}">
  <ds:schemaRefs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Plano de Marketing</Template>
  <TotalTime>2417</TotalTime>
  <Words>440</Words>
  <Application>Microsoft Office PowerPoint</Application>
  <PresentationFormat>Apresentação na tela (4:3)</PresentationFormat>
  <Paragraphs>46</Paragraphs>
  <Slides>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13" baseType="lpstr">
      <vt:lpstr>Arial</vt:lpstr>
      <vt:lpstr>Tw Cen MT</vt:lpstr>
      <vt:lpstr>Wingdings</vt:lpstr>
      <vt:lpstr>Wingdings 2</vt:lpstr>
      <vt:lpstr>Plano de Marketing</vt:lpstr>
      <vt:lpstr>Laboratório de Hardware</vt:lpstr>
      <vt:lpstr>Laboratório de Hardware – ADS Ferramentas de Manutenção Corretiva </vt:lpstr>
      <vt:lpstr>Laboratório de Hardware – ADS Ferramentas de Manutenção Corretiva </vt:lpstr>
      <vt:lpstr>Laboratório de Hardware – ADS Ferramentas de Manutenção Corretiva </vt:lpstr>
      <vt:lpstr>Laboratório de Hardware – ADS Ferramentas de Manutenção Corretiva </vt:lpstr>
      <vt:lpstr>Laboratório de Hardware – ADS Ferramentas de Manutenção Corretiva </vt:lpstr>
      <vt:lpstr>Laboratório de Hardware – ADS Ferramentas de Manutenção Corretiva </vt:lpstr>
      <vt:lpstr>Laboratório de Hardware – ADS  Tarefa no Laboratório e Casa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Laboratório de Hardware</dc:title>
  <dc:creator>Fabio</dc:creator>
  <cp:lastModifiedBy>Fábio Pessoa de Sá</cp:lastModifiedBy>
  <cp:revision>133</cp:revision>
  <dcterms:created xsi:type="dcterms:W3CDTF">2011-02-18T05:14:19Z</dcterms:created>
  <dcterms:modified xsi:type="dcterms:W3CDTF">2024-06-03T22:53:57Z</dcterms:modified>
</cp:coreProperties>
</file>