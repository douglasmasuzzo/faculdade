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3"/>
  </p:sldMasterIdLst>
  <p:notesMasterIdLst>
    <p:notesMasterId r:id="rId10"/>
  </p:notesMasterIdLst>
  <p:handoutMasterIdLst>
    <p:handoutMasterId r:id="rId11"/>
  </p:handoutMasterIdLst>
  <p:sldIdLst>
    <p:sldId id="256" r:id="rId4"/>
    <p:sldId id="257" r:id="rId5"/>
    <p:sldId id="258"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3" d="100"/>
          <a:sy n="113" d="100"/>
        </p:scale>
        <p:origin x="3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ustomXml" Target="../customXml/item3.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3B45BBFC-A71E-4542-886D-B92E3A5AA9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AF69AAF6-D03E-4BD5-A41C-AE5DFC8A78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5891EC-F569-442A-88D7-789B32449A18}" type="datetimeFigureOut">
              <a:rPr lang="pt-BR" smtClean="0"/>
              <a:t>06/04/2024</a:t>
            </a:fld>
            <a:endParaRPr lang="pt-BR"/>
          </a:p>
        </p:txBody>
      </p:sp>
      <p:sp>
        <p:nvSpPr>
          <p:cNvPr id="4" name="Espaço Reservado para Rodapé 3">
            <a:extLst>
              <a:ext uri="{FF2B5EF4-FFF2-40B4-BE49-F238E27FC236}">
                <a16:creationId xmlns:a16="http://schemas.microsoft.com/office/drawing/2014/main" id="{E6DA8F9D-2667-4898-90B4-E1CC209125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423801EF-BD17-4EB0-AD99-39121D71ED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0CBCE-FC42-4ACC-B774-CE2CB59D2AAD}" type="slidenum">
              <a:rPr lang="pt-BR" smtClean="0"/>
              <a:t>‹nº›</a:t>
            </a:fld>
            <a:endParaRPr lang="pt-BR"/>
          </a:p>
        </p:txBody>
      </p:sp>
    </p:spTree>
    <p:extLst>
      <p:ext uri="{BB962C8B-B14F-4D97-AF65-F5344CB8AC3E}">
        <p14:creationId xmlns:p14="http://schemas.microsoft.com/office/powerpoint/2010/main" val="313107286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F32FB-6D10-4D62-87CF-D2D29DF95AC3}" type="datetimeFigureOut">
              <a:rPr lang="pt-BR" smtClean="0"/>
              <a:t>06/04/2024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C32C4-7A66-474E-A46B-F3D9608CD5C0}" type="slidenum">
              <a:rPr lang="pt-BR" smtClean="0"/>
              <a:t>‹nº›</a:t>
            </a:fld>
            <a:endParaRPr lang="pt-BR"/>
          </a:p>
        </p:txBody>
      </p:sp>
    </p:spTree>
    <p:extLst>
      <p:ext uri="{BB962C8B-B14F-4D97-AF65-F5344CB8AC3E}">
        <p14:creationId xmlns:p14="http://schemas.microsoft.com/office/powerpoint/2010/main" val="371766579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pt-BR"/>
              <a:t>Clique para editar o título Mestre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B037512-3C0A-4284-BDAE-541CBFB1648D}" type="datetime1">
              <a:rPr lang="en-US" smtClean="0"/>
              <a:t>4/6/2024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Prof. Fernanda Schmitz</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‹nº›</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5011D5-5D6E-4785-B671-F12D1BE054F2}" type="datetime1">
              <a:rPr lang="en-US" smtClean="0"/>
              <a:t>4/6/2024</a:t>
            </a:fld>
            <a:endParaRPr lang="en-US" dirty="0"/>
          </a:p>
        </p:txBody>
      </p:sp>
      <p:sp>
        <p:nvSpPr>
          <p:cNvPr id="5" name="Footer Placeholder 4"/>
          <p:cNvSpPr>
            <a:spLocks noGrp="1"/>
          </p:cNvSpPr>
          <p:nvPr>
            <p:ph type="ftr" sz="quarter" idx="11"/>
          </p:nvPr>
        </p:nvSpPr>
        <p:spPr/>
        <p:txBody>
          <a:bodyPr/>
          <a:lstStyle/>
          <a:p>
            <a:r>
              <a:rPr lang="en-US"/>
              <a:t>Prof. Fernanda Schmitz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pt-BR"/>
              <a:t>Clique para editar o título Mestre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8B214D52-DEAA-4691-B8B1-AC98652886D8}" type="datetime1">
              <a:rPr lang="en-US" smtClean="0"/>
              <a:t>4/6/2024</a:t>
            </a:fld>
            <a:endParaRPr lang="en-US" dirty="0"/>
          </a:p>
        </p:txBody>
      </p:sp>
      <p:sp>
        <p:nvSpPr>
          <p:cNvPr id="5" name="Footer Placeholder 4"/>
          <p:cNvSpPr>
            <a:spLocks noGrp="1"/>
          </p:cNvSpPr>
          <p:nvPr>
            <p:ph type="ftr" sz="quarter" idx="11"/>
          </p:nvPr>
        </p:nvSpPr>
        <p:spPr/>
        <p:txBody>
          <a:bodyPr/>
          <a:lstStyle/>
          <a:p>
            <a:r>
              <a:rPr lang="en-US"/>
              <a:t>Prof. Fernanda Schmitz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D99C5FE1-05B5-416A-9B8B-31D29ADFD761}" type="datetime1">
              <a:rPr lang="en-US" smtClean="0"/>
              <a:t>4/6/2024</a:t>
            </a:fld>
            <a:endParaRPr lang="en-US" dirty="0"/>
          </a:p>
        </p:txBody>
      </p:sp>
      <p:sp>
        <p:nvSpPr>
          <p:cNvPr id="6" name="Footer Placeholder 5"/>
          <p:cNvSpPr>
            <a:spLocks noGrp="1"/>
          </p:cNvSpPr>
          <p:nvPr>
            <p:ph type="ftr" sz="quarter" idx="11"/>
          </p:nvPr>
        </p:nvSpPr>
        <p:spPr/>
        <p:txBody>
          <a:bodyPr/>
          <a:lstStyle/>
          <a:p>
            <a:r>
              <a:rPr lang="en-US"/>
              <a:t>Prof. Fernanda Schmitz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447191" y="2824269"/>
            <a:ext cx="4645152" cy="264445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412362" y="2821491"/>
            <a:ext cx="4645152" cy="263737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31E18C8C-5E65-48F6-BED4-23E7C18C1D1D}" type="datetime1">
              <a:rPr lang="en-US" smtClean="0"/>
              <a:t>4/6/2024</a:t>
            </a:fld>
            <a:endParaRPr lang="en-US" dirty="0"/>
          </a:p>
        </p:txBody>
      </p:sp>
      <p:sp>
        <p:nvSpPr>
          <p:cNvPr id="8" name="Footer Placeholder 7"/>
          <p:cNvSpPr>
            <a:spLocks noGrp="1"/>
          </p:cNvSpPr>
          <p:nvPr>
            <p:ph type="ftr" sz="quarter" idx="11"/>
          </p:nvPr>
        </p:nvSpPr>
        <p:spPr/>
        <p:txBody>
          <a:bodyPr/>
          <a:lstStyle/>
          <a:p>
            <a:r>
              <a:rPr lang="en-US"/>
              <a:t>Prof. Fernanda Schmitz</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BFF2555-BF4B-4A6F-B067-38652D9440A7}" type="datetime1">
              <a:rPr lang="en-US" smtClean="0"/>
              <a:t>4/6/2024</a:t>
            </a:fld>
            <a:endParaRPr lang="en-US" dirty="0"/>
          </a:p>
        </p:txBody>
      </p:sp>
      <p:sp>
        <p:nvSpPr>
          <p:cNvPr id="4" name="Footer Placeholder 3"/>
          <p:cNvSpPr>
            <a:spLocks noGrp="1"/>
          </p:cNvSpPr>
          <p:nvPr>
            <p:ph type="ftr" sz="quarter" idx="11"/>
          </p:nvPr>
        </p:nvSpPr>
        <p:spPr/>
        <p:txBody>
          <a:bodyPr/>
          <a:lstStyle/>
          <a:p>
            <a:r>
              <a:rPr lang="en-US"/>
              <a:t>Prof. Fernanda Schmitz</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48C67-C9C6-4CFD-8DC1-08169962D9BC}" type="datetime1">
              <a:rPr lang="en-US" smtClean="0"/>
              <a:t>4/6/2024</a:t>
            </a:fld>
            <a:endParaRPr lang="en-US" dirty="0"/>
          </a:p>
        </p:txBody>
      </p:sp>
      <p:sp>
        <p:nvSpPr>
          <p:cNvPr id="3" name="Footer Placeholder 2"/>
          <p:cNvSpPr>
            <a:spLocks noGrp="1"/>
          </p:cNvSpPr>
          <p:nvPr>
            <p:ph type="ftr" sz="quarter" idx="11"/>
          </p:nvPr>
        </p:nvSpPr>
        <p:spPr/>
        <p:txBody>
          <a:bodyPr/>
          <a:lstStyle/>
          <a:p>
            <a:r>
              <a:rPr lang="en-US"/>
              <a:t>Prof. Fernanda Schmitz</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pt-BR"/>
              <a:t>Clique para editar o título Mestre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87964EB-27F9-4875-9E6B-32FBE52F1281}" type="datetime1">
              <a:rPr lang="en-US" smtClean="0"/>
              <a:t>4/6/2024</a:t>
            </a:fld>
            <a:endParaRPr lang="en-US" dirty="0"/>
          </a:p>
        </p:txBody>
      </p:sp>
      <p:sp>
        <p:nvSpPr>
          <p:cNvPr id="6" name="Footer Placeholder 5"/>
          <p:cNvSpPr>
            <a:spLocks noGrp="1"/>
          </p:cNvSpPr>
          <p:nvPr>
            <p:ph type="ftr" sz="quarter" idx="11"/>
          </p:nvPr>
        </p:nvSpPr>
        <p:spPr/>
        <p:txBody>
          <a:bodyPr/>
          <a:lstStyle/>
          <a:p>
            <a:r>
              <a:rPr lang="en-US"/>
              <a:t>Prof. Fernanda Schmitz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9CECDDA-75A6-4F18-AF39-3DBC82DD528A}" type="datetime1">
              <a:rPr lang="en-US" smtClean="0"/>
              <a:t>4/6/2024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Prof. Fernanda Schmitz</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50AA13D-37F5-43AA-9B71-46B64DA51CED}" type="datetime1">
              <a:rPr lang="en-US" smtClean="0"/>
              <a:t>4/6/2024</a:t>
            </a:fld>
            <a:endParaRPr lang="en-US" dirty="0"/>
          </a:p>
        </p:txBody>
      </p:sp>
      <p:sp>
        <p:nvSpPr>
          <p:cNvPr id="5" name="Footer Placeholder 4"/>
          <p:cNvSpPr>
            <a:spLocks noGrp="1"/>
          </p:cNvSpPr>
          <p:nvPr>
            <p:ph type="ftr" sz="quarter" idx="11"/>
          </p:nvPr>
        </p:nvSpPr>
        <p:spPr/>
        <p:txBody>
          <a:bodyPr/>
          <a:lstStyle/>
          <a:p>
            <a:r>
              <a:rPr lang="en-US"/>
              <a:t>Prof. Fernanda Schmitz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pt-BR"/>
              <a:t>Clique para editar o título Mestre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4298889-1D1F-4973-A9DC-9A6DF1DA2832}" type="datetime1">
              <a:rPr lang="en-US" smtClean="0"/>
              <a:t>4/6/2024</a:t>
            </a:fld>
            <a:endParaRPr lang="en-US" dirty="0"/>
          </a:p>
        </p:txBody>
      </p:sp>
      <p:sp>
        <p:nvSpPr>
          <p:cNvPr id="5" name="Footer Placeholder 4"/>
          <p:cNvSpPr>
            <a:spLocks noGrp="1"/>
          </p:cNvSpPr>
          <p:nvPr>
            <p:ph type="ftr" sz="quarter" idx="11"/>
          </p:nvPr>
        </p:nvSpPr>
        <p:spPr/>
        <p:txBody>
          <a:bodyPr/>
          <a:lstStyle/>
          <a:p>
            <a:r>
              <a:rPr lang="en-US"/>
              <a:t>Prof. Fernanda Schmitz</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646F6CF-87FF-4611-9B7C-1B3F67EEA635}" type="datetime1">
              <a:rPr lang="en-US" smtClean="0"/>
              <a:t>4/6/2024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Prof. Fernanda Schmitz</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‹nº›</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4AFB9-8419-4BA7-8E84-1309DBFA2656}"/>
              </a:ext>
            </a:extLst>
          </p:cNvPr>
          <p:cNvSpPr>
            <a:spLocks noGrp="1"/>
          </p:cNvSpPr>
          <p:nvPr>
            <p:ph type="ctrTitle"/>
          </p:nvPr>
        </p:nvSpPr>
        <p:spPr>
          <a:xfrm>
            <a:off x="1582311" y="802298"/>
            <a:ext cx="10034546" cy="1018169"/>
          </a:xfrm>
        </p:spPr>
        <p:txBody>
          <a:bodyPr>
            <a:normAutofit/>
          </a:bodyPr>
          <a:lstStyle/>
          <a:p>
            <a:r>
              <a:rPr lang="pt-BR" sz="4000" dirty="0"/>
              <a:t>		Estrutura se/ senão se	</a:t>
            </a:r>
          </a:p>
        </p:txBody>
      </p:sp>
      <p:sp>
        <p:nvSpPr>
          <p:cNvPr id="3" name="Subtítulo 2">
            <a:extLst>
              <a:ext uri="{FF2B5EF4-FFF2-40B4-BE49-F238E27FC236}">
                <a16:creationId xmlns:a16="http://schemas.microsoft.com/office/drawing/2014/main" id="{36180436-09DB-4D17-8181-82B76FCFFEE4}"/>
              </a:ext>
            </a:extLst>
          </p:cNvPr>
          <p:cNvSpPr>
            <a:spLocks noGrp="1"/>
          </p:cNvSpPr>
          <p:nvPr>
            <p:ph type="subTitle" idx="1"/>
          </p:nvPr>
        </p:nvSpPr>
        <p:spPr>
          <a:xfrm>
            <a:off x="938365" y="3307743"/>
            <a:ext cx="9838302" cy="2234317"/>
          </a:xfrm>
        </p:spPr>
        <p:txBody>
          <a:bodyPr>
            <a:normAutofit fontScale="92500" lnSpcReduction="20000"/>
          </a:bodyPr>
          <a:lstStyle/>
          <a:p>
            <a:endParaRPr lang="pt-BR" altLang="pt-BR" dirty="0">
              <a:latin typeface="Arial" panose="020B0604020202020204" pitchFamily="34" charset="0"/>
            </a:endParaRPr>
          </a:p>
          <a:p>
            <a:r>
              <a:rPr lang="pt-BR" b="0" i="0" dirty="0">
                <a:solidFill>
                  <a:srgbClr val="000000"/>
                </a:solidFill>
                <a:effectLst/>
                <a:latin typeface="Open Sans"/>
              </a:rPr>
              <a:t>Existem situações nas quais é necessário verificar condições de teste sucessivas, onde uma ação será executada caso um conjunto anterior de ações seja satisfeito. Podemos usar para resolver esse tipo de problemas uma estrutura denominada Desvio Condicional Aninhado, que nada mais é do que o encadeamento de estruturas de decisão compostas em um algoritmo. Também chamamos a esse tipo de estrutura de Desvio Condicional Encadeado, por este motivo.</a:t>
            </a:r>
            <a:r>
              <a:rPr lang="pt-BR" dirty="0"/>
              <a:t> </a:t>
            </a:r>
          </a:p>
          <a:p>
            <a:endParaRPr lang="pt-BR" dirty="0"/>
          </a:p>
        </p:txBody>
      </p:sp>
      <p:pic>
        <p:nvPicPr>
          <p:cNvPr id="1028" name="Picture 4" descr="Fatecs-SP soltam concorrência do Vestibular 2017/1 - Brasil Escola">
            <a:extLst>
              <a:ext uri="{FF2B5EF4-FFF2-40B4-BE49-F238E27FC236}">
                <a16:creationId xmlns:a16="http://schemas.microsoft.com/office/drawing/2014/main" id="{61936CBD-FEDB-4D66-AB45-06B8F23F7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74" y="289888"/>
            <a:ext cx="1891656" cy="1021494"/>
          </a:xfrm>
          <a:prstGeom prst="rect">
            <a:avLst/>
          </a:prstGeom>
          <a:noFill/>
          <a:extLst>
            <a:ext uri="{909E8E84-426E-40DD-AFC4-6F175D3DCCD1}">
              <a14:hiddenFill xmlns:a14="http://schemas.microsoft.com/office/drawing/2010/main">
                <a:solidFill>
                  <a:srgbClr val="FFFFFF"/>
                </a:solidFill>
              </a14:hiddenFill>
            </a:ext>
          </a:extLst>
        </p:spPr>
      </p:pic>
      <p:sp>
        <p:nvSpPr>
          <p:cNvPr id="4" name="Espaço Reservado para Rodapé 3">
            <a:extLst>
              <a:ext uri="{FF2B5EF4-FFF2-40B4-BE49-F238E27FC236}">
                <a16:creationId xmlns:a16="http://schemas.microsoft.com/office/drawing/2014/main" id="{260EEFE0-0319-49EB-BB80-7672A49139F3}"/>
              </a:ext>
            </a:extLst>
          </p:cNvPr>
          <p:cNvSpPr>
            <a:spLocks noGrp="1"/>
          </p:cNvSpPr>
          <p:nvPr>
            <p:ph type="ftr" sz="quarter" idx="11"/>
          </p:nvPr>
        </p:nvSpPr>
        <p:spPr>
          <a:xfrm>
            <a:off x="9084729" y="5746501"/>
            <a:ext cx="4973915" cy="309201"/>
          </a:xfrm>
        </p:spPr>
        <p:txBody>
          <a:bodyPr/>
          <a:lstStyle/>
          <a:p>
            <a:r>
              <a:rPr lang="en-US" dirty="0"/>
              <a:t>Prof. Fernanda Schmitz</a:t>
            </a:r>
          </a:p>
        </p:txBody>
      </p:sp>
    </p:spTree>
    <p:extLst>
      <p:ext uri="{BB962C8B-B14F-4D97-AF65-F5344CB8AC3E}">
        <p14:creationId xmlns:p14="http://schemas.microsoft.com/office/powerpoint/2010/main" val="304605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Rodapé 3">
            <a:extLst>
              <a:ext uri="{FF2B5EF4-FFF2-40B4-BE49-F238E27FC236}">
                <a16:creationId xmlns:a16="http://schemas.microsoft.com/office/drawing/2014/main" id="{A3546BF0-BAA3-41B2-AB05-460685A1C339}"/>
              </a:ext>
            </a:extLst>
          </p:cNvPr>
          <p:cNvSpPr>
            <a:spLocks noGrp="1"/>
          </p:cNvSpPr>
          <p:nvPr>
            <p:ph type="ftr" sz="quarter" idx="11"/>
          </p:nvPr>
        </p:nvSpPr>
        <p:spPr/>
        <p:txBody>
          <a:bodyPr/>
          <a:lstStyle/>
          <a:p>
            <a:r>
              <a:rPr lang="en-US" dirty="0"/>
              <a:t>Prof. Fernanda Schmitz</a:t>
            </a:r>
          </a:p>
        </p:txBody>
      </p:sp>
      <p:sp>
        <p:nvSpPr>
          <p:cNvPr id="5" name="Espaço Reservado para Número de Slide 4">
            <a:extLst>
              <a:ext uri="{FF2B5EF4-FFF2-40B4-BE49-F238E27FC236}">
                <a16:creationId xmlns:a16="http://schemas.microsoft.com/office/drawing/2014/main" id="{DC606576-86AC-404E-AF97-9841F6A562BE}"/>
              </a:ext>
            </a:extLst>
          </p:cNvPr>
          <p:cNvSpPr>
            <a:spLocks noGrp="1"/>
          </p:cNvSpPr>
          <p:nvPr>
            <p:ph type="sldNum" sz="quarter" idx="12"/>
          </p:nvPr>
        </p:nvSpPr>
        <p:spPr/>
        <p:txBody>
          <a:bodyPr/>
          <a:lstStyle/>
          <a:p>
            <a:fld id="{6D22F896-40B5-4ADD-8801-0D06FADFA095}" type="slidenum">
              <a:rPr lang="en-US" smtClean="0"/>
              <a:t>2</a:t>
            </a:fld>
            <a:endParaRPr lang="en-US" dirty="0"/>
          </a:p>
        </p:txBody>
      </p:sp>
      <p:sp>
        <p:nvSpPr>
          <p:cNvPr id="9" name="Espaço Reservado para Conteúdo 8">
            <a:extLst>
              <a:ext uri="{FF2B5EF4-FFF2-40B4-BE49-F238E27FC236}">
                <a16:creationId xmlns:a16="http://schemas.microsoft.com/office/drawing/2014/main" id="{615F2A36-188C-4EBE-B92D-A886B74D574B}"/>
              </a:ext>
            </a:extLst>
          </p:cNvPr>
          <p:cNvSpPr>
            <a:spLocks noGrp="1"/>
          </p:cNvSpPr>
          <p:nvPr>
            <p:ph idx="4294967295"/>
          </p:nvPr>
        </p:nvSpPr>
        <p:spPr>
          <a:xfrm>
            <a:off x="2910947" y="329307"/>
            <a:ext cx="9602787" cy="3514725"/>
          </a:xfrm>
        </p:spPr>
        <p:txBody>
          <a:bodyPr>
            <a:normAutofit fontScale="25000" lnSpcReduction="20000"/>
          </a:bodyPr>
          <a:lstStyle/>
          <a:p>
            <a:pPr marL="0" indent="0" algn="l" fontAlgn="base">
              <a:buNone/>
            </a:pPr>
            <a:r>
              <a:rPr lang="pt-BR" sz="5600" b="1" i="0" dirty="0">
                <a:solidFill>
                  <a:srgbClr val="800080"/>
                </a:solidFill>
                <a:effectLst/>
                <a:latin typeface="inherit"/>
              </a:rPr>
              <a:t>Sintaxe:</a:t>
            </a:r>
          </a:p>
          <a:p>
            <a:pPr marL="0" indent="0" algn="l" fontAlgn="base">
              <a:buNone/>
            </a:pPr>
            <a:r>
              <a:rPr lang="pt-BR" sz="5600" b="1" i="0" dirty="0">
                <a:solidFill>
                  <a:srgbClr val="800080"/>
                </a:solidFill>
                <a:effectLst/>
                <a:latin typeface="inherit"/>
              </a:rPr>
              <a:t>se</a:t>
            </a:r>
            <a:r>
              <a:rPr lang="pt-BR" sz="5600" b="0" i="0" dirty="0">
                <a:solidFill>
                  <a:srgbClr val="800080"/>
                </a:solidFill>
                <a:effectLst/>
                <a:latin typeface="inherit"/>
              </a:rPr>
              <a:t> (condição 1) </a:t>
            </a:r>
          </a:p>
          <a:p>
            <a:pPr marL="0" indent="0" fontAlgn="base">
              <a:buNone/>
            </a:pPr>
            <a:r>
              <a:rPr lang="pt-BR" sz="5600" b="1" dirty="0" err="1">
                <a:solidFill>
                  <a:srgbClr val="800080"/>
                </a:solidFill>
                <a:latin typeface="inherit"/>
              </a:rPr>
              <a:t>inicio</a:t>
            </a:r>
            <a:r>
              <a:rPr lang="pt-BR" sz="5600" b="1" i="0" dirty="0" err="1">
                <a:solidFill>
                  <a:srgbClr val="800080"/>
                </a:solidFill>
                <a:effectLst/>
                <a:latin typeface="inherit"/>
              </a:rPr>
              <a:t>_se</a:t>
            </a:r>
            <a:endParaRPr lang="pt-BR" sz="5600" b="0" i="0" dirty="0">
              <a:solidFill>
                <a:srgbClr val="000000"/>
              </a:solidFill>
              <a:effectLst/>
              <a:latin typeface="Open Sans"/>
            </a:endParaRPr>
          </a:p>
          <a:p>
            <a:pPr marL="0" indent="0" algn="l" fontAlgn="base">
              <a:buNone/>
            </a:pPr>
            <a:r>
              <a:rPr lang="pt-BR" sz="5600" dirty="0">
                <a:solidFill>
                  <a:srgbClr val="800080"/>
                </a:solidFill>
                <a:latin typeface="inherit"/>
              </a:rPr>
              <a:t>           </a:t>
            </a:r>
            <a:r>
              <a:rPr lang="pt-BR" sz="5600" b="0" i="0" dirty="0">
                <a:solidFill>
                  <a:srgbClr val="800080"/>
                </a:solidFill>
                <a:effectLst/>
                <a:latin typeface="inherit"/>
              </a:rPr>
              <a:t>instruções  1</a:t>
            </a:r>
          </a:p>
          <a:p>
            <a:pPr marL="0" indent="0" algn="l" fontAlgn="base">
              <a:buNone/>
            </a:pPr>
            <a:r>
              <a:rPr lang="pt-BR" sz="5600" b="1" i="0" dirty="0" err="1">
                <a:solidFill>
                  <a:srgbClr val="800080"/>
                </a:solidFill>
                <a:effectLst/>
                <a:latin typeface="inherit"/>
              </a:rPr>
              <a:t>Fim_se</a:t>
            </a:r>
            <a:endParaRPr lang="pt-BR" sz="5600" b="0" i="0" dirty="0">
              <a:solidFill>
                <a:srgbClr val="000000"/>
              </a:solidFill>
              <a:effectLst/>
              <a:latin typeface="Open Sans"/>
            </a:endParaRPr>
          </a:p>
          <a:p>
            <a:pPr marL="0" indent="0" algn="l" fontAlgn="base">
              <a:buNone/>
            </a:pPr>
            <a:r>
              <a:rPr lang="pt-BR" sz="5600" b="1" i="0" dirty="0">
                <a:solidFill>
                  <a:srgbClr val="800080"/>
                </a:solidFill>
                <a:effectLst/>
                <a:latin typeface="inherit"/>
              </a:rPr>
              <a:t>Senão </a:t>
            </a:r>
            <a:r>
              <a:rPr lang="pt-BR" sz="5600" b="0" i="0" dirty="0">
                <a:solidFill>
                  <a:srgbClr val="800080"/>
                </a:solidFill>
                <a:effectLst/>
                <a:latin typeface="inherit"/>
              </a:rPr>
              <a:t>   </a:t>
            </a:r>
            <a:r>
              <a:rPr lang="pt-BR" sz="5600" b="1" i="0" dirty="0">
                <a:solidFill>
                  <a:srgbClr val="800080"/>
                </a:solidFill>
                <a:effectLst/>
                <a:latin typeface="inherit"/>
              </a:rPr>
              <a:t>se</a:t>
            </a:r>
            <a:r>
              <a:rPr lang="pt-BR" sz="5600" b="0" i="0" dirty="0">
                <a:solidFill>
                  <a:srgbClr val="800080"/>
                </a:solidFill>
                <a:effectLst/>
                <a:latin typeface="inherit"/>
              </a:rPr>
              <a:t> (condição 2) </a:t>
            </a:r>
          </a:p>
          <a:p>
            <a:pPr marL="0" indent="0" fontAlgn="base">
              <a:buNone/>
            </a:pPr>
            <a:r>
              <a:rPr lang="pt-BR" sz="5600" b="1" dirty="0" err="1">
                <a:solidFill>
                  <a:srgbClr val="800080"/>
                </a:solidFill>
                <a:latin typeface="inherit"/>
              </a:rPr>
              <a:t>inicio</a:t>
            </a:r>
            <a:r>
              <a:rPr lang="pt-BR" sz="5600" b="1" i="0" dirty="0" err="1">
                <a:solidFill>
                  <a:srgbClr val="800080"/>
                </a:solidFill>
                <a:effectLst/>
                <a:latin typeface="inherit"/>
              </a:rPr>
              <a:t>_se</a:t>
            </a:r>
            <a:endParaRPr lang="pt-BR" sz="5600" b="0" i="0" dirty="0">
              <a:solidFill>
                <a:srgbClr val="000000"/>
              </a:solidFill>
              <a:effectLst/>
              <a:latin typeface="Open Sans"/>
            </a:endParaRPr>
          </a:p>
          <a:p>
            <a:pPr marL="0" indent="0" algn="l" fontAlgn="base">
              <a:buNone/>
            </a:pPr>
            <a:r>
              <a:rPr lang="pt-BR" sz="5600" b="0" i="0" dirty="0">
                <a:solidFill>
                  <a:srgbClr val="800080"/>
                </a:solidFill>
                <a:effectLst/>
                <a:latin typeface="inherit"/>
              </a:rPr>
              <a:t>          instruções 2</a:t>
            </a:r>
          </a:p>
          <a:p>
            <a:pPr marL="0" indent="0" fontAlgn="base">
              <a:buNone/>
            </a:pPr>
            <a:r>
              <a:rPr lang="pt-BR" sz="5600" b="1" i="0" dirty="0" err="1">
                <a:solidFill>
                  <a:srgbClr val="800080"/>
                </a:solidFill>
                <a:effectLst/>
                <a:latin typeface="inherit"/>
              </a:rPr>
              <a:t>Fim_se</a:t>
            </a:r>
            <a:endParaRPr lang="pt-BR" sz="5600" b="0" i="0" dirty="0">
              <a:solidFill>
                <a:srgbClr val="000000"/>
              </a:solidFill>
              <a:effectLst/>
              <a:latin typeface="Open Sans"/>
            </a:endParaRPr>
          </a:p>
          <a:p>
            <a:pPr marL="0" indent="0" algn="l" fontAlgn="base">
              <a:buNone/>
            </a:pPr>
            <a:r>
              <a:rPr lang="pt-BR" sz="5600" b="1" i="0" dirty="0">
                <a:solidFill>
                  <a:srgbClr val="800080"/>
                </a:solidFill>
                <a:effectLst/>
                <a:latin typeface="inherit"/>
              </a:rPr>
              <a:t>Senão se (condição 3)</a:t>
            </a:r>
          </a:p>
          <a:p>
            <a:pPr marL="0" indent="0" fontAlgn="base">
              <a:buNone/>
            </a:pPr>
            <a:r>
              <a:rPr lang="pt-BR" sz="5600" b="1" dirty="0" err="1">
                <a:solidFill>
                  <a:srgbClr val="800080"/>
                </a:solidFill>
                <a:latin typeface="inherit"/>
              </a:rPr>
              <a:t>inicio</a:t>
            </a:r>
            <a:r>
              <a:rPr lang="pt-BR" sz="5600" b="1" i="0" dirty="0" err="1">
                <a:solidFill>
                  <a:srgbClr val="800080"/>
                </a:solidFill>
                <a:effectLst/>
                <a:latin typeface="inherit"/>
              </a:rPr>
              <a:t>_se</a:t>
            </a:r>
            <a:endParaRPr lang="pt-BR" sz="5600" b="0" i="0" dirty="0">
              <a:solidFill>
                <a:srgbClr val="000000"/>
              </a:solidFill>
              <a:effectLst/>
              <a:latin typeface="Open Sans"/>
            </a:endParaRPr>
          </a:p>
          <a:p>
            <a:pPr marL="0" indent="0" algn="l" fontAlgn="base">
              <a:buNone/>
            </a:pPr>
            <a:r>
              <a:rPr lang="pt-BR" sz="5600" b="0" i="0" dirty="0">
                <a:solidFill>
                  <a:srgbClr val="800080"/>
                </a:solidFill>
                <a:effectLst/>
                <a:latin typeface="inherit"/>
              </a:rPr>
              <a:t>           instruções 3</a:t>
            </a:r>
          </a:p>
          <a:p>
            <a:pPr marL="0" indent="0" algn="l" fontAlgn="base">
              <a:buNone/>
            </a:pPr>
            <a:r>
              <a:rPr lang="pt-BR" sz="5600" b="1" i="0" dirty="0" err="1">
                <a:solidFill>
                  <a:srgbClr val="800080"/>
                </a:solidFill>
                <a:effectLst/>
                <a:latin typeface="inherit"/>
              </a:rPr>
              <a:t>Fimse</a:t>
            </a:r>
            <a:endParaRPr lang="pt-BR" sz="5600" b="1" i="0" dirty="0">
              <a:solidFill>
                <a:srgbClr val="800080"/>
              </a:solidFill>
              <a:effectLst/>
              <a:latin typeface="inherit"/>
            </a:endParaRPr>
          </a:p>
          <a:p>
            <a:pPr marL="0" indent="0" algn="l" fontAlgn="base">
              <a:buNone/>
            </a:pPr>
            <a:r>
              <a:rPr lang="pt-BR" sz="5600" b="1" dirty="0">
                <a:solidFill>
                  <a:srgbClr val="800080"/>
                </a:solidFill>
                <a:latin typeface="inherit"/>
              </a:rPr>
              <a:t>Senão</a:t>
            </a:r>
          </a:p>
          <a:p>
            <a:pPr marL="0" indent="0" fontAlgn="base">
              <a:buNone/>
            </a:pPr>
            <a:r>
              <a:rPr lang="pt-BR" sz="5600" b="1" dirty="0" err="1">
                <a:solidFill>
                  <a:srgbClr val="800080"/>
                </a:solidFill>
                <a:latin typeface="inherit"/>
              </a:rPr>
              <a:t>inicio</a:t>
            </a:r>
            <a:r>
              <a:rPr lang="pt-BR" sz="5600" b="1" i="0" dirty="0" err="1">
                <a:solidFill>
                  <a:srgbClr val="800080"/>
                </a:solidFill>
                <a:effectLst/>
                <a:latin typeface="inherit"/>
              </a:rPr>
              <a:t>_sen</a:t>
            </a:r>
            <a:r>
              <a:rPr lang="pt-BR" sz="5600" b="1" dirty="0" err="1">
                <a:solidFill>
                  <a:srgbClr val="800080"/>
                </a:solidFill>
                <a:latin typeface="inherit"/>
              </a:rPr>
              <a:t>ao</a:t>
            </a:r>
            <a:endParaRPr lang="pt-BR" sz="5600" b="1" i="0" dirty="0">
              <a:solidFill>
                <a:srgbClr val="800080"/>
              </a:solidFill>
              <a:effectLst/>
              <a:latin typeface="inherit"/>
            </a:endParaRPr>
          </a:p>
          <a:p>
            <a:pPr marL="0" indent="0" fontAlgn="base">
              <a:buNone/>
            </a:pPr>
            <a:r>
              <a:rPr lang="pt-BR" sz="5600" b="0" i="0" dirty="0">
                <a:solidFill>
                  <a:srgbClr val="800080"/>
                </a:solidFill>
                <a:effectLst/>
                <a:latin typeface="inherit"/>
              </a:rPr>
              <a:t>       instruções 3</a:t>
            </a:r>
          </a:p>
          <a:p>
            <a:pPr marL="0" indent="0" fontAlgn="base">
              <a:buNone/>
            </a:pPr>
            <a:r>
              <a:rPr lang="pt-BR" sz="5600" b="1" i="0" dirty="0" err="1">
                <a:solidFill>
                  <a:srgbClr val="800080"/>
                </a:solidFill>
                <a:effectLst/>
                <a:latin typeface="inherit"/>
              </a:rPr>
              <a:t>Fim_senao</a:t>
            </a:r>
            <a:endParaRPr lang="pt-BR" sz="5600" b="1" i="0" dirty="0">
              <a:solidFill>
                <a:srgbClr val="800080"/>
              </a:solidFill>
              <a:effectLst/>
              <a:latin typeface="inherit"/>
            </a:endParaRPr>
          </a:p>
          <a:p>
            <a:pPr marL="0" indent="0" fontAlgn="base">
              <a:buNone/>
            </a:pPr>
            <a:endParaRPr lang="pt-BR" b="0" i="0" dirty="0">
              <a:solidFill>
                <a:srgbClr val="000000"/>
              </a:solidFill>
              <a:effectLst/>
              <a:latin typeface="Open Sans"/>
            </a:endParaRPr>
          </a:p>
          <a:p>
            <a:pPr marL="0" indent="0" algn="l" fontAlgn="base">
              <a:buNone/>
            </a:pPr>
            <a:r>
              <a:rPr lang="pt-BR" b="1" dirty="0">
                <a:solidFill>
                  <a:srgbClr val="800080"/>
                </a:solidFill>
                <a:latin typeface="inherit"/>
              </a:rPr>
              <a:t>			</a:t>
            </a:r>
          </a:p>
          <a:p>
            <a:pPr marL="0" indent="0" algn="l" fontAlgn="base">
              <a:buNone/>
            </a:pPr>
            <a:endParaRPr lang="pt-BR" b="0" i="0" dirty="0">
              <a:solidFill>
                <a:srgbClr val="000000"/>
              </a:solidFill>
              <a:effectLst/>
              <a:latin typeface="Open Sans"/>
            </a:endParaRPr>
          </a:p>
          <a:p>
            <a:endParaRPr lang="pt-BR" dirty="0"/>
          </a:p>
        </p:txBody>
      </p:sp>
      <p:pic>
        <p:nvPicPr>
          <p:cNvPr id="6" name="Picture 4" descr="Fatecs-SP soltam concorrência do Vestibular 2017/1 - Brasil Escola">
            <a:extLst>
              <a:ext uri="{FF2B5EF4-FFF2-40B4-BE49-F238E27FC236}">
                <a16:creationId xmlns:a16="http://schemas.microsoft.com/office/drawing/2014/main" id="{15E6E037-15FD-4D4A-AC2F-44C5A0581D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 y="370161"/>
            <a:ext cx="1891656" cy="1021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627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E68E11-7BA5-4DCC-B207-C72B0A212BC0}"/>
              </a:ext>
            </a:extLst>
          </p:cNvPr>
          <p:cNvSpPr>
            <a:spLocks noGrp="1"/>
          </p:cNvSpPr>
          <p:nvPr>
            <p:ph type="title"/>
          </p:nvPr>
        </p:nvSpPr>
        <p:spPr>
          <a:xfrm>
            <a:off x="1451579" y="0"/>
            <a:ext cx="9603275" cy="1049235"/>
          </a:xfrm>
        </p:spPr>
        <p:txBody>
          <a:bodyPr/>
          <a:lstStyle/>
          <a:p>
            <a:r>
              <a:rPr lang="pt-BR" dirty="0"/>
              <a:t>		</a:t>
            </a:r>
            <a:br>
              <a:rPr lang="pt-BR" dirty="0"/>
            </a:br>
            <a:r>
              <a:rPr lang="pt-BR" dirty="0"/>
              <a:t>			FLUXOGRAMA</a:t>
            </a:r>
          </a:p>
        </p:txBody>
      </p:sp>
      <p:sp>
        <p:nvSpPr>
          <p:cNvPr id="4" name="Espaço Reservado para Rodapé 3">
            <a:extLst>
              <a:ext uri="{FF2B5EF4-FFF2-40B4-BE49-F238E27FC236}">
                <a16:creationId xmlns:a16="http://schemas.microsoft.com/office/drawing/2014/main" id="{80FBC21F-4F92-4510-A8AD-7EBD7C7A9261}"/>
              </a:ext>
            </a:extLst>
          </p:cNvPr>
          <p:cNvSpPr>
            <a:spLocks noGrp="1"/>
          </p:cNvSpPr>
          <p:nvPr>
            <p:ph type="ftr" sz="quarter" idx="11"/>
          </p:nvPr>
        </p:nvSpPr>
        <p:spPr>
          <a:xfrm>
            <a:off x="9784545" y="5628323"/>
            <a:ext cx="5938836" cy="309201"/>
          </a:xfrm>
        </p:spPr>
        <p:txBody>
          <a:bodyPr/>
          <a:lstStyle/>
          <a:p>
            <a:r>
              <a:rPr lang="en-US" dirty="0"/>
              <a:t>Prof. Fernanda Schmitz</a:t>
            </a:r>
          </a:p>
        </p:txBody>
      </p:sp>
      <p:pic>
        <p:nvPicPr>
          <p:cNvPr id="6" name="Picture 4" descr="Fatecs-SP soltam concorrência do Vestibular 2017/1 - Brasil Escola">
            <a:extLst>
              <a:ext uri="{FF2B5EF4-FFF2-40B4-BE49-F238E27FC236}">
                <a16:creationId xmlns:a16="http://schemas.microsoft.com/office/drawing/2014/main" id="{D3B7A134-827A-4B3A-9CBE-1EDE21BDF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318" y="293772"/>
            <a:ext cx="1891656" cy="102149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a:extLst>
              <a:ext uri="{FF2B5EF4-FFF2-40B4-BE49-F238E27FC236}">
                <a16:creationId xmlns:a16="http://schemas.microsoft.com/office/drawing/2014/main" id="{75267004-513F-48E3-AC82-97AD53CC1D26}"/>
              </a:ext>
            </a:extLst>
          </p:cNvPr>
          <p:cNvSpPr>
            <a:spLocks noChangeArrowheads="1"/>
          </p:cNvSpPr>
          <p:nvPr/>
        </p:nvSpPr>
        <p:spPr bwMode="auto">
          <a:xfrm>
            <a:off x="1051393" y="-1416934"/>
            <a:ext cx="4761240"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0" i="0" u="none" strike="noStrike" cap="none" normalizeH="0" baseline="0" dirty="0">
                <a:ln>
                  <a:noFill/>
                </a:ln>
                <a:solidFill>
                  <a:srgbClr val="000000"/>
                </a:solidFill>
                <a:effectLst/>
                <a:latin typeface="Open Sans"/>
              </a:rPr>
              <a:t>O fluxograma a seguir ilustra o processo de operação do condicional encadeado:</a:t>
            </a:r>
            <a:endParaRPr kumimoji="0" lang="pt-BR" altLang="pt-BR"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0" i="0" u="none" strike="noStrike" cap="none" normalizeH="0" baseline="0" dirty="0">
                <a:ln>
                  <a:noFill/>
                </a:ln>
                <a:solidFill>
                  <a:srgbClr val="000000"/>
                </a:solidFill>
                <a:effectLst/>
                <a:latin typeface="Open Sans"/>
              </a:rPr>
              <a:t>  </a:t>
            </a:r>
            <a:r>
              <a:rPr kumimoji="0" lang="pt-BR" altLang="pt-BR" sz="24300" b="0" i="0" u="none" strike="noStrike" cap="none" normalizeH="0" baseline="0" dirty="0">
                <a:ln>
                  <a:noFill/>
                </a:ln>
                <a:solidFill>
                  <a:srgbClr val="000000"/>
                </a:solidFill>
                <a:effectLst/>
                <a:latin typeface="Open Sans"/>
              </a:rPr>
              <a:t>     </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Desvio condicional encadeado em lógica de programação">
            <a:extLst>
              <a:ext uri="{FF2B5EF4-FFF2-40B4-BE49-F238E27FC236}">
                <a16:creationId xmlns:a16="http://schemas.microsoft.com/office/drawing/2014/main" id="{42EEC584-E039-4D91-86C2-71DD60143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3209" y="1894930"/>
            <a:ext cx="619125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721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3127CA-05BB-48AF-9057-56D9D29B1135}"/>
              </a:ext>
            </a:extLst>
          </p:cNvPr>
          <p:cNvSpPr>
            <a:spLocks noGrp="1"/>
          </p:cNvSpPr>
          <p:nvPr>
            <p:ph type="title"/>
          </p:nvPr>
        </p:nvSpPr>
        <p:spPr>
          <a:xfrm>
            <a:off x="1451579" y="508883"/>
            <a:ext cx="9603275" cy="1049235"/>
          </a:xfrm>
        </p:spPr>
        <p:txBody>
          <a:bodyPr/>
          <a:lstStyle/>
          <a:p>
            <a:r>
              <a:rPr lang="pt-BR" dirty="0"/>
              <a:t>		</a:t>
            </a:r>
          </a:p>
        </p:txBody>
      </p:sp>
      <p:sp>
        <p:nvSpPr>
          <p:cNvPr id="4" name="Espaço Reservado para Rodapé 3">
            <a:extLst>
              <a:ext uri="{FF2B5EF4-FFF2-40B4-BE49-F238E27FC236}">
                <a16:creationId xmlns:a16="http://schemas.microsoft.com/office/drawing/2014/main" id="{0FB886EE-5E6B-4629-B62E-E2715AF9BB79}"/>
              </a:ext>
            </a:extLst>
          </p:cNvPr>
          <p:cNvSpPr>
            <a:spLocks noGrp="1"/>
          </p:cNvSpPr>
          <p:nvPr>
            <p:ph type="ftr" sz="quarter" idx="11"/>
          </p:nvPr>
        </p:nvSpPr>
        <p:spPr>
          <a:xfrm>
            <a:off x="9315419" y="5628323"/>
            <a:ext cx="5938836" cy="309201"/>
          </a:xfrm>
        </p:spPr>
        <p:txBody>
          <a:bodyPr/>
          <a:lstStyle/>
          <a:p>
            <a:r>
              <a:rPr lang="en-US" dirty="0"/>
              <a:t>Prof. Fernanda Schmitz</a:t>
            </a:r>
          </a:p>
        </p:txBody>
      </p:sp>
      <p:pic>
        <p:nvPicPr>
          <p:cNvPr id="6" name="Picture 4" descr="Fatecs-SP soltam concorrência do Vestibular 2017/1 - Brasil Escola">
            <a:extLst>
              <a:ext uri="{FF2B5EF4-FFF2-40B4-BE49-F238E27FC236}">
                <a16:creationId xmlns:a16="http://schemas.microsoft.com/office/drawing/2014/main" id="{BDFD2B2D-5BA4-4263-9D6A-D43D6D45B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02" y="127761"/>
            <a:ext cx="1891656" cy="102149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2D6C51DF-6CDF-4926-B069-1EA6A0DDFD21}"/>
              </a:ext>
            </a:extLst>
          </p:cNvPr>
          <p:cNvSpPr txBox="1"/>
          <p:nvPr/>
        </p:nvSpPr>
        <p:spPr>
          <a:xfrm>
            <a:off x="2798859" y="508883"/>
            <a:ext cx="6424654" cy="646331"/>
          </a:xfrm>
          <a:prstGeom prst="rect">
            <a:avLst/>
          </a:prstGeom>
          <a:noFill/>
        </p:spPr>
        <p:txBody>
          <a:bodyPr wrap="square" rtlCol="0">
            <a:spAutoFit/>
          </a:bodyPr>
          <a:lstStyle/>
          <a:p>
            <a:r>
              <a:rPr lang="pt-BR" sz="3600" dirty="0"/>
              <a:t>EXEMPLO</a:t>
            </a:r>
          </a:p>
        </p:txBody>
      </p:sp>
      <p:sp>
        <p:nvSpPr>
          <p:cNvPr id="8" name="Espaço Reservado para Conteúdo 7">
            <a:extLst>
              <a:ext uri="{FF2B5EF4-FFF2-40B4-BE49-F238E27FC236}">
                <a16:creationId xmlns:a16="http://schemas.microsoft.com/office/drawing/2014/main" id="{846619C6-83D3-4B68-BE7F-230C4352C9F5}"/>
              </a:ext>
            </a:extLst>
          </p:cNvPr>
          <p:cNvSpPr>
            <a:spLocks noGrp="1"/>
          </p:cNvSpPr>
          <p:nvPr>
            <p:ph idx="1"/>
          </p:nvPr>
        </p:nvSpPr>
        <p:spPr/>
        <p:txBody>
          <a:bodyPr/>
          <a:lstStyle/>
          <a:p>
            <a:r>
              <a:rPr lang="pt-BR" b="1" i="0" dirty="0">
                <a:solidFill>
                  <a:srgbClr val="000000"/>
                </a:solidFill>
                <a:effectLst/>
                <a:latin typeface="Open Sans"/>
              </a:rPr>
              <a:t>Exemplo</a:t>
            </a:r>
            <a:r>
              <a:rPr lang="pt-BR" b="0" i="0" dirty="0">
                <a:solidFill>
                  <a:srgbClr val="000000"/>
                </a:solidFill>
                <a:effectLst/>
                <a:latin typeface="Open Sans"/>
              </a:rPr>
              <a:t>: Vamos continuar a incrementar o algoritmo criado na lição sobre condicional composto. Desta vez, o programa deve solicitar duas notas de uma aluno, e calcular a média dessas notas. Caso a média calculada seja maior ou igual a 7, o programa deve emitir a mensagem “Aprovado”; se a média for menor do que 5, a mensagem a ser exibida é “Reprovado”. Porém, se a média do aluno ficar entre 5 e 7, deve ser exibida a mensagem “Recuperação”. Em todos os casos deve ser ecoada na tela a média calculada.</a:t>
            </a:r>
            <a:endParaRPr lang="pt-BR" dirty="0"/>
          </a:p>
        </p:txBody>
      </p:sp>
    </p:spTree>
    <p:extLst>
      <p:ext uri="{BB962C8B-B14F-4D97-AF65-F5344CB8AC3E}">
        <p14:creationId xmlns:p14="http://schemas.microsoft.com/office/powerpoint/2010/main" val="1513908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62303-0FF0-416E-8666-CC3E99623040}"/>
              </a:ext>
            </a:extLst>
          </p:cNvPr>
          <p:cNvSpPr>
            <a:spLocks noGrp="1"/>
          </p:cNvSpPr>
          <p:nvPr>
            <p:ph type="title"/>
          </p:nvPr>
        </p:nvSpPr>
        <p:spPr/>
        <p:txBody>
          <a:bodyPr/>
          <a:lstStyle/>
          <a:p>
            <a:r>
              <a:rPr lang="pt-BR" dirty="0"/>
              <a:t>EXEMPLO</a:t>
            </a:r>
            <a:br>
              <a:rPr lang="pt-BR" dirty="0"/>
            </a:br>
            <a:endParaRPr lang="pt-BR" dirty="0"/>
          </a:p>
        </p:txBody>
      </p:sp>
      <p:sp>
        <p:nvSpPr>
          <p:cNvPr id="4" name="Espaço Reservado para Rodapé 3">
            <a:extLst>
              <a:ext uri="{FF2B5EF4-FFF2-40B4-BE49-F238E27FC236}">
                <a16:creationId xmlns:a16="http://schemas.microsoft.com/office/drawing/2014/main" id="{2877F2FE-4B09-40EB-8E77-2B3EBE1A5DD1}"/>
              </a:ext>
            </a:extLst>
          </p:cNvPr>
          <p:cNvSpPr>
            <a:spLocks noGrp="1"/>
          </p:cNvSpPr>
          <p:nvPr>
            <p:ph type="ftr" sz="quarter" idx="11"/>
          </p:nvPr>
        </p:nvSpPr>
        <p:spPr>
          <a:xfrm>
            <a:off x="8941708" y="5744280"/>
            <a:ext cx="5938836" cy="309201"/>
          </a:xfrm>
        </p:spPr>
        <p:txBody>
          <a:bodyPr/>
          <a:lstStyle/>
          <a:p>
            <a:r>
              <a:rPr lang="en-US" dirty="0"/>
              <a:t>Prof. Fernanda Schmitz</a:t>
            </a:r>
          </a:p>
        </p:txBody>
      </p:sp>
      <p:sp>
        <p:nvSpPr>
          <p:cNvPr id="5" name="Espaço Reservado para Número de Slide 4">
            <a:extLst>
              <a:ext uri="{FF2B5EF4-FFF2-40B4-BE49-F238E27FC236}">
                <a16:creationId xmlns:a16="http://schemas.microsoft.com/office/drawing/2014/main" id="{A12C0D7D-43C8-4A01-AB92-70926767B16F}"/>
              </a:ext>
            </a:extLst>
          </p:cNvPr>
          <p:cNvSpPr>
            <a:spLocks noGrp="1"/>
          </p:cNvSpPr>
          <p:nvPr>
            <p:ph type="sldNum" sz="quarter" idx="12"/>
          </p:nvPr>
        </p:nvSpPr>
        <p:spPr/>
        <p:txBody>
          <a:bodyPr/>
          <a:lstStyle/>
          <a:p>
            <a:fld id="{6D22F896-40B5-4ADD-8801-0D06FADFA095}" type="slidenum">
              <a:rPr lang="en-US" smtClean="0"/>
              <a:t>5</a:t>
            </a:fld>
            <a:endParaRPr lang="en-US" dirty="0"/>
          </a:p>
        </p:txBody>
      </p:sp>
      <p:sp>
        <p:nvSpPr>
          <p:cNvPr id="15" name="Rectangle 5">
            <a:extLst>
              <a:ext uri="{FF2B5EF4-FFF2-40B4-BE49-F238E27FC236}">
                <a16:creationId xmlns:a16="http://schemas.microsoft.com/office/drawing/2014/main" id="{E3540001-D02A-4EB7-A36A-E0B5634BBB30}"/>
              </a:ext>
            </a:extLst>
          </p:cNvPr>
          <p:cNvSpPr>
            <a:spLocks noChangeArrowheads="1"/>
          </p:cNvSpPr>
          <p:nvPr/>
        </p:nvSpPr>
        <p:spPr bwMode="auto">
          <a:xfrm>
            <a:off x="631135" y="2339950"/>
            <a:ext cx="2835634" cy="323165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pt-BR" altLang="pt-BR" sz="1000" b="1" dirty="0">
                <a:solidFill>
                  <a:srgbClr val="FF0000"/>
                </a:solidFill>
                <a:latin typeface="inherit"/>
              </a:rPr>
              <a:t>Algoritmo</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Consolas" panose="020B0609020204030204" pitchFamily="49" charset="0"/>
              </a:rPr>
              <a:t> Declare: </a:t>
            </a:r>
            <a:r>
              <a:rPr kumimoji="0" lang="pt-BR" altLang="pt-BR" sz="1000" b="1" i="0" u="none" strike="noStrike" cap="none" normalizeH="0" baseline="0" dirty="0">
                <a:ln>
                  <a:noFill/>
                </a:ln>
                <a:solidFill>
                  <a:srgbClr val="FF0000"/>
                </a:solidFill>
                <a:effectLst/>
                <a:latin typeface="inherit"/>
              </a:rPr>
              <a:t>N1, N2 : inteiro</a:t>
            </a:r>
            <a:r>
              <a:rPr kumimoji="0" lang="pt-BR" altLang="pt-BR" sz="1000" b="1" i="0" u="none" strike="noStrike" cap="none" normalizeH="0" baseline="0" dirty="0">
                <a:ln>
                  <a:noFill/>
                </a:ln>
                <a:solidFill>
                  <a:srgbClr val="FF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1000" b="1" dirty="0">
                <a:solidFill>
                  <a:srgbClr val="FF0000"/>
                </a:solidFill>
                <a:latin typeface="inherit"/>
              </a:rPr>
              <a:t>                        </a:t>
            </a:r>
            <a:r>
              <a:rPr kumimoji="0" lang="pt-BR" altLang="pt-BR" sz="1000" b="1" i="0" u="none" strike="noStrike" cap="none" normalizeH="0" baseline="0" dirty="0">
                <a:ln>
                  <a:noFill/>
                </a:ln>
                <a:solidFill>
                  <a:srgbClr val="FF0000"/>
                </a:solidFill>
                <a:effectLst/>
                <a:latin typeface="inherit"/>
              </a:rPr>
              <a:t>MEDIA : real</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escreval</a:t>
            </a:r>
            <a:r>
              <a:rPr kumimoji="0" lang="pt-BR" altLang="pt-BR" sz="1000" b="1" i="0" u="none" strike="noStrike" cap="none" normalizeH="0" baseline="0" dirty="0">
                <a:ln>
                  <a:noFill/>
                </a:ln>
                <a:solidFill>
                  <a:srgbClr val="FF0000"/>
                </a:solidFill>
                <a:effectLst/>
                <a:latin typeface="inherit"/>
              </a:rPr>
              <a:t> ("Entre com a primeira nota:")</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leia (N1)</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escreval</a:t>
            </a:r>
            <a:r>
              <a:rPr kumimoji="0" lang="pt-BR" altLang="pt-BR" sz="1000" b="1" i="0" u="none" strike="noStrike" cap="none" normalizeH="0" baseline="0" dirty="0">
                <a:ln>
                  <a:noFill/>
                </a:ln>
                <a:solidFill>
                  <a:srgbClr val="FF0000"/>
                </a:solidFill>
                <a:effectLst/>
                <a:latin typeface="inherit"/>
              </a:rPr>
              <a:t> ("Entre com a segunda nota:")</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leia (N2)</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000" b="1" i="0" u="none" strike="noStrike" cap="none" normalizeH="0" baseline="0" dirty="0">
              <a:ln>
                <a:noFill/>
              </a:ln>
              <a:solidFill>
                <a:srgbClr val="FF0000"/>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MEDIA &lt;- (N1 + N2) / 2</a:t>
            </a:r>
            <a:r>
              <a:rPr kumimoji="0" lang="pt-BR" altLang="pt-BR" sz="1000" b="1" i="0" u="none" strike="noStrike" cap="none" normalizeH="0" baseline="0" dirty="0">
                <a:ln>
                  <a:noFill/>
                </a:ln>
                <a:solidFill>
                  <a:srgbClr val="FF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se (media &gt;= 7)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escreval</a:t>
            </a:r>
            <a:r>
              <a:rPr kumimoji="0" lang="pt-BR" altLang="pt-BR" sz="1000" b="1" i="0" u="none" strike="noStrike" cap="none" normalizeH="0" baseline="0" dirty="0">
                <a:ln>
                  <a:noFill/>
                </a:ln>
                <a:solidFill>
                  <a:srgbClr val="FF0000"/>
                </a:solidFill>
                <a:effectLst/>
                <a:latin typeface="inherit"/>
              </a:rPr>
              <a:t> ("Aprovado")</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senao</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se (media &gt;= 5) </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escreval</a:t>
            </a:r>
            <a:r>
              <a:rPr kumimoji="0" lang="pt-BR" altLang="pt-BR" sz="1000" b="1" i="0" u="none" strike="noStrike" cap="none" normalizeH="0" baseline="0" dirty="0">
                <a:ln>
                  <a:noFill/>
                </a:ln>
                <a:solidFill>
                  <a:srgbClr val="FF0000"/>
                </a:solidFill>
                <a:effectLst/>
                <a:latin typeface="inherit"/>
              </a:rPr>
              <a:t> ("Recuperação")</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r>
              <a:rPr kumimoji="0" lang="pt-BR" altLang="pt-BR" sz="1000" b="1" i="0" u="none" strike="noStrike" cap="none" normalizeH="0" baseline="0" dirty="0" err="1">
                <a:ln>
                  <a:noFill/>
                </a:ln>
                <a:solidFill>
                  <a:srgbClr val="FF0000"/>
                </a:solidFill>
                <a:effectLst/>
                <a:latin typeface="inherit"/>
              </a:rPr>
              <a:t>senao</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1000" b="1" dirty="0">
                <a:solidFill>
                  <a:srgbClr val="FF0000"/>
                </a:solidFill>
                <a:latin typeface="inherit"/>
              </a:rPr>
              <a:t>      </a:t>
            </a:r>
            <a:r>
              <a:rPr kumimoji="0" lang="pt-BR" altLang="pt-BR" sz="1000" b="1" i="0" u="none" strike="noStrike" cap="none" normalizeH="0" baseline="0" dirty="0" err="1">
                <a:ln>
                  <a:noFill/>
                </a:ln>
                <a:solidFill>
                  <a:srgbClr val="FF0000"/>
                </a:solidFill>
                <a:effectLst/>
                <a:latin typeface="inherit"/>
              </a:rPr>
              <a:t>escreval</a:t>
            </a:r>
            <a:r>
              <a:rPr kumimoji="0" lang="pt-BR" altLang="pt-BR" sz="1000" b="1" i="0" u="none" strike="noStrike" cap="none" normalizeH="0" baseline="0" dirty="0">
                <a:ln>
                  <a:noFill/>
                </a:ln>
                <a:solidFill>
                  <a:srgbClr val="FF0000"/>
                </a:solidFill>
                <a:effectLst/>
                <a:latin typeface="inherit"/>
              </a:rPr>
              <a:t> ("Reprovado")</a:t>
            </a:r>
            <a:r>
              <a:rPr kumimoji="0" lang="pt-BR" altLang="pt-BR" sz="1000" b="1" i="0" u="none" strike="noStrike" cap="none" normalizeH="0" baseline="0" dirty="0">
                <a:ln>
                  <a:noFill/>
                </a:ln>
                <a:solidFill>
                  <a:srgbClr val="FF0000"/>
                </a:solidFill>
                <a:effectLst/>
                <a:latin typeface="Consolas" panose="020B0609020204030204" pitchFamily="49" charset="0"/>
              </a:rPr>
              <a:t> </a:t>
            </a: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a:ln>
                  <a:noFill/>
                </a:ln>
                <a:solidFill>
                  <a:srgbClr val="FF0000"/>
                </a:solidFill>
                <a:effectLst/>
                <a:latin typeface="inherit"/>
              </a:rPr>
              <a:t>escreva ("Sua média é ", MEDIA)</a:t>
            </a:r>
            <a:r>
              <a:rPr kumimoji="0" lang="pt-BR" altLang="pt-BR" sz="1000" b="1" i="0" u="none" strike="noStrike" cap="none" normalizeH="0" baseline="0" dirty="0">
                <a:ln>
                  <a:noFill/>
                </a:ln>
                <a:solidFill>
                  <a:srgbClr val="FF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1000" b="1" i="0" u="none" strike="noStrike" cap="none" normalizeH="0" baseline="0" dirty="0">
              <a:ln>
                <a:noFill/>
              </a:ln>
              <a:solidFill>
                <a:srgbClr val="FF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1" i="0" u="none" strike="noStrike" cap="none" normalizeH="0" baseline="0" dirty="0" err="1">
                <a:ln>
                  <a:noFill/>
                </a:ln>
                <a:solidFill>
                  <a:srgbClr val="FF0000"/>
                </a:solidFill>
                <a:effectLst/>
                <a:latin typeface="inherit"/>
              </a:rPr>
              <a:t>fimalgoritmo</a:t>
            </a:r>
            <a:r>
              <a:rPr kumimoji="0" lang="pt-BR" altLang="pt-BR" sz="800" b="0" i="0" u="none" strike="noStrike" cap="none" normalizeH="0" baseline="0" dirty="0">
                <a:ln>
                  <a:noFill/>
                </a:ln>
                <a:solidFill>
                  <a:schemeClr val="tx1"/>
                </a:solidFill>
                <a:effectLst/>
              </a:rPr>
              <a:t> </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
        <p:nvSpPr>
          <p:cNvPr id="17" name="Rectangle 7">
            <a:extLst>
              <a:ext uri="{FF2B5EF4-FFF2-40B4-BE49-F238E27FC236}">
                <a16:creationId xmlns:a16="http://schemas.microsoft.com/office/drawing/2014/main" id="{29C6C4D4-48ED-4E6F-94A6-4188A2B78BD7}"/>
              </a:ext>
            </a:extLst>
          </p:cNvPr>
          <p:cNvSpPr>
            <a:spLocks noChangeArrowheads="1"/>
          </p:cNvSpPr>
          <p:nvPr/>
        </p:nvSpPr>
        <p:spPr bwMode="auto">
          <a:xfrm>
            <a:off x="4923765" y="410287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0" i="0" u="none" strike="noStrike" cap="none" normalizeH="0" baseline="0">
                <a:ln>
                  <a:noFill/>
                </a:ln>
                <a:solidFill>
                  <a:srgbClr val="000000"/>
                </a:solidFill>
                <a:effectLst/>
                <a:latin typeface="Open Sans"/>
              </a:rPr>
              <a:t>eja abaixo um fluxograma representando nosso algoritmo:</a:t>
            </a:r>
            <a:endParaRPr kumimoji="0" lang="pt-BR" altLang="pt-B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0" i="0" u="none" strike="noStrike" cap="none" normalizeH="0" baseline="0">
                <a:ln>
                  <a:noFill/>
                </a:ln>
                <a:solidFill>
                  <a:srgbClr val="000000"/>
                </a:solidFill>
                <a:effectLst/>
                <a:latin typeface="Open Sans"/>
              </a:rPr>
              <a:t>  </a:t>
            </a:r>
            <a:r>
              <a:rPr kumimoji="0" lang="pt-BR" altLang="pt-BR" sz="28300" b="0" i="0" u="none" strike="noStrike" cap="none" normalizeH="0" baseline="0">
                <a:ln>
                  <a:noFill/>
                </a:ln>
                <a:solidFill>
                  <a:srgbClr val="000000"/>
                </a:solidFill>
                <a:effectLst/>
                <a:latin typeface="Open Sans"/>
              </a:rPr>
              <a:t>      </a:t>
            </a:r>
            <a:endParaRPr kumimoji="0" lang="pt-BR" altLang="pt-BR" sz="1800" b="0" i="0" u="none" strike="noStrike" cap="none" normalizeH="0" baseline="0">
              <a:ln>
                <a:noFill/>
              </a:ln>
              <a:solidFill>
                <a:schemeClr val="tx1"/>
              </a:solidFill>
              <a:effectLst/>
              <a:latin typeface="Arial" panose="020B0604020202020204" pitchFamily="34" charset="0"/>
            </a:endParaRPr>
          </a:p>
        </p:txBody>
      </p:sp>
      <p:pic>
        <p:nvPicPr>
          <p:cNvPr id="2056" name="Picture 8" descr="Exemplo de condicional encadeado em lógica de programação (algoritmo)">
            <a:extLst>
              <a:ext uri="{FF2B5EF4-FFF2-40B4-BE49-F238E27FC236}">
                <a16:creationId xmlns:a16="http://schemas.microsoft.com/office/drawing/2014/main" id="{8FCEE33C-6DFA-438E-9C74-0B35991C0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3615" y="2023248"/>
            <a:ext cx="5715000" cy="3781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84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D6B6E5-CE70-4E08-9383-4C9522408B5D}"/>
              </a:ext>
            </a:extLst>
          </p:cNvPr>
          <p:cNvSpPr>
            <a:spLocks noGrp="1"/>
          </p:cNvSpPr>
          <p:nvPr>
            <p:ph type="title"/>
          </p:nvPr>
        </p:nvSpPr>
        <p:spPr/>
        <p:txBody>
          <a:bodyPr/>
          <a:lstStyle/>
          <a:p>
            <a:r>
              <a:rPr lang="pt-BR" dirty="0"/>
              <a:t>Exercícios</a:t>
            </a:r>
          </a:p>
        </p:txBody>
      </p:sp>
      <p:sp>
        <p:nvSpPr>
          <p:cNvPr id="3" name="Espaço Reservado para Conteúdo 2">
            <a:extLst>
              <a:ext uri="{FF2B5EF4-FFF2-40B4-BE49-F238E27FC236}">
                <a16:creationId xmlns:a16="http://schemas.microsoft.com/office/drawing/2014/main" id="{CC1117D7-1B91-43C1-8056-0E3606A0B897}"/>
              </a:ext>
            </a:extLst>
          </p:cNvPr>
          <p:cNvSpPr>
            <a:spLocks noGrp="1"/>
          </p:cNvSpPr>
          <p:nvPr>
            <p:ph idx="1"/>
          </p:nvPr>
        </p:nvSpPr>
        <p:spPr>
          <a:xfrm>
            <a:off x="2501151" y="3064967"/>
            <a:ext cx="9603275" cy="1657771"/>
          </a:xfrm>
        </p:spPr>
        <p:txBody>
          <a:bodyPr/>
          <a:lstStyle/>
          <a:p>
            <a:r>
              <a:rPr lang="pt-BR" dirty="0"/>
              <a:t>Vamos aos exercícios!!!</a:t>
            </a:r>
          </a:p>
        </p:txBody>
      </p:sp>
      <p:sp>
        <p:nvSpPr>
          <p:cNvPr id="4" name="Espaço Reservado para Rodapé 3">
            <a:extLst>
              <a:ext uri="{FF2B5EF4-FFF2-40B4-BE49-F238E27FC236}">
                <a16:creationId xmlns:a16="http://schemas.microsoft.com/office/drawing/2014/main" id="{971DD9BC-04F7-4A30-B180-527F7564622E}"/>
              </a:ext>
            </a:extLst>
          </p:cNvPr>
          <p:cNvSpPr>
            <a:spLocks noGrp="1"/>
          </p:cNvSpPr>
          <p:nvPr>
            <p:ph type="ftr" sz="quarter" idx="11"/>
          </p:nvPr>
        </p:nvSpPr>
        <p:spPr/>
        <p:txBody>
          <a:bodyPr/>
          <a:lstStyle/>
          <a:p>
            <a:r>
              <a:rPr lang="en-US"/>
              <a:t>Prof. Fernanda Schmitz</a:t>
            </a:r>
            <a:endParaRPr lang="en-US" dirty="0"/>
          </a:p>
        </p:txBody>
      </p:sp>
      <p:sp>
        <p:nvSpPr>
          <p:cNvPr id="5" name="Espaço Reservado para Número de Slide 4">
            <a:extLst>
              <a:ext uri="{FF2B5EF4-FFF2-40B4-BE49-F238E27FC236}">
                <a16:creationId xmlns:a16="http://schemas.microsoft.com/office/drawing/2014/main" id="{19D1DF58-6CF6-4A59-97EC-D51F8B9B138C}"/>
              </a:ext>
            </a:extLst>
          </p:cNvPr>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3919930802"/>
      </p:ext>
    </p:extLst>
  </p:cSld>
  <p:clrMapOvr>
    <a:masterClrMapping/>
  </p:clrMapOvr>
</p:sld>
</file>

<file path=ppt/theme/theme1.xml><?xml version="1.0" encoding="utf-8"?>
<a:theme xmlns:a="http://schemas.openxmlformats.org/drawingml/2006/main" name="Galeria">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839AEDDDB42FAC4CB2AA3BB5FB4458FC" ma:contentTypeVersion="4" ma:contentTypeDescription="Crie um novo documento." ma:contentTypeScope="" ma:versionID="68152243023225b3a2a4de5ad4550a86">
  <xsd:schema xmlns:xsd="http://www.w3.org/2001/XMLSchema" xmlns:xs="http://www.w3.org/2001/XMLSchema" xmlns:p="http://schemas.microsoft.com/office/2006/metadata/properties" xmlns:ns2="c04719d7-b6a3-44e5-bd84-c0db24dc4344" targetNamespace="http://schemas.microsoft.com/office/2006/metadata/properties" ma:root="true" ma:fieldsID="4a545be84b86e4cb0bfa219f488316ce" ns2:_="">
    <xsd:import namespace="c04719d7-b6a3-44e5-bd84-c0db24dc43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719d7-b6a3-44e5-bd84-c0db24dc4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F4812E-88B6-4630-9848-0304BE317CD2}">
  <ds:schemaRefs>
    <ds:schemaRef ds:uri="http://schemas.microsoft.com/sharepoint/v3/contenttype/forms"/>
  </ds:schemaRefs>
</ds:datastoreItem>
</file>

<file path=customXml/itemProps2.xml><?xml version="1.0" encoding="utf-8"?>
<ds:datastoreItem xmlns:ds="http://schemas.openxmlformats.org/officeDocument/2006/customXml" ds:itemID="{7510B2ED-B9E0-4B08-8DB5-8CEB1E3EB7E6}"/>
</file>

<file path=customXml/itemProps3.xml><?xml version="1.0" encoding="utf-8"?>
<ds:datastoreItem xmlns:ds="http://schemas.openxmlformats.org/officeDocument/2006/customXml" ds:itemID="{40D27C19-FBD6-4011-BBA7-4A2B6783CF7D}"/>
</file>

<file path=docProps/app.xml><?xml version="1.0" encoding="utf-8"?>
<Properties xmlns="http://schemas.openxmlformats.org/officeDocument/2006/extended-properties" xmlns:vt="http://schemas.openxmlformats.org/officeDocument/2006/docPropsVTypes">
  <Template>TM10001114[[fn=Galeria]]</Template>
  <TotalTime>92</TotalTime>
  <Words>483</Words>
  <Application>Microsoft Office PowerPoint</Application>
  <PresentationFormat>Widescreen</PresentationFormat>
  <Paragraphs>63</Paragraphs>
  <Slides>6</Slides>
  <Notes>0</Notes>
  <HiddenSlides>0</HiddenSlides>
  <MMClips>0</MMClips>
  <ScaleCrop>false</ScaleCrop>
  <HeadingPairs>
    <vt:vector size="4" baseType="variant">
      <vt:variant>
        <vt:lpstr>Tema</vt:lpstr>
      </vt:variant>
      <vt:variant>
        <vt:i4>1</vt:i4>
      </vt:variant>
      <vt:variant>
        <vt:lpstr>Títulos de slides</vt:lpstr>
      </vt:variant>
      <vt:variant>
        <vt:i4>6</vt:i4>
      </vt:variant>
    </vt:vector>
  </HeadingPairs>
  <TitlesOfParts>
    <vt:vector size="7" baseType="lpstr">
      <vt:lpstr>Galeria</vt:lpstr>
      <vt:lpstr>  Estrutura se/ senão se </vt:lpstr>
      <vt:lpstr>Apresentação do PowerPoint</vt:lpstr>
      <vt:lpstr>      FLUXOGRAMA</vt:lpstr>
      <vt:lpstr>  </vt:lpstr>
      <vt:lpstr>EXEMPLO </vt:lpstr>
      <vt:lpstr>Exercícios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Recursividade</dc:title>
  <dc:creator>Fernanda Schmitz</dc:creator>
  <cp:lastModifiedBy>ProfessorFatec</cp:lastModifiedBy>
  <cp:revision>18</cp:revision>
  <dcterms:created xsi:type="dcterms:W3CDTF">2020-04-28T20:02:11Z</dcterms:created>
  <dcterms:modified xsi:type="dcterms:W3CDTF">2024-04-06T21:06:20Z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0x010100839AEDDDB42FAC4CB2AA3BB5FB4458FC</vt:lpwstr>
  </property>
</Properties>
</file>