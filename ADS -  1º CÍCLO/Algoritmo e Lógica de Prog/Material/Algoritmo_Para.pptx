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B45BBFC-A71E-4542-886D-B92E3A5AA9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69AAF6-D03E-4BD5-A41C-AE5DFC8A78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891EC-F569-442A-88D7-789B32449A18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DA8F9D-2667-4898-90B4-E1CC209125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3801EF-BD17-4EB0-AD99-39121D71ED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0CBCE-FC42-4ACC-B774-CE2CB59D2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07286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F32FB-6D10-4D62-87CF-D2D29DF95AC3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C32C4-7A66-474E-A46B-F3D9608CD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66579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512-3C0A-4284-BDAE-541CBFB1648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1D5-5D6E-4785-B671-F12D1BE054F2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4D52-DEAA-4691-B8B1-AC98652886D8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C5FE1-05B5-416A-9B8B-31D29ADFD761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18C8C-5E65-48F6-BED4-23E7C18C1D1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2555-BF4B-4A6F-B067-38652D9440A7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8C67-C9C6-4CFD-8DC1-08169962D9BC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64EB-27F9-4875-9E6B-32FBE52F1281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9CECDDA-75A6-4F18-AF39-3DBC82DD528A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A13D-37F5-43AA-9B71-46B64DA51CE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98889-1D1F-4973-A9DC-9A6DF1DA2832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6F6CF-87FF-4611-9B7C-1B3F67EEA635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4AFB9-8419-4BA7-8E84-1309DBFA2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2311" y="802298"/>
            <a:ext cx="10034546" cy="1018169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		Estrutura de repetição para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180436-09DB-4D17-8181-82B76FCFF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1002" y="3601941"/>
            <a:ext cx="9838302" cy="2234317"/>
          </a:xfrm>
        </p:spPr>
        <p:txBody>
          <a:bodyPr>
            <a:normAutofit/>
          </a:bodyPr>
          <a:lstStyle/>
          <a:p>
            <a:endParaRPr lang="pt-BR" altLang="pt-BR" dirty="0">
              <a:latin typeface="Arial" panose="020B0604020202020204" pitchFamily="34" charset="0"/>
            </a:endParaRPr>
          </a:p>
          <a:p>
            <a:r>
              <a:rPr lang="pt-BR" altLang="pt-BR" dirty="0">
                <a:latin typeface="Arial" panose="020B0604020202020204" pitchFamily="34" charset="0"/>
              </a:rPr>
              <a:t>Esta estrutura de repetição é usada quando se sabe o número de vezes em que um trecho do algoritmo deve ser repetido.</a:t>
            </a:r>
          </a:p>
          <a:p>
            <a:endParaRPr lang="pt-BR" dirty="0"/>
          </a:p>
        </p:txBody>
      </p:sp>
      <p:pic>
        <p:nvPicPr>
          <p:cNvPr id="1028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61936CBD-FEDB-4D66-AB45-06B8F23F7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74" y="289888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0EEFE0-0319-49EB-BB80-7672A491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84729" y="5746501"/>
            <a:ext cx="4973915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</p:spTree>
    <p:extLst>
      <p:ext uri="{BB962C8B-B14F-4D97-AF65-F5344CB8AC3E}">
        <p14:creationId xmlns:p14="http://schemas.microsoft.com/office/powerpoint/2010/main" val="30460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546BF0-BAA3-41B2-AB05-460685A1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12985" y="5628323"/>
            <a:ext cx="5938836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606576-86AC-404E-AF97-9841F6A5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15E6E037-15FD-4D4A-AC2F-44C5A0581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" y="370161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558FB991-4613-45CD-A330-76BDED8A8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377" y="2272292"/>
            <a:ext cx="8515847" cy="90027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PARA (i  valor-inicial ATÉ valor-final, passo1) 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b="1" dirty="0">
                <a:latin typeface="Courier New" pitchFamily="49" charset="0"/>
                <a:sym typeface="Wingdings" pitchFamily="2" charset="2"/>
              </a:rPr>
              <a:t>comando1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2EFF3-0F6F-4CA1-8CA1-23DCED5568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1377" y="3341887"/>
            <a:ext cx="8515847" cy="24410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PARA (i  valor-inicial ATÉ valor-final, passo 1)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INICIO 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		</a:t>
            </a:r>
            <a:r>
              <a:rPr lang="pt-BR" sz="2000" b="1" dirty="0">
                <a:latin typeface="Courier New" pitchFamily="49" charset="0"/>
                <a:sym typeface="Wingdings" pitchFamily="2" charset="2"/>
              </a:rPr>
              <a:t>comando1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		</a:t>
            </a:r>
            <a:r>
              <a:rPr lang="pt-BR" sz="2000" b="1" dirty="0">
                <a:latin typeface="Courier New" pitchFamily="49" charset="0"/>
                <a:sym typeface="Wingdings" pitchFamily="2" charset="2"/>
              </a:rPr>
              <a:t>comando2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23562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68E11-7BA5-4DCC-B207-C72B0A21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</a:t>
            </a:r>
            <a:br>
              <a:rPr lang="pt-BR" dirty="0"/>
            </a:br>
            <a:r>
              <a:rPr lang="pt-BR" dirty="0"/>
              <a:t>			Estrutura Para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501C02-12CC-48A2-B844-4FC1E67B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83614" cy="3450613"/>
          </a:xfrm>
        </p:spPr>
        <p:txBody>
          <a:bodyPr/>
          <a:lstStyle/>
          <a:p>
            <a:r>
              <a:rPr lang="pt-BR" dirty="0"/>
              <a:t>Temos 3 condições no laço PARA:</a:t>
            </a:r>
          </a:p>
          <a:p>
            <a:r>
              <a:rPr lang="pt-BR" dirty="0"/>
              <a:t>A primeira condição é a variável de controle do laço, essa deve ser uma variável do tipo inteiro que inicializa o laço.</a:t>
            </a:r>
          </a:p>
          <a:p>
            <a:r>
              <a:rPr lang="pt-BR" dirty="0"/>
              <a:t>A segunda condição é até onde o laço vai.</a:t>
            </a:r>
          </a:p>
          <a:p>
            <a:r>
              <a:rPr lang="pt-BR" dirty="0"/>
              <a:t>A terceira condição e de quanto em quanto essa laço anda.</a:t>
            </a:r>
          </a:p>
          <a:p>
            <a:r>
              <a:rPr lang="pt-BR" dirty="0"/>
              <a:t>Obs. Importante saber que esse laço ele ao ser criado já sabe de onde sai até onde vai.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FBC21F-4F92-4510-A8AD-7EBD7C7A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545" y="5628323"/>
            <a:ext cx="5938836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  <p:pic>
        <p:nvPicPr>
          <p:cNvPr id="6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D3B7A134-827A-4B3A-9CBE-1EDE21BDF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18" y="293772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72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2A385475-E322-4BE1-8C68-F5647B65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49374" y="5593071"/>
            <a:ext cx="5938836" cy="309201"/>
          </a:xfrm>
        </p:spPr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pic>
        <p:nvPicPr>
          <p:cNvPr id="4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33FD35DE-9C13-4EBD-B9F5-8E451FDF8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77" y="246064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1E7910-CCAD-4110-A8DA-708FA4834943}"/>
              </a:ext>
            </a:extLst>
          </p:cNvPr>
          <p:cNvSpPr txBox="1"/>
          <p:nvPr/>
        </p:nvSpPr>
        <p:spPr>
          <a:xfrm>
            <a:off x="864042" y="1720840"/>
            <a:ext cx="10463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72320E-E4D8-44A5-A238-25C5D281A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334" y="2065682"/>
            <a:ext cx="7632700" cy="719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PARA (i  1 ATÉ 10,  PASSO 1)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	Escreva “valor de i = “, i</a:t>
            </a:r>
            <a:endParaRPr lang="pt-BR" sz="2000" b="1" dirty="0">
              <a:latin typeface="Courier New" pitchFamily="49" charset="0"/>
              <a:sym typeface="Wingdings" pitchFamily="2" charset="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C2357F4-8A5D-410A-A331-DE237723E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334" y="3321288"/>
            <a:ext cx="7561263" cy="1871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PARA (i  1, i&lt;=10, i=i+1)</a:t>
            </a:r>
            <a:endParaRPr lang="pt-BR" sz="2000" b="1" dirty="0">
              <a:latin typeface="Courier New" pitchFamily="49" charset="0"/>
              <a:sym typeface="Wingdings" pitchFamily="2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INICIO 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		quadrado</a:t>
            </a:r>
            <a:r>
              <a:rPr lang="pt-BR" sz="2000" b="1" dirty="0">
                <a:latin typeface="Courier New" pitchFamily="49" charset="0"/>
                <a:sym typeface="Wingdings" pitchFamily="2" charset="2"/>
              </a:rPr>
              <a:t> </a:t>
            </a:r>
            <a:r>
              <a:rPr lang="pt-BR" sz="2000" dirty="0">
                <a:latin typeface="Courier New" pitchFamily="49" charset="0"/>
                <a:sym typeface="Wingdings" pitchFamily="2" charset="2"/>
              </a:rPr>
              <a:t> i * i</a:t>
            </a:r>
            <a:endParaRPr lang="pt-BR" sz="2000" b="1" dirty="0">
              <a:latin typeface="Courier New" pitchFamily="49" charset="0"/>
              <a:sym typeface="Wingdings" pitchFamily="2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b="1" dirty="0">
                <a:latin typeface="Courier New" pitchFamily="49" charset="0"/>
                <a:sym typeface="Wingdings" pitchFamily="2" charset="2"/>
              </a:rPr>
              <a:t>		</a:t>
            </a:r>
            <a:r>
              <a:rPr lang="pt-BR" sz="2000" dirty="0">
                <a:latin typeface="Courier New" pitchFamily="49" charset="0"/>
                <a:sym typeface="Wingdings" pitchFamily="2" charset="2"/>
              </a:rPr>
              <a:t>Escreva “Quadrado de “, i, “ = “, quadrado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3" pitchFamily="18" charset="2"/>
              <a:buNone/>
              <a:defRPr/>
            </a:pPr>
            <a:r>
              <a:rPr lang="pt-BR" sz="2000" dirty="0">
                <a:latin typeface="Courier New" pitchFamily="49" charset="0"/>
                <a:sym typeface="Wingdings" pitchFamily="2" charset="2"/>
              </a:rPr>
              <a:t>FIM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F14556-428E-4F9C-B128-04C5DDB6D8A7}"/>
              </a:ext>
            </a:extLst>
          </p:cNvPr>
          <p:cNvSpPr txBox="1"/>
          <p:nvPr/>
        </p:nvSpPr>
        <p:spPr>
          <a:xfrm>
            <a:off x="2680653" y="898226"/>
            <a:ext cx="585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Exemplo: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640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127CA-05BB-48AF-9057-56D9D29B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E7DDC-C651-428C-81FF-529BD606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pt-BR" altLang="pt-BR" dirty="0">
                <a:solidFill>
                  <a:schemeClr val="tx2"/>
                </a:solidFill>
              </a:rPr>
              <a:t>Um funcionário de uma empresa recebe aumento salarial anualmente.  Sabe-se que:</a:t>
            </a:r>
          </a:p>
          <a:p>
            <a:pPr marL="522288" lvl="1" indent="0">
              <a:lnSpc>
                <a:spcPct val="90000"/>
              </a:lnSpc>
              <a:spcBef>
                <a:spcPct val="60000"/>
              </a:spcBef>
            </a:pPr>
            <a:r>
              <a:rPr lang="pt-BR" altLang="pt-BR" dirty="0">
                <a:solidFill>
                  <a:schemeClr val="tx2"/>
                </a:solidFill>
              </a:rPr>
              <a:t> esse funcionário foi contratado em 1995, com salário inicial de R$ 1.000,00;</a:t>
            </a:r>
          </a:p>
          <a:p>
            <a:pPr marL="522288" lvl="1" indent="0">
              <a:lnSpc>
                <a:spcPct val="90000"/>
              </a:lnSpc>
              <a:spcBef>
                <a:spcPct val="60000"/>
              </a:spcBef>
            </a:pPr>
            <a:r>
              <a:rPr lang="pt-BR" altLang="pt-BR" dirty="0">
                <a:solidFill>
                  <a:schemeClr val="tx2"/>
                </a:solidFill>
              </a:rPr>
              <a:t> em 1996 recebeu aumento de 1,5% sobre seu salário inicial;</a:t>
            </a:r>
          </a:p>
          <a:p>
            <a:pPr marL="522288" lvl="1" indent="0">
              <a:lnSpc>
                <a:spcPct val="90000"/>
              </a:lnSpc>
              <a:spcBef>
                <a:spcPct val="60000"/>
              </a:spcBef>
            </a:pPr>
            <a:r>
              <a:rPr lang="pt-BR" altLang="pt-BR" dirty="0">
                <a:solidFill>
                  <a:schemeClr val="tx2"/>
                </a:solidFill>
              </a:rPr>
              <a:t> a partir de 1997 (inclusive), os aumentos salariais sempre corresponderam ao sobro do percentual do ano anterior.</a:t>
            </a:r>
          </a:p>
          <a:p>
            <a:pPr marL="522288" lvl="1" indent="0">
              <a:lnSpc>
                <a:spcPct val="90000"/>
              </a:lnSpc>
              <a:spcBef>
                <a:spcPct val="60000"/>
              </a:spcBef>
              <a:buNone/>
            </a:pPr>
            <a:r>
              <a:rPr lang="pt-BR" altLang="pt-BR" dirty="0">
                <a:solidFill>
                  <a:schemeClr val="tx2"/>
                </a:solidFill>
              </a:rPr>
              <a:t>Faça um programa que determine o salário atual desse funcionário.</a:t>
            </a:r>
          </a:p>
          <a:p>
            <a:pPr marL="0" indent="0">
              <a:buNone/>
            </a:pPr>
            <a:r>
              <a:rPr lang="pt-BR" dirty="0"/>
              <a:t>Teremos outra lista </a:t>
            </a:r>
            <a:r>
              <a:rPr lang="pt-BR"/>
              <a:t>de exercícios na plataforma.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B886EE-5E6B-4629-B62E-E2715AF9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5419" y="5628323"/>
            <a:ext cx="5938836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  <p:pic>
        <p:nvPicPr>
          <p:cNvPr id="6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BDFD2B2D-5BA4-4263-9D6A-D43D6D45B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2" y="127761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D6C51DF-6CDF-4926-B069-1EA6A0DDFD21}"/>
              </a:ext>
            </a:extLst>
          </p:cNvPr>
          <p:cNvSpPr txBox="1"/>
          <p:nvPr/>
        </p:nvSpPr>
        <p:spPr>
          <a:xfrm>
            <a:off x="2798859" y="508883"/>
            <a:ext cx="6424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1513908367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39AEDDDB42FAC4CB2AA3BB5FB4458FC" ma:contentTypeVersion="4" ma:contentTypeDescription="Crie um novo documento." ma:contentTypeScope="" ma:versionID="68152243023225b3a2a4de5ad4550a86">
  <xsd:schema xmlns:xsd="http://www.w3.org/2001/XMLSchema" xmlns:xs="http://www.w3.org/2001/XMLSchema" xmlns:p="http://schemas.microsoft.com/office/2006/metadata/properties" xmlns:ns2="c04719d7-b6a3-44e5-bd84-c0db24dc4344" targetNamespace="http://schemas.microsoft.com/office/2006/metadata/properties" ma:root="true" ma:fieldsID="4a545be84b86e4cb0bfa219f488316ce" ns2:_="">
    <xsd:import namespace="c04719d7-b6a3-44e5-bd84-c0db24dc43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719d7-b6a3-44e5-bd84-c0db24dc4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00C229-AD36-41E7-A5AE-168C5E0A28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2FC6945-A43D-4AAB-9149-F686C2863B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86C5FF-5EDA-4D1A-84F9-7062F5E083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719d7-b6a3-44e5-bd84-c0db24dc43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TM10001114[[fn=Galeria]]</Template>
  <TotalTime>46</TotalTime>
  <Words>307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Galeria</vt:lpstr>
      <vt:lpstr>  Estrutura de repetição para </vt:lpstr>
      <vt:lpstr>Apresentação do PowerPoint</vt:lpstr>
      <vt:lpstr>      Estrutura Para</vt:lpstr>
      <vt:lpstr>Apresentação do PowerPoint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Recursividade</dc:title>
  <dc:creator>Fernanda Schmitz</dc:creator>
  <cp:lastModifiedBy>TATIANA SCHMITZ DE ALMEIDA LOPES</cp:lastModifiedBy>
  <cp:revision>11</cp:revision>
  <dcterms:created xsi:type="dcterms:W3CDTF">2020-04-28T20:02:11Z</dcterms:created>
  <dcterms:modified xsi:type="dcterms:W3CDTF">2024-09-24T23:54:52Z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0x010100839AEDDDB42FAC4CB2AA3BB5FB4458FC</vt:lpwstr>
  </property>
</Properties>
</file>