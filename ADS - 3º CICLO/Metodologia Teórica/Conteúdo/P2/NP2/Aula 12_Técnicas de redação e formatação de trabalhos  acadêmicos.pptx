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81" r:id="rId1"/>
    <p:sldMasterId id="2147484719" r:id="rId2"/>
  </p:sldMasterIdLst>
  <p:notesMasterIdLst>
    <p:notesMasterId r:id="rId37"/>
  </p:notesMasterIdLst>
  <p:handoutMasterIdLst>
    <p:handoutMasterId r:id="rId38"/>
  </p:handoutMasterIdLst>
  <p:sldIdLst>
    <p:sldId id="538" r:id="rId3"/>
    <p:sldId id="492" r:id="rId4"/>
    <p:sldId id="508" r:id="rId5"/>
    <p:sldId id="539" r:id="rId6"/>
    <p:sldId id="533" r:id="rId7"/>
    <p:sldId id="559" r:id="rId8"/>
    <p:sldId id="553" r:id="rId9"/>
    <p:sldId id="554" r:id="rId10"/>
    <p:sldId id="555" r:id="rId11"/>
    <p:sldId id="556" r:id="rId12"/>
    <p:sldId id="514" r:id="rId13"/>
    <p:sldId id="515" r:id="rId14"/>
    <p:sldId id="516" r:id="rId15"/>
    <p:sldId id="547" r:id="rId16"/>
    <p:sldId id="517" r:id="rId17"/>
    <p:sldId id="548" r:id="rId18"/>
    <p:sldId id="540" r:id="rId19"/>
    <p:sldId id="541" r:id="rId20"/>
    <p:sldId id="545" r:id="rId21"/>
    <p:sldId id="551" r:id="rId22"/>
    <p:sldId id="558" r:id="rId23"/>
    <p:sldId id="550" r:id="rId24"/>
    <p:sldId id="557" r:id="rId25"/>
    <p:sldId id="523" r:id="rId26"/>
    <p:sldId id="524" r:id="rId27"/>
    <p:sldId id="525" r:id="rId28"/>
    <p:sldId id="526" r:id="rId29"/>
    <p:sldId id="527" r:id="rId30"/>
    <p:sldId id="528" r:id="rId31"/>
    <p:sldId id="529" r:id="rId32"/>
    <p:sldId id="530" r:id="rId33"/>
    <p:sldId id="535" r:id="rId34"/>
    <p:sldId id="546" r:id="rId35"/>
    <p:sldId id="552" r:id="rId36"/>
  </p:sldIdLst>
  <p:sldSz cx="9144000" cy="6858000" type="screen4x3"/>
  <p:notesSz cx="6669088" cy="97536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FFCC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7" autoAdjust="0"/>
    <p:restoredTop sz="89857" autoAdjust="0"/>
  </p:normalViewPr>
  <p:slideViewPr>
    <p:cSldViewPr>
      <p:cViewPr varScale="1">
        <p:scale>
          <a:sx n="60" d="100"/>
          <a:sy n="60" d="100"/>
        </p:scale>
        <p:origin x="172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customXml" Target="../customXml/item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customXml" Target="../customXml/item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776663" y="0"/>
            <a:ext cx="2890837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B5ACBD5-A27F-421F-BC2C-CA8CD06E8208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264650"/>
            <a:ext cx="2890838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776663" y="9264650"/>
            <a:ext cx="2890837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34D4E03-A791-46BC-BE35-D3FFF9E2CB7F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44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776663" y="0"/>
            <a:ext cx="2890837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AC3F860F-D1F5-44AC-9FF1-BFC3F6015627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31838"/>
            <a:ext cx="4876800" cy="3657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66750" y="4632325"/>
            <a:ext cx="5335588" cy="4389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2890838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776663" y="9264650"/>
            <a:ext cx="2890837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3E5327B7-569F-4E06-9BED-8A0598D059DC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79748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080FAAF7-BF1F-4CE9-AE87-E57F5F73614C}" type="slidenum">
              <a:rPr lang="pt-BR" smtClean="0">
                <a:latin typeface="Arial" pitchFamily="34" charset="0"/>
              </a:rPr>
              <a:pPr>
                <a:defRPr/>
              </a:pPr>
              <a:t>2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C46230E9-4896-490F-B93B-ED8D0D9B8387}" type="slidenum">
              <a:rPr lang="pt-BR" smtClean="0">
                <a:latin typeface="Arial" pitchFamily="34" charset="0"/>
              </a:rPr>
              <a:pPr>
                <a:defRPr/>
              </a:pPr>
              <a:t>3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C46230E9-4896-490F-B93B-ED8D0D9B8387}" type="slidenum">
              <a:rPr lang="pt-BR" smtClean="0">
                <a:latin typeface="Arial" pitchFamily="34" charset="0"/>
              </a:rPr>
              <a:pPr>
                <a:defRPr/>
              </a:pPr>
              <a:t>4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014FF535-A318-440C-B352-C48B2F92DABC}" type="slidenum">
              <a:rPr lang="pt-BR" smtClean="0">
                <a:latin typeface="Arial" pitchFamily="34" charset="0"/>
              </a:rPr>
              <a:pPr>
                <a:defRPr/>
              </a:pPr>
              <a:t>7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755A9CA6-6698-4A61-86AE-4239DB975C0D}" type="slidenum">
              <a:rPr lang="pt-BR" smtClean="0">
                <a:latin typeface="Arial" pitchFamily="34" charset="0"/>
              </a:rPr>
              <a:pPr>
                <a:defRPr/>
              </a:pPr>
              <a:t>8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6F8876B0-D07E-4D95-849A-18CB11C8E0BE}" type="slidenum">
              <a:rPr lang="pt-BR" smtClean="0">
                <a:latin typeface="Arial" pitchFamily="34" charset="0"/>
              </a:rPr>
              <a:pPr>
                <a:defRPr/>
              </a:pPr>
              <a:t>9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9669470-515B-4578-B0C8-6DD0A28353EE}" type="slidenum">
              <a:rPr lang="pt-BR" smtClean="0">
                <a:latin typeface="Arial" pitchFamily="34" charset="0"/>
              </a:rPr>
              <a:pPr>
                <a:defRPr/>
              </a:pPr>
              <a:t>10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CD247E4F-369C-4FFD-A97C-5A6C26E48998}" type="slidenum">
              <a:rPr lang="pt-BR" smtClean="0">
                <a:latin typeface="Arial" pitchFamily="34" charset="0"/>
              </a:rPr>
              <a:pPr>
                <a:defRPr/>
              </a:pPr>
              <a:t>11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71DB697-7933-42D0-9AC4-5FA8DFD4C923}" type="slidenum">
              <a:rPr lang="pt-BR" smtClean="0">
                <a:latin typeface="Arial" pitchFamily="34" charset="0"/>
              </a:rPr>
              <a:pPr>
                <a:defRPr/>
              </a:pPr>
              <a:t>12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7354238-DD77-4AF3-B874-6AA988130248}" type="slidenum">
              <a:rPr lang="pt-BR" smtClean="0">
                <a:latin typeface="Arial" pitchFamily="34" charset="0"/>
              </a:rPr>
              <a:pPr>
                <a:defRPr/>
              </a:pPr>
              <a:t>13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6069291D-7055-493C-9797-DCF06F760091}" type="slidenum">
              <a:rPr lang="pt-BR" smtClean="0">
                <a:latin typeface="Arial" pitchFamily="34" charset="0"/>
              </a:rPr>
              <a:pPr>
                <a:defRPr/>
              </a:pPr>
              <a:t>15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014FF535-A318-440C-B352-C48B2F92DABC}" type="slidenum">
              <a:rPr lang="pt-BR" smtClean="0">
                <a:latin typeface="Arial" pitchFamily="34" charset="0"/>
              </a:rPr>
              <a:pPr>
                <a:defRPr/>
              </a:pPr>
              <a:t>23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CC65AF7B-22AB-44A0-8DD7-DADA845C0288}" type="slidenum">
              <a:rPr lang="pt-BR" smtClean="0">
                <a:latin typeface="Arial" pitchFamily="34" charset="0"/>
              </a:rPr>
              <a:pPr>
                <a:defRPr/>
              </a:pPr>
              <a:t>24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0010BC4C-C458-407B-B034-4874C7309BEA}" type="slidenum">
              <a:rPr lang="pt-BR" smtClean="0">
                <a:latin typeface="Arial" pitchFamily="34" charset="0"/>
              </a:rPr>
              <a:pPr>
                <a:defRPr/>
              </a:pPr>
              <a:t>25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A8F132F0-4E40-4A6F-9BC0-0A5F61A7B8E6}" type="slidenum">
              <a:rPr lang="pt-BR" smtClean="0">
                <a:latin typeface="Arial" pitchFamily="34" charset="0"/>
              </a:rPr>
              <a:pPr>
                <a:defRPr/>
              </a:pPr>
              <a:t>26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04BA88D1-0BF5-468B-A7CA-1EFFE8076B50}" type="slidenum">
              <a:rPr lang="pt-BR" smtClean="0">
                <a:latin typeface="Arial" pitchFamily="34" charset="0"/>
              </a:rPr>
              <a:pPr>
                <a:defRPr/>
              </a:pPr>
              <a:t>27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B480EF30-6E5E-48DC-99A2-32432D2AD940}" type="slidenum">
              <a:rPr lang="pt-BR" smtClean="0">
                <a:latin typeface="Arial" pitchFamily="34" charset="0"/>
              </a:rPr>
              <a:pPr>
                <a:defRPr/>
              </a:pPr>
              <a:t>28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55DFC8C-021A-4E7F-8C95-E3A9D05D132D}" type="slidenum">
              <a:rPr lang="pt-BR" smtClean="0">
                <a:latin typeface="Arial" pitchFamily="34" charset="0"/>
              </a:rPr>
              <a:pPr>
                <a:defRPr/>
              </a:pPr>
              <a:t>29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55EF935-7A87-4AFC-B9D9-A8E420CCC267}" type="slidenum">
              <a:rPr lang="pt-BR" smtClean="0">
                <a:latin typeface="Arial" pitchFamily="34" charset="0"/>
              </a:rPr>
              <a:pPr>
                <a:defRPr/>
              </a:pPr>
              <a:t>30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6F2612F3-B5C6-416A-A395-722ECDA6D276}" type="slidenum">
              <a:rPr lang="pt-BR" smtClean="0">
                <a:latin typeface="Arial" pitchFamily="34" charset="0"/>
              </a:rPr>
              <a:pPr>
                <a:defRPr/>
              </a:pPr>
              <a:t>31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8AF7966-4AD1-438C-A14F-74D9BFB3221B}" type="slidenum">
              <a:rPr lang="pt-BR" smtClean="0">
                <a:latin typeface="Arial" pitchFamily="34" charset="0"/>
              </a:rPr>
              <a:pPr>
                <a:defRPr/>
              </a:pPr>
              <a:t>32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CD52B09-CA3B-42C4-8BD6-A97DF204C3DF}" type="slidenum">
              <a:rPr lang="pt-BR" smtClean="0">
                <a:latin typeface="Arial" pitchFamily="34" charset="0"/>
              </a:rPr>
              <a:pPr>
                <a:defRPr/>
              </a:pPr>
              <a:t>34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tângulo 4"/>
          <p:cNvSpPr>
            <a:spLocks noChangeArrowheads="1"/>
          </p:cNvSpPr>
          <p:nvPr/>
        </p:nvSpPr>
        <p:spPr bwMode="white"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tângulo 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tângulo 6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tângulo 11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Elipse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Elipse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15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F5021D-5ABF-4E60-9129-AAE3EFFFC531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16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7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90C31E13-7229-42FA-98F6-EF95A15C6AAF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47FA38-1685-459A-A1B3-D6571BB77726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362450" y="1027113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3F76A-A590-4915-B8A9-2C0B96661D1B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tângulo 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tângulo 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tângulo 6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auto">
          <a:xfrm>
            <a:off x="155575" y="142875"/>
            <a:ext cx="8832850" cy="21399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tângulo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Conector reto 11"/>
          <p:cNvSpPr>
            <a:spLocks noChangeShapeType="1"/>
          </p:cNvSpPr>
          <p:nvPr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Elipse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Elipse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15" name="Espaço Reservado para Rodapé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6" name="Espaço Reservado para Data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0CB5A-37BB-4ED8-B361-5CAC0BD0C13A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1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B8AE79A5-E7BA-4702-A608-3D31A10FEFE0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ector reto 4"/>
          <p:cNvSpPr>
            <a:spLocks noChangeShapeType="1"/>
          </p:cNvSpPr>
          <p:nvPr/>
        </p:nvSpPr>
        <p:spPr bwMode="auto">
          <a:xfrm flipV="1">
            <a:off x="4562475" y="1576388"/>
            <a:ext cx="9525" cy="481806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10" name="Espaço Reservado para Conteúdo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2" name="Espaço Reservado para Conteúdo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5791200" y="6410325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99DD7-6707-4ACC-AED1-8F486279367B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7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30197-BF86-4E4D-AE3D-39D053272DC2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ector reto 6"/>
          <p:cNvSpPr>
            <a:spLocks noChangeShapeType="1"/>
          </p:cNvSpPr>
          <p:nvPr/>
        </p:nvSpPr>
        <p:spPr bwMode="auto">
          <a:xfrm flipV="1">
            <a:off x="4572000" y="2200275"/>
            <a:ext cx="0" cy="4187825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tângulo 10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tângulo 11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tângulo 12"/>
          <p:cNvSpPr>
            <a:spLocks noChangeArrowheads="1"/>
          </p:cNvSpPr>
          <p:nvPr/>
        </p:nvSpPr>
        <p:spPr bwMode="auto">
          <a:xfrm>
            <a:off x="146050" y="6391275"/>
            <a:ext cx="8832850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Conector reto 13"/>
          <p:cNvSpPr>
            <a:spLocks noChangeShapeType="1"/>
          </p:cNvSpPr>
          <p:nvPr/>
        </p:nvSpPr>
        <p:spPr bwMode="auto">
          <a:xfrm>
            <a:off x="152400" y="1279525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6" name="Elipse 15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Elipse 16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24" name="Espaço Reservado para Conteúdo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6" name="Espaço Reservado para Conteúdo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3" name="Título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18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05619-9B8A-4C34-B687-D0322017D147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19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4343400" y="1042988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0A2C6647-12E7-4A27-BFC1-AA4403040EDC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894297-20C6-42E2-A993-823DC7975F3E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4343400" y="10366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9FD29-02A5-4DAB-8176-613555DA7C1C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" name="Retângulo 2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" name="Retângulo 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tângulo 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tângulo 5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tângulo 6"/>
          <p:cNvSpPr>
            <a:spLocks noChangeArrowheads="1"/>
          </p:cNvSpPr>
          <p:nvPr/>
        </p:nvSpPr>
        <p:spPr bwMode="auto">
          <a:xfrm>
            <a:off x="152400" y="15875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8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6D6E96-A19E-4AB3-9BAD-C10B4BD50732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9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53B3FEA-8E4F-4860-9139-A73AA389A55C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>
            <a:spLocks noChangeArrowheads="1"/>
          </p:cNvSpPr>
          <p:nvPr/>
        </p:nvSpPr>
        <p:spPr bwMode="auto"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tângulo 5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tângulo 6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white"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tângulo 9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tângulo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Conector reto 11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Elipse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Elipse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20" name="Espaço Reservado para Conteúdo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6" name="Espaço Reservado para Número de Slide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AD12C774-A1AC-415E-B643-6272CA5448AA}" type="slidenum">
              <a:rPr lang="pt-BR"/>
              <a:pPr>
                <a:defRPr/>
              </a:pPr>
              <a:t>‹#›</a:t>
            </a:fld>
            <a:endParaRPr lang="pt-BR"/>
          </a:p>
        </p:txBody>
      </p:sp>
      <p:sp>
        <p:nvSpPr>
          <p:cNvPr id="17" name="Espaço Reservado para Data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B4D161-EE36-4EB6-A1D8-1D555DDA506A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18" name="Espaço Reservado para Rodapé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38296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ector reto 4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tângulo 5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tângulo 6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auto"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tângulo 10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tângulo 11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Elipse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Elipse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16" name="Espaço Reservado para Número de Slide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86E9A-ADF8-42C5-9BD3-45286E741C3C}" type="slidenum">
              <a:rPr lang="pt-BR"/>
              <a:pPr>
                <a:defRPr/>
              </a:pPr>
              <a:t>‹#›</a:t>
            </a:fld>
            <a:endParaRPr lang="pt-BR"/>
          </a:p>
        </p:txBody>
      </p:sp>
      <p:sp>
        <p:nvSpPr>
          <p:cNvPr id="17" name="Espaço Reservado para Data 4"/>
          <p:cNvSpPr>
            <a:spLocks noGrp="1"/>
          </p:cNvSpPr>
          <p:nvPr>
            <p:ph type="dt" sz="half" idx="11"/>
          </p:nvPr>
        </p:nvSpPr>
        <p:spPr>
          <a:xfrm>
            <a:off x="5788025" y="6405563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4F7E7A-96C7-4861-A0AC-0CCB128A94C0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18" name="Espaço Reservado para Rodapé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584575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7C0332-F9CE-418D-9817-895C1BEBA6F7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C179D-FF6D-4DC6-9315-9AE77C49A7D7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tângulo 4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tângulo 5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tângulo 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 rot="5400000">
            <a:off x="4021137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Elipse 10"/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Elipse 11"/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13" name="Espaço Reservado para Número de Slide 5"/>
          <p:cNvSpPr>
            <a:spLocks noGrp="1"/>
          </p:cNvSpPr>
          <p:nvPr>
            <p:ph type="sldNum" sz="quarter" idx="10"/>
          </p:nvPr>
        </p:nvSpPr>
        <p:spPr>
          <a:xfrm>
            <a:off x="6915150" y="3009900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520A9A-95AB-47CB-9CBD-46F6CE23FFBB}" type="slidenum">
              <a:rPr lang="pt-BR"/>
              <a:pPr>
                <a:defRPr/>
              </a:pPr>
              <a:t>‹#›</a:t>
            </a:fld>
            <a:endParaRPr lang="pt-BR"/>
          </a:p>
        </p:txBody>
      </p:sp>
      <p:sp>
        <p:nvSpPr>
          <p:cNvPr id="14" name="Espaço Reservado para Data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B5A07C-ACCA-4F00-939C-EE908DDFF7E9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15" name="Espaço Reservado para Rodapé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F5021D-5ABF-4E60-9129-AAE3EFFFC531}" type="datetimeFigureOut">
              <a:rPr lang="pt-BR" smtClean="0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C31E13-7229-42FA-98F6-EF95A15C6AAF}" type="slidenum">
              <a:rPr lang="pt-BR" smtClean="0"/>
              <a:pPr>
                <a:defRPr/>
              </a:pPr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47FA38-1685-459A-A1B3-D6571BB77726}" type="datetimeFigureOut">
              <a:rPr lang="pt-BR" smtClean="0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23F76A-A590-4915-B8A9-2C0B96661D1B}" type="slidenum">
              <a:rPr lang="pt-BR" smtClean="0"/>
              <a:pPr>
                <a:defRPr/>
              </a:pPr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D0CB5A-37BB-4ED8-B361-5CAC0BD0C13A}" type="datetimeFigureOut">
              <a:rPr lang="pt-BR" smtClean="0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AE79A5-E7BA-4702-A608-3D31A10FEFE0}" type="slidenum">
              <a:rPr lang="pt-BR" smtClean="0"/>
              <a:pPr>
                <a:defRPr/>
              </a:pPr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D99DD7-6707-4ACC-AED1-8F486279367B}" type="datetimeFigureOut">
              <a:rPr lang="pt-BR" smtClean="0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E30197-BF86-4E4D-AE3D-39D053272DC2}" type="slidenum">
              <a:rPr lang="pt-BR" smtClean="0"/>
              <a:pPr>
                <a:defRPr/>
              </a:pPr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905619-9B8A-4C34-B687-D0322017D147}" type="datetimeFigureOut">
              <a:rPr lang="pt-BR" smtClean="0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2C6647-12E7-4A27-BFC1-AA4403040EDC}" type="slidenum">
              <a:rPr lang="pt-BR" smtClean="0"/>
              <a:pPr>
                <a:defRPr/>
              </a:pPr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94297-20C6-42E2-A993-823DC7975F3E}" type="datetimeFigureOut">
              <a:rPr lang="pt-BR" smtClean="0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E9FD29-02A5-4DAB-8176-613555DA7C1C}" type="slidenum">
              <a:rPr lang="pt-BR" smtClean="0"/>
              <a:pPr>
                <a:defRPr/>
              </a:pPr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6D6E96-A19E-4AB3-9BAD-C10B4BD50732}" type="datetimeFigureOut">
              <a:rPr lang="pt-BR" smtClean="0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3B3FEA-8E4F-4860-9139-A73AA389A55C}" type="slidenum">
              <a:rPr lang="pt-BR" smtClean="0"/>
              <a:pPr>
                <a:defRPr/>
              </a:pPr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B4D161-EE36-4EB6-A1D8-1D555DDA506A}" type="datetimeFigureOut">
              <a:rPr lang="pt-BR" smtClean="0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12C774-A1AC-415E-B643-6272CA5448AA}" type="slidenum">
              <a:rPr lang="pt-BR" smtClean="0"/>
              <a:pPr>
                <a:defRPr/>
              </a:pPr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4F7E7A-96C7-4861-A0AC-0CCB128A94C0}" type="datetimeFigureOut">
              <a:rPr lang="pt-BR" smtClean="0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386E9A-ADF8-42C5-9BD3-45286E741C3C}" type="slidenum">
              <a:rPr lang="pt-BR" smtClean="0"/>
              <a:pPr>
                <a:defRPr/>
              </a:pPr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7C0332-F9CE-418D-9817-895C1BEBA6F7}" type="datetimeFigureOut">
              <a:rPr lang="pt-BR" smtClean="0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9C179D-FF6D-4DC6-9315-9AE77C49A7D7}" type="slidenum">
              <a:rPr lang="pt-BR" smtClean="0"/>
              <a:pPr>
                <a:defRPr/>
              </a:pPr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B5A07C-ACCA-4F00-939C-EE908DDFF7E9}" type="datetimeFigureOut">
              <a:rPr lang="pt-BR" smtClean="0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520A9A-95AB-47CB-9CBD-46F6CE23FFBB}" type="slidenum">
              <a:rPr lang="pt-BR" smtClean="0"/>
              <a:pPr>
                <a:defRPr/>
              </a:pPr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51BF01C-2F55-4037-9E63-1CAEB9C67307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152400" y="1276350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Elipse 11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Elipse 14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ACE17BB-1C05-4CAC-A360-E1595A6B7B57}" type="slidenum">
              <a:rPr lang="pt-BR"/>
              <a:pPr>
                <a:defRPr/>
              </a:pPr>
              <a:t>‹#›</a:t>
            </a:fld>
            <a:endParaRPr lang="pt-BR"/>
          </a:p>
        </p:txBody>
      </p:sp>
      <p:sp>
        <p:nvSpPr>
          <p:cNvPr id="1038" name="Espaço Reservado para Título 21"/>
          <p:cNvSpPr>
            <a:spLocks noGrp="1"/>
          </p:cNvSpPr>
          <p:nvPr>
            <p:ph type="title"/>
          </p:nvPr>
        </p:nvSpPr>
        <p:spPr bwMode="auto">
          <a:xfrm>
            <a:off x="301625" y="228600"/>
            <a:ext cx="8534400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1039" name="Espaço Reservado para Texto 12"/>
          <p:cNvSpPr>
            <a:spLocks noGrp="1"/>
          </p:cNvSpPr>
          <p:nvPr>
            <p:ph type="body" idx="1"/>
          </p:nvPr>
        </p:nvSpPr>
        <p:spPr bwMode="auto">
          <a:xfrm>
            <a:off x="301625" y="1524000"/>
            <a:ext cx="8534400" cy="459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38" r:id="rId3"/>
    <p:sldLayoutId id="2147484639" r:id="rId4"/>
    <p:sldLayoutId id="2147484640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rgbClr val="7B98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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ct val="20000"/>
        </a:spcBef>
        <a:spcAft>
          <a:spcPct val="0"/>
        </a:spcAft>
        <a:buClr>
          <a:srgbClr val="8CADAE"/>
        </a:buClr>
        <a:buSzPct val="75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ct val="20000"/>
        </a:spcBef>
        <a:spcAft>
          <a:spcPct val="0"/>
        </a:spcAft>
        <a:buClr>
          <a:srgbClr val="8C7B70"/>
        </a:buClr>
        <a:buSzPct val="7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8FB08C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51BF01C-2F55-4037-9E63-1CAEB9C67307}" type="datetimeFigureOut">
              <a:rPr lang="pt-BR" smtClean="0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ACE17BB-1C05-4CAC-A360-E1595A6B7B57}" type="slidenum">
              <a:rPr lang="pt-BR" smtClean="0"/>
              <a:pPr>
                <a:defRPr/>
              </a:pPr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20" r:id="rId1"/>
    <p:sldLayoutId id="2147484721" r:id="rId2"/>
    <p:sldLayoutId id="2147484722" r:id="rId3"/>
    <p:sldLayoutId id="2147484723" r:id="rId4"/>
    <p:sldLayoutId id="2147484724" r:id="rId5"/>
    <p:sldLayoutId id="2147484725" r:id="rId6"/>
    <p:sldLayoutId id="2147484726" r:id="rId7"/>
    <p:sldLayoutId id="2147484727" r:id="rId8"/>
    <p:sldLayoutId id="2147484728" r:id="rId9"/>
    <p:sldLayoutId id="2147484729" r:id="rId10"/>
    <p:sldLayoutId id="214748473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exlab.ufsc.br:8080/more/index.jsp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METODOLOGIA CIENTÍFICA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01752" y="1844824"/>
            <a:ext cx="8503920" cy="4254224"/>
          </a:xfrm>
        </p:spPr>
        <p:txBody>
          <a:bodyPr/>
          <a:lstStyle/>
          <a:p>
            <a:pPr algn="ctr">
              <a:buNone/>
            </a:pPr>
            <a:r>
              <a:rPr lang="pt-BR" sz="4800" b="1" dirty="0">
                <a:solidFill>
                  <a:schemeClr val="accent3">
                    <a:lumMod val="50000"/>
                  </a:schemeClr>
                </a:solidFill>
              </a:rPr>
              <a:t>Técnicas de redação e formatação </a:t>
            </a:r>
          </a:p>
          <a:p>
            <a:pPr algn="ctr">
              <a:buNone/>
            </a:pPr>
            <a:r>
              <a:rPr lang="pt-BR" sz="4800" b="1" dirty="0">
                <a:solidFill>
                  <a:schemeClr val="accent3">
                    <a:lumMod val="50000"/>
                  </a:schemeClr>
                </a:solidFill>
              </a:rPr>
              <a:t>de trabalhos acadêmicos</a:t>
            </a:r>
          </a:p>
          <a:p>
            <a:pPr algn="ctr">
              <a:buNone/>
            </a:pPr>
            <a:endParaRPr lang="pt-BR" sz="4800" b="1" dirty="0"/>
          </a:p>
          <a:p>
            <a:pPr algn="ctr">
              <a:buNone/>
            </a:pPr>
            <a:r>
              <a:rPr lang="pt-BR" sz="4000" b="1" dirty="0" err="1"/>
              <a:t>Profª</a:t>
            </a:r>
            <a:r>
              <a:rPr lang="pt-BR" sz="4000" b="1" dirty="0"/>
              <a:t>. Drª. </a:t>
            </a:r>
            <a:r>
              <a:rPr lang="pt-BR" sz="4000" b="1"/>
              <a:t>Sabrina</a:t>
            </a:r>
            <a:endParaRPr lang="pt-BR" sz="4000" b="1" dirty="0"/>
          </a:p>
          <a:p>
            <a:pPr algn="ctr">
              <a:buNone/>
            </a:pPr>
            <a:r>
              <a:rPr lang="pt-BR" sz="48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endParaRPr lang="pt-BR" sz="4800" dirty="0">
              <a:solidFill>
                <a:schemeClr val="accent3">
                  <a:lumMod val="50000"/>
                </a:schemeClr>
              </a:solidFill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aixaDeTexto 5"/>
          <p:cNvSpPr txBox="1">
            <a:spLocks noChangeArrowheads="1"/>
          </p:cNvSpPr>
          <p:nvPr/>
        </p:nvSpPr>
        <p:spPr bwMode="auto">
          <a:xfrm>
            <a:off x="468313" y="2060575"/>
            <a:ext cx="59753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>
                <a:latin typeface="Tahoma" pitchFamily="34" charset="0"/>
                <a:cs typeface="Tahoma" pitchFamily="34" charset="0"/>
              </a:rPr>
              <a:t>NORMAS DA ABNT RELEVANTES PARA A ELABORAÇÃO DO TRABALHO CIENTÍFICO: </a:t>
            </a:r>
          </a:p>
        </p:txBody>
      </p:sp>
      <p:pic>
        <p:nvPicPr>
          <p:cNvPr id="13315" name="Picture 5" descr="http://gssblog.files.wordpress.com/2011/02/o-que-c3a9-abnt-colec3a7c3a3o-e-pra-que-serv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6325" y="188913"/>
            <a:ext cx="26733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6" name="CaixaDeTexto 4"/>
          <p:cNvSpPr txBox="1">
            <a:spLocks noChangeArrowheads="1"/>
          </p:cNvSpPr>
          <p:nvPr/>
        </p:nvSpPr>
        <p:spPr bwMode="auto">
          <a:xfrm>
            <a:off x="827088" y="3716338"/>
            <a:ext cx="7632700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/>
              <a:t>NBR 14724</a:t>
            </a:r>
            <a:r>
              <a:rPr lang="pt-BR" sz="2400"/>
              <a:t>, que trata do trabalho acadêmico;</a:t>
            </a:r>
          </a:p>
          <a:p>
            <a:endParaRPr lang="pt-BR" sz="2400"/>
          </a:p>
          <a:p>
            <a:r>
              <a:rPr lang="pt-BR" sz="2400" b="1"/>
              <a:t>NBR 10520</a:t>
            </a:r>
            <a:r>
              <a:rPr lang="pt-BR" sz="2400"/>
              <a:t>, que cuida de citações em documentos;</a:t>
            </a:r>
          </a:p>
          <a:p>
            <a:r>
              <a:rPr lang="pt-BR" sz="2400"/>
              <a:t> </a:t>
            </a:r>
          </a:p>
          <a:p>
            <a:r>
              <a:rPr lang="pt-BR" sz="2400" b="1"/>
              <a:t>NBR 6023</a:t>
            </a:r>
            <a:r>
              <a:rPr lang="pt-BR" sz="2400"/>
              <a:t>, que normatiza a apresentação de referências bibliográficas.</a:t>
            </a:r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Conteúdo 7"/>
          <p:cNvSpPr>
            <a:spLocks noGrp="1"/>
          </p:cNvSpPr>
          <p:nvPr>
            <p:ph sz="quarter" idx="4294967295"/>
          </p:nvPr>
        </p:nvSpPr>
        <p:spPr>
          <a:xfrm>
            <a:off x="179512" y="836613"/>
            <a:ext cx="8713663" cy="5400675"/>
          </a:xfrm>
        </p:spPr>
        <p:txBody>
          <a:bodyPr/>
          <a:lstStyle/>
          <a:p>
            <a:pPr eaLnBrk="1" hangingPunct="1">
              <a:spcBef>
                <a:spcPts val="0"/>
              </a:spcBef>
              <a:buFont typeface="Wingdings 2" pitchFamily="18" charset="2"/>
              <a:buNone/>
            </a:pPr>
            <a:r>
              <a:rPr lang="pt-BR" sz="2400" b="1" u="sng" dirty="0">
                <a:latin typeface="Arial" charset="0"/>
                <a:cs typeface="Arial" charset="0"/>
              </a:rPr>
              <a:t>Parágrafo</a:t>
            </a:r>
            <a:r>
              <a:rPr lang="pt-BR" sz="2400" b="1" dirty="0">
                <a:latin typeface="Arial" charset="0"/>
                <a:cs typeface="Arial" charset="0"/>
              </a:rPr>
              <a:t>: </a:t>
            </a:r>
            <a:endParaRPr lang="pt-BR" sz="2400" dirty="0">
              <a:latin typeface="Arial" charset="0"/>
              <a:cs typeface="Arial" charset="0"/>
            </a:endParaRPr>
          </a:p>
          <a:p>
            <a:pPr eaLnBrk="1" hangingPunct="1">
              <a:spcBef>
                <a:spcPts val="0"/>
              </a:spcBef>
            </a:pPr>
            <a:r>
              <a:rPr lang="pt-BR" sz="2400" dirty="0">
                <a:latin typeface="Arial" charset="0"/>
                <a:cs typeface="Arial" charset="0"/>
              </a:rPr>
              <a:t>Alinhamento geral: justificado</a:t>
            </a:r>
          </a:p>
          <a:p>
            <a:pPr eaLnBrk="1" hangingPunct="1">
              <a:spcBef>
                <a:spcPts val="0"/>
              </a:spcBef>
            </a:pPr>
            <a:r>
              <a:rPr lang="pt-BR" sz="2400" dirty="0">
                <a:latin typeface="Arial" charset="0"/>
                <a:cs typeface="Arial" charset="0"/>
              </a:rPr>
              <a:t>Recuo: especial, primeira linha, 1,25 cm</a:t>
            </a:r>
          </a:p>
          <a:p>
            <a:pPr eaLnBrk="1" hangingPunct="1">
              <a:spcBef>
                <a:spcPts val="0"/>
              </a:spcBef>
            </a:pPr>
            <a:r>
              <a:rPr lang="pt-BR" sz="2400" dirty="0">
                <a:latin typeface="Arial" charset="0"/>
                <a:cs typeface="Arial" charset="0"/>
              </a:rPr>
              <a:t>Espaçamento entre linhas: 1,5</a:t>
            </a:r>
          </a:p>
          <a:p>
            <a:pPr eaLnBrk="1" hangingPunct="1">
              <a:spcBef>
                <a:spcPts val="0"/>
              </a:spcBef>
              <a:buFont typeface="Wingdings 2" pitchFamily="18" charset="2"/>
              <a:buNone/>
            </a:pPr>
            <a:endParaRPr lang="pt-BR" sz="2400" b="1" u="sng" dirty="0">
              <a:latin typeface="Arial" charset="0"/>
              <a:cs typeface="Arial" charset="0"/>
            </a:endParaRPr>
          </a:p>
          <a:p>
            <a:pPr eaLnBrk="1" hangingPunct="1">
              <a:spcBef>
                <a:spcPts val="0"/>
              </a:spcBef>
              <a:buFont typeface="Wingdings 2" pitchFamily="18" charset="2"/>
              <a:buNone/>
            </a:pPr>
            <a:r>
              <a:rPr lang="pt-BR" sz="2400" b="1" u="sng" dirty="0">
                <a:latin typeface="Arial" charset="0"/>
                <a:cs typeface="Arial" charset="0"/>
              </a:rPr>
              <a:t>Fonte:  </a:t>
            </a:r>
            <a:r>
              <a:rPr lang="pt-BR" sz="2400" dirty="0">
                <a:latin typeface="Arial" charset="0"/>
                <a:cs typeface="Arial" charset="0"/>
              </a:rPr>
              <a:t>Times New Roman/ Arial Tamanho: 12</a:t>
            </a:r>
          </a:p>
          <a:p>
            <a:pPr marL="95250" lvl="1" indent="0" algn="just" eaLnBrk="1" hangingPunct="1">
              <a:spcBef>
                <a:spcPts val="0"/>
              </a:spcBef>
            </a:pP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rial" charset="0"/>
                <a:cs typeface="Arial" charset="0"/>
              </a:rPr>
              <a:t>Exceção: Paginação, fonte das ilustrações, rodapé e citações com mais de três linhas (letra 10)</a:t>
            </a:r>
          </a:p>
          <a:p>
            <a:pPr marL="95250" lvl="1" indent="0" algn="just" eaLnBrk="1" hangingPunct="1">
              <a:spcBef>
                <a:spcPts val="0"/>
              </a:spcBef>
            </a:pPr>
            <a:endParaRPr lang="pt-BR" sz="2400" b="1" u="sng" dirty="0">
              <a:latin typeface="Arial" charset="0"/>
              <a:cs typeface="Arial" charset="0"/>
            </a:endParaRPr>
          </a:p>
          <a:p>
            <a:pPr eaLnBrk="1" hangingPunct="1">
              <a:spcBef>
                <a:spcPts val="0"/>
              </a:spcBef>
              <a:buNone/>
              <a:defRPr/>
            </a:pPr>
            <a:r>
              <a:rPr lang="pt-BR" sz="2400" b="1" u="sng" dirty="0">
                <a:latin typeface="Arial" charset="0"/>
                <a:cs typeface="Arial" charset="0"/>
              </a:rPr>
              <a:t>Papel</a:t>
            </a:r>
            <a:r>
              <a:rPr lang="pt-BR" sz="2400" b="1" dirty="0">
                <a:latin typeface="Arial" charset="0"/>
                <a:cs typeface="Arial" charset="0"/>
              </a:rPr>
              <a:t>:</a:t>
            </a:r>
            <a:r>
              <a:rPr lang="pt-BR" sz="2400" dirty="0">
                <a:latin typeface="Arial" charset="0"/>
                <a:cs typeface="Arial" charset="0"/>
              </a:rPr>
              <a:t> Branco, tamanho A4 (210 x 297 mm), usando-se apenas uma página da folha.</a:t>
            </a:r>
          </a:p>
          <a:p>
            <a:pPr eaLnBrk="1" hangingPunct="1">
              <a:spcBef>
                <a:spcPts val="0"/>
              </a:spcBef>
              <a:buNone/>
              <a:defRPr/>
            </a:pPr>
            <a:endParaRPr lang="pt-BR" sz="2400" b="1" u="sng" dirty="0">
              <a:latin typeface="Arial" charset="0"/>
              <a:cs typeface="Arial" charset="0"/>
            </a:endParaRPr>
          </a:p>
          <a:p>
            <a:pPr eaLnBrk="1" hangingPunct="1">
              <a:spcBef>
                <a:spcPts val="0"/>
              </a:spcBef>
              <a:buNone/>
              <a:defRPr/>
            </a:pPr>
            <a:r>
              <a:rPr lang="pt-BR" sz="2400" b="1" u="sng" dirty="0">
                <a:latin typeface="Arial" charset="0"/>
                <a:cs typeface="Arial" charset="0"/>
              </a:rPr>
              <a:t>Margens</a:t>
            </a:r>
            <a:r>
              <a:rPr lang="pt-BR" sz="2400" dirty="0">
                <a:latin typeface="Arial" charset="0"/>
                <a:cs typeface="Arial" charset="0"/>
              </a:rPr>
              <a:t>: esquerda 3,0 cm; direita 2,0 cm; superior 3,0 cm; inferior 2,0 cm.</a:t>
            </a:r>
          </a:p>
          <a:p>
            <a:pPr eaLnBrk="1" hangingPunct="1">
              <a:spcBef>
                <a:spcPts val="0"/>
              </a:spcBef>
              <a:buNone/>
              <a:defRPr/>
            </a:pPr>
            <a:endParaRPr lang="pt-BR" sz="2400" dirty="0">
              <a:latin typeface="Arial" charset="0"/>
              <a:cs typeface="Arial" charset="0"/>
            </a:endParaRPr>
          </a:p>
          <a:p>
            <a:pPr eaLnBrk="1" hangingPunct="1"/>
            <a:endParaRPr lang="pt-BR" sz="2200" dirty="0">
              <a:latin typeface="Arial" charset="0"/>
              <a:cs typeface="Arial" charset="0"/>
            </a:endParaRPr>
          </a:p>
        </p:txBody>
      </p:sp>
      <p:sp>
        <p:nvSpPr>
          <p:cNvPr id="24579" name="Título 4"/>
          <p:cNvSpPr>
            <a:spLocks noGrp="1"/>
          </p:cNvSpPr>
          <p:nvPr>
            <p:ph type="title" idx="4294967295"/>
          </p:nvPr>
        </p:nvSpPr>
        <p:spPr>
          <a:xfrm>
            <a:off x="323850" y="188913"/>
            <a:ext cx="8534400" cy="758825"/>
          </a:xfrm>
        </p:spPr>
        <p:txBody>
          <a:bodyPr/>
          <a:lstStyle/>
          <a:p>
            <a:pPr eaLnBrk="1" hangingPunct="1"/>
            <a:r>
              <a:rPr lang="pt-BR" b="1" dirty="0">
                <a:latin typeface="Arial" charset="0"/>
                <a:cs typeface="Arial" charset="0"/>
              </a:rPr>
              <a:t>Formatação do texto</a:t>
            </a:r>
          </a:p>
        </p:txBody>
      </p:sp>
      <p:pic>
        <p:nvPicPr>
          <p:cNvPr id="24580" name="Picture 4" descr="E:\TESE DA OLIVIA\UNISANTOS\canet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20272" y="260648"/>
            <a:ext cx="1800002" cy="1800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15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Conteúdo 7"/>
          <p:cNvSpPr>
            <a:spLocks noGrp="1"/>
          </p:cNvSpPr>
          <p:nvPr>
            <p:ph sz="quarter" idx="4294967295"/>
          </p:nvPr>
        </p:nvSpPr>
        <p:spPr>
          <a:xfrm>
            <a:off x="179512" y="980728"/>
            <a:ext cx="8713663" cy="5256560"/>
          </a:xfrm>
        </p:spPr>
        <p:txBody>
          <a:bodyPr/>
          <a:lstStyle/>
          <a:p>
            <a:pPr>
              <a:buNone/>
            </a:pPr>
            <a:r>
              <a:rPr lang="pt-BR" sz="2400" b="1" dirty="0"/>
              <a:t>Das seções:</a:t>
            </a:r>
          </a:p>
          <a:p>
            <a:pPr marL="0" indent="0">
              <a:buFont typeface="Arial" pitchFamily="34" charset="0"/>
              <a:buChar char="•"/>
            </a:pPr>
            <a:r>
              <a:rPr lang="pt-BR" sz="2400" dirty="0"/>
              <a:t> Os títulos das seções devem ser posicionados à esquerda, em negrito, numerados com algarismos arábicos (1, 2, 3 etc.) e sem ponto final. </a:t>
            </a:r>
          </a:p>
          <a:p>
            <a:pPr marL="0" indent="0">
              <a:buNone/>
            </a:pPr>
            <a:endParaRPr lang="pt-BR" sz="2400" dirty="0"/>
          </a:p>
          <a:p>
            <a:pPr>
              <a:buNone/>
            </a:pPr>
            <a:endParaRPr lang="pt-BR" sz="2400" dirty="0"/>
          </a:p>
          <a:p>
            <a:pPr>
              <a:buNone/>
            </a:pPr>
            <a:r>
              <a:rPr lang="pt-BR" sz="2400" b="1" dirty="0"/>
              <a:t>Das notas de rodapé:</a:t>
            </a:r>
            <a:endParaRPr lang="pt-BR" sz="2400" dirty="0"/>
          </a:p>
          <a:p>
            <a:pPr lvl="0"/>
            <a:r>
              <a:rPr lang="pt-BR" sz="2400" dirty="0"/>
              <a:t>Tamanho da fonte (letra): 10</a:t>
            </a:r>
          </a:p>
          <a:p>
            <a:pPr lvl="0"/>
            <a:r>
              <a:rPr lang="pt-BR" sz="2400" dirty="0"/>
              <a:t>Espaçamento: simples</a:t>
            </a:r>
          </a:p>
          <a:p>
            <a:pPr lvl="0"/>
            <a:r>
              <a:rPr lang="pt-BR" sz="2400" dirty="0"/>
              <a:t>Numeração: automática, pelo computador</a:t>
            </a:r>
          </a:p>
          <a:p>
            <a:pPr lvl="0"/>
            <a:r>
              <a:rPr lang="pt-BR" sz="2400" dirty="0"/>
              <a:t>Posicionamento: devem ficar na mesma página da referência </a:t>
            </a:r>
          </a:p>
          <a:p>
            <a:pPr eaLnBrk="1" hangingPunct="1"/>
            <a:endParaRPr lang="pt-BR" sz="2200" dirty="0">
              <a:latin typeface="Arial" charset="0"/>
              <a:cs typeface="Arial" charset="0"/>
            </a:endParaRPr>
          </a:p>
        </p:txBody>
      </p:sp>
      <p:sp>
        <p:nvSpPr>
          <p:cNvPr id="24579" name="Título 4"/>
          <p:cNvSpPr>
            <a:spLocks noGrp="1"/>
          </p:cNvSpPr>
          <p:nvPr>
            <p:ph type="title" idx="4294967295"/>
          </p:nvPr>
        </p:nvSpPr>
        <p:spPr>
          <a:xfrm>
            <a:off x="323850" y="188913"/>
            <a:ext cx="8534400" cy="758825"/>
          </a:xfrm>
        </p:spPr>
        <p:txBody>
          <a:bodyPr/>
          <a:lstStyle/>
          <a:p>
            <a:pPr eaLnBrk="1" hangingPunct="1"/>
            <a:r>
              <a:rPr lang="pt-BR" b="1" dirty="0">
                <a:latin typeface="Arial" charset="0"/>
                <a:cs typeface="Arial" charset="0"/>
              </a:rPr>
              <a:t>Formatação</a:t>
            </a:r>
          </a:p>
        </p:txBody>
      </p:sp>
      <p:pic>
        <p:nvPicPr>
          <p:cNvPr id="24580" name="Picture 4" descr="E:\TESE DA OLIVIA\UNISANTOS\canet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32240" y="3140968"/>
            <a:ext cx="1800002" cy="1800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solidFill>
            <a:srgbClr val="EB071D"/>
          </a:solidFill>
        </p:spPr>
        <p:txBody>
          <a:bodyPr/>
          <a:lstStyle/>
          <a:p>
            <a:pPr marL="0" lvl="8" eaLnBrk="0" hangingPunct="0">
              <a:defRPr/>
            </a:pPr>
            <a:r>
              <a:rPr lang="pt-BR" sz="6600" b="1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Jamais reproduza um texto sem colocar a fonte! </a:t>
            </a:r>
            <a:br>
              <a:rPr lang="pt-BR" sz="2400" b="1" dirty="0">
                <a:latin typeface="Tahoma" pitchFamily="34" charset="0"/>
                <a:cs typeface="Tahoma" pitchFamily="34" charset="0"/>
              </a:rPr>
            </a:br>
            <a:endParaRPr lang="pt-BR" sz="2800" dirty="0">
              <a:solidFill>
                <a:schemeClr val="bg1"/>
              </a:solidFill>
            </a:endParaRPr>
          </a:p>
        </p:txBody>
      </p:sp>
      <p:pic>
        <p:nvPicPr>
          <p:cNvPr id="4" name="Imagem 3" descr="alert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63888" y="260648"/>
            <a:ext cx="2286000" cy="200025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solidFill>
            <a:srgbClr val="EB071D"/>
          </a:solidFill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O material que lemos deve ser referenciado:</a:t>
            </a:r>
            <a:br>
              <a:rPr lang="pt-BR" sz="4400" dirty="0"/>
            </a:br>
            <a:r>
              <a:rPr lang="pt-BR" sz="4400" i="1" dirty="0"/>
              <a:t> No próprio texto, e </a:t>
            </a:r>
            <a:br>
              <a:rPr lang="pt-BR" sz="4400" dirty="0"/>
            </a:br>
            <a:r>
              <a:rPr lang="pt-BR" sz="4400" i="1" dirty="0"/>
              <a:t>Nas referências bibliográficas. </a:t>
            </a:r>
            <a:br>
              <a:rPr lang="pt-BR" sz="4400" dirty="0"/>
            </a:br>
            <a:endParaRPr lang="pt-BR" sz="8800" dirty="0">
              <a:solidFill>
                <a:schemeClr val="bg1"/>
              </a:solidFill>
            </a:endParaRPr>
          </a:p>
        </p:txBody>
      </p:sp>
      <p:pic>
        <p:nvPicPr>
          <p:cNvPr id="4" name="Imagem 3" descr="alert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63888" y="260648"/>
            <a:ext cx="2286000" cy="200025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424366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aixaDeTexto 5"/>
          <p:cNvSpPr txBox="1">
            <a:spLocks noChangeArrowheads="1"/>
          </p:cNvSpPr>
          <p:nvPr/>
        </p:nvSpPr>
        <p:spPr bwMode="auto">
          <a:xfrm>
            <a:off x="285750" y="2000250"/>
            <a:ext cx="85725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3600" b="1" dirty="0">
                <a:solidFill>
                  <a:srgbClr val="C00000"/>
                </a:solidFill>
                <a:latin typeface="Berlin Sans FB Demi" pitchFamily="34" charset="0"/>
              </a:rPr>
              <a:t>COMO INDICAR A FONTE NO TEXTO?</a:t>
            </a:r>
            <a:endParaRPr lang="pt-BR" dirty="0"/>
          </a:p>
        </p:txBody>
      </p:sp>
      <p:pic>
        <p:nvPicPr>
          <p:cNvPr id="21507" name="Imagem 3" descr="ft_203-bolsa_do_cafe_1925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00500" y="3786188"/>
            <a:ext cx="1162050" cy="121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4" descr="http://www.confissoesaesmo.com/wp-content/uploads/2011/02/aspa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4388" y="188913"/>
            <a:ext cx="1763712" cy="96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4" name="CaixaDeTexto 4"/>
          <p:cNvSpPr txBox="1">
            <a:spLocks noChangeArrowheads="1"/>
          </p:cNvSpPr>
          <p:nvPr/>
        </p:nvSpPr>
        <p:spPr bwMode="auto">
          <a:xfrm>
            <a:off x="285750" y="500063"/>
            <a:ext cx="8497888" cy="630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  <a:latin typeface="Tahoma" pitchFamily="34" charset="0"/>
                <a:cs typeface="Tahoma" pitchFamily="34" charset="0"/>
              </a:rPr>
              <a:t>Sistema numérico</a:t>
            </a:r>
            <a:endParaRPr lang="pt-BR" sz="2800" dirty="0">
              <a:solidFill>
                <a:srgbClr val="C00000"/>
              </a:solidFill>
              <a:latin typeface="Tahoma" pitchFamily="34" charset="0"/>
              <a:cs typeface="Tahoma" pitchFamily="34" charset="0"/>
            </a:endParaRPr>
          </a:p>
          <a:p>
            <a:endParaRPr lang="pt-BR" sz="2000" dirty="0">
              <a:latin typeface="Tahoma" pitchFamily="34" charset="0"/>
              <a:cs typeface="Tahoma" pitchFamily="34" charset="0"/>
            </a:endParaRPr>
          </a:p>
          <a:p>
            <a:endParaRPr lang="pt-BR" sz="2000" dirty="0">
              <a:latin typeface="Tahoma" pitchFamily="34" charset="0"/>
              <a:cs typeface="Tahoma" pitchFamily="34" charset="0"/>
            </a:endParaRP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Coloca-se a referência bibliográfica completa na nota de rodapé</a:t>
            </a:r>
          </a:p>
          <a:p>
            <a:endParaRPr lang="pt-BR" sz="2000" b="1" dirty="0">
              <a:latin typeface="Tahoma" pitchFamily="34" charset="0"/>
              <a:cs typeface="Tahoma" pitchFamily="34" charset="0"/>
            </a:endParaRPr>
          </a:p>
          <a:p>
            <a:endParaRPr lang="pt-BR" sz="2000" b="1" dirty="0">
              <a:latin typeface="Tahoma" pitchFamily="34" charset="0"/>
              <a:cs typeface="Tahoma" pitchFamily="34" charset="0"/>
            </a:endParaRPr>
          </a:p>
          <a:p>
            <a:r>
              <a:rPr lang="pt-BR" sz="2400" b="1" dirty="0">
                <a:latin typeface="Tahoma" pitchFamily="34" charset="0"/>
                <a:cs typeface="Tahoma" pitchFamily="34" charset="0"/>
              </a:rPr>
              <a:t>Exemplo: </a:t>
            </a:r>
            <a:endParaRPr lang="pt-BR" sz="2400" dirty="0">
              <a:latin typeface="Tahoma" pitchFamily="34" charset="0"/>
              <a:cs typeface="Tahoma" pitchFamily="34" charset="0"/>
            </a:endParaRPr>
          </a:p>
          <a:p>
            <a:endParaRPr lang="pt-BR" sz="2000" dirty="0">
              <a:latin typeface="Tahoma" pitchFamily="34" charset="0"/>
              <a:cs typeface="Tahoma" pitchFamily="34" charset="0"/>
            </a:endParaRP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Leite observa que:</a:t>
            </a: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 </a:t>
            </a:r>
          </a:p>
          <a:p>
            <a:pPr indent="450850" algn="just"/>
            <a:r>
              <a:rPr lang="pt-BR" sz="2000" dirty="0">
                <a:latin typeface="Tahoma" pitchFamily="34" charset="0"/>
                <a:cs typeface="Tahoma" pitchFamily="34" charset="0"/>
              </a:rPr>
              <a:t>Infelizmente essas inovações não conseguiram resolver a questão principal: encontrar soluções que pudessem promover a escolaridade, a profissionalização e a inserção social desses milhares de jovens brasileiros que permanecem excluídos.¹</a:t>
            </a:r>
          </a:p>
          <a:p>
            <a:endParaRPr lang="pt-BR" sz="2000" dirty="0">
              <a:latin typeface="Tahoma" pitchFamily="34" charset="0"/>
              <a:cs typeface="Tahoma" pitchFamily="34" charset="0"/>
            </a:endParaRP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_________________________________</a:t>
            </a:r>
          </a:p>
          <a:p>
            <a:r>
              <a:rPr lang="pt-BR" sz="1600" dirty="0">
                <a:latin typeface="Tahoma" pitchFamily="34" charset="0"/>
                <a:cs typeface="Tahoma" pitchFamily="34" charset="0"/>
              </a:rPr>
              <a:t>¹ LEITE, Ligia Costa. </a:t>
            </a:r>
            <a:r>
              <a:rPr lang="pt-BR" sz="1600" i="1" dirty="0">
                <a:latin typeface="Tahoma" pitchFamily="34" charset="0"/>
                <a:cs typeface="Tahoma" pitchFamily="34" charset="0"/>
              </a:rPr>
              <a:t>Meninos(as) de rua: </a:t>
            </a:r>
            <a:r>
              <a:rPr lang="pt-BR" sz="1600" dirty="0">
                <a:latin typeface="Tahoma" pitchFamily="34" charset="0"/>
                <a:cs typeface="Tahoma" pitchFamily="34" charset="0"/>
              </a:rPr>
              <a:t>a infância excluída no Brasil. São Paulo: Atual, 2001.p.34</a:t>
            </a: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 </a:t>
            </a: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2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4" descr="http://www.confissoesaesmo.com/wp-content/uploads/2011/02/aspa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4388" y="188913"/>
            <a:ext cx="1763712" cy="96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4" name="CaixaDeTexto 4"/>
          <p:cNvSpPr txBox="1">
            <a:spLocks noChangeArrowheads="1"/>
          </p:cNvSpPr>
          <p:nvPr/>
        </p:nvSpPr>
        <p:spPr bwMode="auto">
          <a:xfrm>
            <a:off x="285750" y="500063"/>
            <a:ext cx="85725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  <a:latin typeface="Tahoma" pitchFamily="34" charset="0"/>
                <a:cs typeface="Tahoma" pitchFamily="34" charset="0"/>
              </a:rPr>
              <a:t>Sistema autor-data</a:t>
            </a:r>
            <a:r>
              <a:rPr lang="pt-BR" sz="2800" dirty="0">
                <a:solidFill>
                  <a:srgbClr val="C00000"/>
                </a:solidFill>
                <a:latin typeface="Tahoma" pitchFamily="34" charset="0"/>
                <a:cs typeface="Tahoma" pitchFamily="34" charset="0"/>
              </a:rPr>
              <a:t> </a:t>
            </a:r>
          </a:p>
          <a:p>
            <a:endParaRPr lang="pt-BR" sz="2000" dirty="0">
              <a:latin typeface="Tahoma" pitchFamily="34" charset="0"/>
              <a:cs typeface="Tahoma" pitchFamily="34" charset="0"/>
            </a:endParaRPr>
          </a:p>
          <a:p>
            <a:endParaRPr lang="pt-BR" sz="2000" dirty="0">
              <a:latin typeface="Tahoma" pitchFamily="34" charset="0"/>
              <a:cs typeface="Tahoma" pitchFamily="34" charset="0"/>
            </a:endParaRP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Indica-se o autor, seguido do ano da obra e do número da página, </a:t>
            </a: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logo após a citação ou antes dela.</a:t>
            </a:r>
          </a:p>
          <a:p>
            <a:endParaRPr lang="pt-BR" sz="2000" b="1" dirty="0">
              <a:latin typeface="Tahoma" pitchFamily="34" charset="0"/>
              <a:cs typeface="Tahoma" pitchFamily="34" charset="0"/>
            </a:endParaRPr>
          </a:p>
          <a:p>
            <a:endParaRPr lang="pt-BR" sz="2000" b="1" dirty="0">
              <a:latin typeface="Tahoma" pitchFamily="34" charset="0"/>
              <a:cs typeface="Tahoma" pitchFamily="34" charset="0"/>
            </a:endParaRPr>
          </a:p>
          <a:p>
            <a:r>
              <a:rPr lang="pt-BR" sz="2400" b="1" dirty="0">
                <a:latin typeface="Tahoma" pitchFamily="34" charset="0"/>
                <a:cs typeface="Tahoma" pitchFamily="34" charset="0"/>
              </a:rPr>
              <a:t>Exemplo:</a:t>
            </a:r>
            <a:endParaRPr lang="pt-BR" sz="2400" dirty="0">
              <a:latin typeface="Tahoma" pitchFamily="34" charset="0"/>
              <a:cs typeface="Tahoma" pitchFamily="34" charset="0"/>
            </a:endParaRPr>
          </a:p>
          <a:p>
            <a:endParaRPr lang="pt-BR" sz="2000" dirty="0">
              <a:latin typeface="Tahoma" pitchFamily="34" charset="0"/>
              <a:cs typeface="Tahoma" pitchFamily="34" charset="0"/>
            </a:endParaRP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A autora observa que:</a:t>
            </a: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 </a:t>
            </a:r>
          </a:p>
          <a:p>
            <a:pPr indent="450850" algn="just"/>
            <a:r>
              <a:rPr lang="pt-BR" sz="2000" dirty="0">
                <a:latin typeface="Tahoma" pitchFamily="34" charset="0"/>
                <a:cs typeface="Tahoma" pitchFamily="34" charset="0"/>
              </a:rPr>
              <a:t>Infelizmente essas inovações não conseguiram resolver a questão principal: encontrar soluções que pudessem promover a escolaridade, a profissionalização e a inserção social desses milhares de jovens brasileiros que permanecem excluídos. (LEITE, 2001, p.34).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2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CaixaDeTexto 4"/>
          <p:cNvSpPr txBox="1">
            <a:spLocks noChangeArrowheads="1"/>
          </p:cNvSpPr>
          <p:nvPr/>
        </p:nvSpPr>
        <p:spPr bwMode="auto">
          <a:xfrm>
            <a:off x="285750" y="260648"/>
            <a:ext cx="8572500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pt-BR" sz="4000" b="1" dirty="0">
                <a:solidFill>
                  <a:srgbClr val="C00000"/>
                </a:solidFill>
                <a:latin typeface="Tahoma" pitchFamily="34" charset="0"/>
                <a:cs typeface="Tahoma" pitchFamily="34" charset="0"/>
              </a:rPr>
              <a:t>Dicas</a:t>
            </a:r>
          </a:p>
          <a:p>
            <a:pPr algn="ctr">
              <a:buFont typeface="Arial" charset="0"/>
              <a:buChar char="•"/>
            </a:pPr>
            <a:endParaRPr lang="pt-BR" sz="4000" dirty="0">
              <a:solidFill>
                <a:srgbClr val="C00000"/>
              </a:solidFill>
              <a:latin typeface="Tahoma" pitchFamily="34" charset="0"/>
              <a:cs typeface="Tahoma" pitchFamily="34" charset="0"/>
            </a:endParaRPr>
          </a:p>
          <a:p>
            <a:pPr>
              <a:buFont typeface="Arial" charset="0"/>
              <a:buChar char="•"/>
            </a:pPr>
            <a:r>
              <a:rPr lang="pt-BR" sz="2200" dirty="0">
                <a:latin typeface="Tahoma" pitchFamily="34" charset="0"/>
                <a:cs typeface="Tahoma" pitchFamily="34" charset="0"/>
              </a:rPr>
              <a:t>No sistema autor-data, indique o sobrenome do autor (CAIXA ALTA, ano da edição da obra, número da página em que consta a passagem citada). </a:t>
            </a:r>
          </a:p>
          <a:p>
            <a:pPr>
              <a:buFont typeface="Arial" charset="0"/>
              <a:buChar char="•"/>
            </a:pPr>
            <a:endParaRPr lang="pt-BR" sz="2200" dirty="0">
              <a:latin typeface="Tahoma" pitchFamily="34" charset="0"/>
              <a:cs typeface="Tahoma" pitchFamily="34" charset="0"/>
            </a:endParaRPr>
          </a:p>
          <a:p>
            <a:r>
              <a:rPr lang="pt-BR" sz="2200" dirty="0">
                <a:latin typeface="Tahoma" pitchFamily="34" charset="0"/>
                <a:cs typeface="Tahoma" pitchFamily="34" charset="0"/>
              </a:rPr>
              <a:t>Antes do número da página deve aparecer a abreviação </a:t>
            </a:r>
            <a:r>
              <a:rPr lang="pt-BR" sz="2200" i="1" dirty="0">
                <a:latin typeface="Tahoma" pitchFamily="34" charset="0"/>
                <a:cs typeface="Tahoma" pitchFamily="34" charset="0"/>
              </a:rPr>
              <a:t>p</a:t>
            </a:r>
            <a:r>
              <a:rPr lang="pt-BR" sz="2200" dirty="0">
                <a:latin typeface="Tahoma" pitchFamily="34" charset="0"/>
                <a:cs typeface="Tahoma" pitchFamily="34" charset="0"/>
              </a:rPr>
              <a:t>., exemplo: (LEITE, 2001, p.34).</a:t>
            </a:r>
          </a:p>
          <a:p>
            <a:endParaRPr lang="pt-BR" sz="2200" dirty="0">
              <a:latin typeface="Tahoma" pitchFamily="34" charset="0"/>
              <a:cs typeface="Tahoma" pitchFamily="34" charset="0"/>
            </a:endParaRPr>
          </a:p>
          <a:p>
            <a:r>
              <a:rPr lang="pt-BR" sz="2200" dirty="0">
                <a:latin typeface="Tahoma" pitchFamily="34" charset="0"/>
                <a:cs typeface="Tahoma" pitchFamily="34" charset="0"/>
              </a:rPr>
              <a:t>Mas observe o que significam as abreviaturas: </a:t>
            </a:r>
          </a:p>
          <a:p>
            <a:r>
              <a:rPr lang="pt-BR" sz="2200" dirty="0">
                <a:latin typeface="Tahoma" pitchFamily="34" charset="0"/>
                <a:cs typeface="Tahoma" pitchFamily="34" charset="0"/>
              </a:rPr>
              <a:t>	</a:t>
            </a:r>
            <a:r>
              <a:rPr lang="pt-BR" sz="2000" b="1" dirty="0">
                <a:latin typeface="Tahoma" pitchFamily="34" charset="0"/>
                <a:cs typeface="Tahoma" pitchFamily="34" charset="0"/>
              </a:rPr>
              <a:t>p. ou pág. (página)</a:t>
            </a:r>
            <a:br>
              <a:rPr lang="pt-BR" sz="2000" b="1" dirty="0">
                <a:latin typeface="Tahoma" pitchFamily="34" charset="0"/>
                <a:cs typeface="Tahoma" pitchFamily="34" charset="0"/>
              </a:rPr>
            </a:br>
            <a:r>
              <a:rPr lang="pt-BR" sz="2000" b="1" dirty="0">
                <a:latin typeface="Tahoma" pitchFamily="34" charset="0"/>
                <a:cs typeface="Tahoma" pitchFamily="34" charset="0"/>
              </a:rPr>
              <a:t>	pp. ou </a:t>
            </a:r>
            <a:r>
              <a:rPr lang="pt-BR" sz="2000" b="1" dirty="0" err="1">
                <a:latin typeface="Tahoma" pitchFamily="34" charset="0"/>
                <a:cs typeface="Tahoma" pitchFamily="34" charset="0"/>
              </a:rPr>
              <a:t>págs</a:t>
            </a:r>
            <a:r>
              <a:rPr lang="pt-BR" sz="2000" b="1" dirty="0">
                <a:latin typeface="Tahoma" pitchFamily="34" charset="0"/>
                <a:cs typeface="Tahoma" pitchFamily="34" charset="0"/>
              </a:rPr>
              <a:t>. (páginas)</a:t>
            </a:r>
          </a:p>
          <a:p>
            <a:r>
              <a:rPr lang="pt-BR" sz="2000" b="1" dirty="0">
                <a:latin typeface="Tahoma" pitchFamily="34" charset="0"/>
                <a:cs typeface="Tahoma" pitchFamily="34" charset="0"/>
              </a:rPr>
              <a:t>	pg. (pago)</a:t>
            </a:r>
          </a:p>
          <a:p>
            <a:endParaRPr lang="pt-BR" sz="2200" dirty="0">
              <a:latin typeface="Tahoma" pitchFamily="34" charset="0"/>
              <a:cs typeface="Tahoma" pitchFamily="34" charset="0"/>
            </a:endParaRPr>
          </a:p>
          <a:p>
            <a:pPr>
              <a:buFont typeface="Arial" charset="0"/>
              <a:buChar char="•"/>
            </a:pPr>
            <a:r>
              <a:rPr lang="pt-BR" sz="2200" dirty="0">
                <a:latin typeface="Tahoma" pitchFamily="34" charset="0"/>
                <a:cs typeface="Tahoma" pitchFamily="34" charset="0"/>
              </a:rPr>
              <a:t> Citação em mais de uma página: indicar as páginas de início e de término. Ex.: 214, 215.</a:t>
            </a:r>
            <a:r>
              <a:rPr lang="pt-BR" sz="2200" b="1" dirty="0">
                <a:latin typeface="Tahoma" pitchFamily="34" charset="0"/>
                <a:cs typeface="Tahoma" pitchFamily="34" charset="0"/>
              </a:rPr>
              <a:t> </a:t>
            </a:r>
            <a:endParaRPr lang="pt-BR" sz="2200" dirty="0">
              <a:latin typeface="Tahoma" pitchFamily="34" charset="0"/>
              <a:cs typeface="Tahoma" pitchFamily="34" charset="0"/>
            </a:endParaRPr>
          </a:p>
        </p:txBody>
      </p:sp>
      <p:pic>
        <p:nvPicPr>
          <p:cNvPr id="3" name="Picture 5" descr="F:\unip\bibliotec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76256" y="188913"/>
            <a:ext cx="2024857" cy="1359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 fill="hold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http://4.bp.blogspot.com/_zNPamIsFEE0/SUrqOU3uNuI/AAAAAAAAAFE/P3tE5fXhPBY/s320/aspas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850" y="188913"/>
            <a:ext cx="30480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1" name="Título 1"/>
          <p:cNvSpPr>
            <a:spLocks noGrp="1"/>
          </p:cNvSpPr>
          <p:nvPr>
            <p:ph type="title"/>
          </p:nvPr>
        </p:nvSpPr>
        <p:spPr>
          <a:xfrm>
            <a:off x="539750" y="836613"/>
            <a:ext cx="5781675" cy="777875"/>
          </a:xfrm>
        </p:spPr>
        <p:txBody>
          <a:bodyPr>
            <a:normAutofit fontScale="90000"/>
          </a:bodyPr>
          <a:lstStyle/>
          <a:p>
            <a:pPr algn="ctr"/>
            <a:r>
              <a:rPr lang="pt-BR" sz="7200" b="1" dirty="0">
                <a:solidFill>
                  <a:schemeClr val="tx1"/>
                </a:solidFill>
                <a:latin typeface="Book Antiqua" pitchFamily="18" charset="0"/>
              </a:rPr>
              <a:t>CITAÇÕES</a:t>
            </a:r>
          </a:p>
        </p:txBody>
      </p:sp>
      <p:sp>
        <p:nvSpPr>
          <p:cNvPr id="10244" name="CaixaDeTexto 4"/>
          <p:cNvSpPr txBox="1">
            <a:spLocks noChangeArrowheads="1"/>
          </p:cNvSpPr>
          <p:nvPr/>
        </p:nvSpPr>
        <p:spPr bwMode="auto">
          <a:xfrm>
            <a:off x="250825" y="2636912"/>
            <a:ext cx="8497888" cy="4393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pt-BR" sz="2400" dirty="0">
                <a:latin typeface="Tahoma" pitchFamily="34" charset="0"/>
                <a:cs typeface="Tahoma" pitchFamily="34" charset="0"/>
              </a:rPr>
              <a:t> Sempre coloque a fonte quando não foi você quem escreveu. </a:t>
            </a:r>
          </a:p>
          <a:p>
            <a:pPr>
              <a:buFont typeface="Arial" pitchFamily="34" charset="0"/>
              <a:buChar char="•"/>
              <a:defRPr/>
            </a:pPr>
            <a:endParaRPr lang="pt-BR" sz="2400" dirty="0">
              <a:latin typeface="Tahoma" pitchFamily="34" charset="0"/>
              <a:cs typeface="Tahoma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sz="2400" dirty="0">
                <a:latin typeface="Tahoma" pitchFamily="34" charset="0"/>
                <a:cs typeface="Tahoma" pitchFamily="34" charset="0"/>
              </a:rPr>
              <a:t> Para quem está começando agora: de acordo com...; conforme tal...; segundo o autor </a:t>
            </a:r>
            <a:r>
              <a:rPr lang="pt-BR" sz="2400" i="1" dirty="0">
                <a:latin typeface="Tahoma" pitchFamily="34" charset="0"/>
                <a:cs typeface="Tahoma" pitchFamily="34" charset="0"/>
              </a:rPr>
              <a:t>x</a:t>
            </a:r>
            <a:r>
              <a:rPr lang="pt-BR" sz="2400" dirty="0">
                <a:latin typeface="Tahoma" pitchFamily="34" charset="0"/>
                <a:cs typeface="Tahoma" pitchFamily="34" charset="0"/>
              </a:rPr>
              <a:t>; para </a:t>
            </a:r>
            <a:r>
              <a:rPr lang="pt-BR" sz="2400" dirty="0" err="1">
                <a:latin typeface="Tahoma" pitchFamily="34" charset="0"/>
                <a:cs typeface="Tahoma" pitchFamily="34" charset="0"/>
              </a:rPr>
              <a:t>Mezzaroba</a:t>
            </a:r>
            <a:r>
              <a:rPr lang="pt-BR" sz="2400" dirty="0">
                <a:latin typeface="Tahoma" pitchFamily="34" charset="0"/>
                <a:cs typeface="Tahoma" pitchFamily="34" charset="0"/>
              </a:rPr>
              <a:t>; o autor citado explica que...; </a:t>
            </a:r>
            <a:r>
              <a:rPr lang="pt-BR" sz="2400" i="1" dirty="0">
                <a:latin typeface="Tahoma" pitchFamily="34" charset="0"/>
                <a:cs typeface="Tahoma" pitchFamily="34" charset="0"/>
              </a:rPr>
              <a:t>x</a:t>
            </a:r>
            <a:r>
              <a:rPr lang="pt-BR" sz="2400" dirty="0">
                <a:latin typeface="Tahoma" pitchFamily="34" charset="0"/>
                <a:cs typeface="Tahoma" pitchFamily="34" charset="0"/>
              </a:rPr>
              <a:t> explica que, </a:t>
            </a:r>
            <a:r>
              <a:rPr lang="pt-BR" sz="2400" i="1" dirty="0">
                <a:latin typeface="Tahoma" pitchFamily="34" charset="0"/>
                <a:cs typeface="Tahoma" pitchFamily="34" charset="0"/>
              </a:rPr>
              <a:t>x</a:t>
            </a:r>
            <a:r>
              <a:rPr lang="pt-BR" sz="2400" dirty="0">
                <a:latin typeface="Tahoma" pitchFamily="34" charset="0"/>
                <a:cs typeface="Tahoma" pitchFamily="34" charset="0"/>
              </a:rPr>
              <a:t> ensina que, etc.</a:t>
            </a:r>
          </a:p>
          <a:p>
            <a:pPr>
              <a:defRPr/>
            </a:pPr>
            <a:endParaRPr lang="pt-BR" sz="2400" dirty="0">
              <a:latin typeface="Tahoma" pitchFamily="34" charset="0"/>
              <a:cs typeface="Tahoma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sz="2400" dirty="0">
                <a:latin typeface="Tahoma" pitchFamily="34" charset="0"/>
                <a:cs typeface="Tahoma" pitchFamily="34" charset="0"/>
              </a:rPr>
              <a:t> No que tange à história da comunicação, x ensina que</a:t>
            </a:r>
            <a:br>
              <a:rPr lang="pt-BR" sz="2400" dirty="0">
                <a:latin typeface="Tahoma" pitchFamily="34" charset="0"/>
                <a:cs typeface="Tahoma" pitchFamily="34" charset="0"/>
              </a:rPr>
            </a:br>
            <a:endParaRPr lang="pt-BR" sz="2400" dirty="0">
              <a:latin typeface="Tahoma" pitchFamily="34" charset="0"/>
              <a:cs typeface="Tahoma" pitchFamily="34" charset="0"/>
            </a:endParaRPr>
          </a:p>
          <a:p>
            <a:pPr>
              <a:defRPr/>
            </a:pPr>
            <a:endParaRPr lang="pt-BR" sz="800" dirty="0">
              <a:latin typeface="Tahoma" pitchFamily="34" charset="0"/>
              <a:cs typeface="Tahoma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sz="2400" dirty="0">
                <a:latin typeface="Tahoma" pitchFamily="34" charset="0"/>
                <a:cs typeface="Tahoma" pitchFamily="34" charset="0"/>
              </a:rPr>
              <a:t> Ou indique a fonte no final do parágrafo entre (   ). </a:t>
            </a:r>
          </a:p>
          <a:p>
            <a:pPr>
              <a:buFont typeface="Arial" pitchFamily="34" charset="0"/>
              <a:buChar char="•"/>
              <a:defRPr/>
            </a:pPr>
            <a:endParaRPr lang="pt-BR" sz="1050" dirty="0">
              <a:latin typeface="Tahoma" pitchFamily="34" charset="0"/>
              <a:cs typeface="Tahoma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endParaRPr lang="pt-BR" sz="1050" dirty="0">
              <a:latin typeface="Tahoma" pitchFamily="34" charset="0"/>
              <a:cs typeface="Tahoma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endParaRPr lang="pt-BR" sz="105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7413" name="CaixaDeTexto 6"/>
          <p:cNvSpPr txBox="1">
            <a:spLocks noChangeArrowheads="1"/>
          </p:cNvSpPr>
          <p:nvPr/>
        </p:nvSpPr>
        <p:spPr bwMode="auto">
          <a:xfrm rot="-404603">
            <a:off x="4254500" y="1481138"/>
            <a:ext cx="4608513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800">
                <a:solidFill>
                  <a:srgbClr val="C00000"/>
                </a:solidFill>
                <a:latin typeface="Berlin Sans FB Demi" pitchFamily="34" charset="0"/>
                <a:cs typeface="Tahoma" pitchFamily="34" charset="0"/>
              </a:rPr>
              <a:t>Quando se quer transcrever o que um autor escreveu</a:t>
            </a:r>
            <a:endParaRPr lang="pt-BR" sz="2800">
              <a:solidFill>
                <a:srgbClr val="C00000"/>
              </a:solidFill>
              <a:latin typeface="Berlin Sans FB Dem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4" descr="http://www.confissoesaesmo.com/wp-content/uploads/2011/02/aspa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4388" y="188913"/>
            <a:ext cx="1763712" cy="96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4" name="CaixaDeTexto 4"/>
          <p:cNvSpPr txBox="1">
            <a:spLocks noChangeArrowheads="1"/>
          </p:cNvSpPr>
          <p:nvPr/>
        </p:nvSpPr>
        <p:spPr bwMode="auto">
          <a:xfrm>
            <a:off x="250825" y="188913"/>
            <a:ext cx="8497888" cy="600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3600" b="1" dirty="0">
                <a:solidFill>
                  <a:srgbClr val="0066FF"/>
                </a:solidFill>
                <a:latin typeface="Berlin Sans FB Demi" pitchFamily="34" charset="0"/>
              </a:rPr>
              <a:t>Citação Direta</a:t>
            </a:r>
            <a:r>
              <a:rPr lang="pt-BR" sz="3600" dirty="0">
                <a:solidFill>
                  <a:srgbClr val="0066FF"/>
                </a:solidFill>
                <a:latin typeface="Berlin Sans FB Demi" pitchFamily="34" charset="0"/>
              </a:rPr>
              <a:t> </a:t>
            </a:r>
            <a:r>
              <a:rPr lang="pt-BR" sz="3600" b="1" dirty="0">
                <a:solidFill>
                  <a:srgbClr val="0066FF"/>
                </a:solidFill>
                <a:latin typeface="Berlin Sans FB Demi" pitchFamily="34" charset="0"/>
              </a:rPr>
              <a:t>ou Textual</a:t>
            </a:r>
          </a:p>
          <a:p>
            <a:endParaRPr lang="pt-BR" sz="2400" u="sng" dirty="0">
              <a:latin typeface="Tahoma" pitchFamily="34" charset="0"/>
              <a:cs typeface="Tahoma" pitchFamily="34" charset="0"/>
            </a:endParaRPr>
          </a:p>
          <a:p>
            <a:r>
              <a:rPr lang="pt-BR" sz="2400" b="1" dirty="0">
                <a:latin typeface="Tahoma" pitchFamily="34" charset="0"/>
                <a:cs typeface="Tahoma" pitchFamily="34" charset="0"/>
              </a:rPr>
              <a:t>1 - Citação Direta Curta</a:t>
            </a:r>
            <a:r>
              <a:rPr lang="pt-BR" sz="2400" dirty="0">
                <a:latin typeface="Tahoma" pitchFamily="34" charset="0"/>
                <a:cs typeface="Tahoma" pitchFamily="34" charset="0"/>
              </a:rPr>
              <a:t> (com menos de 3 linhas)</a:t>
            </a:r>
          </a:p>
          <a:p>
            <a:r>
              <a:rPr lang="pt-BR" sz="2400" dirty="0">
                <a:latin typeface="Tahoma" pitchFamily="34" charset="0"/>
                <a:cs typeface="Tahoma" pitchFamily="34" charset="0"/>
              </a:rPr>
              <a:t>Deve ser feita na continuação do texto, entre aspas. </a:t>
            </a:r>
            <a:br>
              <a:rPr lang="pt-BR" sz="2400" dirty="0">
                <a:latin typeface="Tahoma" pitchFamily="34" charset="0"/>
                <a:cs typeface="Tahoma" pitchFamily="34" charset="0"/>
              </a:rPr>
            </a:br>
            <a:endParaRPr lang="pt-BR" sz="2400" dirty="0">
              <a:latin typeface="Tahoma" pitchFamily="34" charset="0"/>
              <a:cs typeface="Tahoma" pitchFamily="34" charset="0"/>
            </a:endParaRPr>
          </a:p>
          <a:p>
            <a:pPr algn="just"/>
            <a:r>
              <a:rPr lang="pt-BR" sz="2400" b="1" dirty="0">
                <a:latin typeface="Tahoma" pitchFamily="34" charset="0"/>
                <a:cs typeface="Tahoma" pitchFamily="34" charset="0"/>
              </a:rPr>
              <a:t>Exemplo:</a:t>
            </a:r>
            <a:endParaRPr lang="pt-BR" sz="2400" dirty="0">
              <a:latin typeface="Tahoma" pitchFamily="34" charset="0"/>
              <a:cs typeface="Tahoma" pitchFamily="34" charset="0"/>
            </a:endParaRPr>
          </a:p>
          <a:p>
            <a:pPr algn="just"/>
            <a:r>
              <a:rPr lang="pt-BR" sz="2400" dirty="0">
                <a:latin typeface="Tahoma" pitchFamily="34" charset="0"/>
                <a:cs typeface="Tahoma" pitchFamily="34" charset="0"/>
              </a:rPr>
              <a:t>      </a:t>
            </a:r>
            <a:r>
              <a:rPr lang="pt-BR" sz="2000" dirty="0">
                <a:latin typeface="Tahoma" pitchFamily="34" charset="0"/>
                <a:cs typeface="Tahoma" pitchFamily="34" charset="0"/>
              </a:rPr>
              <a:t>Assim como expomos anteriormente, na década de 1990 a atenção à criança e ao adolescente no Brasil foi reformulada de acordo com a nova legislação, o Estatuto da Criança e do Adolescente (LEI Nº 8.069/90). Mesmo com essa nova orientação e ações diferenciadas, Leite observa que: “infelizmente essas inovações não conseguiram resolver a questão principal”. (LEITE, 2001, p.34).</a:t>
            </a:r>
          </a:p>
          <a:p>
            <a:endParaRPr lang="pt-BR" sz="2000" dirty="0">
              <a:latin typeface="Tahoma" pitchFamily="34" charset="0"/>
              <a:cs typeface="Tahoma" pitchFamily="34" charset="0"/>
            </a:endParaRPr>
          </a:p>
          <a:p>
            <a:endParaRPr lang="pt-BR" sz="2000" dirty="0">
              <a:latin typeface="Tahoma" pitchFamily="34" charset="0"/>
              <a:cs typeface="Tahoma" pitchFamily="34" charset="0"/>
            </a:endParaRPr>
          </a:p>
          <a:p>
            <a:r>
              <a:rPr lang="pt-BR" sz="2400" b="1" dirty="0">
                <a:latin typeface="Tahoma" pitchFamily="34" charset="0"/>
                <a:cs typeface="Tahoma" pitchFamily="34" charset="0"/>
              </a:rPr>
              <a:t>Obs.</a:t>
            </a:r>
            <a:r>
              <a:rPr lang="pt-BR" sz="2400" dirty="0">
                <a:latin typeface="Tahoma" pitchFamily="34" charset="0"/>
                <a:cs typeface="Tahoma" pitchFamily="34" charset="0"/>
              </a:rPr>
              <a:t>: </a:t>
            </a:r>
            <a:r>
              <a:rPr lang="pt-BR" sz="2000" b="1" dirty="0">
                <a:solidFill>
                  <a:srgbClr val="C00000"/>
                </a:solidFill>
                <a:latin typeface="Tahoma" pitchFamily="34" charset="0"/>
                <a:cs typeface="Tahoma" pitchFamily="34" charset="0"/>
              </a:rPr>
              <a:t>LEITE </a:t>
            </a:r>
            <a:r>
              <a:rPr lang="pt-BR" sz="2000" dirty="0">
                <a:latin typeface="Tahoma" pitchFamily="34" charset="0"/>
                <a:cs typeface="Tahoma" pitchFamily="34" charset="0"/>
              </a:rPr>
              <a:t>- autor que faz a citação. </a:t>
            </a: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           </a:t>
            </a:r>
            <a:r>
              <a:rPr lang="pt-BR" sz="2000" b="1" dirty="0">
                <a:solidFill>
                  <a:srgbClr val="C00000"/>
                </a:solidFill>
                <a:latin typeface="Tahoma" pitchFamily="34" charset="0"/>
                <a:cs typeface="Tahoma" pitchFamily="34" charset="0"/>
              </a:rPr>
              <a:t>2001 </a:t>
            </a:r>
            <a:r>
              <a:rPr lang="pt-BR" sz="2000" dirty="0">
                <a:latin typeface="Tahoma" pitchFamily="34" charset="0"/>
                <a:cs typeface="Tahoma" pitchFamily="34" charset="0"/>
              </a:rPr>
              <a:t>- o ano de publicação da obra deste autor na bibliografia. </a:t>
            </a: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           </a:t>
            </a:r>
            <a:r>
              <a:rPr lang="pt-BR" sz="2000" b="1" dirty="0">
                <a:solidFill>
                  <a:srgbClr val="C00000"/>
                </a:solidFill>
                <a:latin typeface="Tahoma" pitchFamily="34" charset="0"/>
                <a:cs typeface="Tahoma" pitchFamily="34" charset="0"/>
              </a:rPr>
              <a:t>34</a:t>
            </a:r>
            <a:r>
              <a:rPr lang="pt-BR" sz="2000" dirty="0">
                <a:latin typeface="Tahoma" pitchFamily="34" charset="0"/>
                <a:cs typeface="Tahoma" pitchFamily="34" charset="0"/>
              </a:rPr>
              <a:t> - refere-se ao número da página onde o autor fez a citação.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4" descr="http://www.confissoesaesmo.com/wp-content/uploads/2011/02/aspa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4388" y="188913"/>
            <a:ext cx="1763712" cy="96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4" name="CaixaDeTexto 4"/>
          <p:cNvSpPr txBox="1">
            <a:spLocks noChangeArrowheads="1"/>
          </p:cNvSpPr>
          <p:nvPr/>
        </p:nvSpPr>
        <p:spPr bwMode="auto">
          <a:xfrm>
            <a:off x="179388" y="333375"/>
            <a:ext cx="8785225" cy="597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 dirty="0">
                <a:latin typeface="Tahoma" pitchFamily="34" charset="0"/>
                <a:cs typeface="Tahoma" pitchFamily="34" charset="0"/>
              </a:rPr>
              <a:t> 2 - Citação Direta Longa</a:t>
            </a:r>
          </a:p>
          <a:p>
            <a:endParaRPr lang="pt-BR" sz="1000" u="sng" dirty="0">
              <a:latin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2000" dirty="0">
                <a:latin typeface="Tahoma" pitchFamily="34" charset="0"/>
                <a:cs typeface="Tahoma" pitchFamily="34" charset="0"/>
              </a:rPr>
              <a:t> As margens são recuadas em 4 cm a partir da margem esquerda  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2000" dirty="0">
                <a:latin typeface="Tahoma" pitchFamily="34" charset="0"/>
                <a:cs typeface="Tahoma" pitchFamily="34" charset="0"/>
              </a:rPr>
              <a:t> Deve vir separada por uma linha de distância (antes e no final)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2000" dirty="0">
                <a:latin typeface="Tahoma" pitchFamily="34" charset="0"/>
                <a:cs typeface="Tahoma" pitchFamily="34" charset="0"/>
              </a:rPr>
              <a:t> Espaço simples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2000" dirty="0">
                <a:latin typeface="Tahoma" pitchFamily="34" charset="0"/>
                <a:cs typeface="Tahoma" pitchFamily="34" charset="0"/>
              </a:rPr>
              <a:t> A letra dever ser tamanho 10 e sem aspas </a:t>
            </a:r>
          </a:p>
          <a:p>
            <a:endParaRPr lang="pt-BR" sz="2000" b="1" dirty="0">
              <a:latin typeface="Tahoma" pitchFamily="34" charset="0"/>
              <a:cs typeface="Tahoma" pitchFamily="34" charset="0"/>
            </a:endParaRPr>
          </a:p>
          <a:p>
            <a:r>
              <a:rPr lang="pt-BR" sz="2400" b="1" dirty="0">
                <a:latin typeface="Tahoma" pitchFamily="34" charset="0"/>
                <a:cs typeface="Tahoma" pitchFamily="34" charset="0"/>
              </a:rPr>
              <a:t>Exemplo:</a:t>
            </a:r>
          </a:p>
          <a:p>
            <a:pPr algn="just"/>
            <a:br>
              <a:rPr lang="pt-BR" sz="2000" dirty="0">
                <a:latin typeface="Tahoma" pitchFamily="34" charset="0"/>
                <a:cs typeface="Tahoma" pitchFamily="34" charset="0"/>
              </a:rPr>
            </a:br>
            <a:r>
              <a:rPr lang="pt-BR" sz="2000" dirty="0">
                <a:latin typeface="Tahoma" pitchFamily="34" charset="0"/>
                <a:cs typeface="Tahoma" pitchFamily="34" charset="0"/>
              </a:rPr>
              <a:t>      Assim </a:t>
            </a:r>
            <a:r>
              <a:rPr lang="pt-BR" sz="2000">
                <a:latin typeface="Tahoma" pitchFamily="34" charset="0"/>
                <a:cs typeface="Tahoma" pitchFamily="34" charset="0"/>
              </a:rPr>
              <a:t>como exposto </a:t>
            </a:r>
            <a:r>
              <a:rPr lang="pt-BR" sz="2000" dirty="0">
                <a:latin typeface="Tahoma" pitchFamily="34" charset="0"/>
                <a:cs typeface="Tahoma" pitchFamily="34" charset="0"/>
              </a:rPr>
              <a:t>anteriormente, na década de 1990 a atenção à criança e ao adolescente no Brasil foi reformulada de acordo com a nova legislação, o Estatuto da Criança e do Adolescente (LEI Nº 8.069/90). Mesmo com essa nova orientação e ações diferenciadas, Leite observa que:</a:t>
            </a: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 </a:t>
            </a:r>
          </a:p>
          <a:p>
            <a:pPr algn="just"/>
            <a:r>
              <a:rPr lang="pt-BR" sz="1600" dirty="0">
                <a:latin typeface="Tahoma" pitchFamily="34" charset="0"/>
                <a:cs typeface="Tahoma" pitchFamily="34" charset="0"/>
              </a:rPr>
              <a:t>	        Infelizmente essas inovações não conseguiram resolver a questão principal: 	        encontrar soluções que pudessem promover a escolaridade, a profissionalização                    </a:t>
            </a:r>
          </a:p>
          <a:p>
            <a:pPr algn="just"/>
            <a:r>
              <a:rPr lang="pt-BR" sz="1600" dirty="0">
                <a:latin typeface="Tahoma" pitchFamily="34" charset="0"/>
                <a:cs typeface="Tahoma" pitchFamily="34" charset="0"/>
              </a:rPr>
              <a:t>                      e a inserção social desses milhares de jovens brasileiros que permanecem        </a:t>
            </a:r>
          </a:p>
          <a:p>
            <a:pPr algn="just"/>
            <a:r>
              <a:rPr lang="pt-BR" sz="1600" dirty="0">
                <a:latin typeface="Tahoma" pitchFamily="34" charset="0"/>
                <a:cs typeface="Tahoma" pitchFamily="34" charset="0"/>
              </a:rPr>
              <a:t>                      excluídos. (LEITE, 2001, p.34).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02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0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CC0000"/>
                </a:solidFill>
                <a:latin typeface="Berlin Sans FB" pitchFamily="34" charset="0"/>
              </a:rPr>
              <a:t>Dicas sobre citação direta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itchFamily="34" charset="0"/>
                <a:cs typeface="Shruti" pitchFamily="2"/>
              </a:rPr>
              <a:t>Ela deve ser introduzida </a:t>
            </a:r>
          </a:p>
          <a:p>
            <a:endParaRPr lang="pt-BR" dirty="0">
              <a:latin typeface="Arial Black" pitchFamily="34" charset="0"/>
              <a:cs typeface="Shruti" pitchFamily="2"/>
            </a:endParaRPr>
          </a:p>
          <a:p>
            <a:r>
              <a:rPr lang="pt-BR" dirty="0">
                <a:latin typeface="Arial Black" pitchFamily="34" charset="0"/>
                <a:cs typeface="Shruti" pitchFamily="2"/>
              </a:rPr>
              <a:t>Ela deve ser comentada</a:t>
            </a:r>
          </a:p>
          <a:p>
            <a:pPr>
              <a:buNone/>
            </a:pPr>
            <a:endParaRPr lang="pt-BR" dirty="0">
              <a:latin typeface="Arial Black" pitchFamily="34" charset="0"/>
              <a:cs typeface="Shruti" pitchFamily="2"/>
            </a:endParaRPr>
          </a:p>
          <a:p>
            <a:r>
              <a:rPr lang="pt-BR" dirty="0">
                <a:latin typeface="Arial Black" pitchFamily="34" charset="0"/>
                <a:cs typeface="Shruti" pitchFamily="2"/>
              </a:rPr>
              <a:t>Prefira citações indiretas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Picture 3" descr="F:\unip\dicas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548680"/>
            <a:ext cx="766732" cy="6206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4" descr="http://www.confissoesaesmo.com/wp-content/uploads/2011/02/aspa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0288" y="548680"/>
            <a:ext cx="1763712" cy="96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4" name="CaixaDeTexto 4"/>
          <p:cNvSpPr txBox="1">
            <a:spLocks noChangeArrowheads="1"/>
          </p:cNvSpPr>
          <p:nvPr/>
        </p:nvSpPr>
        <p:spPr bwMode="auto">
          <a:xfrm>
            <a:off x="250825" y="188913"/>
            <a:ext cx="8497888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3600" b="1" dirty="0">
                <a:solidFill>
                  <a:srgbClr val="0066FF"/>
                </a:solidFill>
                <a:latin typeface="Berlin Sans FB Demi" pitchFamily="34" charset="0"/>
                <a:cs typeface="Tahoma" pitchFamily="34" charset="0"/>
              </a:rPr>
              <a:t>Citação Indireta ou Livre ou paráfrase</a:t>
            </a:r>
          </a:p>
          <a:p>
            <a:endParaRPr lang="pt-BR" sz="3200" dirty="0">
              <a:solidFill>
                <a:srgbClr val="0066FF"/>
              </a:solidFill>
              <a:latin typeface="Berlin Sans FB Demi" pitchFamily="34" charset="0"/>
              <a:cs typeface="Tahoma" pitchFamily="34" charset="0"/>
            </a:endParaRPr>
          </a:p>
          <a:p>
            <a:r>
              <a:rPr lang="pt-BR" sz="2400" dirty="0">
                <a:latin typeface="Tahoma" pitchFamily="34" charset="0"/>
                <a:cs typeface="Tahoma" pitchFamily="34" charset="0"/>
              </a:rPr>
              <a:t>É a reprodução da idéia de um autor com minhas próprias palavras, sem alterar as idéias originais. A paráfrase, quando fiel é geralmente preferível a uma longa citação textual. </a:t>
            </a:r>
            <a:br>
              <a:rPr lang="pt-BR" sz="2000" dirty="0">
                <a:latin typeface="Tahoma" pitchFamily="34" charset="0"/>
                <a:cs typeface="Tahoma" pitchFamily="34" charset="0"/>
              </a:rPr>
            </a:br>
            <a:endParaRPr lang="pt-BR" sz="2000" dirty="0">
              <a:latin typeface="Tahoma" pitchFamily="34" charset="0"/>
              <a:cs typeface="Tahoma" pitchFamily="34" charset="0"/>
            </a:endParaRPr>
          </a:p>
          <a:p>
            <a:endParaRPr lang="pt-BR" sz="2000" b="1" dirty="0">
              <a:latin typeface="Tahoma" pitchFamily="34" charset="0"/>
              <a:cs typeface="Tahoma" pitchFamily="34" charset="0"/>
            </a:endParaRPr>
          </a:p>
          <a:p>
            <a:endParaRPr lang="pt-BR" sz="2000" b="1" dirty="0">
              <a:latin typeface="Tahoma" pitchFamily="34" charset="0"/>
              <a:cs typeface="Tahoma" pitchFamily="34" charset="0"/>
            </a:endParaRPr>
          </a:p>
          <a:p>
            <a:endParaRPr lang="pt-BR" sz="2000" b="1" dirty="0">
              <a:latin typeface="Tahoma" pitchFamily="34" charset="0"/>
              <a:cs typeface="Tahoma" pitchFamily="34" charset="0"/>
            </a:endParaRPr>
          </a:p>
          <a:p>
            <a:r>
              <a:rPr lang="pt-BR" sz="2400" b="1" dirty="0">
                <a:latin typeface="Tahoma" pitchFamily="34" charset="0"/>
                <a:cs typeface="Tahoma" pitchFamily="34" charset="0"/>
              </a:rPr>
              <a:t>Exemplo:</a:t>
            </a:r>
            <a:r>
              <a:rPr lang="pt-BR" sz="2400" dirty="0">
                <a:latin typeface="Tahoma" pitchFamily="34" charset="0"/>
                <a:cs typeface="Tahoma" pitchFamily="34" charset="0"/>
              </a:rPr>
              <a:t> </a:t>
            </a:r>
            <a:br>
              <a:rPr lang="pt-BR" sz="2000" dirty="0">
                <a:latin typeface="Tahoma" pitchFamily="34" charset="0"/>
                <a:cs typeface="Tahoma" pitchFamily="34" charset="0"/>
              </a:rPr>
            </a:br>
            <a:r>
              <a:rPr lang="pt-BR" sz="2000" dirty="0">
                <a:latin typeface="Tahoma" pitchFamily="34" charset="0"/>
                <a:cs typeface="Tahoma" pitchFamily="34" charset="0"/>
              </a:rPr>
              <a:t>      </a:t>
            </a:r>
          </a:p>
          <a:p>
            <a:pPr indent="450850" algn="just"/>
            <a:r>
              <a:rPr lang="pt-BR" sz="2000" dirty="0">
                <a:latin typeface="Tahoma" pitchFamily="34" charset="0"/>
                <a:cs typeface="Tahoma" pitchFamily="34" charset="0"/>
              </a:rPr>
              <a:t>Somente em 15 de outubro de 1827, depois de longa luta, foi concedido às mulheres o direito à educação primária, mas mesmo assim, o ensino da aritmética nas escolas de meninas ficou restrito às quatro operações. Note-se que o ensino da geometria era limitado às escolas de meninos, caracterizando uma diferenciação curricular (COSENZA, 1993).</a:t>
            </a: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CC0000"/>
                </a:solidFill>
                <a:latin typeface="Berlin Sans FB" pitchFamily="34" charset="0"/>
              </a:rPr>
              <a:t>Dicas sobre citação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Arial Black" pitchFamily="34" charset="0"/>
              </a:rPr>
              <a:t>Quando usar a citação direta?</a:t>
            </a:r>
          </a:p>
          <a:p>
            <a:endParaRPr lang="pt-BR" dirty="0">
              <a:latin typeface="Arial Black" pitchFamily="34" charset="0"/>
            </a:endParaRPr>
          </a:p>
          <a:p>
            <a:r>
              <a:rPr lang="pt-BR" dirty="0">
                <a:latin typeface="Arial Black" pitchFamily="34" charset="0"/>
              </a:rPr>
              <a:t>Quando usar a citação indireta?</a:t>
            </a:r>
          </a:p>
          <a:p>
            <a:endParaRPr lang="pt-BR" dirty="0">
              <a:latin typeface="Arial Black" pitchFamily="34" charset="0"/>
            </a:endParaRPr>
          </a:p>
          <a:p>
            <a:r>
              <a:rPr lang="pt-BR" dirty="0">
                <a:latin typeface="Arial Black" pitchFamily="34" charset="0"/>
              </a:rPr>
              <a:t>Intercale citações e modos de apresentar a referência</a:t>
            </a:r>
          </a:p>
        </p:txBody>
      </p:sp>
      <p:pic>
        <p:nvPicPr>
          <p:cNvPr id="4" name="Picture 3" descr="F:\unip\dicas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620688"/>
            <a:ext cx="766732" cy="6206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OUTROS CASOS</a:t>
            </a:r>
            <a:endParaRPr lang="pt-BR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01752" y="1412776"/>
            <a:ext cx="8503920" cy="4686272"/>
          </a:xfrm>
        </p:spPr>
        <p:txBody>
          <a:bodyPr>
            <a:normAutofit fontScale="92500" lnSpcReduction="20000"/>
          </a:bodyPr>
          <a:lstStyle/>
          <a:p>
            <a:pPr marL="273050" lvl="0" indent="0">
              <a:buFont typeface="Arial" pitchFamily="34" charset="0"/>
              <a:buChar char="•"/>
            </a:pPr>
            <a:r>
              <a:rPr lang="pt-BR" b="1" dirty="0"/>
              <a:t>  Citação da citação: </a:t>
            </a:r>
            <a:r>
              <a:rPr lang="pt-BR" dirty="0"/>
              <a:t>esse é um caso especial de citação, ocorre quando citamos um autor que é citado por outro. </a:t>
            </a:r>
          </a:p>
          <a:p>
            <a:pPr marL="273050" lvl="0" indent="0"/>
            <a:endParaRPr lang="pt-BR" dirty="0"/>
          </a:p>
          <a:p>
            <a:pPr marL="273050" lvl="0" indent="0">
              <a:buNone/>
            </a:pPr>
            <a:r>
              <a:rPr lang="pt-BR" dirty="0"/>
              <a:t>O uso da citação da citação deve ser feita com parcimônia. </a:t>
            </a:r>
          </a:p>
          <a:p>
            <a:pPr lvl="0"/>
            <a:endParaRPr lang="pt-BR" dirty="0"/>
          </a:p>
          <a:p>
            <a:pPr>
              <a:buNone/>
            </a:pPr>
            <a:r>
              <a:rPr lang="pt-BR" b="1" dirty="0"/>
              <a:t>Exemplo:  </a:t>
            </a:r>
            <a:endParaRPr lang="pt-BR" dirty="0"/>
          </a:p>
          <a:p>
            <a:pPr algn="just">
              <a:buNone/>
            </a:pPr>
            <a:r>
              <a:rPr lang="pt-BR" dirty="0"/>
              <a:t>	</a:t>
            </a:r>
            <a:r>
              <a:rPr lang="pt-BR" sz="2400" dirty="0"/>
              <a:t>Na representação, “os representantes devem ser sensíveis e responder às demandas daqueles que representam” (PITKIN, 1985 apud PEREZ, 2010, p. 11). </a:t>
            </a:r>
          </a:p>
          <a:p>
            <a:endParaRPr lang="pt-BR" sz="2400" dirty="0"/>
          </a:p>
        </p:txBody>
      </p:sp>
      <p:sp>
        <p:nvSpPr>
          <p:cNvPr id="3074" name="AutoShape 2" descr="data:image/jpg;base64,/9j/4AAQSkZJRgABAQAAAQABAAD/2wCEAAkGBhMSERUUExMUFRUWFx8YFxcYGSAcIBgcGBwdHyIbHh4hHCYfHxojGh4fHzAgIycpLC0sHB8xNTAqNSgrLCkBCQoKDgwOGg8PGiokHyQsLSwsLTUpLy0sMSwsKiwsLCwsLCwpLCwsLCksLCwuLC0vLSwsLCwsLCkpLCwsLCwsLP/AABEIAIwAoAMBIgACEQEDEQH/xAAcAAACAwADAQAAAAAAAAAAAAAGBwAEBQECAwj/xABFEAACAQIDBAcECAMGBQUAAAABAgMEEQAFIQYSMUEHEyJRYXGBMpGhsRQjM0JDUmLBcoLRJFOSwuHwFRZEg6MINVSz8f/EABoBAAIDAQEAAAAAAAAAAAAAAAADAQIEBQb/xAAuEQACAQIDBwMDBQEAAAAAAAAAAQIDERIhMQQTMkFRgZFhcfAiQqEFFLHB0eH/2gAMAwEAAhEDEQA/AHjiYWlV0nVcskq0dCrJFK0fXSzbqsUYgkKF3iL21B5jGDVbcZo5s1XTQa6rBAzka8LyEDl34q5xWrHQoVJ5xQ6C2KVfndPALzTRRD9bqvzOEXVVE0v21bWy94MvVrew+6g/fFBclpwSRChJ5tdz72J1xR1YmmOwVXrZDdrumDK49BUiQ90Ss/f3C3Lvxh1fTkn4FDVSdxe0QPqbn4YCVQAWAAHcAAPcNMckYo63RGmP6cvukblZ0r5pJ9lT0sA/WzSG3pYfDGRV7Q5pN9pmEig8oEWP48ceWJijqyHx2KlHlct0W0eYQ23K+Zh3TBJR8VDfHBFQdK1YgAlggm04ozRE+jB1+I9MBNRmcSe3Ii+bD5ccUhtJG5tCkszd0aE4lTmUqUNmWuXcclF0sUzWEsc8J8VDj3oT8sEeX7T0s/2U8bHu3rH3Gx+GEPSZVmdR9lSCMd8pv8Bw9cb1D0T1kljUVm4OJWFLc/zHw8MTv0tWjDUpUVwt/PA7Qcc4WuXbEmhYSRZnUxge0szLJGwN9N1rWPO9740jtyIrb9TTT9/Vo6m/o7r392LxrQZmVKUnaKuHGJhUZ70zOOzS0xeS2oJJt52AAHiTfwxa2Y6Zlkmjp62nNNJJYJIGDRsx4C/FbnTW+vMYYpJhOjOCu0M3ExwMc4sKJiYmJgAX20HRBC7NLQyvRTHX6snq2P6kv8R7jhabQ57WZfIsGZwRzAqdyVDYsBpdSBbQgaEDH0YThP8A/qLo42padrr1wm3VXTeKyKb6XvbeVdbcfPFXFPUbTrTp8LBKkzalqPsKhVY69VUfVnyEgunv9+O9XM0P28bxfqYXQ89HUleHeRg+n2CiemhiqqdHKRIhcLqCqgGzjtDUYHX6PpoAfoFY6L/czduM34jw9QcLdNG+G11Frn8+czGimVhdSGHeCD8sZGaZ+8P/AE8hH5iRb3i/xtizmWVtCS1XQSwnnU0Ldk+aaqPh5Yr07TsL0tRDWrb2D9VKP5DxPkWxTd2H/usato/P41Mej2jmqZBGJIIL6Ave3lc3187DBjD0algDU1kzA69kBF424km+vMDmO/ApVVNMzlaqnenk53Ugj3AH4Y94MmpmUE1LSINADIAAO63L4cMVmm+F27XEYZzfEpd7fgLYsvyOksXaJzzBPWHle9yQfMAeGNGLpFpEW1LSSSjkdyy+HEqOOAP/AIjQQex1ZP6V3j7z/XFWr28H4cZPizW+A/rhe4xa3fuGGnHimu3z+hiTdIdc/sRQwjxO9p5AW+OKFRn9Y4vJVyAfotGOfmfjgQy6nzWs+xhZEP393cX/ABNx9L4Jcu6HnchqyqZ+9I9bebNp7lw1UF6Fd5RXDFv3yMqpzqmQ9uUO3ixkPxJxboDU1GtNSSsv95IerTzueI8sGMOQ5ZlyhisMZtcPId52/hBuT/KMbFLmbzaxxMqHhJKNy/iqe2R4ndHni+7RL2qeisvZAdTdGs0wvWVNl49TTiw8i7cfdgIqEZJqmglvIY9/qmOpG4CR71sfhh8XPmcIvN5VkzuZ0YMm+bsvCyoAfjizX0ilKTms9cn3PoPozrzNldJIzMzGEAljckoStyefDjgnwC9Cf/s8H8Un/wBjYOsNMJMTExMACRzbbusrKypgjrVpIIZTGNxLyOLkX3uQ0Otxa401xobMdHtH9JiqJHaUoes35XLGV9N0sbW3VILW77csHe02wFHXdqWPdlHszR9mRf5hx8muMLjMdkMzy5i0f9rgBvvRj6xR3vFwY25rhcsV7o10nRlHDPJ9RzxsCLggj34q1OURvxW3iNP9MKfItv0a9nMR4ErqFItoyEG3DmPC/caUW2LFB1qCVD+JDrpwuY738eyTx4DApp6hPZpwzjmvQ0Z9n2X2G3vA6HATtPsLTSdqWjIbiXhsknmOAb4nwODajretUvRzpLumxjkJNidd0m3WRnT7wPljrJtdHGdysjalJNg0lmibylHYH8+6fDDLCMb0YnGyOR7xU9XFWKmhpaxbSL4AsA6nhqLYBM72TqUqArUxpllcIgY9gM3IOb3HPjwx9O51sXRVqjrI1b8rrxHcVYajXuOFZ0i9HNfT0cpjqzUUiAOY5dXj3eatbWw8QbX0OISCUsWplZL0I8DVT+aRD4b7D5DBfS7O5Zlw3isEZH35WBbzG8Sf8Ix7ZRXRzUFO1ROFLRIWbrurJJFtSGBufngD6Tdko6bqqynS6BgJQzFwTxVrsSbEXU692IGKyzQWVPSbAxtTRzVLd6rup6s3ztgW2l2yzC6dYy0sMjbrGAb7qP4ja5tc9kjn4YOaSopbCCOI7jEezzPLgQf254wdq8tiKzRnSMDU8d2wvvd+nHGV1rNPkduH6dGUJRd1K11olYINnNlKSELLGOukYBvpEh6x2vzBPC/hbFvONp6WlF55lQ8d32mPkoucKzJsxqvoUSfSRBTqp0jAViCSbs54anlytjInzqlgJMKdbIeMjEnXxY6n0tx44fizsszlqm1FSk0l+fAa55t5UVUbRUcDxI43TPKd07p4lVHAnhe5PdY4DhlKxWpofrKqoKxjwDkaeA4cdeJ04Y6ZXVzTSdZUwVMsFvYgbquPMEqd7y+OGLsRmez9LOJd2op6i3ZNWG7NxqVIG7ztc64lK+r7FJTjBPCnd83/AEhr7LZAlFSQ0yaiNACfzNxZvViTjWxVoMzhmXehljkXvRgw94JxaBwwxkxMTEwATGHtRtFFTU8zdfCkixuyB3UdoKbCxNz2rC2LG0+WNUUdRApAaWJkUngCwNr+F8J2HKIXo2aGlihmTfgqU3AWilsV9trsFN7g37sXhHE7AYmTdHMjxioeZ2lmUSbytYrvje1uO0xvrfHUy1dE5LF7D8SJeQ/vIjcEeIB5645j2yLJQQoSpDKkq87wbot/NbDFidJ0va47u444dSvVpO9RXTO3SjBxtD588glR7XRS7sk66jhVU5YFPO31iA8wN4DuwXZZtZUhN5HizGA6cVSSx5b1urkNvusEPjzwM5vsCrMZIGMb96aE+Y9lvW18Cc0c1LIWcNE4/wCogBt/3E+dwRjXR2iM+F9hdSknxrv/AN/3yM6hiopZCMvqpssqr3NO4srG/AwOdxhfnEeeMbpO2tzOmoZKaqgi+v8Aq1qoWO66nVlMbdpWKg+GpwOLtZvxha6nSqhHCeIXIFuJXiD3lSP63Tl+WVC9dLWvNFGN1EmnP1QJvugGznXkbmwA10ONW86mR7Nnk/ORVyHMMvoYoxFCKusCgyNGoIVjrbrGuqgX3brxtihtttLWz0zCTq4YmIUQoN4tr95zqdddMemZ7d5dAClLTdaeAJuiD09o/DA9QVE9ZV06SjdikmBC2stlN2tfUgLcXN/niLyuWapKNk23+Bk5bDJC6Iv2iWThztbny4m+MfpQzdmAhTVnPVqBxIGrWHmbeuDHIIxJM8zWvclRfXXW456DThgAQGozCSU6pTjdX+N9SfS5+GMUPpWJ6a/4eh2yorOCX1WUb++b8JPyZeW7FSy7n0lzuiwWJSLjkB3L6XPjg9yfYOmhAPVANz5kep192LFHNFEN43Z+e7wA8zYYzcy6RYI9OsQHw7Z+GmMlSpWqu0dDnKnTp5vywqho0X2VAPfz9+PGungI3Zdxh+VgG+FjhYZl0p30RXfxdt0H0Gp9cYb7UV9SbRb3faJCT77E4IbBUk7yYue101lqHeZZPQoeshV6dxwkjkMVvjx93riqvSrU0mkeYfSQPw5o+s/8i7p9b4rdHnRPLmsX0mondIt4qum80luJBY2UX0vY6g92HFs50T5bR2KU6yOPxJe23nqN0egGOrSoygs5NnPq1oy0ijZ2Tzv6ZRwVNt3rYwxXXQ8wL62DXxr44VbY5xoMpMLDpDjXLqpK/QQ1JFPVp+bQ7ko/UoBB8Ld5wTbQ7bfR6yGkSMPLMhdS0m4vZNreyxvYEgW1thbdIWdiWtpKauqFaHr0eWGJN2ONNQC7t22LX46ADeNtRiyusyTKz7YZFqDNC5VyRLG2hRr8CRbnzt46YmRbVFZOrlHUzjQqfZfxU+Pd7sbi0LUskmXTHeMY6ylkb78R4LfvHsEciAeeMnNskiqVAkGo9lxoy/6eBxetssNohfmNpV5UXloGlJmSSacG7j+3fj1qKVXFmF/HmPXCrTMaiiIWpBmh4LMvFRyDD9j6E4J59piKZ5UffQIWBHE2HC978ePPjjzdbYp0pWOxTrwqK6K//JqSyymmdo3R9wtGN5Ga1yHUdm4BsbWN/WwrtH0c1onBeKNN5QTIrdg+NvaDaarbDQ6NZ0p8oNU2tkeWQ8C27vMRx471wPPXHtGz1UETzG7OqyHd4DeG9ujwANr40Sryoc78jJBKvKzyWovcn2Lgh1f61+9hoPJf64sRKWzWPdIJSmkNuNtG9xsb418/zNIphEgUBImkfwC/uTpr3G2B3ZjJZ6aWmzGVlKVUhjdfypOLKzHuLcuVh36OoY6n1y6fyNnOFJxjFZXV+1gyy+VY0kY6sRuIPPifIaa4XrCv+lzQ0kZLO3WcBfdsFBuTYLfnggzTKpKupio0LKLmSdxoURDb3ljbztgpyzYqOmkSRaiYiO9utKGwbiN+wIUjiDcaeWGUoPCm/Bt/U68JTlBXune/bTxz6gJH0WZjU61E6IONncuR/KvZ+ON3LuhKmT7aeWQ8woCD/MflxweQV8ch+rZW/Uuo5cxpfwviy3f3DX/95Y1aZHEwp5vMHKXYfLaYb/0eEBdS8x3rermwxXrNuYFUx0cUlUbEBaeM7guLatYKBc20Bx2zPPMujftFaiYG4VVM7L81T3jGbW7ZVjj6injp0/PO1zbv3F7K+pOIc4x4mSot8KM7o82yqqSL6ITuyQk/UzLyJvoNG4nkeeGHR9LEaj+1QSRDnJH9anrYB19V9cJzOc0geQSVVXJUyJ7IjsoXnYbug4fmxzS7T1dUeroqV3PC4BkI87AKPU4Tim5XhmvUs40lG09fTPzyPpDJtoaeqXep5o5R+hgbeY4j1xo4T3RJsJmNNWvV1YjjEkRQpdd8kkEaKLC1u++HDjUY36C+6Ytm3mpVqqfSpo261COJUasvjwDW/Se/AdtZJFV0lNmqx9YiruVUQ4tC5s63/NG97HlcHlh4stxbCdyzLly/MajLZQPolYGlpgdBro8XnbS36VPPDIP7WBr5vs1JU5bGyHrqiks9NN/8iK1wpPe8dlI/Ot+eA6kzESBG13ZRdb8Qw9pD43ufRhyFzvovrTA0+VysS1Md+Bj9+CTVfVSbHzHdgf6Qtmfo1SZFBWmq2uSPwakXIbuAk4/xA9+t6U3F2IauBWd7UvTy9U1OrK3ssX0cHvuttDxv/rjx/wCSK4iQwQiFXFmh63fDb3dpZTbXU91uQN/MqAVsLxvYTRnys9tD/A4/3pje6N+kWngp2hrpRFLE252gTvBfIHUcDw5HW+EbY6uWHNewylZag0+0tRR5VNl9RBJEWTdiktdWuwLKTfS6k/7OD7ZeqWSjp2UgjqkGneqgEe8Ymeba5PUKQauI3G6wKuQw7j2POxHA4WuW7RrQnq0lFRDvHcki3gygm9mUgXHljk1qMq0bYbO9/c27PUjB3bO+cK7zZiy6vuKnDXdOrfAY9qfa+SqoEoKeheYiIRs+psRrvAKLC3G5YeuKdfnqJUpVId+GROrkta4IPMHnax8dcHUG1yx067hhSP7rCwBA7hwv42vjVCe7SUl0/ixM6e8bwvr4bvcp5BsnXuyvPK9M4i3HeMozSKGBALEndYWuTY/HGr9Gy+E3beqpAeLlp2B/mvGvwPDAbm3SJCdC8k57uC/HT4HGS2f19QPqICiHgQvK3JmsPcBhkXOWUY+Sk3C95yv7ePYY1dtfNbsJHAn55TvEfyghB6sfLARnG1lO1+unlqj+W/Y/wjdS3vxix7JVcrb04dvOVb8++9vQG2CLKdmUisTTw372kZyf/FYYv+3qvW/bIU68Vwpd8wZq9u5Au7BHHCvgAf2Av6YwqjNJJmHXSOy3115c7DhfDAzjZV6ndDvFGF9kRxa695LAnli7WbNRzQhJQC6iwlVQpv32GnmD8MaKeytK9rCZ1pS1Zq7D5Bkwjjlanaovb6x23hfuMegBHdY+uHBk1ZTMNynKAAX3FG7YfwgDHy3C9TlVQL9qN/8AC6j5MB7vEYeGyOaxwyl5GsrJYG3eQfkMVaadmFk1kMfEx5U9SrrvIwYd4N8euIFkwEdLGy71VIJYAfpNK3XQkcTu6so8wL25lRg3xMACibOhLDSZxCO1BpUKNT1LdmZe87h7Y8L4ZOcZVDW0zxSdqOVRqPHVWU94NmB8sLqlov8Ah2ayUZH9lrg00IPsrJ9+LusRy7t3BnsOxijekYkmnIEZOpaF7mP1UAx/9vxwyWaUiRN5lDNTSMZBeopfq5wPxojqsg8SvbHjvDF00cEo6zq4n3xcNuA7w7727hhidI+yEk4SppUVqmMFShNhNG33Se9W7Qv4jnhEZFkmYzyzU0TmJoSesUvuKh3rFRa+u9ewHcThsaySzRFr6B1HSIPZjQeIUD9scPWxpqXjXzYD98YqdEVY/wBtWoNRzd9efG2vzxdp+g2MHt1bt/DGBfwuXOvHlyxL2lLREqm2Y+dwZbNq8saPfVozqfOwIPngdNFlynWomcD7oS3pfDQp+hmhUdo1Dm3NwPXRcaNP0aZanCmVtb9pmP8AmtbCJVU3oi6pMV9NtNl8H2NMxP5mtf3km2PZ+kVmPYp7+bEnXhoB8MN6n2Uo4/YpIBYcTGp+JBxpJGF0AC8tAB8sG+ktCd11EmmdZpL9nRtrpcQude+509+LdLl+eu1+osONnCKPK1wcOM+d8cHT+v8Av1xXeyfMtukKttjc6lJJmhiBIsFfQDjcbqk/G+MHarYfMaaMyPKZo1F2ZHY7uvEq1jbxAtrh52xSzyuSGmmlksURGJB4NpYKfAk29cRjb1B00kIrKJOvy+pjk7XU2eMniCb/AA/qcMPZep6yigY3v1YB/l7N+PcMAWV0Zgy2olfTrwFVfUgH1ufQYY2UUnU08Uf5EUettfjfF56IpT1Zo0lY0bXjYqfA/Pv4c8FGSbYyM6RyKG3iF3hobnvHA+lsC1NTPK4RFJY8v38sH2z+zKwAM3altqeS+C/1+XDFLF5tczdxMTEwCAK6V9nDU0DvHcT0x6+BhxDJqQPNQdO8DFPY/PVq4qetWwaxSUDle2+vkrqHF+RPecMAi+Efs8f+GZzU5c3ZgqG6yAHgCRcD1W6earhkHyfMkau1+1sOX0zzzMNNES+sj20UefM8hrhK5LktcOtq2zCnpGqWMsqncYgkki9zYe1wvpcX1wa7W9H8eYSiWaWRiq7qIT2EH6QLEXOpOt8DsnRPHHwplfl7TH4EjF9xIE7Hqiovalz1zc/ceJB7hvW+WOy12Vpo+ZSyXH3qqRgRzBCWtjKlyWlhNmhgQjTtBfdrx4Y6Nm1JH+JAtvylf8v7YncW1kW3noEUW0GVLordZzHYll9bkHF6PbOmGirOQOBELgelwMBUm19IOM4Nu4Mfdpjw/wCdqYmyda57lQnjy9+I3MFrIN7Lkg+XbCM/g1A05oo4fz45G1KkX6pxpcAlfdcMbYBV2hdvYo6pvEpu/M49kqaxrWot3+OZR8hicFFcycc3yDMbTrYdhvIW09b6+4Y6ybVAC/V+9v8ATAmtNXN92lTzZ29NLYrZhsXLUX6+rNuSRpuqPGxY39cQ3RWiuC3gTVe0VQw+paOMcj1e/wDEuAe/hgdzPLqqp7NRWSPESN6MIqBgDe3ZPfzxl0vRvKmi1jquuigj/OBi8vRzCftJp5PNgP2OvjiuOmvt/IYZvVlTMVNZUR08QvFC4eZ/ui1rID32uLd58Dhi5XlD1L7qjT7zclH737sdtkdiwUVUXq4F5828jzJ5scMijokiUIg3VHL9/PxwuUsTuF8CsitlOSR062UXJ1ZjxJ/YeAxoYmJiBZMTExMAEwtemHYGetFPPRj+0QMR7W6d06gg96sLgfqOGViYAPm5tmc4Yjra+RCOQkkuO+4AGvgccp0XzSfa1M8lu5GaxPmx4jwx9H2xAMDbZZNdD58g6Ior6x1Mh46i1/co88aUHRhCtv7FIeXaDn144eWJgJxegooNhNz2KFV8o15+euNCPZipsLQsB3aD4XwzcTEWJ3jFumylUfwrebD+uOX2TqgL9XfwDC+GPiYLBvGKSohaM2dHU/qFvnjy3sN2WFWFmAI7iL4x6zZGmfUIUP6Db4ajBYsqnUXPWYKNndkzJuyTAhOKp+bxPcvhzwQ0eytPGwYISRrdiTw8OGNjElZT6HVEAAAAAHADTHbExMAsmJiYmAD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076" name="AutoShape 4" descr="data:image/jpg;base64,/9j/4AAQSkZJRgABAQAAAQABAAD/2wCEAAkGBhMSERUUExMUFRUWFx8YFxcYGSAcIBgcGBwdHyIbHh4hHCYfHxojGh4fHzAgIycpLC0sHB8xNTAqNSgrLCkBCQoKDgwOGg8PGiokHyQsLSwsLTUpLy0sMSwsKiwsLCwsLCwpLCwsLCksLCwuLC0vLSwsLCwsLCkpLCwsLCwsLP/AABEIAIwAoAMBIgACEQEDEQH/xAAcAAACAwADAQAAAAAAAAAAAAAGBwAEBQECAwj/xABFEAACAQIDBAcECAMGBQUAAAABAgMEEQAFIQYSMUEHEyJRYXGBMpGhsRQjM0JDUmLBcoLRJFOSwuHwFRZEg6MINVSz8f/EABoBAAIDAQEAAAAAAAAAAAAAAAADAQIEBQb/xAAuEQACAQIDBwMDBQEAAAAAAAAAAQIDERIhMQQTMkFRgZFhcfAiQqEFFLHB0eH/2gAMAwEAAhEDEQA/AHjiYWlV0nVcskq0dCrJFK0fXSzbqsUYgkKF3iL21B5jGDVbcZo5s1XTQa6rBAzka8LyEDl34q5xWrHQoVJ5xQ6C2KVfndPALzTRRD9bqvzOEXVVE0v21bWy94MvVrew+6g/fFBclpwSRChJ5tdz72J1xR1YmmOwVXrZDdrumDK49BUiQ90Ss/f3C3Lvxh1fTkn4FDVSdxe0QPqbn4YCVQAWAAHcAAPcNMckYo63RGmP6cvukblZ0r5pJ9lT0sA/WzSG3pYfDGRV7Q5pN9pmEig8oEWP48ceWJijqyHx2KlHlct0W0eYQ23K+Zh3TBJR8VDfHBFQdK1YgAlggm04ozRE+jB1+I9MBNRmcSe3Ii+bD5ccUhtJG5tCkszd0aE4lTmUqUNmWuXcclF0sUzWEsc8J8VDj3oT8sEeX7T0s/2U8bHu3rH3Gx+GEPSZVmdR9lSCMd8pv8Bw9cb1D0T1kljUVm4OJWFLc/zHw8MTv0tWjDUpUVwt/PA7Qcc4WuXbEmhYSRZnUxge0szLJGwN9N1rWPO9740jtyIrb9TTT9/Vo6m/o7r392LxrQZmVKUnaKuHGJhUZ70zOOzS0xeS2oJJt52AAHiTfwxa2Y6Zlkmjp62nNNJJYJIGDRsx4C/FbnTW+vMYYpJhOjOCu0M3ExwMc4sKJiYmJgAX20HRBC7NLQyvRTHX6snq2P6kv8R7jhabQ57WZfIsGZwRzAqdyVDYsBpdSBbQgaEDH0YThP8A/qLo42padrr1wm3VXTeKyKb6XvbeVdbcfPFXFPUbTrTp8LBKkzalqPsKhVY69VUfVnyEgunv9+O9XM0P28bxfqYXQ89HUleHeRg+n2CiemhiqqdHKRIhcLqCqgGzjtDUYHX6PpoAfoFY6L/czduM34jw9QcLdNG+G11Frn8+czGimVhdSGHeCD8sZGaZ+8P/AE8hH5iRb3i/xtizmWVtCS1XQSwnnU0Ldk+aaqPh5Yr07TsL0tRDWrb2D9VKP5DxPkWxTd2H/usato/P41Mej2jmqZBGJIIL6Ave3lc3187DBjD0algDU1kzA69kBF424km+vMDmO/ApVVNMzlaqnenk53Ugj3AH4Y94MmpmUE1LSINADIAAO63L4cMVmm+F27XEYZzfEpd7fgLYsvyOksXaJzzBPWHle9yQfMAeGNGLpFpEW1LSSSjkdyy+HEqOOAP/AIjQQex1ZP6V3j7z/XFWr28H4cZPizW+A/rhe4xa3fuGGnHimu3z+hiTdIdc/sRQwjxO9p5AW+OKFRn9Y4vJVyAfotGOfmfjgQy6nzWs+xhZEP393cX/ABNx9L4Jcu6HnchqyqZ+9I9bebNp7lw1UF6Fd5RXDFv3yMqpzqmQ9uUO3ixkPxJxboDU1GtNSSsv95IerTzueI8sGMOQ5ZlyhisMZtcPId52/hBuT/KMbFLmbzaxxMqHhJKNy/iqe2R4ndHni+7RL2qeisvZAdTdGs0wvWVNl49TTiw8i7cfdgIqEZJqmglvIY9/qmOpG4CR71sfhh8XPmcIvN5VkzuZ0YMm+bsvCyoAfjizX0ilKTms9cn3PoPozrzNldJIzMzGEAljckoStyefDjgnwC9Cf/s8H8Un/wBjYOsNMJMTExMACRzbbusrKypgjrVpIIZTGNxLyOLkX3uQ0Otxa401xobMdHtH9JiqJHaUoes35XLGV9N0sbW3VILW77csHe02wFHXdqWPdlHszR9mRf5hx8muMLjMdkMzy5i0f9rgBvvRj6xR3vFwY25rhcsV7o10nRlHDPJ9RzxsCLggj34q1OURvxW3iNP9MKfItv0a9nMR4ErqFItoyEG3DmPC/caUW2LFB1qCVD+JDrpwuY738eyTx4DApp6hPZpwzjmvQ0Z9n2X2G3vA6HATtPsLTSdqWjIbiXhsknmOAb4nwODajretUvRzpLumxjkJNidd0m3WRnT7wPljrJtdHGdysjalJNg0lmibylHYH8+6fDDLCMb0YnGyOR7xU9XFWKmhpaxbSL4AsA6nhqLYBM72TqUqArUxpllcIgY9gM3IOb3HPjwx9O51sXRVqjrI1b8rrxHcVYajXuOFZ0i9HNfT0cpjqzUUiAOY5dXj3eatbWw8QbX0OISCUsWplZL0I8DVT+aRD4b7D5DBfS7O5Zlw3isEZH35WBbzG8Sf8Ix7ZRXRzUFO1ROFLRIWbrurJJFtSGBufngD6Tdko6bqqynS6BgJQzFwTxVrsSbEXU692IGKyzQWVPSbAxtTRzVLd6rup6s3ztgW2l2yzC6dYy0sMjbrGAb7qP4ja5tc9kjn4YOaSopbCCOI7jEezzPLgQf254wdq8tiKzRnSMDU8d2wvvd+nHGV1rNPkduH6dGUJRd1K11olYINnNlKSELLGOukYBvpEh6x2vzBPC/hbFvONp6WlF55lQ8d32mPkoucKzJsxqvoUSfSRBTqp0jAViCSbs54anlytjInzqlgJMKdbIeMjEnXxY6n0tx44fizsszlqm1FSk0l+fAa55t5UVUbRUcDxI43TPKd07p4lVHAnhe5PdY4DhlKxWpofrKqoKxjwDkaeA4cdeJ04Y6ZXVzTSdZUwVMsFvYgbquPMEqd7y+OGLsRmez9LOJd2op6i3ZNWG7NxqVIG7ztc64lK+r7FJTjBPCnd83/AEhr7LZAlFSQ0yaiNACfzNxZvViTjWxVoMzhmXehljkXvRgw94JxaBwwxkxMTEwATGHtRtFFTU8zdfCkixuyB3UdoKbCxNz2rC2LG0+WNUUdRApAaWJkUngCwNr+F8J2HKIXo2aGlihmTfgqU3AWilsV9trsFN7g37sXhHE7AYmTdHMjxioeZ2lmUSbytYrvje1uO0xvrfHUy1dE5LF7D8SJeQ/vIjcEeIB5645j2yLJQQoSpDKkq87wbot/NbDFidJ0va47u444dSvVpO9RXTO3SjBxtD588glR7XRS7sk66jhVU5YFPO31iA8wN4DuwXZZtZUhN5HizGA6cVSSx5b1urkNvusEPjzwM5vsCrMZIGMb96aE+Y9lvW18Cc0c1LIWcNE4/wCogBt/3E+dwRjXR2iM+F9hdSknxrv/AN/3yM6hiopZCMvqpssqr3NO4srG/AwOdxhfnEeeMbpO2tzOmoZKaqgi+v8Aq1qoWO66nVlMbdpWKg+GpwOLtZvxha6nSqhHCeIXIFuJXiD3lSP63Tl+WVC9dLWvNFGN1EmnP1QJvugGznXkbmwA10ONW86mR7Nnk/ORVyHMMvoYoxFCKusCgyNGoIVjrbrGuqgX3brxtihtttLWz0zCTq4YmIUQoN4tr95zqdddMemZ7d5dAClLTdaeAJuiD09o/DA9QVE9ZV06SjdikmBC2stlN2tfUgLcXN/niLyuWapKNk23+Bk5bDJC6Iv2iWThztbny4m+MfpQzdmAhTVnPVqBxIGrWHmbeuDHIIxJM8zWvclRfXXW456DThgAQGozCSU6pTjdX+N9SfS5+GMUPpWJ6a/4eh2yorOCX1WUb++b8JPyZeW7FSy7n0lzuiwWJSLjkB3L6XPjg9yfYOmhAPVANz5kep192LFHNFEN43Z+e7wA8zYYzcy6RYI9OsQHw7Z+GmMlSpWqu0dDnKnTp5vywqho0X2VAPfz9+PGungI3Zdxh+VgG+FjhYZl0p30RXfxdt0H0Gp9cYb7UV9SbRb3faJCT77E4IbBUk7yYue101lqHeZZPQoeshV6dxwkjkMVvjx93riqvSrU0mkeYfSQPw5o+s/8i7p9b4rdHnRPLmsX0mondIt4qum80luJBY2UX0vY6g92HFs50T5bR2KU6yOPxJe23nqN0egGOrSoygs5NnPq1oy0ijZ2Tzv6ZRwVNt3rYwxXXQ8wL62DXxr44VbY5xoMpMLDpDjXLqpK/QQ1JFPVp+bQ7ko/UoBB8Ld5wTbQ7bfR6yGkSMPLMhdS0m4vZNreyxvYEgW1thbdIWdiWtpKauqFaHr0eWGJN2ONNQC7t22LX46ADeNtRiyusyTKz7YZFqDNC5VyRLG2hRr8CRbnzt46YmRbVFZOrlHUzjQqfZfxU+Pd7sbi0LUskmXTHeMY6ylkb78R4LfvHsEciAeeMnNskiqVAkGo9lxoy/6eBxetssNohfmNpV5UXloGlJmSSacG7j+3fj1qKVXFmF/HmPXCrTMaiiIWpBmh4LMvFRyDD9j6E4J59piKZ5UffQIWBHE2HC978ePPjjzdbYp0pWOxTrwqK6K//JqSyymmdo3R9wtGN5Ga1yHUdm4BsbWN/WwrtH0c1onBeKNN5QTIrdg+NvaDaarbDQ6NZ0p8oNU2tkeWQ8C27vMRx471wPPXHtGz1UETzG7OqyHd4DeG9ujwANr40Sryoc78jJBKvKzyWovcn2Lgh1f61+9hoPJf64sRKWzWPdIJSmkNuNtG9xsb418/zNIphEgUBImkfwC/uTpr3G2B3ZjJZ6aWmzGVlKVUhjdfypOLKzHuLcuVh36OoY6n1y6fyNnOFJxjFZXV+1gyy+VY0kY6sRuIPPifIaa4XrCv+lzQ0kZLO3WcBfdsFBuTYLfnggzTKpKupio0LKLmSdxoURDb3ljbztgpyzYqOmkSRaiYiO9utKGwbiN+wIUjiDcaeWGUoPCm/Bt/U68JTlBXune/bTxz6gJH0WZjU61E6IONncuR/KvZ+ON3LuhKmT7aeWQ8woCD/MflxweQV8ch+rZW/Uuo5cxpfwviy3f3DX/95Y1aZHEwp5vMHKXYfLaYb/0eEBdS8x3rermwxXrNuYFUx0cUlUbEBaeM7guLatYKBc20Bx2zPPMujftFaiYG4VVM7L81T3jGbW7ZVjj6injp0/PO1zbv3F7K+pOIc4x4mSot8KM7o82yqqSL6ITuyQk/UzLyJvoNG4nkeeGHR9LEaj+1QSRDnJH9anrYB19V9cJzOc0geQSVVXJUyJ7IjsoXnYbug4fmxzS7T1dUeroqV3PC4BkI87AKPU4Tim5XhmvUs40lG09fTPzyPpDJtoaeqXep5o5R+hgbeY4j1xo4T3RJsJmNNWvV1YjjEkRQpdd8kkEaKLC1u++HDjUY36C+6Ytm3mpVqqfSpo261COJUasvjwDW/Se/AdtZJFV0lNmqx9YiruVUQ4tC5s63/NG97HlcHlh4stxbCdyzLly/MajLZQPolYGlpgdBro8XnbS36VPPDIP7WBr5vs1JU5bGyHrqiks9NN/8iK1wpPe8dlI/Ot+eA6kzESBG13ZRdb8Qw9pD43ufRhyFzvovrTA0+VysS1Md+Bj9+CTVfVSbHzHdgf6Qtmfo1SZFBWmq2uSPwakXIbuAk4/xA9+t6U3F2IauBWd7UvTy9U1OrK3ssX0cHvuttDxv/rjx/wCSK4iQwQiFXFmh63fDb3dpZTbXU91uQN/MqAVsLxvYTRnys9tD/A4/3pje6N+kWngp2hrpRFLE252gTvBfIHUcDw5HW+EbY6uWHNewylZag0+0tRR5VNl9RBJEWTdiktdWuwLKTfS6k/7OD7ZeqWSjp2UgjqkGneqgEe8Ymeba5PUKQauI3G6wKuQw7j2POxHA4WuW7RrQnq0lFRDvHcki3gygm9mUgXHljk1qMq0bYbO9/c27PUjB3bO+cK7zZiy6vuKnDXdOrfAY9qfa+SqoEoKeheYiIRs+psRrvAKLC3G5YeuKdfnqJUpVId+GROrkta4IPMHnax8dcHUG1yx067hhSP7rCwBA7hwv42vjVCe7SUl0/ixM6e8bwvr4bvcp5BsnXuyvPK9M4i3HeMozSKGBALEndYWuTY/HGr9Gy+E3beqpAeLlp2B/mvGvwPDAbm3SJCdC8k57uC/HT4HGS2f19QPqICiHgQvK3JmsPcBhkXOWUY+Sk3C95yv7ePYY1dtfNbsJHAn55TvEfyghB6sfLARnG1lO1+unlqj+W/Y/wjdS3vxix7JVcrb04dvOVb8++9vQG2CLKdmUisTTw372kZyf/FYYv+3qvW/bIU68Vwpd8wZq9u5Au7BHHCvgAf2Av6YwqjNJJmHXSOy3115c7DhfDAzjZV6ndDvFGF9kRxa695LAnli7WbNRzQhJQC6iwlVQpv32GnmD8MaKeytK9rCZ1pS1Zq7D5Bkwjjlanaovb6x23hfuMegBHdY+uHBk1ZTMNynKAAX3FG7YfwgDHy3C9TlVQL9qN/8AC6j5MB7vEYeGyOaxwyl5GsrJYG3eQfkMVaadmFk1kMfEx5U9SrrvIwYd4N8euIFkwEdLGy71VIJYAfpNK3XQkcTu6so8wL25lRg3xMACibOhLDSZxCO1BpUKNT1LdmZe87h7Y8L4ZOcZVDW0zxSdqOVRqPHVWU94NmB8sLqlov8Ah2ayUZH9lrg00IPsrJ9+LusRy7t3BnsOxijekYkmnIEZOpaF7mP1UAx/9vxwyWaUiRN5lDNTSMZBeopfq5wPxojqsg8SvbHjvDF00cEo6zq4n3xcNuA7w7727hhidI+yEk4SppUVqmMFShNhNG33Se9W7Qv4jnhEZFkmYzyzU0TmJoSesUvuKh3rFRa+u9ewHcThsaySzRFr6B1HSIPZjQeIUD9scPWxpqXjXzYD98YqdEVY/wBtWoNRzd9efG2vzxdp+g2MHt1bt/DGBfwuXOvHlyxL2lLREqm2Y+dwZbNq8saPfVozqfOwIPngdNFlynWomcD7oS3pfDQp+hmhUdo1Dm3NwPXRcaNP0aZanCmVtb9pmP8AmtbCJVU3oi6pMV9NtNl8H2NMxP5mtf3km2PZ+kVmPYp7+bEnXhoB8MN6n2Uo4/YpIBYcTGp+JBxpJGF0AC8tAB8sG+ktCd11EmmdZpL9nRtrpcQude+509+LdLl+eu1+osONnCKPK1wcOM+d8cHT+v8Av1xXeyfMtukKttjc6lJJmhiBIsFfQDjcbqk/G+MHarYfMaaMyPKZo1F2ZHY7uvEq1jbxAtrh52xSzyuSGmmlksURGJB4NpYKfAk29cRjb1B00kIrKJOvy+pjk7XU2eMniCb/AA/qcMPZep6yigY3v1YB/l7N+PcMAWV0Zgy2olfTrwFVfUgH1ufQYY2UUnU08Uf5EUettfjfF56IpT1Zo0lY0bXjYqfA/Pv4c8FGSbYyM6RyKG3iF3hobnvHA+lsC1NTPK4RFJY8v38sH2z+zKwAM3altqeS+C/1+XDFLF5tczdxMTEwCAK6V9nDU0DvHcT0x6+BhxDJqQPNQdO8DFPY/PVq4qetWwaxSUDle2+vkrqHF+RPecMAi+Efs8f+GZzU5c3ZgqG6yAHgCRcD1W6earhkHyfMkau1+1sOX0zzzMNNES+sj20UefM8hrhK5LktcOtq2zCnpGqWMsqncYgkki9zYe1wvpcX1wa7W9H8eYSiWaWRiq7qIT2EH6QLEXOpOt8DsnRPHHwplfl7TH4EjF9xIE7Hqiovalz1zc/ceJB7hvW+WOy12Vpo+ZSyXH3qqRgRzBCWtjKlyWlhNmhgQjTtBfdrx4Y6Nm1JH+JAtvylf8v7YncW1kW3noEUW0GVLordZzHYll9bkHF6PbOmGirOQOBELgelwMBUm19IOM4Nu4Mfdpjw/wCdqYmyda57lQnjy9+I3MFrIN7Lkg+XbCM/g1A05oo4fz45G1KkX6pxpcAlfdcMbYBV2hdvYo6pvEpu/M49kqaxrWot3+OZR8hicFFcycc3yDMbTrYdhvIW09b6+4Y6ybVAC/V+9v8ATAmtNXN92lTzZ29NLYrZhsXLUX6+rNuSRpuqPGxY39cQ3RWiuC3gTVe0VQw+paOMcj1e/wDEuAe/hgdzPLqqp7NRWSPESN6MIqBgDe3ZPfzxl0vRvKmi1jquuigj/OBi8vRzCftJp5PNgP2OvjiuOmvt/IYZvVlTMVNZUR08QvFC4eZ/ui1rID32uLd58Dhi5XlD1L7qjT7zclH737sdtkdiwUVUXq4F5828jzJ5scMijokiUIg3VHL9/PxwuUsTuF8CsitlOSR062UXJ1ZjxJ/YeAxoYmJiBZMTExMAEwtemHYGetFPPRj+0QMR7W6d06gg96sLgfqOGViYAPm5tmc4Yjra+RCOQkkuO+4AGvgccp0XzSfa1M8lu5GaxPmx4jwx9H2xAMDbZZNdD58g6Ior6x1Mh46i1/co88aUHRhCtv7FIeXaDn144eWJgJxegooNhNz2KFV8o15+euNCPZipsLQsB3aD4XwzcTEWJ3jFumylUfwrebD+uOX2TqgL9XfwDC+GPiYLBvGKSohaM2dHU/qFvnjy3sN2WFWFmAI7iL4x6zZGmfUIUP6Db4ajBYsqnUXPWYKNndkzJuyTAhOKp+bxPcvhzwQ0eytPGwYISRrdiTw8OGNjElZT6HVEAAAAAHADTHbExMAsmJiYmAD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Picture 2" descr="http://1.bp.blogspot.com/-FHkju5DAPTI/TbynTr-og_I/AAAAAAAABzg/RK65oHsRosQ/s200/livros_desenho_pilha.gi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308304" y="188640"/>
            <a:ext cx="1400944" cy="12258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pt-BR" b="1" dirty="0"/>
              <a:t>Mais de 3 autores: </a:t>
            </a:r>
            <a:r>
              <a:rPr lang="pt-BR" dirty="0"/>
              <a:t>quando a obra citada foi escrita por mais de 3 autores, para facilitar a confecção da referência, recomenda-se o uso da expressão et al. (abreviação de </a:t>
            </a:r>
            <a:r>
              <a:rPr lang="pt-BR" dirty="0" err="1"/>
              <a:t>et</a:t>
            </a:r>
            <a:r>
              <a:rPr lang="pt-BR" dirty="0"/>
              <a:t> </a:t>
            </a:r>
            <a:r>
              <a:rPr lang="pt-BR" dirty="0" err="1"/>
              <a:t>alii</a:t>
            </a:r>
            <a:r>
              <a:rPr lang="pt-BR" dirty="0"/>
              <a:t>, “outros” em latim) logo após a menção do sobrenome do primeiro autor. </a:t>
            </a:r>
          </a:p>
          <a:p>
            <a:endParaRPr lang="pt-BR" dirty="0"/>
          </a:p>
          <a:p>
            <a:pPr>
              <a:buNone/>
            </a:pPr>
            <a:r>
              <a:rPr lang="pt-BR" b="1" dirty="0"/>
              <a:t>Exemplo:</a:t>
            </a:r>
            <a:r>
              <a:rPr lang="pt-BR" dirty="0"/>
              <a:t>	</a:t>
            </a:r>
          </a:p>
          <a:p>
            <a:pPr marL="273050" indent="0">
              <a:buNone/>
            </a:pPr>
            <a:r>
              <a:rPr lang="pt-BR" sz="2600" dirty="0"/>
              <a:t>“As leis federais que condicionam o repasse de verbas públicas à criação dos Conselhos também incentivaram sua expansão”. (SANTOS JUNIOR </a:t>
            </a:r>
            <a:r>
              <a:rPr lang="pt-BR" sz="2600" dirty="0" err="1"/>
              <a:t>et</a:t>
            </a:r>
            <a:r>
              <a:rPr lang="pt-BR" sz="2600" dirty="0"/>
              <a:t> al., 2004, p. 41).</a:t>
            </a:r>
          </a:p>
          <a:p>
            <a:pPr marL="273050" indent="0">
              <a:buNone/>
            </a:pPr>
            <a:r>
              <a:rPr lang="pt-BR" sz="2600" dirty="0"/>
              <a:t> </a:t>
            </a:r>
          </a:p>
          <a:p>
            <a:endParaRPr lang="pt-BR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454152" y="3810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3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OUTROS CASOS</a:t>
            </a:r>
            <a:endParaRPr kumimoji="0" lang="pt-BR" sz="33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 descr="http://1.bp.blogspot.com/-FHkju5DAPTI/TbynTr-og_I/AAAAAAAABzg/RK65oHsRosQ/s200/livros_desenho_pilha.gi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452320" y="3212976"/>
            <a:ext cx="1400944" cy="12258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9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34400" cy="1040160"/>
          </a:xfrm>
        </p:spPr>
        <p:txBody>
          <a:bodyPr>
            <a:normAutofit fontScale="90000"/>
          </a:bodyPr>
          <a:lstStyle/>
          <a:p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r>
              <a:rPr lang="pt-BR" u="sng" dirty="0"/>
              <a:t>Dicas de redação </a:t>
            </a:r>
            <a:br>
              <a:rPr lang="pt-BR" u="sng" dirty="0"/>
            </a:br>
            <a:r>
              <a:rPr lang="pt-BR" u="sng" dirty="0"/>
              <a:t>Estilo de escrita  :</a:t>
            </a:r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51520" y="1412776"/>
            <a:ext cx="8640960" cy="5256584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70000" lnSpcReduction="20000"/>
          </a:bodyPr>
          <a:lstStyle/>
          <a:p>
            <a:pPr lvl="0"/>
            <a:r>
              <a:rPr lang="pt-BR" sz="3600" b="1" dirty="0"/>
              <a:t>Impessoalidade</a:t>
            </a:r>
            <a:endParaRPr lang="pt-BR" sz="3600" dirty="0"/>
          </a:p>
          <a:p>
            <a:pPr lvl="0"/>
            <a:r>
              <a:rPr lang="pt-BR" sz="3600" b="1" dirty="0"/>
              <a:t>Objetividade</a:t>
            </a:r>
            <a:endParaRPr lang="pt-BR" sz="3600" dirty="0"/>
          </a:p>
          <a:p>
            <a:pPr lvl="0"/>
            <a:r>
              <a:rPr lang="pt-BR" sz="3600" b="1" dirty="0"/>
              <a:t>Redação clara</a:t>
            </a:r>
            <a:endParaRPr lang="pt-BR" sz="3600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sz="3600" b="1" dirty="0"/>
              <a:t>Por fim:</a:t>
            </a:r>
          </a:p>
          <a:p>
            <a:pPr lvl="0"/>
            <a:r>
              <a:rPr lang="pt-BR" dirty="0"/>
              <a:t>Não se deve afirmar o que não pode ser provado. Nesse sentido, evite expressões como: “todos entendem que”, “para a maioria” ou “ninguém concorda”. Em vez disso, escreva que os autores “a”, “b” e “c” pensam em “tal” sentido, ou seja, comprove sua afirmação e evite generalizações.</a:t>
            </a:r>
          </a:p>
          <a:p>
            <a:pPr lvl="0"/>
            <a:endParaRPr lang="pt-BR" sz="3600" dirty="0"/>
          </a:p>
          <a:p>
            <a:pPr lvl="0"/>
            <a:r>
              <a:rPr lang="pt-BR" dirty="0"/>
              <a:t>Cuidado com a crítica, ela só é feita por quem entende muito do assunto e não deve conter ironia ou desprezo.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É preciso interpretar os textos reproduzidos. Não se pode somente reproduzir um texto sem nenhum comentário.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  <a:tabLst>
                <a:tab pos="180975" algn="l"/>
              </a:tabLst>
            </a:pPr>
            <a:endParaRPr lang="pt-BR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alligraphy" pitchFamily="66" charset="0"/>
              <a:ea typeface="Times New Roman" pitchFamily="18" charset="0"/>
            </a:endParaRPr>
          </a:p>
        </p:txBody>
      </p:sp>
      <p:pic>
        <p:nvPicPr>
          <p:cNvPr id="5" name="Imagem 4" descr="escrev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944215" cy="13103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34400" cy="1040160"/>
          </a:xfrm>
        </p:spPr>
        <p:txBody>
          <a:bodyPr>
            <a:normAutofit fontScale="90000"/>
          </a:bodyPr>
          <a:lstStyle/>
          <a:p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r>
              <a:rPr lang="pt-BR" u="sng" dirty="0"/>
              <a:t>Dicas de redação :</a:t>
            </a:r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51520" y="1484784"/>
            <a:ext cx="8640960" cy="511256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85000" lnSpcReduction="10000"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  <a:tabLst>
                <a:tab pos="180975" algn="l"/>
              </a:tabLs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alligraphy" pitchFamily="66" charset="0"/>
                <a:ea typeface="Times New Roman" pitchFamily="18" charset="0"/>
              </a:rPr>
              <a:t>Escreva frases completas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  <a:tabLst>
                <a:tab pos="180975" algn="l"/>
              </a:tabLst>
            </a:pPr>
            <a:endParaRPr lang="pt-BR" sz="18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alligraphy" pitchFamily="66" charset="0"/>
              <a:ea typeface="Times New Roman" pitchFamily="18" charset="0"/>
            </a:endParaRP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  <a:tabLst>
                <a:tab pos="180975" algn="l"/>
              </a:tabLs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alligraphy" pitchFamily="66" charset="0"/>
              </a:rPr>
              <a:t>Escreva frases curtas. Fica mais fácil  de ler. </a:t>
            </a:r>
            <a:endParaRPr lang="pt-B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alligraphy" pitchFamily="66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  <a:tabLst>
                <a:tab pos="180975" algn="l"/>
              </a:tabLst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alligraphy" pitchFamily="66" charset="0"/>
              <a:ea typeface="Times New Roman" pitchFamily="18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  <a:tabLst>
                <a:tab pos="180975" algn="l"/>
              </a:tabLs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alligraphy" pitchFamily="66" charset="0"/>
                <a:ea typeface="Times New Roman" pitchFamily="18" charset="0"/>
              </a:rPr>
              <a:t>Não inicie um texto com tópicos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  <a:tabLst>
                <a:tab pos="180975" algn="l"/>
              </a:tabLst>
            </a:pPr>
            <a:endParaRPr lang="pt-BR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alligraphy" pitchFamily="66" charset="0"/>
              <a:ea typeface="Times New Roman" pitchFamily="18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  <a:tabLst>
                <a:tab pos="180975" algn="l"/>
              </a:tabLs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alligraphy" pitchFamily="66" charset="0"/>
                <a:ea typeface="Times New Roman" pitchFamily="18" charset="0"/>
              </a:rPr>
              <a:t>Sempre explique os termos técnicos e conceitos utilizado no texto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  <a:tabLst>
                <a:tab pos="180975" algn="l"/>
              </a:tabLst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alligraphy" pitchFamily="66" charset="0"/>
              <a:ea typeface="Times New Roman" pitchFamily="18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  <a:tabLst>
                <a:tab pos="180975" algn="l"/>
              </a:tabLst>
            </a:pPr>
            <a:endParaRPr lang="pt-BR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alligraphy" pitchFamily="66" charset="0"/>
              <a:ea typeface="Times New Roman" pitchFamily="18" charset="0"/>
            </a:endParaRPr>
          </a:p>
        </p:txBody>
      </p:sp>
      <p:pic>
        <p:nvPicPr>
          <p:cNvPr id="5" name="Imagem 4" descr="escrev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944215" cy="131038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34400" cy="1040160"/>
          </a:xfrm>
        </p:spPr>
        <p:txBody>
          <a:bodyPr>
            <a:normAutofit fontScale="90000"/>
          </a:bodyPr>
          <a:lstStyle/>
          <a:p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r>
              <a:rPr lang="pt-BR" u="sng" dirty="0"/>
              <a:t>Dicas de redação :</a:t>
            </a:r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51520" y="1484784"/>
            <a:ext cx="8640960" cy="511256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77500" lnSpcReduction="20000"/>
          </a:bodyPr>
          <a:lstStyle/>
          <a:p>
            <a:pPr lvl="0"/>
            <a:r>
              <a:rPr lang="pt-B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alligraphy" pitchFamily="66" charset="0"/>
              </a:rPr>
              <a:t>Faça subcapítulos quando mudar de assunto. </a:t>
            </a:r>
          </a:p>
          <a:p>
            <a:pPr>
              <a:buNone/>
            </a:pPr>
            <a:endParaRPr lang="pt-B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alligraphy" pitchFamily="66" charset="0"/>
            </a:endParaRPr>
          </a:p>
          <a:p>
            <a:pPr lvl="0"/>
            <a:r>
              <a:rPr lang="pt-B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alligraphy" pitchFamily="66" charset="0"/>
              </a:rPr>
              <a:t>Separe os argumentos de diversos autores e os reúna em um mesmo capítulo ou subcapítulo. </a:t>
            </a:r>
          </a:p>
          <a:p>
            <a:pPr lvl="0">
              <a:buNone/>
            </a:pPr>
            <a:endParaRPr lang="pt-B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alligraphy" pitchFamily="66" charset="0"/>
            </a:endParaRPr>
          </a:p>
          <a:p>
            <a:pPr lvl="0"/>
            <a:r>
              <a:rPr lang="pt-B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alligraphy" pitchFamily="66" charset="0"/>
              </a:rPr>
              <a:t>Organize a apresentação dos capítulos começando do assunto mais geral para o mais particular. </a:t>
            </a:r>
          </a:p>
          <a:p>
            <a:pPr lvl="0">
              <a:buNone/>
            </a:pPr>
            <a:endParaRPr lang="pt-B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alligraphy" pitchFamily="66" charset="0"/>
            </a:endParaRPr>
          </a:p>
          <a:p>
            <a:r>
              <a:rPr lang="pt-B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alligraphy" pitchFamily="66" charset="0"/>
              </a:rPr>
              <a:t>Dentro do capítulo, também escreva com uma sequência lógica</a:t>
            </a:r>
          </a:p>
          <a:p>
            <a:endParaRPr lang="pt-B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alligraphy" pitchFamily="66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  <a:tabLst>
                <a:tab pos="180975" algn="l"/>
              </a:tabLst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alligraphy" pitchFamily="66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  <a:tabLst>
                <a:tab pos="180975" algn="l"/>
              </a:tabLst>
            </a:pPr>
            <a:endParaRPr lang="pt-BR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alligraphy" pitchFamily="66" charset="0"/>
              <a:ea typeface="Times New Roman" pitchFamily="18" charset="0"/>
            </a:endParaRPr>
          </a:p>
        </p:txBody>
      </p:sp>
      <p:pic>
        <p:nvPicPr>
          <p:cNvPr id="5" name="Imagem 4" descr="escrev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944215" cy="131038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34400" cy="1040160"/>
          </a:xfrm>
        </p:spPr>
        <p:txBody>
          <a:bodyPr>
            <a:normAutofit fontScale="90000"/>
          </a:bodyPr>
          <a:lstStyle/>
          <a:p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r>
              <a:rPr lang="pt-BR" u="sng" dirty="0"/>
              <a:t>             Dicas de redação dos parágrafos:</a:t>
            </a:r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br>
              <a:rPr lang="pt-BR" u="sng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51520" y="1484784"/>
            <a:ext cx="8640960" cy="4641379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pt-BR" dirty="0"/>
              <a:t>Os parágrafos devem ter conexão um com o outro. </a:t>
            </a:r>
          </a:p>
          <a:p>
            <a:pPr lvl="0"/>
            <a:r>
              <a:rPr lang="pt-BR" dirty="0"/>
              <a:t>Se as ideias apresentadas se contrapõem ao que foi apresentado no parágrafo anterior, indique essa contraposição.</a:t>
            </a:r>
          </a:p>
          <a:p>
            <a:pPr lvl="0"/>
            <a:r>
              <a:rPr lang="pt-BR" dirty="0"/>
              <a:t>Caso o parágrafo que você está escrevendo apresente ideias similares, inicie a redação indicando essa similaridade.</a:t>
            </a:r>
          </a:p>
          <a:p>
            <a:pPr lvl="0"/>
            <a:r>
              <a:rPr lang="pt-BR" dirty="0"/>
              <a:t>Se o parágrafo que você está escrevendo inicia um novo assunto, indique a mudança. </a:t>
            </a:r>
          </a:p>
          <a:p>
            <a:endParaRPr lang="pt-BR" dirty="0"/>
          </a:p>
        </p:txBody>
      </p:sp>
      <p:pic>
        <p:nvPicPr>
          <p:cNvPr id="5" name="Imagem 4" descr="escrev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944215" cy="13103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aixaDeTexto 5"/>
          <p:cNvSpPr txBox="1">
            <a:spLocks noChangeArrowheads="1"/>
          </p:cNvSpPr>
          <p:nvPr/>
        </p:nvSpPr>
        <p:spPr bwMode="auto">
          <a:xfrm>
            <a:off x="285750" y="2000250"/>
            <a:ext cx="85725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3600" b="1" dirty="0">
                <a:solidFill>
                  <a:srgbClr val="C00000"/>
                </a:solidFill>
                <a:latin typeface="Berlin Sans FB Demi" pitchFamily="34" charset="0"/>
              </a:rPr>
              <a:t>COMO FAZER AS REFERÊNCIAS BIBLIOGRÁFICAS?</a:t>
            </a:r>
            <a:endParaRPr lang="pt-BR" dirty="0"/>
          </a:p>
        </p:txBody>
      </p:sp>
      <p:pic>
        <p:nvPicPr>
          <p:cNvPr id="21507" name="Imagem 3" descr="ft_203-bolsa_do_cafe_1925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00500" y="3786188"/>
            <a:ext cx="1162050" cy="121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/>
          <p:cNvSpPr>
            <a:spLocks noGrp="1"/>
          </p:cNvSpPr>
          <p:nvPr>
            <p:ph type="title"/>
          </p:nvPr>
        </p:nvSpPr>
        <p:spPr>
          <a:xfrm>
            <a:off x="0" y="1052513"/>
            <a:ext cx="5781675" cy="288255"/>
          </a:xfrm>
        </p:spPr>
        <p:txBody>
          <a:bodyPr/>
          <a:lstStyle/>
          <a:p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REFERÊNCIAS </a:t>
            </a:r>
            <a:b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</a:br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BIBLIOGRÁFICAS</a:t>
            </a:r>
            <a:endParaRPr lang="pt-BR" sz="3600" dirty="0">
              <a:solidFill>
                <a:srgbClr val="C00000"/>
              </a:solidFill>
              <a:latin typeface="Book Antiqua" pitchFamily="18" charset="0"/>
            </a:endParaRPr>
          </a:p>
        </p:txBody>
      </p:sp>
      <p:sp>
        <p:nvSpPr>
          <p:cNvPr id="10244" name="CaixaDeTexto 4"/>
          <p:cNvSpPr txBox="1">
            <a:spLocks noChangeArrowheads="1"/>
          </p:cNvSpPr>
          <p:nvPr/>
        </p:nvSpPr>
        <p:spPr bwMode="auto">
          <a:xfrm>
            <a:off x="250825" y="1773238"/>
            <a:ext cx="8497888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dirty="0"/>
              <a:t>Devem seguir o padrão da ABNT (</a:t>
            </a:r>
            <a:r>
              <a:rPr lang="pt-BR" sz="2400" b="1" dirty="0"/>
              <a:t>NBR 6023)</a:t>
            </a:r>
            <a:r>
              <a:rPr lang="pt-BR" sz="2400" dirty="0"/>
              <a:t>  </a:t>
            </a:r>
          </a:p>
          <a:p>
            <a:endParaRPr lang="pt-BR" sz="2400" b="1" dirty="0">
              <a:latin typeface="Tahoma" pitchFamily="34" charset="0"/>
              <a:cs typeface="Tahoma" pitchFamily="34" charset="0"/>
            </a:endParaRPr>
          </a:p>
          <a:p>
            <a:r>
              <a:rPr lang="pt-BR" sz="2400" b="1" dirty="0">
                <a:latin typeface="Tahoma" pitchFamily="34" charset="0"/>
                <a:cs typeface="Tahoma" pitchFamily="34" charset="0"/>
              </a:rPr>
              <a:t>Regra geral:</a:t>
            </a:r>
            <a:r>
              <a:rPr lang="pt-BR" sz="2400" dirty="0">
                <a:latin typeface="Tahoma" pitchFamily="34" charset="0"/>
                <a:cs typeface="Tahoma" pitchFamily="34" charset="0"/>
              </a:rPr>
              <a:t> </a:t>
            </a: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SOBRENOME DO AUTOR (ÚLTIMO NOME EM CAIXA ALTA), seguido pelo primeiro nome completo ou abreviado). </a:t>
            </a:r>
            <a:r>
              <a:rPr lang="pt-BR" sz="2000" b="1" dirty="0">
                <a:latin typeface="Tahoma" pitchFamily="34" charset="0"/>
                <a:cs typeface="Tahoma" pitchFamily="34" charset="0"/>
              </a:rPr>
              <a:t>Título. </a:t>
            </a:r>
            <a:r>
              <a:rPr lang="pt-BR" sz="2000" dirty="0">
                <a:latin typeface="Tahoma" pitchFamily="34" charset="0"/>
                <a:cs typeface="Tahoma" pitchFamily="34" charset="0"/>
              </a:rPr>
              <a:t>Cidade: editora, ano.</a:t>
            </a:r>
          </a:p>
          <a:p>
            <a:endParaRPr lang="pt-BR" sz="2400" b="1" dirty="0">
              <a:latin typeface="Tahoma" pitchFamily="34" charset="0"/>
              <a:cs typeface="Tahoma" pitchFamily="34" charset="0"/>
            </a:endParaRPr>
          </a:p>
          <a:p>
            <a:r>
              <a:rPr lang="pt-BR" sz="2400" b="1" dirty="0">
                <a:latin typeface="Tahoma" pitchFamily="34" charset="0"/>
                <a:cs typeface="Tahoma" pitchFamily="34" charset="0"/>
              </a:rPr>
              <a:t>Exemplo:</a:t>
            </a:r>
            <a:endParaRPr lang="pt-BR" sz="2400" dirty="0">
              <a:latin typeface="Tahoma" pitchFamily="34" charset="0"/>
              <a:cs typeface="Tahoma" pitchFamily="34" charset="0"/>
            </a:endParaRP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MELO FILHO, Álvaro.</a:t>
            </a:r>
            <a:r>
              <a:rPr lang="pt-BR" sz="2000" i="1" dirty="0">
                <a:latin typeface="Tahoma" pitchFamily="34" charset="0"/>
                <a:cs typeface="Tahoma" pitchFamily="34" charset="0"/>
              </a:rPr>
              <a:t> </a:t>
            </a:r>
            <a:r>
              <a:rPr lang="pt-BR" sz="2000" b="1" dirty="0">
                <a:latin typeface="Tahoma" pitchFamily="34" charset="0"/>
                <a:cs typeface="Tahoma" pitchFamily="34" charset="0"/>
              </a:rPr>
              <a:t>Metodologia do ensino jurídico. </a:t>
            </a:r>
            <a:r>
              <a:rPr lang="pt-BR" sz="2000" dirty="0">
                <a:latin typeface="Tahoma" pitchFamily="34" charset="0"/>
                <a:cs typeface="Tahoma" pitchFamily="34" charset="0"/>
              </a:rPr>
              <a:t>Rio de Janeiro: Forense,1979.</a:t>
            </a: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 </a:t>
            </a:r>
            <a:endParaRPr lang="pt-BR" sz="800" dirty="0">
              <a:latin typeface="Tahoma" pitchFamily="34" charset="0"/>
              <a:cs typeface="Tahoma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pt-BR" sz="2000" dirty="0">
                <a:latin typeface="Tahoma" pitchFamily="34" charset="0"/>
                <a:cs typeface="Tahoma" pitchFamily="34" charset="0"/>
              </a:rPr>
              <a:t> O título da obra deve ser destacado (</a:t>
            </a:r>
            <a:r>
              <a:rPr lang="pt-BR" sz="2000" b="1" dirty="0">
                <a:latin typeface="Tahoma" pitchFamily="34" charset="0"/>
                <a:cs typeface="Tahoma" pitchFamily="34" charset="0"/>
              </a:rPr>
              <a:t>negrito, </a:t>
            </a:r>
            <a:r>
              <a:rPr lang="pt-BR" sz="2000" i="1" dirty="0">
                <a:latin typeface="Tahoma" pitchFamily="34" charset="0"/>
                <a:cs typeface="Tahoma" pitchFamily="34" charset="0"/>
              </a:rPr>
              <a:t>itálico</a:t>
            </a:r>
            <a:r>
              <a:rPr lang="pt-BR" sz="2000" dirty="0">
                <a:latin typeface="Tahoma" pitchFamily="34" charset="0"/>
                <a:cs typeface="Tahoma" pitchFamily="34" charset="0"/>
              </a:rPr>
              <a:t> ou sublinhado)</a:t>
            </a:r>
          </a:p>
          <a:p>
            <a:endParaRPr lang="pt-BR" sz="2000" b="1" dirty="0">
              <a:latin typeface="Tahoma" pitchFamily="34" charset="0"/>
              <a:cs typeface="Tahoma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pt-BR" sz="2000" dirty="0">
                <a:latin typeface="Tahoma" pitchFamily="34" charset="0"/>
                <a:cs typeface="Tahoma" pitchFamily="34" charset="0"/>
              </a:rPr>
              <a:t>Ordenação bibliográfica em ordem alfabética pelo último nome do autor</a:t>
            </a:r>
          </a:p>
          <a:p>
            <a:pPr>
              <a:buFont typeface="Wingdings" pitchFamily="2" charset="2"/>
              <a:buChar char="§"/>
            </a:pPr>
            <a:endParaRPr lang="pt-BR" sz="2000" dirty="0">
              <a:latin typeface="Tahoma" pitchFamily="34" charset="0"/>
              <a:cs typeface="Tahoma" pitchFamily="34" charset="0"/>
            </a:endParaRPr>
          </a:p>
          <a:p>
            <a:pPr>
              <a:buFont typeface="Wingdings" pitchFamily="2" charset="2"/>
              <a:buChar char="§"/>
            </a:pPr>
            <a:endParaRPr lang="pt-BR" sz="2000" dirty="0">
              <a:latin typeface="Tahoma" pitchFamily="34" charset="0"/>
              <a:cs typeface="Tahoma" pitchFamily="34" charset="0"/>
            </a:endParaRPr>
          </a:p>
        </p:txBody>
      </p:sp>
      <p:pic>
        <p:nvPicPr>
          <p:cNvPr id="14340" name="Picture 5" descr="F:\unip\bibliotec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4888" y="188913"/>
            <a:ext cx="2816225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ítulo 1"/>
          <p:cNvSpPr>
            <a:spLocks noGrp="1"/>
          </p:cNvSpPr>
          <p:nvPr>
            <p:ph type="title"/>
          </p:nvPr>
        </p:nvSpPr>
        <p:spPr>
          <a:xfrm>
            <a:off x="0" y="1052513"/>
            <a:ext cx="5781675" cy="216247"/>
          </a:xfrm>
        </p:spPr>
        <p:txBody>
          <a:bodyPr/>
          <a:lstStyle/>
          <a:p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REFERÊNCIAS </a:t>
            </a:r>
            <a:b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</a:br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BIBLIOGRÁFICAS</a:t>
            </a:r>
            <a:endParaRPr lang="pt-BR" sz="3600" dirty="0">
              <a:solidFill>
                <a:srgbClr val="C00000"/>
              </a:solidFill>
              <a:latin typeface="Book Antiqua" pitchFamily="18" charset="0"/>
            </a:endParaRPr>
          </a:p>
        </p:txBody>
      </p:sp>
      <p:sp>
        <p:nvSpPr>
          <p:cNvPr id="10244" name="CaixaDeTexto 4"/>
          <p:cNvSpPr txBox="1">
            <a:spLocks noChangeArrowheads="1"/>
          </p:cNvSpPr>
          <p:nvPr/>
        </p:nvSpPr>
        <p:spPr bwMode="auto">
          <a:xfrm>
            <a:off x="395288" y="2349500"/>
            <a:ext cx="8497887" cy="378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 sz="2400" b="1">
              <a:latin typeface="Tahoma" pitchFamily="34" charset="0"/>
              <a:cs typeface="Tahoma" pitchFamily="34" charset="0"/>
            </a:endParaRPr>
          </a:p>
          <a:p>
            <a:r>
              <a:rPr lang="pt-BR" sz="2400" b="1">
                <a:latin typeface="Tahoma" pitchFamily="34" charset="0"/>
                <a:cs typeface="Tahoma" pitchFamily="34" charset="0"/>
              </a:rPr>
              <a:t>OBRAS DE UM MESMO AUTOR</a:t>
            </a:r>
            <a:r>
              <a:rPr lang="pt-BR" sz="2400">
                <a:latin typeface="Tahoma" pitchFamily="34" charset="0"/>
                <a:cs typeface="Tahoma" pitchFamily="34" charset="0"/>
              </a:rPr>
              <a:t>:</a:t>
            </a:r>
          </a:p>
          <a:p>
            <a:r>
              <a:rPr lang="pt-BR" sz="2000">
                <a:latin typeface="Tahoma" pitchFamily="34" charset="0"/>
                <a:cs typeface="Tahoma" pitchFamily="34" charset="0"/>
              </a:rPr>
              <a:t>Ordem cronológica de edição, começando pela mais antiga. Não se repete o nome do autor, coloca-se um traço a partir da 2ª obra.</a:t>
            </a:r>
          </a:p>
          <a:p>
            <a:endParaRPr lang="pt-BR" sz="2400" b="1">
              <a:latin typeface="Tahoma" pitchFamily="34" charset="0"/>
              <a:cs typeface="Tahoma" pitchFamily="34" charset="0"/>
            </a:endParaRPr>
          </a:p>
          <a:p>
            <a:endParaRPr lang="pt-BR" sz="2400" b="1">
              <a:latin typeface="Tahoma" pitchFamily="34" charset="0"/>
              <a:cs typeface="Tahoma" pitchFamily="34" charset="0"/>
            </a:endParaRPr>
          </a:p>
          <a:p>
            <a:r>
              <a:rPr lang="pt-BR" sz="2400" b="1">
                <a:latin typeface="Tahoma" pitchFamily="34" charset="0"/>
                <a:cs typeface="Tahoma" pitchFamily="34" charset="0"/>
              </a:rPr>
              <a:t>Exemplo: </a:t>
            </a:r>
          </a:p>
          <a:p>
            <a:r>
              <a:rPr lang="pt-BR" sz="2000">
                <a:latin typeface="Tahoma" pitchFamily="34" charset="0"/>
                <a:cs typeface="Tahoma" pitchFamily="34" charset="0"/>
              </a:rPr>
              <a:t>CARRAZZA, Roque Antonio</a:t>
            </a:r>
            <a:r>
              <a:rPr lang="pt-BR" sz="2000" b="1">
                <a:latin typeface="Tahoma" pitchFamily="34" charset="0"/>
                <a:cs typeface="Tahoma" pitchFamily="34" charset="0"/>
              </a:rPr>
              <a:t>. O regulamento no direito tributário brasileiro. </a:t>
            </a:r>
            <a:r>
              <a:rPr lang="pt-BR" sz="2000">
                <a:latin typeface="Tahoma" pitchFamily="34" charset="0"/>
                <a:cs typeface="Tahoma" pitchFamily="34" charset="0"/>
              </a:rPr>
              <a:t>São Paulo: Revista dos Tribunais, 1981.</a:t>
            </a:r>
          </a:p>
          <a:p>
            <a:r>
              <a:rPr lang="pt-BR" sz="2000">
                <a:latin typeface="Tahoma" pitchFamily="34" charset="0"/>
                <a:cs typeface="Tahoma" pitchFamily="34" charset="0"/>
              </a:rPr>
              <a:t>______. </a:t>
            </a:r>
            <a:r>
              <a:rPr lang="pt-BR" sz="2000" b="1">
                <a:latin typeface="Tahoma" pitchFamily="34" charset="0"/>
                <a:cs typeface="Tahoma" pitchFamily="34" charset="0"/>
              </a:rPr>
              <a:t>Curso de direito constitucional tributário. </a:t>
            </a:r>
            <a:r>
              <a:rPr lang="pt-BR" sz="2000">
                <a:latin typeface="Tahoma" pitchFamily="34" charset="0"/>
                <a:cs typeface="Tahoma" pitchFamily="34" charset="0"/>
              </a:rPr>
              <a:t>São Paulo: Revista dos Tribunais, 1991.</a:t>
            </a:r>
          </a:p>
        </p:txBody>
      </p:sp>
      <p:pic>
        <p:nvPicPr>
          <p:cNvPr id="5" name="Picture 5" descr="http://2.bp.blogspot.com/_1Tk9X8njIqI/SkbqOMj1fyI/AAAAAAAAEJA/076eXTAe3ew/s400/livroaberto.jp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156176" y="404664"/>
            <a:ext cx="2435708" cy="243570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  <a:softEdge rad="317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/>
          <p:cNvSpPr>
            <a:spLocks noGrp="1"/>
          </p:cNvSpPr>
          <p:nvPr>
            <p:ph type="title"/>
          </p:nvPr>
        </p:nvSpPr>
        <p:spPr>
          <a:xfrm>
            <a:off x="0" y="1052513"/>
            <a:ext cx="5781675" cy="288255"/>
          </a:xfrm>
        </p:spPr>
        <p:txBody>
          <a:bodyPr/>
          <a:lstStyle/>
          <a:p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REFERÊNCIAS </a:t>
            </a:r>
            <a:b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</a:br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BIBLIOGRÁFICAS</a:t>
            </a:r>
            <a:endParaRPr lang="pt-BR" sz="3600" dirty="0">
              <a:solidFill>
                <a:srgbClr val="C00000"/>
              </a:solidFill>
              <a:latin typeface="Book Antiqua" pitchFamily="18" charset="0"/>
            </a:endParaRPr>
          </a:p>
        </p:txBody>
      </p:sp>
      <p:sp>
        <p:nvSpPr>
          <p:cNvPr id="10244" name="CaixaDeTexto 4"/>
          <p:cNvSpPr txBox="1">
            <a:spLocks noChangeArrowheads="1"/>
          </p:cNvSpPr>
          <p:nvPr/>
        </p:nvSpPr>
        <p:spPr bwMode="auto">
          <a:xfrm>
            <a:off x="395288" y="2492375"/>
            <a:ext cx="8497887" cy="317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 sz="2400" b="1">
              <a:latin typeface="Tahoma" pitchFamily="34" charset="0"/>
              <a:cs typeface="Tahoma" pitchFamily="34" charset="0"/>
            </a:endParaRPr>
          </a:p>
          <a:p>
            <a:r>
              <a:rPr lang="pt-BR" sz="2400" b="1">
                <a:latin typeface="Tahoma" pitchFamily="34" charset="0"/>
                <a:cs typeface="Tahoma" pitchFamily="34" charset="0"/>
              </a:rPr>
              <a:t>BIBLIOGRAFIA COM DOIS AUTORES</a:t>
            </a:r>
            <a:endParaRPr lang="pt-BR" sz="2400">
              <a:latin typeface="Tahoma" pitchFamily="34" charset="0"/>
              <a:cs typeface="Tahoma" pitchFamily="34" charset="0"/>
            </a:endParaRPr>
          </a:p>
          <a:p>
            <a:r>
              <a:rPr lang="pt-BR" sz="2000">
                <a:latin typeface="Tahoma" pitchFamily="34" charset="0"/>
                <a:cs typeface="Tahoma" pitchFamily="34" charset="0"/>
              </a:rPr>
              <a:t>Devem ser incluídos os nomes e os sobrenomes de ambos</a:t>
            </a:r>
          </a:p>
          <a:p>
            <a:endParaRPr lang="pt-BR" sz="2400" b="1">
              <a:latin typeface="Tahoma" pitchFamily="34" charset="0"/>
              <a:cs typeface="Tahoma" pitchFamily="34" charset="0"/>
            </a:endParaRPr>
          </a:p>
          <a:p>
            <a:endParaRPr lang="pt-BR" sz="2400" b="1">
              <a:latin typeface="Tahoma" pitchFamily="34" charset="0"/>
              <a:cs typeface="Tahoma" pitchFamily="34" charset="0"/>
            </a:endParaRPr>
          </a:p>
          <a:p>
            <a:r>
              <a:rPr lang="pt-BR" sz="2400" b="1">
                <a:latin typeface="Tahoma" pitchFamily="34" charset="0"/>
                <a:cs typeface="Tahoma" pitchFamily="34" charset="0"/>
              </a:rPr>
              <a:t>Exemplo: </a:t>
            </a:r>
            <a:endParaRPr lang="pt-BR" sz="2400">
              <a:latin typeface="Tahoma" pitchFamily="34" charset="0"/>
              <a:cs typeface="Tahoma" pitchFamily="34" charset="0"/>
            </a:endParaRPr>
          </a:p>
          <a:p>
            <a:r>
              <a:rPr lang="pt-BR" sz="2000">
                <a:latin typeface="Tahoma" pitchFamily="34" charset="0"/>
                <a:cs typeface="Tahoma" pitchFamily="34" charset="0"/>
              </a:rPr>
              <a:t>DINIZ, A.; CUNHA, J. R. </a:t>
            </a:r>
            <a:r>
              <a:rPr lang="pt-BR" sz="2000" b="1">
                <a:latin typeface="Tahoma" pitchFamily="34" charset="0"/>
                <a:cs typeface="Tahoma" pitchFamily="34" charset="0"/>
              </a:rPr>
              <a:t>Visualizando a política de atendimento à criança e ao adolescente.</a:t>
            </a:r>
            <a:r>
              <a:rPr lang="pt-BR" sz="2000">
                <a:latin typeface="Tahoma" pitchFamily="34" charset="0"/>
                <a:cs typeface="Tahoma" pitchFamily="34" charset="0"/>
              </a:rPr>
              <a:t> Rio de Janeiro: Lutteris, Kroart, Fund. Bento Rubião, 1998.</a:t>
            </a:r>
          </a:p>
        </p:txBody>
      </p:sp>
      <p:pic>
        <p:nvPicPr>
          <p:cNvPr id="5" name="Picture 5" descr="http://2.bp.blogspot.com/_1Tk9X8njIqI/SkbqOMj1fyI/AAAAAAAAEJA/076eXTAe3ew/s400/livroaberto.jp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156176" y="404664"/>
            <a:ext cx="2435708" cy="243570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  <a:softEdge rad="317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ítulo 1"/>
          <p:cNvSpPr>
            <a:spLocks noGrp="1"/>
          </p:cNvSpPr>
          <p:nvPr>
            <p:ph type="title"/>
          </p:nvPr>
        </p:nvSpPr>
        <p:spPr>
          <a:xfrm>
            <a:off x="0" y="1052513"/>
            <a:ext cx="5781675" cy="288255"/>
          </a:xfrm>
        </p:spPr>
        <p:txBody>
          <a:bodyPr/>
          <a:lstStyle/>
          <a:p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REFERÊNCIAS </a:t>
            </a:r>
            <a:b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</a:br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BIBLIOGRÁFICAS</a:t>
            </a:r>
            <a:endParaRPr lang="pt-BR" sz="3600" dirty="0">
              <a:solidFill>
                <a:srgbClr val="C00000"/>
              </a:solidFill>
              <a:latin typeface="Book Antiqua" pitchFamily="18" charset="0"/>
            </a:endParaRPr>
          </a:p>
        </p:txBody>
      </p:sp>
      <p:sp>
        <p:nvSpPr>
          <p:cNvPr id="10244" name="CaixaDeTexto 4"/>
          <p:cNvSpPr txBox="1">
            <a:spLocks noChangeArrowheads="1"/>
          </p:cNvSpPr>
          <p:nvPr/>
        </p:nvSpPr>
        <p:spPr bwMode="auto">
          <a:xfrm>
            <a:off x="395288" y="2492375"/>
            <a:ext cx="8497887" cy="317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 sz="2400" b="1" dirty="0">
              <a:latin typeface="Tahoma" pitchFamily="34" charset="0"/>
              <a:cs typeface="Tahoma" pitchFamily="34" charset="0"/>
            </a:endParaRPr>
          </a:p>
          <a:p>
            <a:r>
              <a:rPr lang="pt-BR" sz="2400" b="1" dirty="0">
                <a:latin typeface="Tahoma" pitchFamily="34" charset="0"/>
                <a:cs typeface="Tahoma" pitchFamily="34" charset="0"/>
              </a:rPr>
              <a:t>BIBLIOGRAFIA COM MAIS de 3 AUTORES:</a:t>
            </a:r>
            <a:endParaRPr lang="pt-BR" sz="2400" dirty="0">
              <a:latin typeface="Tahoma" pitchFamily="34" charset="0"/>
              <a:cs typeface="Tahoma" pitchFamily="34" charset="0"/>
            </a:endParaRP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Coloque somente o sobrenome do primeiro autor seguido pela </a:t>
            </a: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expressão et al. </a:t>
            </a:r>
          </a:p>
          <a:p>
            <a:endParaRPr lang="pt-BR" sz="2400" b="1" dirty="0">
              <a:latin typeface="Tahoma" pitchFamily="34" charset="0"/>
              <a:cs typeface="Tahoma" pitchFamily="34" charset="0"/>
            </a:endParaRPr>
          </a:p>
          <a:p>
            <a:endParaRPr lang="pt-BR" sz="2400" b="1" dirty="0">
              <a:latin typeface="Tahoma" pitchFamily="34" charset="0"/>
              <a:cs typeface="Tahoma" pitchFamily="34" charset="0"/>
            </a:endParaRPr>
          </a:p>
          <a:p>
            <a:r>
              <a:rPr lang="pt-BR" sz="2400" b="1" dirty="0">
                <a:latin typeface="Tahoma" pitchFamily="34" charset="0"/>
                <a:cs typeface="Tahoma" pitchFamily="34" charset="0"/>
              </a:rPr>
              <a:t>Exemplo:  </a:t>
            </a:r>
            <a:endParaRPr lang="pt-BR" sz="2400" dirty="0">
              <a:latin typeface="Tahoma" pitchFamily="34" charset="0"/>
              <a:cs typeface="Tahoma" pitchFamily="34" charset="0"/>
            </a:endParaRP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LIMA, N. et al. (org.). </a:t>
            </a:r>
            <a:r>
              <a:rPr lang="pt-BR" sz="2000" b="1" dirty="0">
                <a:latin typeface="Tahoma" pitchFamily="34" charset="0"/>
                <a:cs typeface="Tahoma" pitchFamily="34" charset="0"/>
              </a:rPr>
              <a:t>Saúde e democracia</a:t>
            </a:r>
            <a:r>
              <a:rPr lang="pt-BR" sz="2000" dirty="0">
                <a:latin typeface="Tahoma" pitchFamily="34" charset="0"/>
                <a:cs typeface="Tahoma" pitchFamily="34" charset="0"/>
              </a:rPr>
              <a:t>: história e perspectivas do SUS. Rio de Janeiro: Fiocruz, 2005. p. 353-383.</a:t>
            </a:r>
          </a:p>
        </p:txBody>
      </p:sp>
      <p:pic>
        <p:nvPicPr>
          <p:cNvPr id="5" name="Picture 5" descr="http://2.bp.blogspot.com/_1Tk9X8njIqI/SkbqOMj1fyI/AAAAAAAAEJA/076eXTAe3ew/s400/livroaberto.jp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156176" y="404664"/>
            <a:ext cx="2435708" cy="243570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  <a:softEdge rad="317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ítulo 1"/>
          <p:cNvSpPr>
            <a:spLocks noGrp="1"/>
          </p:cNvSpPr>
          <p:nvPr>
            <p:ph type="title"/>
          </p:nvPr>
        </p:nvSpPr>
        <p:spPr>
          <a:xfrm>
            <a:off x="0" y="1052513"/>
            <a:ext cx="5781675" cy="216247"/>
          </a:xfrm>
        </p:spPr>
        <p:txBody>
          <a:bodyPr/>
          <a:lstStyle/>
          <a:p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REFERÊNCIAS </a:t>
            </a:r>
            <a:b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</a:br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BIBLIOGRÁFICAS</a:t>
            </a:r>
            <a:endParaRPr lang="pt-BR" sz="3600" dirty="0">
              <a:solidFill>
                <a:srgbClr val="C00000"/>
              </a:solidFill>
              <a:latin typeface="Book Antiqua" pitchFamily="18" charset="0"/>
            </a:endParaRPr>
          </a:p>
        </p:txBody>
      </p:sp>
      <p:sp>
        <p:nvSpPr>
          <p:cNvPr id="10244" name="CaixaDeTexto 4"/>
          <p:cNvSpPr txBox="1">
            <a:spLocks noChangeArrowheads="1"/>
          </p:cNvSpPr>
          <p:nvPr/>
        </p:nvSpPr>
        <p:spPr bwMode="auto">
          <a:xfrm>
            <a:off x="395288" y="2492375"/>
            <a:ext cx="8497887" cy="347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 sz="2400" b="1">
              <a:latin typeface="Tahoma" pitchFamily="34" charset="0"/>
              <a:cs typeface="Tahoma" pitchFamily="34" charset="0"/>
            </a:endParaRPr>
          </a:p>
          <a:p>
            <a:r>
              <a:rPr lang="pt-BR" sz="2400" b="1">
                <a:latin typeface="Tahoma" pitchFamily="34" charset="0"/>
                <a:cs typeface="Tahoma" pitchFamily="34" charset="0"/>
              </a:rPr>
              <a:t>CAPÍTULO DENTRO DE LIVRO:</a:t>
            </a:r>
            <a:endParaRPr lang="pt-BR" sz="2400">
              <a:latin typeface="Tahoma" pitchFamily="34" charset="0"/>
              <a:cs typeface="Tahoma" pitchFamily="34" charset="0"/>
            </a:endParaRPr>
          </a:p>
          <a:p>
            <a:r>
              <a:rPr lang="pt-BR" sz="2000">
                <a:latin typeface="Tahoma" pitchFamily="34" charset="0"/>
                <a:cs typeface="Tahoma" pitchFamily="34" charset="0"/>
              </a:rPr>
              <a:t>Citar o autor, o nome do capítulo e depois a obra em que está inserido.</a:t>
            </a:r>
          </a:p>
          <a:p>
            <a:endParaRPr lang="pt-BR" sz="2400" b="1">
              <a:latin typeface="Tahoma" pitchFamily="34" charset="0"/>
              <a:cs typeface="Tahoma" pitchFamily="34" charset="0"/>
            </a:endParaRPr>
          </a:p>
          <a:p>
            <a:endParaRPr lang="pt-BR" sz="2400" b="1">
              <a:latin typeface="Tahoma" pitchFamily="34" charset="0"/>
              <a:cs typeface="Tahoma" pitchFamily="34" charset="0"/>
            </a:endParaRPr>
          </a:p>
          <a:p>
            <a:r>
              <a:rPr lang="pt-BR" sz="2400" b="1">
                <a:latin typeface="Tahoma" pitchFamily="34" charset="0"/>
                <a:cs typeface="Tahoma" pitchFamily="34" charset="0"/>
              </a:rPr>
              <a:t>Exemplo: </a:t>
            </a:r>
            <a:endParaRPr lang="pt-BR" sz="2400">
              <a:latin typeface="Tahoma" pitchFamily="34" charset="0"/>
              <a:cs typeface="Tahoma" pitchFamily="34" charset="0"/>
            </a:endParaRPr>
          </a:p>
          <a:p>
            <a:r>
              <a:rPr lang="pt-BR" sz="2000">
                <a:latin typeface="Tahoma" pitchFamily="34" charset="0"/>
                <a:cs typeface="Tahoma" pitchFamily="34" charset="0"/>
              </a:rPr>
              <a:t>LABRA, M. A qualidade da representação dos usuários nos Conselhos Distritais de Saúde no Rio de Janeiro e a dimensão associativa. In: LIMA, N. </a:t>
            </a:r>
            <a:r>
              <a:rPr lang="pt-BR" sz="2000" i="1">
                <a:latin typeface="Tahoma" pitchFamily="34" charset="0"/>
                <a:cs typeface="Tahoma" pitchFamily="34" charset="0"/>
              </a:rPr>
              <a:t>et al.</a:t>
            </a:r>
            <a:r>
              <a:rPr lang="pt-BR" sz="2000">
                <a:latin typeface="Tahoma" pitchFamily="34" charset="0"/>
                <a:cs typeface="Tahoma" pitchFamily="34" charset="0"/>
              </a:rPr>
              <a:t> (org.). </a:t>
            </a:r>
            <a:r>
              <a:rPr lang="pt-BR" sz="2000" b="1">
                <a:latin typeface="Tahoma" pitchFamily="34" charset="0"/>
                <a:cs typeface="Tahoma" pitchFamily="34" charset="0"/>
              </a:rPr>
              <a:t>Saúde e democracia</a:t>
            </a:r>
            <a:r>
              <a:rPr lang="pt-BR" sz="2000">
                <a:latin typeface="Tahoma" pitchFamily="34" charset="0"/>
                <a:cs typeface="Tahoma" pitchFamily="34" charset="0"/>
              </a:rPr>
              <a:t>: história e perspectivas do SUS. Rio de Janeiro: Fiocruz, 2005. p. 353-383.</a:t>
            </a:r>
            <a:r>
              <a:rPr lang="pt-BR" sz="2000" i="1">
                <a:latin typeface="Tahoma" pitchFamily="34" charset="0"/>
                <a:cs typeface="Tahoma" pitchFamily="34" charset="0"/>
              </a:rPr>
              <a:t> </a:t>
            </a:r>
            <a:endParaRPr lang="pt-BR" sz="2000">
              <a:latin typeface="Tahoma" pitchFamily="34" charset="0"/>
              <a:cs typeface="Tahoma" pitchFamily="34" charset="0"/>
            </a:endParaRPr>
          </a:p>
        </p:txBody>
      </p:sp>
      <p:pic>
        <p:nvPicPr>
          <p:cNvPr id="5" name="Picture 5" descr="http://2.bp.blogspot.com/_1Tk9X8njIqI/SkbqOMj1fyI/AAAAAAAAEJA/076eXTAe3ew/s400/livroaberto.jp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156176" y="404664"/>
            <a:ext cx="2435708" cy="243570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  <a:softEdge rad="317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http://2.bp.blogspot.com/_1Tk9X8njIqI/SkbqOMj1fyI/AAAAAAAAEJA/076eXTAe3ew/s400/livroaberto.jp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4208" y="404664"/>
            <a:ext cx="2435708" cy="194421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  <a:softEdge rad="317500"/>
          </a:effectLst>
        </p:spPr>
      </p:pic>
      <p:sp>
        <p:nvSpPr>
          <p:cNvPr id="19459" name="Título 1"/>
          <p:cNvSpPr>
            <a:spLocks noGrp="1"/>
          </p:cNvSpPr>
          <p:nvPr>
            <p:ph type="title"/>
          </p:nvPr>
        </p:nvSpPr>
        <p:spPr>
          <a:xfrm>
            <a:off x="0" y="1052513"/>
            <a:ext cx="5781675" cy="288255"/>
          </a:xfrm>
        </p:spPr>
        <p:txBody>
          <a:bodyPr/>
          <a:lstStyle/>
          <a:p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REFERÊNCIAS </a:t>
            </a:r>
            <a:b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</a:br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BIBLIOGRÁFICAS</a:t>
            </a:r>
            <a:endParaRPr lang="pt-BR" sz="3600" dirty="0">
              <a:solidFill>
                <a:srgbClr val="C00000"/>
              </a:solidFill>
              <a:latin typeface="Book Antiqua" pitchFamily="18" charset="0"/>
            </a:endParaRPr>
          </a:p>
        </p:txBody>
      </p:sp>
      <p:sp>
        <p:nvSpPr>
          <p:cNvPr id="10244" name="CaixaDeTexto 4"/>
          <p:cNvSpPr txBox="1">
            <a:spLocks noChangeArrowheads="1"/>
          </p:cNvSpPr>
          <p:nvPr/>
        </p:nvSpPr>
        <p:spPr bwMode="auto">
          <a:xfrm>
            <a:off x="323850" y="2132856"/>
            <a:ext cx="8496300" cy="467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2400" b="1" dirty="0">
                <a:latin typeface="Tahoma" pitchFamily="34" charset="0"/>
                <a:cs typeface="Tahoma" pitchFamily="34" charset="0"/>
              </a:rPr>
              <a:t>BIBLIOGRAFIA DE FONTES VIRTUAIS</a:t>
            </a:r>
            <a:endParaRPr lang="pt-BR" sz="2400" dirty="0">
              <a:latin typeface="Tahoma" pitchFamily="34" charset="0"/>
              <a:cs typeface="Tahoma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000" dirty="0">
                <a:latin typeface="Tahoma" pitchFamily="34" charset="0"/>
                <a:cs typeface="Tahoma" pitchFamily="34" charset="0"/>
              </a:rPr>
              <a:t>A citação do material deve deixar clara a sua origem e a data da pesquisa, sem dispensar os demais dados (autor, título, etc.).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pt-BR" sz="2000" b="1" dirty="0">
                <a:latin typeface="Tahoma" pitchFamily="34" charset="0"/>
                <a:cs typeface="Tahoma" pitchFamily="34" charset="0"/>
              </a:rPr>
              <a:t>Não esqueça do nome do autor, mesmo que seja uma entidade.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pt-BR" sz="2000" b="1" dirty="0">
                <a:latin typeface="Tahoma" pitchFamily="34" charset="0"/>
                <a:cs typeface="Tahoma" pitchFamily="34" charset="0"/>
              </a:rPr>
              <a:t>Não esqueça do título da matéria, se não houver, atribua um e coloque entre colchetes. </a:t>
            </a:r>
          </a:p>
          <a:p>
            <a:endParaRPr lang="pt-BR" sz="2000" dirty="0">
              <a:latin typeface="Tahoma" pitchFamily="34" charset="0"/>
              <a:cs typeface="Tahoma" pitchFamily="34" charset="0"/>
            </a:endParaRPr>
          </a:p>
          <a:p>
            <a:endParaRPr lang="pt-BR" sz="2000" dirty="0">
              <a:latin typeface="Tahoma" pitchFamily="34" charset="0"/>
              <a:cs typeface="Tahoma" pitchFamily="34" charset="0"/>
            </a:endParaRPr>
          </a:p>
          <a:p>
            <a:r>
              <a:rPr lang="pt-BR" sz="2400" b="1" dirty="0">
                <a:latin typeface="Tahoma" pitchFamily="34" charset="0"/>
                <a:cs typeface="Tahoma" pitchFamily="34" charset="0"/>
              </a:rPr>
              <a:t>Exemplo: </a:t>
            </a:r>
            <a:endParaRPr lang="pt-BR" sz="2400" dirty="0">
              <a:latin typeface="Tahoma" pitchFamily="34" charset="0"/>
              <a:cs typeface="Tahoma" pitchFamily="34" charset="0"/>
            </a:endParaRPr>
          </a:p>
          <a:p>
            <a:r>
              <a:rPr lang="pt-BR" sz="2000" dirty="0">
                <a:latin typeface="Tahoma" pitchFamily="34" charset="0"/>
                <a:cs typeface="Tahoma" pitchFamily="34" charset="0"/>
              </a:rPr>
              <a:t>CALDEIRA, </a:t>
            </a:r>
            <a:r>
              <a:rPr lang="pt-BR" sz="2000" dirty="0" err="1">
                <a:latin typeface="Tahoma" pitchFamily="34" charset="0"/>
                <a:cs typeface="Tahoma" pitchFamily="34" charset="0"/>
              </a:rPr>
              <a:t>Mirella</a:t>
            </a:r>
            <a:r>
              <a:rPr lang="pt-BR" sz="2000" dirty="0">
                <a:latin typeface="Tahoma" pitchFamily="34" charset="0"/>
                <a:cs typeface="Tahoma" pitchFamily="34" charset="0"/>
              </a:rPr>
              <a:t>  D’</a:t>
            </a:r>
            <a:r>
              <a:rPr lang="pt-BR" sz="2000" dirty="0" err="1">
                <a:latin typeface="Tahoma" pitchFamily="34" charset="0"/>
                <a:cs typeface="Tahoma" pitchFamily="34" charset="0"/>
              </a:rPr>
              <a:t>Angelo</a:t>
            </a:r>
            <a:r>
              <a:rPr lang="pt-BR" sz="2000" dirty="0">
                <a:latin typeface="Tahoma" pitchFamily="34" charset="0"/>
                <a:cs typeface="Tahoma" pitchFamily="34" charset="0"/>
              </a:rPr>
              <a:t>.  </a:t>
            </a:r>
            <a:r>
              <a:rPr lang="pt-BR" sz="2000" b="1" dirty="0">
                <a:latin typeface="Tahoma" pitchFamily="34" charset="0"/>
                <a:cs typeface="Tahoma" pitchFamily="34" charset="0"/>
              </a:rPr>
              <a:t>Inversão do ônus da prova</a:t>
            </a:r>
            <a:r>
              <a:rPr lang="pt-BR" sz="2000" i="1" dirty="0">
                <a:latin typeface="Tahoma" pitchFamily="34" charset="0"/>
                <a:cs typeface="Tahoma" pitchFamily="34" charset="0"/>
              </a:rPr>
              <a:t>. </a:t>
            </a:r>
            <a:r>
              <a:rPr lang="pt-BR" sz="2000" dirty="0">
                <a:latin typeface="Tahoma" pitchFamily="34" charset="0"/>
                <a:cs typeface="Tahoma" pitchFamily="34" charset="0"/>
              </a:rPr>
              <a:t>Disponível em: &lt;http://www.saraivajur.com.br/servi</a:t>
            </a:r>
            <a:r>
              <a:rPr lang="pt-BR" sz="2000" dirty="0" err="1">
                <a:latin typeface="Tahoma" pitchFamily="34" charset="0"/>
                <a:cs typeface="Tahoma" pitchFamily="34" charset="0"/>
              </a:rPr>
              <a:t>ços</a:t>
            </a:r>
            <a:r>
              <a:rPr lang="pt-BR" sz="2000" dirty="0">
                <a:latin typeface="Tahoma" pitchFamily="34" charset="0"/>
                <a:cs typeface="Tahoma" pitchFamily="34" charset="0"/>
              </a:rPr>
              <a:t>/doutrina&gt;. Acesso em: </a:t>
            </a:r>
            <a:r>
              <a:rPr lang="pt-BR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10 jan. 2002. </a:t>
            </a:r>
          </a:p>
          <a:p>
            <a:endParaRPr lang="pt-BR" sz="2000" dirty="0"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ítulo 1"/>
          <p:cNvSpPr>
            <a:spLocks noGrp="1"/>
          </p:cNvSpPr>
          <p:nvPr>
            <p:ph type="title"/>
          </p:nvPr>
        </p:nvSpPr>
        <p:spPr>
          <a:xfrm>
            <a:off x="0" y="1052513"/>
            <a:ext cx="5781675" cy="216247"/>
          </a:xfrm>
        </p:spPr>
        <p:txBody>
          <a:bodyPr/>
          <a:lstStyle/>
          <a:p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REFERÊNCIAS </a:t>
            </a:r>
            <a:b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</a:br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BIBLIOGRÁFICAS</a:t>
            </a:r>
            <a:endParaRPr lang="pt-BR" sz="3600" dirty="0">
              <a:solidFill>
                <a:srgbClr val="C00000"/>
              </a:solidFill>
              <a:latin typeface="Book Antiqua" pitchFamily="18" charset="0"/>
            </a:endParaRPr>
          </a:p>
        </p:txBody>
      </p:sp>
      <p:sp>
        <p:nvSpPr>
          <p:cNvPr id="10244" name="CaixaDeTexto 4"/>
          <p:cNvSpPr txBox="1">
            <a:spLocks noChangeArrowheads="1"/>
          </p:cNvSpPr>
          <p:nvPr/>
        </p:nvSpPr>
        <p:spPr bwMode="auto">
          <a:xfrm>
            <a:off x="323850" y="1700213"/>
            <a:ext cx="84963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 dirty="0"/>
              <a:t>BIBLIOGRAFIA DE TRABALHOS ACADÊMICOS </a:t>
            </a:r>
            <a:endParaRPr lang="pt-BR" sz="2400" dirty="0"/>
          </a:p>
          <a:p>
            <a:r>
              <a:rPr lang="pt-BR" sz="2400" dirty="0"/>
              <a:t>Nas teses, dissertações ou outros trabalhos acadêmicos devem ser indicados o tipo de documento (tese, dissertação, trabalho de conclusão de curso etc.), o grau, a vinculação acadêmica, o local e a data da defesa. </a:t>
            </a:r>
          </a:p>
          <a:p>
            <a:endParaRPr lang="pt-BR" sz="2400" dirty="0"/>
          </a:p>
          <a:p>
            <a:r>
              <a:rPr lang="pt-BR" sz="2400" b="1" dirty="0"/>
              <a:t>Exemplo: </a:t>
            </a:r>
          </a:p>
          <a:p>
            <a:r>
              <a:rPr lang="pt-BR" sz="2400" dirty="0"/>
              <a:t>MORGADO, M. L. C. Reimplante dentário. 1990. 51 f. Trabalho de Conclusão de Curso (Especialização) –Faculdade de Odontologia, Universidade Camilo Castelo Branco, São Paulo, 1990.</a:t>
            </a:r>
          </a:p>
        </p:txBody>
      </p:sp>
      <p:pic>
        <p:nvPicPr>
          <p:cNvPr id="6" name="Picture 5" descr="http://2.bp.blogspot.com/_1Tk9X8njIqI/SkbqOMj1fyI/AAAAAAAAEJA/076eXTAe3ew/s400/livroaberto.jp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156176" y="0"/>
            <a:ext cx="2016224" cy="184482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  <a:softEdge rad="317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/>
          <p:cNvSpPr>
            <a:spLocks noGrp="1"/>
          </p:cNvSpPr>
          <p:nvPr>
            <p:ph type="title"/>
          </p:nvPr>
        </p:nvSpPr>
        <p:spPr>
          <a:xfrm>
            <a:off x="0" y="1052513"/>
            <a:ext cx="5781675" cy="216247"/>
          </a:xfrm>
        </p:spPr>
        <p:txBody>
          <a:bodyPr/>
          <a:lstStyle/>
          <a:p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REFERÊNCIAS </a:t>
            </a:r>
            <a:b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</a:br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BIBLIOGRÁFICAS</a:t>
            </a:r>
            <a:endParaRPr lang="pt-BR" sz="3600" dirty="0">
              <a:solidFill>
                <a:srgbClr val="C00000"/>
              </a:solidFill>
              <a:latin typeface="Book Antiqua" pitchFamily="18" charset="0"/>
            </a:endParaRPr>
          </a:p>
        </p:txBody>
      </p:sp>
      <p:sp>
        <p:nvSpPr>
          <p:cNvPr id="10244" name="CaixaDeTexto 4"/>
          <p:cNvSpPr txBox="1">
            <a:spLocks noChangeArrowheads="1"/>
          </p:cNvSpPr>
          <p:nvPr/>
        </p:nvSpPr>
        <p:spPr bwMode="auto">
          <a:xfrm>
            <a:off x="323850" y="2133600"/>
            <a:ext cx="84963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 dirty="0"/>
              <a:t>Artigos de Periódicos:</a:t>
            </a:r>
            <a:endParaRPr lang="pt-BR" sz="2400" dirty="0"/>
          </a:p>
          <a:p>
            <a:r>
              <a:rPr lang="pt-BR" sz="2400" dirty="0"/>
              <a:t>Os elementos essenciais são: autor(</a:t>
            </a:r>
            <a:r>
              <a:rPr lang="pt-BR" sz="2400" dirty="0" err="1"/>
              <a:t>es</a:t>
            </a:r>
            <a:r>
              <a:rPr lang="pt-BR" sz="2400" dirty="0"/>
              <a:t>), título, local de publicação, numeração correspondente ao volume e/ou ano, fascículo ou número, paginação inicial e final,</a:t>
            </a:r>
          </a:p>
          <a:p>
            <a:endParaRPr lang="pt-BR" sz="2400" dirty="0"/>
          </a:p>
          <a:p>
            <a:pPr algn="just"/>
            <a:r>
              <a:rPr lang="pt-BR" sz="2400" b="1" dirty="0"/>
              <a:t>Exemplo: </a:t>
            </a:r>
          </a:p>
          <a:p>
            <a:pPr algn="just"/>
            <a:r>
              <a:rPr lang="pt-BR" sz="2400" dirty="0"/>
              <a:t>GURGEL, C. Reforma do Estado e segurança pública. </a:t>
            </a:r>
            <a:r>
              <a:rPr lang="pt-BR" sz="2400" b="1" dirty="0"/>
              <a:t>Política e Administração</a:t>
            </a:r>
            <a:r>
              <a:rPr lang="pt-BR" sz="2400" dirty="0"/>
              <a:t>, Rio de Janeiro, v. 3, n. 2, p. 15-21, 1999.</a:t>
            </a:r>
          </a:p>
        </p:txBody>
      </p:sp>
      <p:pic>
        <p:nvPicPr>
          <p:cNvPr id="6" name="Picture 5" descr="http://2.bp.blogspot.com/_1Tk9X8njIqI/SkbqOMj1fyI/AAAAAAAAEJA/076eXTAe3ew/s400/livroaberto.jp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156176" y="188640"/>
            <a:ext cx="2016224" cy="172819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  <a:softEdge rad="317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ítulo 1"/>
          <p:cNvSpPr>
            <a:spLocks noGrp="1"/>
          </p:cNvSpPr>
          <p:nvPr>
            <p:ph type="title"/>
          </p:nvPr>
        </p:nvSpPr>
        <p:spPr>
          <a:xfrm>
            <a:off x="0" y="1052513"/>
            <a:ext cx="5781675" cy="288255"/>
          </a:xfrm>
        </p:spPr>
        <p:txBody>
          <a:bodyPr/>
          <a:lstStyle/>
          <a:p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REFERÊNCIAS </a:t>
            </a:r>
            <a:b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</a:br>
            <a:r>
              <a:rPr lang="pt-BR" sz="3600" b="1" dirty="0">
                <a:solidFill>
                  <a:srgbClr val="C00000"/>
                </a:solidFill>
                <a:latin typeface="Book Antiqua" pitchFamily="18" charset="0"/>
              </a:rPr>
              <a:t>BIBLIOGRÁFICAS</a:t>
            </a:r>
            <a:endParaRPr lang="pt-BR" sz="3600" dirty="0">
              <a:solidFill>
                <a:srgbClr val="C00000"/>
              </a:solidFill>
              <a:latin typeface="Book Antiqua" pitchFamily="18" charset="0"/>
            </a:endParaRPr>
          </a:p>
        </p:txBody>
      </p:sp>
      <p:sp>
        <p:nvSpPr>
          <p:cNvPr id="10244" name="CaixaDeTexto 4"/>
          <p:cNvSpPr txBox="1">
            <a:spLocks noChangeArrowheads="1"/>
          </p:cNvSpPr>
          <p:nvPr/>
        </p:nvSpPr>
        <p:spPr bwMode="auto">
          <a:xfrm>
            <a:off x="323850" y="1412777"/>
            <a:ext cx="8496300" cy="5663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2400" b="1" dirty="0"/>
              <a:t>Informações desconhecidas</a:t>
            </a:r>
            <a:endParaRPr lang="pt-BR" sz="2400" dirty="0"/>
          </a:p>
          <a:p>
            <a:pPr lvl="0">
              <a:spcBef>
                <a:spcPts val="1200"/>
              </a:spcBef>
            </a:pPr>
            <a:r>
              <a:rPr lang="pt-BR" sz="2400" b="1" dirty="0"/>
              <a:t>Autor: </a:t>
            </a:r>
            <a:r>
              <a:rPr lang="pt-BR" sz="2400" dirty="0"/>
              <a:t>a entrada é feita pelo título. </a:t>
            </a:r>
          </a:p>
          <a:p>
            <a:pPr>
              <a:spcBef>
                <a:spcPts val="1200"/>
              </a:spcBef>
            </a:pPr>
            <a:r>
              <a:rPr lang="pt-BR" sz="2400" b="1" dirty="0"/>
              <a:t>Título: </a:t>
            </a:r>
            <a:r>
              <a:rPr lang="pt-BR" sz="2400" dirty="0"/>
              <a:t>atribuir uma palavra ou frase que identifique o conteúdo do documento, entre colchetes.</a:t>
            </a:r>
          </a:p>
          <a:p>
            <a:pPr>
              <a:spcBef>
                <a:spcPts val="1200"/>
              </a:spcBef>
            </a:pPr>
            <a:r>
              <a:rPr lang="pt-BR" sz="2400" b="1" dirty="0"/>
              <a:t>Local:</a:t>
            </a:r>
            <a:r>
              <a:rPr lang="pt-BR" sz="2400" dirty="0"/>
              <a:t> utilizar a expressão </a:t>
            </a:r>
            <a:r>
              <a:rPr lang="pt-BR" sz="2400" i="1" dirty="0" err="1"/>
              <a:t>sine</a:t>
            </a:r>
            <a:r>
              <a:rPr lang="pt-BR" sz="2400" i="1" dirty="0"/>
              <a:t> loco, </a:t>
            </a:r>
            <a:r>
              <a:rPr lang="pt-BR" sz="2400" dirty="0"/>
              <a:t>abreviada, entre colchetes [</a:t>
            </a:r>
            <a:r>
              <a:rPr lang="pt-BR" sz="2400" dirty="0" err="1"/>
              <a:t>S.l.</a:t>
            </a:r>
            <a:r>
              <a:rPr lang="pt-BR" sz="2400" dirty="0"/>
              <a:t>].</a:t>
            </a:r>
          </a:p>
          <a:p>
            <a:pPr>
              <a:spcBef>
                <a:spcPts val="1200"/>
              </a:spcBef>
            </a:pPr>
            <a:r>
              <a:rPr lang="pt-BR" sz="2400" b="1" dirty="0"/>
              <a:t>Editora: </a:t>
            </a:r>
            <a:r>
              <a:rPr lang="pt-BR" sz="2400" dirty="0"/>
              <a:t>indicar a expressão </a:t>
            </a:r>
            <a:r>
              <a:rPr lang="pt-BR" sz="2400" i="1" dirty="0" err="1"/>
              <a:t>sine</a:t>
            </a:r>
            <a:r>
              <a:rPr lang="pt-BR" sz="2400" i="1" dirty="0"/>
              <a:t> nomine, </a:t>
            </a:r>
            <a:r>
              <a:rPr lang="pt-BR" sz="2400" dirty="0"/>
              <a:t>abreviada, entre colchetes [s.n.].</a:t>
            </a:r>
          </a:p>
          <a:p>
            <a:pPr>
              <a:spcBef>
                <a:spcPts val="1200"/>
              </a:spcBef>
            </a:pPr>
            <a:r>
              <a:rPr lang="pt-BR" sz="2400" b="1" dirty="0"/>
              <a:t>Data: </a:t>
            </a:r>
            <a:r>
              <a:rPr lang="pt-BR" sz="2400" dirty="0"/>
              <a:t>registrar uma data aproximada entre colchetes.</a:t>
            </a:r>
          </a:p>
          <a:p>
            <a:pPr>
              <a:spcBef>
                <a:spcPts val="1200"/>
              </a:spcBef>
            </a:pPr>
            <a:r>
              <a:rPr lang="pt-BR" sz="2400" b="1" dirty="0"/>
              <a:t>Página: </a:t>
            </a:r>
            <a:r>
              <a:rPr lang="pt-BR" sz="2400" dirty="0"/>
              <a:t>escrever Não paginado.</a:t>
            </a:r>
          </a:p>
          <a:p>
            <a:endParaRPr lang="pt-BR" sz="2400" dirty="0"/>
          </a:p>
          <a:p>
            <a:endParaRPr lang="pt-BR" sz="2400" dirty="0"/>
          </a:p>
        </p:txBody>
      </p:sp>
      <p:pic>
        <p:nvPicPr>
          <p:cNvPr id="6" name="Picture 5" descr="http://2.bp.blogspot.com/_1Tk9X8njIqI/SkbqOMj1fyI/AAAAAAAAEJA/076eXTAe3ew/s400/livroaberto.jp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156176" y="0"/>
            <a:ext cx="1944216" cy="170080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  <a:softEdge rad="317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625" y="620688"/>
            <a:ext cx="8534400" cy="366737"/>
          </a:xfrm>
        </p:spPr>
        <p:txBody>
          <a:bodyPr/>
          <a:lstStyle/>
          <a:p>
            <a:r>
              <a:rPr lang="pt-BR" sz="6000" dirty="0">
                <a:solidFill>
                  <a:srgbClr val="FF0000"/>
                </a:solidFill>
              </a:rPr>
              <a:t>Dica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600" dirty="0"/>
              <a:t>O programa de computador </a:t>
            </a:r>
            <a:r>
              <a:rPr lang="pt-BR" sz="2600" i="1" dirty="0"/>
              <a:t>Word</a:t>
            </a:r>
            <a:r>
              <a:rPr lang="pt-BR" sz="2600" dirty="0"/>
              <a:t> organiza as referências bibliográficas automaticamente. Esse recurso está disponível nas versões mais modernas do programa na aba “Referência/Gerenciar fontes bibliográficas”. </a:t>
            </a:r>
          </a:p>
          <a:p>
            <a:pPr>
              <a:buNone/>
            </a:pPr>
            <a:endParaRPr lang="pt-BR" sz="2600" dirty="0"/>
          </a:p>
          <a:p>
            <a:r>
              <a:rPr lang="pt-BR" sz="2600" dirty="0"/>
              <a:t>Existem </a:t>
            </a:r>
            <a:r>
              <a:rPr lang="pt-BR" sz="2600" i="1" dirty="0"/>
              <a:t>sites</a:t>
            </a:r>
            <a:r>
              <a:rPr lang="pt-BR" sz="2600" dirty="0"/>
              <a:t> gratuitos especializados em gerar referências e citações a partir das informações disponibilizadas por quem o acesso. Confira: </a:t>
            </a:r>
            <a:r>
              <a:rPr lang="pt-BR" sz="2600" b="1" dirty="0"/>
              <a:t>Mecanismo Online para Referências </a:t>
            </a:r>
            <a:r>
              <a:rPr lang="pt-BR" sz="2600" dirty="0"/>
              <a:t> </a:t>
            </a:r>
            <a:r>
              <a:rPr lang="pt-BR" sz="2600" u="sng" dirty="0">
                <a:hlinkClick r:id="rId2"/>
              </a:rPr>
              <a:t>http://www.rexlab.ufsc.br:8080/more/index.</a:t>
            </a:r>
            <a:r>
              <a:rPr lang="pt-BR" sz="2600" u="sng" dirty="0" err="1">
                <a:hlinkClick r:id="rId2"/>
              </a:rPr>
              <a:t>jsp</a:t>
            </a:r>
            <a:endParaRPr lang="pt-BR" sz="2600" dirty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CaixaDeTexto 4"/>
          <p:cNvSpPr txBox="1">
            <a:spLocks noChangeArrowheads="1"/>
          </p:cNvSpPr>
          <p:nvPr/>
        </p:nvSpPr>
        <p:spPr bwMode="auto">
          <a:xfrm>
            <a:off x="285750" y="214313"/>
            <a:ext cx="8572500" cy="6924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3200" b="1" dirty="0">
                <a:solidFill>
                  <a:srgbClr val="C00000"/>
                </a:solidFill>
                <a:latin typeface="Tahoma" pitchFamily="34" charset="0"/>
                <a:cs typeface="Tahoma" pitchFamily="34" charset="0"/>
              </a:rPr>
              <a:t>DICAS</a:t>
            </a:r>
            <a:endParaRPr lang="pt-BR" sz="3200" dirty="0">
              <a:solidFill>
                <a:srgbClr val="C00000"/>
              </a:solidFill>
              <a:latin typeface="Tahoma" pitchFamily="34" charset="0"/>
              <a:cs typeface="Tahoma" pitchFamily="34" charset="0"/>
            </a:endParaRPr>
          </a:p>
          <a:p>
            <a:pPr>
              <a:buFont typeface="Arial" charset="0"/>
              <a:buChar char="•"/>
            </a:pPr>
            <a:endParaRPr lang="pt-BR" sz="2000" dirty="0">
              <a:latin typeface="Tahoma" pitchFamily="34" charset="0"/>
              <a:cs typeface="Tahoma" pitchFamily="34" charset="0"/>
            </a:endParaRPr>
          </a:p>
          <a:p>
            <a:pPr>
              <a:buFont typeface="Arial" charset="0"/>
              <a:buChar char="•"/>
            </a:pPr>
            <a:endParaRPr lang="pt-BR" sz="2000" dirty="0">
              <a:latin typeface="Tahoma" pitchFamily="34" charset="0"/>
              <a:cs typeface="Tahoma" pitchFamily="34" charset="0"/>
            </a:endParaRPr>
          </a:p>
          <a:p>
            <a:pPr>
              <a:buFont typeface="Arial" charset="0"/>
              <a:buChar char="•"/>
            </a:pPr>
            <a:endParaRPr lang="pt-BR" sz="2000" dirty="0">
              <a:latin typeface="Tahoma" pitchFamily="34" charset="0"/>
              <a:cs typeface="Tahoma" pitchFamily="34" charset="0"/>
            </a:endParaRPr>
          </a:p>
          <a:p>
            <a:pPr lvl="0">
              <a:spcBef>
                <a:spcPts val="1200"/>
              </a:spcBef>
              <a:spcAft>
                <a:spcPts val="600"/>
              </a:spcAft>
              <a:buFont typeface="Arial" charset="0"/>
              <a:buChar char="•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Anote as referências de um documento sempre depois de consultá-lo</a:t>
            </a:r>
          </a:p>
          <a:p>
            <a:pPr lvl="0">
              <a:spcBef>
                <a:spcPts val="1200"/>
              </a:spcBef>
              <a:buFont typeface="Arial" pitchFamily="34" charset="0"/>
              <a:buChar char="•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Siga o princípio da padronização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charset="0"/>
              <a:buChar char="•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Na dúvida, consulte as normas da ABNT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charset="0"/>
              <a:buChar char="•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Embora exista uma padronização estipulada pela ABNT, há diferenças entre os livros, regras da universidade e aquelas estipuladas pelo orientador. Opte sempre pelas regras do orientador.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charset="0"/>
              <a:buChar char="•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 Só aprendemos a fazer lendo e fazendo.</a:t>
            </a:r>
          </a:p>
          <a:p>
            <a:pPr lvl="0">
              <a:spcBef>
                <a:spcPts val="1200"/>
              </a:spcBef>
              <a:buFont typeface="Arial" pitchFamily="34" charset="0"/>
              <a:buChar char="•"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  <a:buFont typeface="Arial" charset="0"/>
              <a:buChar char="•"/>
            </a:pPr>
            <a:endParaRPr lang="pt-BR" sz="2200" dirty="0">
              <a:latin typeface="Tahoma" pitchFamily="34" charset="0"/>
              <a:cs typeface="Tahoma" pitchFamily="34" charset="0"/>
            </a:endParaRPr>
          </a:p>
        </p:txBody>
      </p:sp>
      <p:pic>
        <p:nvPicPr>
          <p:cNvPr id="3" name="Picture 5" descr="F:\unip\bibliotec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16216" y="188913"/>
            <a:ext cx="2384897" cy="1601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ívico">
  <a:themeElements>
    <a:clrScheme name="Cívico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ívico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ívico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8806A6BBFD8F94CA27EC52F1AE6F20B" ma:contentTypeVersion="3" ma:contentTypeDescription="Crie um novo documento." ma:contentTypeScope="" ma:versionID="05c099c6e3f057128dc6b716b9de35b2">
  <xsd:schema xmlns:xsd="http://www.w3.org/2001/XMLSchema" xmlns:xs="http://www.w3.org/2001/XMLSchema" xmlns:p="http://schemas.microsoft.com/office/2006/metadata/properties" xmlns:ns2="b4fd5b1b-3f79-45df-9f68-0237794b52ad" targetNamespace="http://schemas.microsoft.com/office/2006/metadata/properties" ma:root="true" ma:fieldsID="66237220fbfe90ee27a0aec2968ad77a" ns2:_="">
    <xsd:import namespace="b4fd5b1b-3f79-45df-9f68-0237794b52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fd5b1b-3f79-45df-9f68-0237794b52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96C3AC-DF3E-453B-B7E9-E80064139440}"/>
</file>

<file path=customXml/itemProps2.xml><?xml version="1.0" encoding="utf-8"?>
<ds:datastoreItem xmlns:ds="http://schemas.openxmlformats.org/officeDocument/2006/customXml" ds:itemID="{B6A38BA4-673F-4737-939B-C69060E50ADC}"/>
</file>

<file path=customXml/itemProps3.xml><?xml version="1.0" encoding="utf-8"?>
<ds:datastoreItem xmlns:ds="http://schemas.openxmlformats.org/officeDocument/2006/customXml" ds:itemID="{191CECF3-7642-4F30-9029-259A1BC77F8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5406</TotalTime>
  <Words>2398</Words>
  <Application>Microsoft Office PowerPoint</Application>
  <PresentationFormat>On-screen Show (4:3)</PresentationFormat>
  <Paragraphs>288</Paragraphs>
  <Slides>34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7" baseType="lpstr">
      <vt:lpstr>Arial</vt:lpstr>
      <vt:lpstr>Arial Black</vt:lpstr>
      <vt:lpstr>Berlin Sans FB</vt:lpstr>
      <vt:lpstr>Berlin Sans FB Demi</vt:lpstr>
      <vt:lpstr>Book Antiqua</vt:lpstr>
      <vt:lpstr>Calibri</vt:lpstr>
      <vt:lpstr>Georgia</vt:lpstr>
      <vt:lpstr>Lucida Calligraphy</vt:lpstr>
      <vt:lpstr>Tahoma</vt:lpstr>
      <vt:lpstr>Wingdings</vt:lpstr>
      <vt:lpstr>Wingdings 2</vt:lpstr>
      <vt:lpstr>Cívico</vt:lpstr>
      <vt:lpstr>Tema do Office</vt:lpstr>
      <vt:lpstr>METODOLOGIA CIENTÍFICA</vt:lpstr>
      <vt:lpstr>PowerPoint Presentation</vt:lpstr>
      <vt:lpstr>Formatação do texto</vt:lpstr>
      <vt:lpstr>Formatação</vt:lpstr>
      <vt:lpstr>Jamais reproduza um texto sem colocar a fonte!  </vt:lpstr>
      <vt:lpstr>O material que lemos deve ser referenciado:  No próprio texto, e  Nas referências bibliográficas.  </vt:lpstr>
      <vt:lpstr>PowerPoint Presentation</vt:lpstr>
      <vt:lpstr>PowerPoint Presentation</vt:lpstr>
      <vt:lpstr>PowerPoint Presentation</vt:lpstr>
      <vt:lpstr>PowerPoint Presentation</vt:lpstr>
      <vt:lpstr>CITAÇÕES</vt:lpstr>
      <vt:lpstr>PowerPoint Presentation</vt:lpstr>
      <vt:lpstr>PowerPoint Presentation</vt:lpstr>
      <vt:lpstr>Dicas sobre citação direta</vt:lpstr>
      <vt:lpstr>PowerPoint Presentation</vt:lpstr>
      <vt:lpstr>Dicas sobre citação</vt:lpstr>
      <vt:lpstr>OUTROS CASOS</vt:lpstr>
      <vt:lpstr>PowerPoint Presentation</vt:lpstr>
      <vt:lpstr>     Dicas de redação  Estilo de escrita  :     </vt:lpstr>
      <vt:lpstr>     Dicas de redação :     </vt:lpstr>
      <vt:lpstr>     Dicas de redação :     </vt:lpstr>
      <vt:lpstr>                  Dicas de redação dos parágrafos:     </vt:lpstr>
      <vt:lpstr>PowerPoint Presentation</vt:lpstr>
      <vt:lpstr>REFERÊNCIAS  BIBLIOGRÁFICAS</vt:lpstr>
      <vt:lpstr>REFERÊNCIAS  BIBLIOGRÁFICAS</vt:lpstr>
      <vt:lpstr>REFERÊNCIAS  BIBLIOGRÁFICAS</vt:lpstr>
      <vt:lpstr>REFERÊNCIAS  BIBLIOGRÁFICAS</vt:lpstr>
      <vt:lpstr>REFERÊNCIAS  BIBLIOGRÁFICAS</vt:lpstr>
      <vt:lpstr>REFERÊNCIAS  BIBLIOGRÁFICAS</vt:lpstr>
      <vt:lpstr>REFERÊNCIAS  BIBLIOGRÁFICAS</vt:lpstr>
      <vt:lpstr>REFERÊNCIAS  BIBLIOGRÁFICAS</vt:lpstr>
      <vt:lpstr>REFERÊNCIAS  BIBLIOGRÁFICAS</vt:lpstr>
      <vt:lpstr>Dica</vt:lpstr>
      <vt:lpstr>PowerPoint Presentation</vt:lpstr>
    </vt:vector>
  </TitlesOfParts>
  <Company>PMS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Rodrigo Hitoshi Yamamoto</dc:creator>
  <cp:lastModifiedBy>SABRINA MARTINS DOS SANTOS</cp:lastModifiedBy>
  <cp:revision>790</cp:revision>
  <dcterms:created xsi:type="dcterms:W3CDTF">2008-04-22T13:56:35Z</dcterms:created>
  <dcterms:modified xsi:type="dcterms:W3CDTF">2023-05-19T20:21:50Z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0x010100F8806A6BBFD8F94CA27EC52F1AE6F20B</vt:lpwstr>
  </property>
  <property fmtid="{D5CDD505-2E9C-101B-9397-08002B2CF9AE}" pid="3" name="Order">
    <vt:r8>2000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