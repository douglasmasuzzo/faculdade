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92" r:id="rId3"/>
    <p:sldId id="288" r:id="rId4"/>
    <p:sldId id="300" r:id="rId5"/>
    <p:sldId id="301" r:id="rId6"/>
    <p:sldId id="302" r:id="rId7"/>
    <p:sldId id="303" r:id="rId8"/>
    <p:sldId id="307" r:id="rId9"/>
    <p:sldId id="308" r:id="rId10"/>
    <p:sldId id="298" r:id="rId11"/>
    <p:sldId id="305" r:id="rId12"/>
    <p:sldId id="306" r:id="rId13"/>
    <p:sldId id="299" r:id="rId14"/>
    <p:sldId id="291" r:id="rId15"/>
    <p:sldId id="296" r:id="rId16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0" autoAdjust="0"/>
    <p:restoredTop sz="94660"/>
  </p:normalViewPr>
  <p:slideViewPr>
    <p:cSldViewPr>
      <p:cViewPr varScale="1">
        <p:scale>
          <a:sx n="63" d="100"/>
          <a:sy n="63" d="100"/>
        </p:scale>
        <p:origin x="13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73FD94B-8E03-40A5-A6C7-AB5A7801B3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84D6BFF-7207-4925-BC44-5ABE5666C4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872CE88-72EB-45F5-AFE1-355D8436B8F3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C5BA94-99D6-4AE0-AF93-B8D58055B6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5C1E117-C5EC-4524-93B6-CB7900A020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ED2FEFC9-5C84-4219-9F2F-F1EF2BA65031}" type="slidenum">
              <a:rPr lang="pt-BR" altLang="pt-BR"/>
              <a:pPr/>
              <a:t>‹#›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CE5C3-135B-45F6-80E6-E42ED52FDEB3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A4607-6D13-4F24-8F8B-A492553A819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634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A4607-6D13-4F24-8F8B-A492553A819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26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A4607-6D13-4F24-8F8B-A492553A819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4369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A4607-6D13-4F24-8F8B-A492553A819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8053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FCE87A-3B9B-4AD7-9844-EA258EC87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72E5F2-A579-4464-B311-C1924803261B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E6CF3-29B5-429F-B639-26764BD96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5190CD-B2EE-421A-8692-E75ED165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63CF05-236D-473B-B6A8-AC0782956DC6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03938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F91170-3AF0-44F4-852E-60B1B520D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28591-5BD4-4954-8CCD-2B9275F14F11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F29AEA-B5C3-4829-BFEF-3649F208C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E6D445-423B-4A36-B0DC-E4B17F65E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4E1E3B-6AF1-42D7-9BCA-C3C9355B3A5C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5993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978077-0901-46F2-84CC-0927E6004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835E0A-DA99-427E-8E31-8DA7D29F32CA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0D1FA0-C7D6-4A84-9AAC-928DDB63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FCD365-FC17-4E20-B273-CDC951C5E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04226B-92C0-4EC8-A1D2-87AEF1B2A69C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89465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DFF66313-24BA-4B96-B891-2DDEADFD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D83B6-1C91-4C9C-A1C8-396839FB664D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1A736378-7EC9-4F22-9F09-30ABB834C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3166419C-CE23-483C-ABC5-2ACCC578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061DEA-831D-4535-A75A-25F411D2FAAF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87417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553FECB9-7181-40FA-A20D-66FF43EA4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5970E-9943-477A-BD26-45F120920B42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902398E3-06F8-4C1C-A7B9-A9EAB0EB6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427ED31B-39B4-45D4-88A4-6640C467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D061CC-950C-4E61-8DE3-630E0939B12B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74808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0F340B96-F7EE-4295-AAA1-9E733A52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261B9-4DC1-4CC1-97D6-E7B9A2BD3DBB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D54A618-CB14-4961-A5F6-1599B674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0CFF75E7-6D1C-4853-85C6-E5DE6D1D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7BDBC-C968-450F-9036-7130865972A1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6875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F17FFEDE-93EB-4BDF-96FF-42BE03378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46D79-69D5-4CCA-B1E6-01F595BD3CD7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BA8C2D47-3213-486C-ACFD-8112C10D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BFBD4D24-56E6-4099-B9D6-1A4BEE4F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597578-B447-42F7-B2DA-B3874872665D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6120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78BC0DEA-51EF-4232-87FC-E19C583B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BB3E4-77FA-4030-A408-24B02AF399B0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D32F67F9-AF25-4A71-9FF5-79E7358A9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FBD7FA66-EBB8-46C9-B972-ABCBEC6E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7B2495-DA26-4B41-BE01-EE68FCE069A6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16555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FE743AF-F294-433E-9D66-5AA5EE78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D62ACA-C75F-4DF7-BA52-246151304097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033B194-651D-4B14-8A0C-AE03B8BB6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BBB62DC0-85F1-41EE-85F9-F40E303CB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728D47-A895-49CA-9F64-21773375900D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92081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C48418-34F0-4B3B-ABE3-D16C1EEF9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B0159-DF53-4397-900F-C3DC1522374C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6A56C4-7CBC-48BD-96F8-F1DD6D1F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83EB78-212F-422F-BFE4-751BFF51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816BD-7E21-4F41-8668-BD2E19E806C2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6211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E94A2A-4348-4E60-AABF-C8517F6A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D890C2-A606-4B9C-A776-1AA91FC86A11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ED9160-E80B-4978-A365-8E95BC01A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F7DA27-7C86-4671-896B-342660A3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34BB30-E0CB-4241-ABBD-2C51F76ABA2E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91073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9ABD50E9-C9D3-474A-91DB-8927BB3FED6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47016333-2E9B-4B11-BA4A-C17D680839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C89E65-5A39-470A-A0CD-E79303E7D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079607B-AFB8-4054-AA00-05D69C82E4E2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8481F4-AB1D-4658-98B8-3416CFD7B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79492C-33CD-4508-9F14-61416047B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0AF9A107-7010-4CDE-99F4-DC59B1C1CDFB}" type="slidenum">
              <a:rPr lang="pt-BR" altLang="pt-BR"/>
              <a:pPr/>
              <a:t>‹#›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C83F9D7D-8B7D-49DF-AA94-0A9A8D671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00805" y="1855810"/>
            <a:ext cx="4225136" cy="31688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9F1A7E4-819D-4D21-8E8B-32671A9F9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4705684" y="753376"/>
            <a:ext cx="4015376" cy="5353835"/>
          </a:xfrm>
          <a:custGeom>
            <a:avLst/>
            <a:gdLst>
              <a:gd name="connsiteX0" fmla="*/ 690507 w 5353835"/>
              <a:gd name="connsiteY0" fmla="*/ 5273742 h 5353835"/>
              <a:gd name="connsiteX1" fmla="*/ 4938299 w 5353835"/>
              <a:gd name="connsiteY1" fmla="*/ 5273742 h 5353835"/>
              <a:gd name="connsiteX2" fmla="*/ 4858206 w 5353835"/>
              <a:gd name="connsiteY2" fmla="*/ 5353835 h 5353835"/>
              <a:gd name="connsiteX3" fmla="*/ 770600 w 5353835"/>
              <a:gd name="connsiteY3" fmla="*/ 5353835 h 5353835"/>
              <a:gd name="connsiteX4" fmla="*/ 433255 w 5353835"/>
              <a:gd name="connsiteY4" fmla="*/ 80093 h 5353835"/>
              <a:gd name="connsiteX5" fmla="*/ 513348 w 5353835"/>
              <a:gd name="connsiteY5" fmla="*/ 0 h 5353835"/>
              <a:gd name="connsiteX6" fmla="*/ 5353835 w 5353835"/>
              <a:gd name="connsiteY6" fmla="*/ 0 h 5353835"/>
              <a:gd name="connsiteX7" fmla="*/ 5353835 w 5353835"/>
              <a:gd name="connsiteY7" fmla="*/ 4858206 h 5353835"/>
              <a:gd name="connsiteX8" fmla="*/ 5273742 w 5353835"/>
              <a:gd name="connsiteY8" fmla="*/ 4938299 h 5353835"/>
              <a:gd name="connsiteX9" fmla="*/ 5273742 w 5353835"/>
              <a:gd name="connsiteY9" fmla="*/ 80093 h 5353835"/>
              <a:gd name="connsiteX10" fmla="*/ 0 w 5353835"/>
              <a:gd name="connsiteY10" fmla="*/ 513348 h 5353835"/>
              <a:gd name="connsiteX11" fmla="*/ 80093 w 5353835"/>
              <a:gd name="connsiteY11" fmla="*/ 433255 h 5353835"/>
              <a:gd name="connsiteX12" fmla="*/ 80093 w 5353835"/>
              <a:gd name="connsiteY12" fmla="*/ 4663328 h 5353835"/>
              <a:gd name="connsiteX13" fmla="*/ 0 w 5353835"/>
              <a:gd name="connsiteY13" fmla="*/ 4583235 h 53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5">
                <a:moveTo>
                  <a:pt x="690507" y="5273742"/>
                </a:moveTo>
                <a:lnTo>
                  <a:pt x="4938299" y="5273742"/>
                </a:lnTo>
                <a:lnTo>
                  <a:pt x="4858206" y="5353835"/>
                </a:lnTo>
                <a:lnTo>
                  <a:pt x="770600" y="5353835"/>
                </a:lnTo>
                <a:close/>
                <a:moveTo>
                  <a:pt x="433255" y="80093"/>
                </a:moveTo>
                <a:lnTo>
                  <a:pt x="513348" y="0"/>
                </a:lnTo>
                <a:lnTo>
                  <a:pt x="5353835" y="0"/>
                </a:lnTo>
                <a:lnTo>
                  <a:pt x="5353835" y="4858206"/>
                </a:lnTo>
                <a:lnTo>
                  <a:pt x="5273742" y="4938299"/>
                </a:lnTo>
                <a:lnTo>
                  <a:pt x="5273742" y="80093"/>
                </a:lnTo>
                <a:close/>
                <a:moveTo>
                  <a:pt x="0" y="513348"/>
                </a:moveTo>
                <a:lnTo>
                  <a:pt x="80093" y="433255"/>
                </a:lnTo>
                <a:lnTo>
                  <a:pt x="80093" y="4663328"/>
                </a:lnTo>
                <a:lnTo>
                  <a:pt x="0" y="45832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74" name="Título 1">
            <a:extLst>
              <a:ext uri="{FF2B5EF4-FFF2-40B4-BE49-F238E27FC236}">
                <a16:creationId xmlns:a16="http://schemas.microsoft.com/office/drawing/2014/main" id="{1447539C-C914-4BA9-B465-AADB009CE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0752" y="2166788"/>
            <a:ext cx="3812732" cy="2342332"/>
          </a:xfrm>
          <a:noFill/>
        </p:spPr>
        <p:txBody>
          <a:bodyPr anchor="ctr">
            <a:normAutofit/>
          </a:bodyPr>
          <a:lstStyle/>
          <a:p>
            <a:pPr eaLnBrk="1" hangingPunct="1"/>
            <a:r>
              <a:rPr lang="pt-BR" altLang="pt-BR" sz="3100" dirty="0">
                <a:solidFill>
                  <a:srgbClr val="080808"/>
                </a:solidFill>
              </a:rPr>
              <a:t>Formatação básica de trabalhos acadêmicos</a:t>
            </a: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6D6E3EFD-925A-40CD-8E14-FDD4E6DDC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5377754" cy="5062213"/>
          </a:xfrm>
          <a:custGeom>
            <a:avLst/>
            <a:gdLst>
              <a:gd name="connsiteX0" fmla="*/ 7170340 w 7170340"/>
              <a:gd name="connsiteY0" fmla="*/ 0 h 5062213"/>
              <a:gd name="connsiteX1" fmla="*/ 7170340 w 7170340"/>
              <a:gd name="connsiteY1" fmla="*/ 2954084 h 5062213"/>
              <a:gd name="connsiteX2" fmla="*/ 5062211 w 7170340"/>
              <a:gd name="connsiteY2" fmla="*/ 5062213 h 5062213"/>
              <a:gd name="connsiteX3" fmla="*/ 0 w 7170340"/>
              <a:gd name="connsiteY3" fmla="*/ 2 h 5062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70340" h="5062213">
                <a:moveTo>
                  <a:pt x="7170340" y="0"/>
                </a:moveTo>
                <a:lnTo>
                  <a:pt x="7170340" y="2954084"/>
                </a:lnTo>
                <a:lnTo>
                  <a:pt x="5062211" y="5062213"/>
                </a:lnTo>
                <a:lnTo>
                  <a:pt x="0" y="2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9" name="Imagem 2">
            <a:extLst>
              <a:ext uri="{FF2B5EF4-FFF2-40B4-BE49-F238E27FC236}">
                <a16:creationId xmlns:a16="http://schemas.microsoft.com/office/drawing/2014/main" id="{EA0DA2C9-41F2-4414-8138-FA6BE1C93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5125" y="-28097"/>
            <a:ext cx="4259968" cy="1077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3A91C067-F707-44D1-A9C2-9913E6AD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25013" y="4119818"/>
            <a:ext cx="870888" cy="6531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63885" y="5501423"/>
            <a:ext cx="856138" cy="6421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438159" y="5445911"/>
            <a:ext cx="381459" cy="28609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C580C66-5435-4F00-873E-679D3D504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17462" y="5937657"/>
            <a:ext cx="714978" cy="53623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B4AFD177-1A38-4FAE-87D4-840AE22C8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4450" y="5474491"/>
            <a:ext cx="2075262" cy="1383509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6" name="CaixaDeTexto 3">
            <a:extLst>
              <a:ext uri="{FF2B5EF4-FFF2-40B4-BE49-F238E27FC236}">
                <a16:creationId xmlns:a16="http://schemas.microsoft.com/office/drawing/2014/main" id="{4361DC29-F815-4915-AD21-A537C22EA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200" y="5877272"/>
            <a:ext cx="1406988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800" b="1" dirty="0"/>
              <a:t>FATEC PG</a:t>
            </a:r>
          </a:p>
          <a:p>
            <a:pPr algn="ctr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800" b="1" dirty="0"/>
              <a:t>Prof. Sabrina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F384A-E01D-4348-AA2C-AB018ACF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91264" cy="77809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pt-BR" sz="3000" dirty="0"/>
            </a:br>
            <a:r>
              <a:rPr lang="pt-BR" altLang="pt-BR" sz="2800" dirty="0">
                <a:solidFill>
                  <a:srgbClr val="080808"/>
                </a:solidFill>
              </a:rPr>
              <a:t>Formatação básica de trabalhos acadêmicos</a:t>
            </a:r>
            <a:endParaRPr lang="pt-BR" sz="3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71449F-D464-4EB9-8A30-AAC557513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340" y="1482032"/>
            <a:ext cx="8795320" cy="554736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Segundo as normas: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pt-BR" dirty="0"/>
          </a:p>
          <a:p>
            <a:pPr marL="274320" indent="-274320">
              <a:spcBef>
                <a:spcPts val="580"/>
              </a:spcBef>
              <a:buBlip>
                <a:blip r:embed="rId2"/>
              </a:buBlip>
              <a:defRPr/>
            </a:pPr>
            <a:r>
              <a:rPr lang="pt-BR" dirty="0"/>
              <a:t>ABNT NBR 6022:2018 (formatação de artigos)</a:t>
            </a:r>
          </a:p>
          <a:p>
            <a:pPr marL="274320" indent="-274320">
              <a:spcBef>
                <a:spcPts val="580"/>
              </a:spcBef>
              <a:buBlip>
                <a:blip r:embed="rId2"/>
              </a:buBlip>
              <a:defRPr/>
            </a:pPr>
            <a:r>
              <a:rPr lang="pt-BR" dirty="0"/>
              <a:t>ABNT NBR 6028: 2021 (resumos)</a:t>
            </a:r>
          </a:p>
          <a:p>
            <a:pPr marL="274320" indent="-274320">
              <a:spcBef>
                <a:spcPts val="580"/>
              </a:spcBef>
              <a:buBlip>
                <a:blip r:embed="rId2"/>
              </a:buBlip>
              <a:defRPr/>
            </a:pPr>
            <a:r>
              <a:rPr lang="pt-BR" dirty="0"/>
              <a:t>ABNT NBR 6024:2012 (numeração das seções)</a:t>
            </a:r>
          </a:p>
          <a:p>
            <a:pPr marL="274320" indent="-274320">
              <a:spcBef>
                <a:spcPts val="580"/>
              </a:spcBef>
              <a:buBlip>
                <a:blip r:embed="rId2"/>
              </a:buBlip>
              <a:defRPr/>
            </a:pPr>
            <a:r>
              <a:rPr lang="pt-BR" dirty="0"/>
              <a:t>ABNT NBR 6023: 2018 (referências)</a:t>
            </a:r>
          </a:p>
          <a:p>
            <a:pPr marL="274320" indent="-274320">
              <a:spcBef>
                <a:spcPts val="580"/>
              </a:spcBef>
              <a:buBlip>
                <a:blip r:embed="rId2"/>
              </a:buBlip>
              <a:defRPr/>
            </a:pPr>
            <a:r>
              <a:rPr lang="pt-BR" dirty="0"/>
              <a:t>ABNT NBR 6027: 2012 (sumário)</a:t>
            </a:r>
          </a:p>
          <a:p>
            <a:pPr marL="274320" indent="-274320">
              <a:spcBef>
                <a:spcPts val="580"/>
              </a:spcBef>
              <a:buBlip>
                <a:blip r:embed="rId2"/>
              </a:buBlip>
              <a:defRPr/>
            </a:pPr>
            <a:r>
              <a:rPr lang="pt-BR" dirty="0"/>
              <a:t>ABNT NBR 10520: 2002 (citações)</a:t>
            </a:r>
          </a:p>
        </p:txBody>
      </p:sp>
    </p:spTree>
    <p:extLst>
      <p:ext uri="{BB962C8B-B14F-4D97-AF65-F5344CB8AC3E}">
        <p14:creationId xmlns:p14="http://schemas.microsoft.com/office/powerpoint/2010/main" val="85550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0A182-4081-47F5-815F-94129EBA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ESCRITA</a:t>
            </a:r>
            <a:b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</a:br>
            <a:endParaRPr lang="pt-BR" sz="3600" b="1" dirty="0"/>
          </a:p>
        </p:txBody>
      </p:sp>
      <p:sp>
        <p:nvSpPr>
          <p:cNvPr id="5123" name="Espaço Reservado para Conteúdo 2">
            <a:extLst>
              <a:ext uri="{FF2B5EF4-FFF2-40B4-BE49-F238E27FC236}">
                <a16:creationId xmlns:a16="http://schemas.microsoft.com/office/drawing/2014/main" id="{BA99FA33-C351-46FF-A808-2F8505D9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4737"/>
            <a:ext cx="9144000" cy="4708525"/>
          </a:xfrm>
        </p:spPr>
        <p:txBody>
          <a:bodyPr/>
          <a:lstStyle/>
          <a:p>
            <a:pPr eaLnBrk="1" hangingPunct="1"/>
            <a:r>
              <a:rPr lang="pt-BR" sz="3600" dirty="0"/>
              <a:t>Usar linguagem correta e precisa;</a:t>
            </a:r>
          </a:p>
          <a:p>
            <a:pPr eaLnBrk="1" hangingPunct="1"/>
            <a:r>
              <a:rPr lang="pt-BR" sz="3600" dirty="0"/>
              <a:t>Coerência na argumentação;</a:t>
            </a:r>
          </a:p>
          <a:p>
            <a:pPr eaLnBrk="1" hangingPunct="1"/>
            <a:r>
              <a:rPr lang="pt-BR" sz="3600" dirty="0"/>
              <a:t>Clareza na exposição das ideias, objetividade, concisão e fidelidade às fontes citadas.</a:t>
            </a:r>
          </a:p>
          <a:p>
            <a:pPr eaLnBrk="1" hangingPunct="1"/>
            <a:r>
              <a:rPr lang="pt-BR" sz="3600" dirty="0"/>
              <a:t>É importante expressar-se adequadamente um pensamento, ser claro naquilo que se desejar manifestar. </a:t>
            </a:r>
          </a:p>
          <a:p>
            <a:pPr eaLnBrk="1" hangingPunct="1"/>
            <a:endParaRPr lang="pt-BR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0A182-4081-47F5-815F-94129EBA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ESCRITA</a:t>
            </a:r>
            <a:b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</a:br>
            <a:endParaRPr lang="pt-BR" sz="3600" b="1" dirty="0"/>
          </a:p>
        </p:txBody>
      </p:sp>
      <p:sp>
        <p:nvSpPr>
          <p:cNvPr id="5123" name="Espaço Reservado para Conteúdo 2">
            <a:extLst>
              <a:ext uri="{FF2B5EF4-FFF2-40B4-BE49-F238E27FC236}">
                <a16:creationId xmlns:a16="http://schemas.microsoft.com/office/drawing/2014/main" id="{BA99FA33-C351-46FF-A808-2F8505D9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4737"/>
            <a:ext cx="9144000" cy="5378599"/>
          </a:xfrm>
        </p:spPr>
        <p:txBody>
          <a:bodyPr/>
          <a:lstStyle/>
          <a:p>
            <a:pPr eaLnBrk="1" hangingPunct="1"/>
            <a:r>
              <a:rPr lang="pt-BR" sz="3000" dirty="0"/>
              <a:t>Quanto à linguagem científica, é importante que sejam analisados os seguintes procedimentos no artigo científico: </a:t>
            </a:r>
          </a:p>
          <a:p>
            <a:pPr lvl="1" eaLnBrk="1" hangingPunct="1"/>
            <a:r>
              <a:rPr lang="pt-BR" sz="2300" dirty="0"/>
              <a:t>a) </a:t>
            </a:r>
            <a:r>
              <a:rPr lang="pt-BR" sz="2300" b="1" dirty="0"/>
              <a:t>impessoalidade</a:t>
            </a:r>
            <a:r>
              <a:rPr lang="pt-BR" sz="2300" dirty="0"/>
              <a:t>: redigir o trabalho na 3ª pessoa do singular, usando a forma IMPESSOAL; </a:t>
            </a:r>
          </a:p>
          <a:p>
            <a:pPr lvl="1" eaLnBrk="1" hangingPunct="1"/>
            <a:r>
              <a:rPr lang="pt-BR" sz="2300" dirty="0"/>
              <a:t>b) </a:t>
            </a:r>
            <a:r>
              <a:rPr lang="pt-BR" sz="2300" b="1" dirty="0"/>
              <a:t>objetividade</a:t>
            </a:r>
            <a:r>
              <a:rPr lang="pt-BR" sz="2300" dirty="0"/>
              <a:t>: não usar expressões como: “eu penso”, “eu acho”, “parece-me” que dão margem a interpretações sem valor científico; </a:t>
            </a:r>
          </a:p>
          <a:p>
            <a:pPr lvl="1" eaLnBrk="1" hangingPunct="1"/>
            <a:r>
              <a:rPr lang="pt-BR" sz="2300" dirty="0"/>
              <a:t>c) </a:t>
            </a:r>
            <a:r>
              <a:rPr lang="pt-BR" sz="2300" b="1" dirty="0"/>
              <a:t>estilo científico</a:t>
            </a:r>
            <a:r>
              <a:rPr lang="pt-BR" sz="2300" dirty="0"/>
              <a:t>: a linguagem científica é informativa, de ordem racional, firmada em dados concretos do ponto de vista científico; </a:t>
            </a:r>
          </a:p>
          <a:p>
            <a:pPr lvl="1" eaLnBrk="1" hangingPunct="1"/>
            <a:r>
              <a:rPr lang="pt-BR" sz="2300" dirty="0"/>
              <a:t>d) </a:t>
            </a:r>
            <a:r>
              <a:rPr lang="pt-BR" sz="2300" b="1" dirty="0"/>
              <a:t>vocabulário técnico</a:t>
            </a:r>
            <a:r>
              <a:rPr lang="pt-BR" sz="2300" dirty="0"/>
              <a:t>: utilizar com clareza e precisão; cada ramo da ciência possui uma terminologia técnica própria que deve ser observada; </a:t>
            </a:r>
          </a:p>
          <a:p>
            <a:pPr marL="457200" lvl="1" indent="0" eaLnBrk="1" hangingPunct="1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028948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0A182-4081-47F5-815F-94129EBA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ESCRITA</a:t>
            </a:r>
            <a:b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</a:br>
            <a:endParaRPr lang="pt-BR" sz="3600" b="1" dirty="0"/>
          </a:p>
        </p:txBody>
      </p:sp>
      <p:sp>
        <p:nvSpPr>
          <p:cNvPr id="5123" name="Espaço Reservado para Conteúdo 2">
            <a:extLst>
              <a:ext uri="{FF2B5EF4-FFF2-40B4-BE49-F238E27FC236}">
                <a16:creationId xmlns:a16="http://schemas.microsoft.com/office/drawing/2014/main" id="{BA99FA33-C351-46FF-A808-2F8505D9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4737"/>
            <a:ext cx="9144000" cy="5378599"/>
          </a:xfrm>
        </p:spPr>
        <p:txBody>
          <a:bodyPr/>
          <a:lstStyle/>
          <a:p>
            <a:pPr eaLnBrk="1" hangingPunct="1"/>
            <a:r>
              <a:rPr lang="pt-BR" sz="3000" dirty="0"/>
              <a:t>Quanto à linguagem científica, é importante que sejam analisados os seguintes procedimentos no artigo científico: </a:t>
            </a:r>
          </a:p>
          <a:p>
            <a:pPr lvl="1" eaLnBrk="1" hangingPunct="1"/>
            <a:r>
              <a:rPr lang="pt-BR" sz="2400" dirty="0"/>
              <a:t>e) a </a:t>
            </a:r>
            <a:r>
              <a:rPr lang="pt-BR" sz="2400" b="1" dirty="0"/>
              <a:t>correção gramatical e ortográfica: </a:t>
            </a:r>
            <a:r>
              <a:rPr lang="pt-BR" sz="2400" dirty="0"/>
              <a:t>é indispensável revisar a escrita, checar se as palavras estão corretas, atentar aos “c”, “ç”, “s” “</a:t>
            </a:r>
            <a:r>
              <a:rPr lang="pt-BR" sz="2400" dirty="0" err="1"/>
              <a:t>ss</a:t>
            </a:r>
            <a:r>
              <a:rPr lang="pt-BR" sz="2400" dirty="0"/>
              <a:t>”, e outras; </a:t>
            </a:r>
          </a:p>
          <a:p>
            <a:pPr lvl="1" eaLnBrk="1" hangingPunct="1"/>
            <a:r>
              <a:rPr lang="pt-BR" sz="2400" dirty="0"/>
              <a:t>f) a </a:t>
            </a:r>
            <a:r>
              <a:rPr lang="pt-BR" sz="2400" b="1" dirty="0"/>
              <a:t>parágrafos curtos: </a:t>
            </a:r>
            <a:r>
              <a:rPr lang="pt-BR" sz="2400" dirty="0"/>
              <a:t>relatar a pesquisa com frases curtas, evitando muitas orações longas. Toda vez que se dá um passo a mais no desenvolvimento do raciocínio, muda-se o parágrafo; </a:t>
            </a:r>
          </a:p>
          <a:p>
            <a:pPr lvl="1" eaLnBrk="1" hangingPunct="1"/>
            <a:r>
              <a:rPr lang="pt-BR" sz="2400" dirty="0"/>
              <a:t>g) os </a:t>
            </a:r>
            <a:r>
              <a:rPr lang="pt-BR" sz="2400" b="1" dirty="0"/>
              <a:t>recursos ilustrativos</a:t>
            </a:r>
            <a:r>
              <a:rPr lang="pt-BR" sz="2400" dirty="0"/>
              <a:t> como gráficos, desenhos, figuras devem ser criteriosamente distribuídos no texto, tendo suas fontes citadas. E devem acrescentar ao entendimento. Se não serve para nada, não coloque.</a:t>
            </a: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2896055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0A182-4081-47F5-815F-94129EBA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ESCRITA</a:t>
            </a:r>
            <a:b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</a:br>
            <a:endParaRPr lang="pt-BR" sz="3600" b="1" dirty="0"/>
          </a:p>
        </p:txBody>
      </p:sp>
      <p:sp>
        <p:nvSpPr>
          <p:cNvPr id="5123" name="Espaço Reservado para Conteúdo 2">
            <a:extLst>
              <a:ext uri="{FF2B5EF4-FFF2-40B4-BE49-F238E27FC236}">
                <a16:creationId xmlns:a16="http://schemas.microsoft.com/office/drawing/2014/main" id="{BA99FA33-C351-46FF-A808-2F8505D9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" y="846138"/>
            <a:ext cx="9144000" cy="5737224"/>
          </a:xfrm>
        </p:spPr>
        <p:txBody>
          <a:bodyPr/>
          <a:lstStyle/>
          <a:p>
            <a:pPr eaLnBrk="1" hangingPunct="1"/>
            <a:r>
              <a:rPr lang="pt-BR" sz="2600" dirty="0"/>
              <a:t>Para a redação ser bem concisa e clara, não se deve seguir o ritmo comum do nosso pensamento, que geralmente se baseia na associação livre de ideias e imagens. </a:t>
            </a:r>
          </a:p>
          <a:p>
            <a:pPr eaLnBrk="1" hangingPunct="1"/>
            <a:r>
              <a:rPr lang="pt-BR" sz="2600" dirty="0"/>
              <a:t>Assim, ao explanar as ideias de modo coerente, se fazem necessários cortes e adições de palavras ou frases.</a:t>
            </a:r>
          </a:p>
          <a:p>
            <a:pPr eaLnBrk="1" hangingPunct="1"/>
            <a:r>
              <a:rPr lang="pt-BR" sz="2600" dirty="0"/>
              <a:t>Atenção à concordância e regência nominal e verbal</a:t>
            </a:r>
          </a:p>
          <a:p>
            <a:pPr eaLnBrk="1" hangingPunct="1"/>
            <a:r>
              <a:rPr lang="pt-BR" sz="2600" dirty="0"/>
              <a:t>Exemplos: </a:t>
            </a:r>
          </a:p>
          <a:p>
            <a:pPr lvl="1" eaLnBrk="1" hangingPunct="1"/>
            <a:r>
              <a:rPr lang="pt-BR" sz="1600" dirty="0">
                <a:solidFill>
                  <a:srgbClr val="FF0000"/>
                </a:solidFill>
              </a:rPr>
              <a:t>Regência errada</a:t>
            </a:r>
            <a:r>
              <a:rPr lang="pt-BR" sz="1600" dirty="0">
                <a:solidFill>
                  <a:schemeClr val="tx2"/>
                </a:solidFill>
              </a:rPr>
              <a:t>: “</a:t>
            </a:r>
            <a:r>
              <a:rPr lang="pt-BR" sz="1600" b="0" i="0" dirty="0">
                <a:solidFill>
                  <a:schemeClr val="tx2"/>
                </a:solidFill>
                <a:effectLst/>
              </a:rPr>
              <a:t>“Eu obedeci o meu pai”; </a:t>
            </a:r>
          </a:p>
          <a:p>
            <a:pPr lvl="1" eaLnBrk="1" hangingPunct="1"/>
            <a:r>
              <a:rPr lang="pt-BR" sz="1600" b="1" dirty="0">
                <a:solidFill>
                  <a:schemeClr val="accent3">
                    <a:lumMod val="50000"/>
                  </a:schemeClr>
                </a:solidFill>
              </a:rPr>
              <a:t>Regência </a:t>
            </a:r>
            <a:r>
              <a:rPr lang="pt-BR" sz="1600" b="1" i="0" dirty="0">
                <a:solidFill>
                  <a:schemeClr val="accent3">
                    <a:lumMod val="50000"/>
                  </a:schemeClr>
                </a:solidFill>
                <a:effectLst/>
              </a:rPr>
              <a:t>correta: </a:t>
            </a:r>
            <a:r>
              <a:rPr lang="pt-BR" sz="1600" b="0" i="0" dirty="0">
                <a:solidFill>
                  <a:schemeClr val="tx2"/>
                </a:solidFill>
                <a:effectLst/>
              </a:rPr>
              <a:t>“Eu obedeci ao meu pai.” (com preposição ‘a’). </a:t>
            </a:r>
          </a:p>
          <a:p>
            <a:pPr lvl="1" eaLnBrk="1" hangingPunct="1"/>
            <a:r>
              <a:rPr lang="pt-BR" sz="1600" dirty="0">
                <a:solidFill>
                  <a:srgbClr val="FF0000"/>
                </a:solidFill>
              </a:rPr>
              <a:t>Concordâncias erradas</a:t>
            </a:r>
            <a:r>
              <a:rPr lang="pt-BR" sz="1600" dirty="0">
                <a:solidFill>
                  <a:schemeClr val="tx2"/>
                </a:solidFill>
              </a:rPr>
              <a:t>: “</a:t>
            </a:r>
            <a:r>
              <a:rPr lang="pt-BR" sz="1600" b="1" i="0" dirty="0">
                <a:solidFill>
                  <a:schemeClr val="tx2"/>
                </a:solidFill>
                <a:effectLst/>
              </a:rPr>
              <a:t>Poderá</a:t>
            </a:r>
            <a:r>
              <a:rPr lang="pt-BR" sz="1600" b="0" i="0" dirty="0">
                <a:solidFill>
                  <a:schemeClr val="tx2"/>
                </a:solidFill>
                <a:effectLst/>
              </a:rPr>
              <a:t> ainda acontecer mais incentivos como esses.” ; </a:t>
            </a:r>
          </a:p>
          <a:p>
            <a:pPr lvl="1" eaLnBrk="1" hangingPunct="1"/>
            <a:r>
              <a:rPr lang="pt-BR" sz="1600" b="0" i="0" dirty="0">
                <a:solidFill>
                  <a:schemeClr val="tx2"/>
                </a:solidFill>
                <a:effectLst/>
              </a:rPr>
              <a:t>                                           “Encaminho </a:t>
            </a:r>
            <a:r>
              <a:rPr lang="pt-BR" sz="1600" b="1" i="0" dirty="0">
                <a:solidFill>
                  <a:schemeClr val="tx2"/>
                </a:solidFill>
                <a:effectLst/>
              </a:rPr>
              <a:t>anexo</a:t>
            </a:r>
            <a:r>
              <a:rPr lang="pt-BR" sz="1600" b="0" i="0" dirty="0">
                <a:solidFill>
                  <a:schemeClr val="tx2"/>
                </a:solidFill>
                <a:effectLst/>
              </a:rPr>
              <a:t> os documentos solicitados. ”</a:t>
            </a:r>
          </a:p>
          <a:p>
            <a:pPr lvl="1" eaLnBrk="1" hangingPunct="1"/>
            <a:r>
              <a:rPr lang="pt-BR" sz="1600" b="1" dirty="0">
                <a:solidFill>
                  <a:schemeClr val="accent3">
                    <a:lumMod val="50000"/>
                  </a:schemeClr>
                </a:solidFill>
              </a:rPr>
              <a:t>Concordância correta: </a:t>
            </a:r>
            <a:r>
              <a:rPr lang="pt-BR" sz="1600" dirty="0">
                <a:solidFill>
                  <a:schemeClr val="tx2"/>
                </a:solidFill>
              </a:rPr>
              <a:t>“</a:t>
            </a:r>
            <a:r>
              <a:rPr lang="pt-BR" sz="1600" b="1" i="0" dirty="0">
                <a:solidFill>
                  <a:schemeClr val="tx2"/>
                </a:solidFill>
                <a:effectLst/>
              </a:rPr>
              <a:t>Poderão</a:t>
            </a:r>
            <a:r>
              <a:rPr lang="pt-BR" sz="1600" b="0" i="0" dirty="0">
                <a:solidFill>
                  <a:schemeClr val="tx2"/>
                </a:solidFill>
                <a:effectLst/>
              </a:rPr>
              <a:t> ainda acontecer mais incentivos como esses.”;                  </a:t>
            </a:r>
          </a:p>
          <a:p>
            <a:pPr marL="457200" lvl="1" indent="0" eaLnBrk="1" hangingPunct="1">
              <a:buNone/>
            </a:pPr>
            <a:r>
              <a:rPr lang="pt-BR" sz="1600" dirty="0">
                <a:solidFill>
                  <a:schemeClr val="tx2"/>
                </a:solidFill>
              </a:rPr>
              <a:t>                                                 </a:t>
            </a:r>
            <a:r>
              <a:rPr lang="pt-BR" sz="1600" b="0" i="0" dirty="0">
                <a:solidFill>
                  <a:schemeClr val="tx2"/>
                </a:solidFill>
                <a:effectLst/>
              </a:rPr>
              <a:t>“Encaminho </a:t>
            </a:r>
            <a:r>
              <a:rPr lang="pt-BR" sz="1600" b="1" i="0" dirty="0">
                <a:solidFill>
                  <a:schemeClr val="tx2"/>
                </a:solidFill>
                <a:effectLst/>
              </a:rPr>
              <a:t>anexos</a:t>
            </a:r>
            <a:r>
              <a:rPr lang="pt-BR" sz="1600" b="0" i="0" dirty="0">
                <a:solidFill>
                  <a:schemeClr val="tx2"/>
                </a:solidFill>
                <a:effectLst/>
              </a:rPr>
              <a:t> os documentos solicitados. ” </a:t>
            </a:r>
            <a:endParaRPr lang="pt-BR" sz="1600" dirty="0">
              <a:solidFill>
                <a:schemeClr val="tx2"/>
              </a:solidFill>
            </a:endParaRPr>
          </a:p>
          <a:p>
            <a:pPr lvl="1" eaLnBrk="1" hangingPunct="1"/>
            <a:endParaRPr lang="pt-BR" sz="1600" dirty="0">
              <a:solidFill>
                <a:srgbClr val="FF0000"/>
              </a:solidFill>
            </a:endParaRPr>
          </a:p>
          <a:p>
            <a:pPr lvl="1" eaLnBrk="1" hangingPunct="1"/>
            <a:r>
              <a:rPr lang="pt-BR" sz="1600" dirty="0">
                <a:solidFill>
                  <a:srgbClr val="FF0000"/>
                </a:solidFill>
              </a:rPr>
              <a:t>Outros erros</a:t>
            </a:r>
            <a:r>
              <a:rPr lang="pt-BR" sz="1600" dirty="0">
                <a:solidFill>
                  <a:schemeClr val="tx2"/>
                </a:solidFill>
              </a:rPr>
              <a:t>: “Segue os informativos sobre a reunião”;</a:t>
            </a:r>
          </a:p>
          <a:p>
            <a:pPr lvl="1" eaLnBrk="1" hangingPunct="1"/>
            <a:r>
              <a:rPr lang="pt-BR" sz="1600" dirty="0">
                <a:solidFill>
                  <a:schemeClr val="tx2"/>
                </a:solidFill>
              </a:rPr>
              <a:t>“Impactos ambientais, como os já citados, pode provocar anomalias genéticas”</a:t>
            </a:r>
          </a:p>
          <a:p>
            <a:pPr eaLnBrk="1" hangingPunct="1"/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65396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0A182-4081-47F5-815F-94129EBA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ESCRITA</a:t>
            </a:r>
            <a:b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</a:br>
            <a:endParaRPr lang="pt-BR" sz="3600" b="1" dirty="0"/>
          </a:p>
        </p:txBody>
      </p:sp>
      <p:sp>
        <p:nvSpPr>
          <p:cNvPr id="5123" name="Espaço Reservado para Conteúdo 2">
            <a:extLst>
              <a:ext uri="{FF2B5EF4-FFF2-40B4-BE49-F238E27FC236}">
                <a16:creationId xmlns:a16="http://schemas.microsoft.com/office/drawing/2014/main" id="{BA99FA33-C351-46FF-A808-2F8505D9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4737"/>
            <a:ext cx="9144000" cy="4708525"/>
          </a:xfrm>
        </p:spPr>
        <p:txBody>
          <a:bodyPr/>
          <a:lstStyle/>
          <a:p>
            <a:pPr eaLnBrk="1" hangingPunct="1"/>
            <a:r>
              <a:rPr lang="pt-BR" sz="2400" dirty="0"/>
              <a:t>Quando se usa </a:t>
            </a:r>
            <a:r>
              <a:rPr lang="pt-BR" sz="2400" b="1" dirty="0"/>
              <a:t>siglas</a:t>
            </a:r>
            <a:r>
              <a:rPr lang="pt-BR" sz="2400" dirty="0"/>
              <a:t>, na primeira vez, deve-se escrever por extenso o nome e entre parênteses a sigla. A partir da segunda vez, só a sigla.</a:t>
            </a:r>
          </a:p>
          <a:p>
            <a:pPr eaLnBrk="1" hangingPunct="1"/>
            <a:r>
              <a:rPr lang="pt-BR" sz="2400" b="1" dirty="0"/>
              <a:t>Siglas</a:t>
            </a:r>
            <a:r>
              <a:rPr lang="pt-BR" sz="2400" dirty="0"/>
              <a:t>: mencionada pela 1ª vez no texto, por extenso e entre parênteses a sigla; depois, a partir da 2ª vez apresentada no texto, só escrever a sigla; </a:t>
            </a:r>
          </a:p>
          <a:p>
            <a:pPr eaLnBrk="1" hangingPunct="1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Ex.: A Associação Brasileira de Normas Técnicas (ABNT) é responsável por...</a:t>
            </a:r>
          </a:p>
          <a:p>
            <a:pPr eaLnBrk="1" hangingPunct="1"/>
            <a:endParaRPr lang="pt-BR" sz="2400" dirty="0"/>
          </a:p>
          <a:p>
            <a:pPr eaLnBrk="1" hangingPunct="1"/>
            <a:r>
              <a:rPr lang="pt-BR" altLang="pt-BR" sz="2400" dirty="0"/>
              <a:t>Palavras </a:t>
            </a:r>
            <a:r>
              <a:rPr lang="pt-BR" altLang="pt-BR" sz="2400" b="1" dirty="0"/>
              <a:t>estrangeiras</a:t>
            </a:r>
            <a:r>
              <a:rPr lang="pt-BR" altLang="pt-BR" sz="2400" dirty="0"/>
              <a:t> (não fazem parte da língua portuguesa) aplica-se o itálico. </a:t>
            </a:r>
          </a:p>
          <a:p>
            <a:pPr lvl="1" eaLnBrk="1" hangingPunct="1"/>
            <a:r>
              <a:rPr lang="pt-BR" altLang="pt-BR" sz="2000" dirty="0">
                <a:solidFill>
                  <a:schemeClr val="accent1">
                    <a:lumMod val="50000"/>
                  </a:schemeClr>
                </a:solidFill>
              </a:rPr>
              <a:t>Ex. A tecnologia de registro em bloco, denominada </a:t>
            </a:r>
            <a:r>
              <a:rPr lang="pt-BR" altLang="pt-BR" sz="2000" i="1" dirty="0" err="1">
                <a:solidFill>
                  <a:schemeClr val="accent1">
                    <a:lumMod val="50000"/>
                  </a:schemeClr>
                </a:solidFill>
              </a:rPr>
              <a:t>blockchain</a:t>
            </a:r>
            <a:r>
              <a:rPr lang="pt-BR" altLang="pt-BR" sz="2000" dirty="0">
                <a:solidFill>
                  <a:schemeClr val="accent1">
                    <a:lumMod val="50000"/>
                  </a:schemeClr>
                </a:solidFill>
              </a:rPr>
              <a:t>, veio a tornar-se ferramenta valorosa para a contabilidade.</a:t>
            </a:r>
          </a:p>
        </p:txBody>
      </p:sp>
    </p:spTree>
    <p:extLst>
      <p:ext uri="{BB962C8B-B14F-4D97-AF65-F5344CB8AC3E}">
        <p14:creationId xmlns:p14="http://schemas.microsoft.com/office/powerpoint/2010/main" val="1864738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0A182-4081-47F5-815F-94129EBA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0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7030A0"/>
                </a:solidFill>
              </a:rPr>
              <a:t>TABELAS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pt-BR" sz="3600" b="1" dirty="0">
              <a:solidFill>
                <a:srgbClr val="7030A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B03798-900E-4105-9CE9-1FB7A33CDA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100" t="22815" r="31100" b="46269"/>
          <a:stretch/>
        </p:blipFill>
        <p:spPr>
          <a:xfrm>
            <a:off x="2605970" y="839023"/>
            <a:ext cx="5943005" cy="290124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DF2074F-AE88-168D-E740-7836EBAC65BB}"/>
              </a:ext>
            </a:extLst>
          </p:cNvPr>
          <p:cNvSpPr txBox="1"/>
          <p:nvPr/>
        </p:nvSpPr>
        <p:spPr>
          <a:xfrm>
            <a:off x="396361" y="3885069"/>
            <a:ext cx="8569718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i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Toda TABELA ou QUADRO usado no trabalho DEVE ser comentado e anunciado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i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 ao longo do texto. E, devem ser inseridas logo após seu anúncio.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solidFill>
                <a:schemeClr val="accent1">
                  <a:lumMod val="50000"/>
                </a:schemeClr>
              </a:solidFill>
              <a:latin typeface="+mn-lt"/>
              <a:cs typeface="+mn-c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Ex.: As taxas de vendas no período do Natal, mostraram-se mais altas, conforme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apresenta a Tabela 1.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B0A0B96D-78FD-C1FD-8E5F-F4EAEEDCB46F}"/>
              </a:ext>
            </a:extLst>
          </p:cNvPr>
          <p:cNvSpPr/>
          <p:nvPr/>
        </p:nvSpPr>
        <p:spPr>
          <a:xfrm>
            <a:off x="2281934" y="3145160"/>
            <a:ext cx="648072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7FE35E-92DB-36AB-E75F-C628A0716E49}"/>
              </a:ext>
            </a:extLst>
          </p:cNvPr>
          <p:cNvSpPr txBox="1"/>
          <p:nvPr/>
        </p:nvSpPr>
        <p:spPr>
          <a:xfrm>
            <a:off x="401235" y="323950"/>
            <a:ext cx="20477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Citar a fonte com ano de publicação, </a:t>
            </a:r>
          </a:p>
          <a:p>
            <a:r>
              <a:rPr lang="pt-BR" dirty="0"/>
              <a:t>se a tabela foi elaborada pelo próprio autor do trabalho, colocar Fonte: Autoria própria, </a:t>
            </a:r>
          </a:p>
          <a:p>
            <a:r>
              <a:rPr lang="pt-BR" dirty="0"/>
              <a:t>ou, </a:t>
            </a:r>
          </a:p>
          <a:p>
            <a:r>
              <a:rPr lang="pt-BR" dirty="0"/>
              <a:t>Fonte: Os autores.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D793A47-3A15-937F-153B-46042F05E9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100" t="22815" r="31100" b="46269"/>
          <a:stretch/>
        </p:blipFill>
        <p:spPr>
          <a:xfrm>
            <a:off x="3149877" y="5301208"/>
            <a:ext cx="3062685" cy="140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85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0A182-4081-47F5-815F-94129EBA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-100018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7030A0"/>
                </a:solidFill>
              </a:rPr>
              <a:t>QUADROS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pt-BR" sz="3600" b="1" dirty="0">
              <a:solidFill>
                <a:srgbClr val="7030A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F2074F-AE88-168D-E740-7836EBAC65BB}"/>
              </a:ext>
            </a:extLst>
          </p:cNvPr>
          <p:cNvSpPr txBox="1"/>
          <p:nvPr/>
        </p:nvSpPr>
        <p:spPr>
          <a:xfrm>
            <a:off x="201278" y="4041632"/>
            <a:ext cx="8969635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i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Toda TABELA ou QUADRO usado no trabalho DEVE ser comentado e anunciado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i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 ao longo do texto. E, devem ser inseridas logo após seu anúncio.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solidFill>
                <a:schemeClr val="accent1">
                  <a:lumMod val="50000"/>
                </a:schemeClr>
              </a:solidFill>
              <a:latin typeface="+mn-lt"/>
              <a:cs typeface="+mn-c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Ex.: Os tipos de medidas, suas intervenções e produtos estão expressos no Quadro 1. 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B0A0B96D-78FD-C1FD-8E5F-F4EAEEDCB46F}"/>
              </a:ext>
            </a:extLst>
          </p:cNvPr>
          <p:cNvSpPr/>
          <p:nvPr/>
        </p:nvSpPr>
        <p:spPr>
          <a:xfrm>
            <a:off x="2408896" y="3648873"/>
            <a:ext cx="578928" cy="212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7FE35E-92DB-36AB-E75F-C628A0716E49}"/>
              </a:ext>
            </a:extLst>
          </p:cNvPr>
          <p:cNvSpPr txBox="1"/>
          <p:nvPr/>
        </p:nvSpPr>
        <p:spPr>
          <a:xfrm>
            <a:off x="401235" y="323950"/>
            <a:ext cx="20477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Citar a fonte com ano de publicação, </a:t>
            </a:r>
          </a:p>
          <a:p>
            <a:r>
              <a:rPr lang="pt-BR" dirty="0"/>
              <a:t>se a tabela foi elaborada pelo próprio autor do trabalho, colocar Fonte: Autoria própria, </a:t>
            </a:r>
          </a:p>
          <a:p>
            <a:r>
              <a:rPr lang="pt-BR" dirty="0"/>
              <a:t>ou, </a:t>
            </a:r>
          </a:p>
          <a:p>
            <a:r>
              <a:rPr lang="pt-BR" dirty="0"/>
              <a:t>Fonte: Os autores.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14D99D7-84B5-40EE-981C-4FB0B7DB94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50" t="37400" r="32675" b="19201"/>
          <a:stretch/>
        </p:blipFill>
        <p:spPr>
          <a:xfrm>
            <a:off x="3203848" y="566034"/>
            <a:ext cx="4824536" cy="318892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2BE9980-0903-487F-B63E-915F8569A9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50" t="37400" r="32675" b="19201"/>
          <a:stretch/>
        </p:blipFill>
        <p:spPr>
          <a:xfrm>
            <a:off x="3491880" y="5368169"/>
            <a:ext cx="2368788" cy="156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55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0A182-4081-47F5-815F-94129EBA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3411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7030A0"/>
                </a:solidFill>
              </a:rPr>
              <a:t>FIGURAS 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pt-BR" sz="3600" b="1" dirty="0">
              <a:solidFill>
                <a:srgbClr val="7030A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6716978-791A-4DA1-9F23-65B78B86A2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00" t="32194" r="31100" b="23399"/>
          <a:stretch/>
        </p:blipFill>
        <p:spPr>
          <a:xfrm>
            <a:off x="1719111" y="846138"/>
            <a:ext cx="5705778" cy="377041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0FD1902-D961-C021-0AC9-113C16285419}"/>
              </a:ext>
            </a:extLst>
          </p:cNvPr>
          <p:cNvSpPr txBox="1"/>
          <p:nvPr/>
        </p:nvSpPr>
        <p:spPr>
          <a:xfrm>
            <a:off x="344304" y="4919008"/>
            <a:ext cx="8455392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i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Toda FIGURA usada no trabalho DEVE ser comentada e anunciada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i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 ao longo do texto</a:t>
            </a:r>
            <a:r>
              <a:rPr lang="pt-BR" sz="2000" b="1" i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. </a:t>
            </a:r>
            <a:r>
              <a:rPr lang="pt-BR" sz="2000" b="1" i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E, devem ser inseridas logo após seu anúncio.</a:t>
            </a:r>
            <a:endParaRPr lang="pt-BR" sz="2000" b="1" i="1" dirty="0">
              <a:solidFill>
                <a:schemeClr val="accent1">
                  <a:lumMod val="75000"/>
                </a:schemeClr>
              </a:solidFill>
              <a:latin typeface="+mn-lt"/>
              <a:cs typeface="+mn-cs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Ex.: A Figura 1 apresenta os tipos de pesquisas executadas ao longo do projeto.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u="sng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Ou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Pesquisa aplicada e quantitativa foram alguns tipos de pesquisas executadas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rPr>
              <a:t>ao longo do projeto (Figura 1).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AA0D89-E673-70B1-874A-A6C89B24F4EF}"/>
              </a:ext>
            </a:extLst>
          </p:cNvPr>
          <p:cNvSpPr txBox="1"/>
          <p:nvPr/>
        </p:nvSpPr>
        <p:spPr>
          <a:xfrm>
            <a:off x="0" y="2591918"/>
            <a:ext cx="20477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Citar a fonte com ano de publicação, </a:t>
            </a:r>
          </a:p>
          <a:p>
            <a:r>
              <a:rPr lang="pt-BR" sz="1400" dirty="0"/>
              <a:t>se a tabela foi elaborada pelo próprio autor do trabalho, colocar Fonte: Autoria própria, </a:t>
            </a:r>
          </a:p>
          <a:p>
            <a:r>
              <a:rPr lang="pt-BR" sz="1400" dirty="0"/>
              <a:t>ou, </a:t>
            </a:r>
          </a:p>
          <a:p>
            <a:r>
              <a:rPr lang="pt-BR" sz="1400" dirty="0"/>
              <a:t>Fonte: Os autores.</a:t>
            </a: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3AFCF314-B5EE-91A9-D722-91A4A0B11B7D}"/>
              </a:ext>
            </a:extLst>
          </p:cNvPr>
          <p:cNvSpPr/>
          <p:nvPr/>
        </p:nvSpPr>
        <p:spPr>
          <a:xfrm>
            <a:off x="2047735" y="3513891"/>
            <a:ext cx="1261911" cy="138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479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0A182-4081-47F5-815F-94129EBA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7030A0"/>
                </a:solidFill>
              </a:rPr>
              <a:t>FIGURAS 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pt-BR" sz="3600" b="1" dirty="0">
              <a:solidFill>
                <a:srgbClr val="7030A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9B4103-5C92-447C-BF64-B7E691979027}"/>
              </a:ext>
            </a:extLst>
          </p:cNvPr>
          <p:cNvSpPr txBox="1"/>
          <p:nvPr/>
        </p:nvSpPr>
        <p:spPr>
          <a:xfrm>
            <a:off x="30762" y="6309320"/>
            <a:ext cx="890416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i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Toda figura usada no trabalho DEVE ser comentada e anunciada ao longo do texto.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77096B1-FCEB-4260-B0B3-B6B5AE3A5F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38" t="26200" r="27163" b="5201"/>
          <a:stretch/>
        </p:blipFill>
        <p:spPr>
          <a:xfrm>
            <a:off x="1763688" y="971726"/>
            <a:ext cx="5976664" cy="522958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CD7CD69-A237-4587-A508-FF9BD6047EBF}"/>
              </a:ext>
            </a:extLst>
          </p:cNvPr>
          <p:cNvSpPr/>
          <p:nvPr/>
        </p:nvSpPr>
        <p:spPr>
          <a:xfrm>
            <a:off x="3347864" y="1988052"/>
            <a:ext cx="3024336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964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0A182-4081-47F5-815F-94129EBA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7030A0"/>
                </a:solidFill>
              </a:rPr>
              <a:t>FIGURAS 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pt-BR" sz="3600" b="1" dirty="0">
              <a:solidFill>
                <a:srgbClr val="7030A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9B4103-5C92-447C-BF64-B7E691979027}"/>
              </a:ext>
            </a:extLst>
          </p:cNvPr>
          <p:cNvSpPr txBox="1"/>
          <p:nvPr/>
        </p:nvSpPr>
        <p:spPr>
          <a:xfrm>
            <a:off x="30762" y="6309320"/>
            <a:ext cx="890416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i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Toda figura usada no trabalho DEVE ser comentada e anunciada ao longo do texto.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257F4E1-DB41-47B7-81F3-AEB3DA6E2C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28738" t="23401" r="26375" b="8000"/>
          <a:stretch/>
        </p:blipFill>
        <p:spPr>
          <a:xfrm>
            <a:off x="1835696" y="980728"/>
            <a:ext cx="5904656" cy="507593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CA3271C-AF17-47D2-9004-968278F50E43}"/>
              </a:ext>
            </a:extLst>
          </p:cNvPr>
          <p:cNvSpPr/>
          <p:nvPr/>
        </p:nvSpPr>
        <p:spPr>
          <a:xfrm>
            <a:off x="3347864" y="1782147"/>
            <a:ext cx="3024336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952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0A182-4081-47F5-815F-94129EBA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FORMATAÇÃO</a:t>
            </a:r>
            <a:b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</a:br>
            <a:endParaRPr lang="pt-BR" sz="3600" b="1" dirty="0"/>
          </a:p>
        </p:txBody>
      </p:sp>
      <p:sp>
        <p:nvSpPr>
          <p:cNvPr id="5123" name="Espaço Reservado para Conteúdo 2">
            <a:extLst>
              <a:ext uri="{FF2B5EF4-FFF2-40B4-BE49-F238E27FC236}">
                <a16:creationId xmlns:a16="http://schemas.microsoft.com/office/drawing/2014/main" id="{BA99FA33-C351-46FF-A808-2F8505D9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28" y="980728"/>
            <a:ext cx="9144000" cy="5877272"/>
          </a:xfrm>
        </p:spPr>
        <p:txBody>
          <a:bodyPr/>
          <a:lstStyle/>
          <a:p>
            <a:pPr eaLnBrk="1" hangingPunct="1"/>
            <a:r>
              <a:rPr lang="pt-BR" sz="2400" b="1" dirty="0"/>
              <a:t>Margens</a:t>
            </a:r>
            <a:r>
              <a:rPr lang="pt-BR" sz="2400" dirty="0"/>
              <a:t>: </a:t>
            </a:r>
          </a:p>
          <a:p>
            <a:pPr lvl="1" eaLnBrk="1" hangingPunct="1"/>
            <a:r>
              <a:rPr lang="pt-BR" sz="2000" dirty="0"/>
              <a:t>superior: 3,0 cm;</a:t>
            </a:r>
          </a:p>
          <a:p>
            <a:pPr lvl="1" eaLnBrk="1" hangingPunct="1"/>
            <a:r>
              <a:rPr lang="pt-BR" sz="2000" dirty="0"/>
              <a:t>esquerda: 3,0 cm; </a:t>
            </a:r>
          </a:p>
          <a:p>
            <a:pPr lvl="1" eaLnBrk="1" hangingPunct="1"/>
            <a:r>
              <a:rPr lang="pt-BR" sz="2000" dirty="0"/>
              <a:t>direita: 2,0 cm; </a:t>
            </a:r>
          </a:p>
          <a:p>
            <a:pPr lvl="1" eaLnBrk="1" hangingPunct="1"/>
            <a:r>
              <a:rPr lang="pt-BR" sz="2000" dirty="0"/>
              <a:t>inferior: 2,0 cm.</a:t>
            </a:r>
          </a:p>
          <a:p>
            <a:pPr lvl="1" eaLnBrk="1" hangingPunct="1"/>
            <a:r>
              <a:rPr lang="pt-BR" sz="2000" dirty="0"/>
              <a:t>*Se for artigo, deve-se observar a regra da REEVISTA para a formatação correta</a:t>
            </a:r>
            <a:r>
              <a:rPr lang="pt-BR" sz="2400" dirty="0"/>
              <a:t>.</a:t>
            </a:r>
          </a:p>
          <a:p>
            <a:pPr eaLnBrk="1" hangingPunct="1"/>
            <a:r>
              <a:rPr lang="pt-BR" sz="2400" dirty="0"/>
              <a:t>LETRAS (fontes): </a:t>
            </a:r>
            <a:r>
              <a:rPr lang="pt-BR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r>
              <a:rPr lang="pt-BR" sz="2400" dirty="0"/>
              <a:t> ou </a:t>
            </a:r>
            <a:r>
              <a:rPr lang="pt-BR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Arial</a:t>
            </a:r>
            <a:r>
              <a:rPr lang="pt-BR" sz="2400" dirty="0"/>
              <a:t>, recomendação de </a:t>
            </a:r>
            <a:r>
              <a:rPr lang="pt-BR" sz="2400" dirty="0">
                <a:solidFill>
                  <a:schemeClr val="accent6">
                    <a:lumMod val="75000"/>
                  </a:schemeClr>
                </a:solidFill>
              </a:rPr>
              <a:t>tamanho 12</a:t>
            </a:r>
          </a:p>
          <a:p>
            <a:pPr eaLnBrk="1" hangingPunct="1"/>
            <a:r>
              <a:rPr lang="pt-BR" sz="2400" b="1" dirty="0"/>
              <a:t>Espaçamento simples entre linhas para todo o texto </a:t>
            </a:r>
            <a:r>
              <a:rPr lang="pt-BR" sz="2400" dirty="0"/>
              <a:t>(exceto CITAÇÕES DIRETAS LONGAS, nas quais a formatação é diferente), ou 1,5 se for monografias.</a:t>
            </a:r>
          </a:p>
          <a:p>
            <a:pPr eaLnBrk="1" hangingPunct="1"/>
            <a:r>
              <a:rPr lang="pt-BR" sz="2400" dirty="0"/>
              <a:t>Para monografias, a contagem das páginas deve começar a partir da folha de rosto, porém os números devem começar a aparecer na introdução. </a:t>
            </a:r>
            <a:r>
              <a:rPr lang="pt-BR" sz="2400" b="1" dirty="0"/>
              <a:t>Os números das páginas devem ficar no canto superior direito da folha</a:t>
            </a:r>
            <a:r>
              <a:rPr lang="pt-BR" sz="2400" dirty="0"/>
              <a:t>, a 2 centímetros da borda, com tamanho da </a:t>
            </a:r>
            <a:r>
              <a:rPr lang="pt-BR" sz="2400" dirty="0" err="1"/>
              <a:t>fontede</a:t>
            </a:r>
            <a:r>
              <a:rPr lang="pt-BR" sz="2400" dirty="0"/>
              <a:t> 10. </a:t>
            </a: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2782649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F6E24A2-56C4-40AC-B27A-7168D8AF4CDC}"/>
              </a:ext>
            </a:extLst>
          </p:cNvPr>
          <p:cNvSpPr/>
          <p:nvPr/>
        </p:nvSpPr>
        <p:spPr>
          <a:xfrm>
            <a:off x="-17463" y="0"/>
            <a:ext cx="9072563" cy="6817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000" b="1" kern="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IMPORTANTE</a:t>
            </a:r>
            <a:endParaRPr lang="pt-BR" sz="1600" b="1" kern="0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  <a:defRPr/>
            </a:pPr>
            <a:endParaRPr lang="pt-BR" sz="2000" b="1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ArialMT"/>
              </a:rPr>
              <a:t>	</a:t>
            </a:r>
            <a:r>
              <a:rPr lang="pt-BR" sz="2000" dirty="0"/>
              <a:t>Nos casos de artigos científicos, enviados para </a:t>
            </a:r>
            <a:r>
              <a:rPr lang="pt-BR" sz="2000" dirty="0">
                <a:solidFill>
                  <a:srgbClr val="FF0000"/>
                </a:solidFill>
              </a:rPr>
              <a:t>eventos científicos </a:t>
            </a:r>
            <a:r>
              <a:rPr lang="pt-BR" sz="2000" dirty="0"/>
              <a:t>ou </a:t>
            </a:r>
            <a:r>
              <a:rPr lang="pt-BR" sz="2000" dirty="0">
                <a:solidFill>
                  <a:srgbClr val="FF0000"/>
                </a:solidFill>
              </a:rPr>
              <a:t>periódicos acadêmicos (revistas)</a:t>
            </a:r>
            <a:r>
              <a:rPr lang="pt-BR" sz="2000" dirty="0"/>
              <a:t>, apesar das regras da ABNT, deve-se sempre obedecer ao </a:t>
            </a:r>
            <a:r>
              <a:rPr lang="pt-BR" sz="2000" u="sng" dirty="0">
                <a:solidFill>
                  <a:srgbClr val="FF0000"/>
                </a:solidFill>
              </a:rPr>
              <a:t>modelo proposto pelo grupo editorial da revista ou comissão organizadora do evento</a:t>
            </a:r>
            <a:r>
              <a:rPr lang="pt-BR" sz="2000" dirty="0">
                <a:solidFill>
                  <a:srgbClr val="FF0000"/>
                </a:solidFill>
              </a:rPr>
              <a:t> </a:t>
            </a:r>
            <a:r>
              <a:rPr lang="pt-BR" sz="2000" dirty="0"/>
              <a:t>mesmo que se verifique alguma orientação diferente das normas oficiais.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pt-BR" sz="2000" dirty="0"/>
              <a:t>Revistas acadêmicas-científicas ou eventos científicos podem disponibilizar um </a:t>
            </a:r>
            <a:r>
              <a:rPr lang="pt-BR" sz="2000" dirty="0">
                <a:solidFill>
                  <a:srgbClr val="7030A0"/>
                </a:solidFill>
              </a:rPr>
              <a:t>MODELO</a:t>
            </a:r>
            <a:r>
              <a:rPr lang="pt-BR" sz="2000" dirty="0"/>
              <a:t> (</a:t>
            </a:r>
            <a:r>
              <a:rPr lang="pt-BR" sz="2200" i="1" dirty="0" err="1"/>
              <a:t>template</a:t>
            </a:r>
            <a:r>
              <a:rPr lang="pt-BR" sz="2000" dirty="0"/>
              <a:t>), ou seja, um ‘esqueleto’ do artigo. 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pt-BR" sz="2000" dirty="0"/>
              <a:t>Então, você deve usá-lo para escrever seu conteúdo diretamente em cima deste esqueleto, pois o mesmo já se encontra praticamente todo formatado. 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**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pt-BR" sz="2000" dirty="0"/>
              <a:t>Algumas </a:t>
            </a:r>
            <a:r>
              <a:rPr lang="pt-BR" sz="2000" dirty="0">
                <a:solidFill>
                  <a:srgbClr val="00B050"/>
                </a:solidFill>
              </a:rPr>
              <a:t>Instituições de Ensino </a:t>
            </a:r>
            <a:r>
              <a:rPr lang="pt-BR" sz="2000" dirty="0"/>
              <a:t>também utilizam </a:t>
            </a:r>
            <a:r>
              <a:rPr lang="pt-BR" sz="2000" dirty="0">
                <a:solidFill>
                  <a:srgbClr val="00B050"/>
                </a:solidFill>
              </a:rPr>
              <a:t>manuais próprios de formatação de trabalhos acadêmicos</a:t>
            </a:r>
            <a:r>
              <a:rPr lang="pt-BR" sz="2000" dirty="0"/>
              <a:t>.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pt-BR" sz="2000" dirty="0"/>
              <a:t>Procure conhecer tais manuais antes de iniciar a formatação do seu trabalho</a:t>
            </a:r>
            <a:r>
              <a:rPr lang="pt-BR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F6E24A2-56C4-40AC-B27A-7168D8AF4CDC}"/>
              </a:ext>
            </a:extLst>
          </p:cNvPr>
          <p:cNvSpPr/>
          <p:nvPr/>
        </p:nvSpPr>
        <p:spPr>
          <a:xfrm>
            <a:off x="-17463" y="0"/>
            <a:ext cx="2608263" cy="18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0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Revista científica</a:t>
            </a:r>
          </a:p>
          <a:p>
            <a:pPr algn="ctr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0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REAL CONHECER                            </a:t>
            </a:r>
          </a:p>
          <a:p>
            <a:pPr algn="ctr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0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   (Exemplo de </a:t>
            </a:r>
            <a:r>
              <a:rPr lang="pt-BR" sz="2000" b="1" i="1" kern="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lang="pt-BR" sz="20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2924F819-858C-4A83-ABE7-BF6496665973}"/>
              </a:ext>
            </a:extLst>
          </p:cNvPr>
          <p:cNvGrpSpPr/>
          <p:nvPr/>
        </p:nvGrpSpPr>
        <p:grpSpPr>
          <a:xfrm>
            <a:off x="251520" y="10732"/>
            <a:ext cx="8548645" cy="6847268"/>
            <a:chOff x="251520" y="10732"/>
            <a:chExt cx="8548645" cy="7053510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50FF51F0-0D03-40D7-8E9D-8BDE74F3F1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9838" t="3801" r="17713" b="1000"/>
            <a:stretch/>
          </p:blipFill>
          <p:spPr>
            <a:xfrm>
              <a:off x="5148064" y="10732"/>
              <a:ext cx="3652101" cy="2699379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B5E79F8D-10D7-43E3-B2EE-2375F28869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327" t="2629" r="17648" b="2894"/>
            <a:stretch/>
          </p:blipFill>
          <p:spPr>
            <a:xfrm>
              <a:off x="251520" y="2348880"/>
              <a:ext cx="6568148" cy="4715362"/>
            </a:xfrm>
            <a:prstGeom prst="rect">
              <a:avLst/>
            </a:prstGeom>
          </p:spPr>
        </p:pic>
        <p:sp>
          <p:nvSpPr>
            <p:cNvPr id="5" name="Seta: para a Direita 4">
              <a:extLst>
                <a:ext uri="{FF2B5EF4-FFF2-40B4-BE49-F238E27FC236}">
                  <a16:creationId xmlns:a16="http://schemas.microsoft.com/office/drawing/2014/main" id="{2B2E9F4D-9B33-4E60-9574-95087217ED38}"/>
                </a:ext>
              </a:extLst>
            </p:cNvPr>
            <p:cNvSpPr/>
            <p:nvPr/>
          </p:nvSpPr>
          <p:spPr>
            <a:xfrm rot="6518364">
              <a:off x="4183052" y="2221834"/>
              <a:ext cx="1296144" cy="577255"/>
            </a:xfrm>
            <a:prstGeom prst="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Seta: para a Direita 6">
              <a:extLst>
                <a:ext uri="{FF2B5EF4-FFF2-40B4-BE49-F238E27FC236}">
                  <a16:creationId xmlns:a16="http://schemas.microsoft.com/office/drawing/2014/main" id="{CA79BF9B-0652-4397-AD23-91E7F3F63502}"/>
                </a:ext>
              </a:extLst>
            </p:cNvPr>
            <p:cNvSpPr/>
            <p:nvPr/>
          </p:nvSpPr>
          <p:spPr>
            <a:xfrm rot="9835394">
              <a:off x="3772180" y="4061092"/>
              <a:ext cx="1000400" cy="536015"/>
            </a:xfrm>
            <a:prstGeom prst="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5152800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806A6BBFD8F94CA27EC52F1AE6F20B" ma:contentTypeVersion="3" ma:contentTypeDescription="Crie um novo documento." ma:contentTypeScope="" ma:versionID="05c099c6e3f057128dc6b716b9de35b2">
  <xsd:schema xmlns:xsd="http://www.w3.org/2001/XMLSchema" xmlns:xs="http://www.w3.org/2001/XMLSchema" xmlns:p="http://schemas.microsoft.com/office/2006/metadata/properties" xmlns:ns2="b4fd5b1b-3f79-45df-9f68-0237794b52ad" targetNamespace="http://schemas.microsoft.com/office/2006/metadata/properties" ma:root="true" ma:fieldsID="66237220fbfe90ee27a0aec2968ad77a" ns2:_="">
    <xsd:import namespace="b4fd5b1b-3f79-45df-9f68-0237794b52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fd5b1b-3f79-45df-9f68-0237794b5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FF7423-0A18-484F-998E-635CEEC44427}"/>
</file>

<file path=customXml/itemProps2.xml><?xml version="1.0" encoding="utf-8"?>
<ds:datastoreItem xmlns:ds="http://schemas.openxmlformats.org/officeDocument/2006/customXml" ds:itemID="{E65583C7-6D04-45D7-A6CD-C8020EF1C2FD}"/>
</file>

<file path=customXml/itemProps3.xml><?xml version="1.0" encoding="utf-8"?>
<ds:datastoreItem xmlns:ds="http://schemas.openxmlformats.org/officeDocument/2006/customXml" ds:itemID="{F9D6606D-2796-4755-A4B5-DF795FF7384D}"/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1193</Words>
  <Application>Microsoft Office PowerPoint</Application>
  <PresentationFormat>On-screen Show (4:3)</PresentationFormat>
  <Paragraphs>109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ArialMT</vt:lpstr>
      <vt:lpstr>Calibri</vt:lpstr>
      <vt:lpstr>Times New Roman</vt:lpstr>
      <vt:lpstr>Tema do Office</vt:lpstr>
      <vt:lpstr>Formatação básica de trabalhos acadêmicos</vt:lpstr>
      <vt:lpstr> Formatação básica de trabalhos acadêmicos</vt:lpstr>
      <vt:lpstr>ESCRITA </vt:lpstr>
      <vt:lpstr>ESCRITA </vt:lpstr>
      <vt:lpstr>ESCRITA </vt:lpstr>
      <vt:lpstr>ESCRITA </vt:lpstr>
      <vt:lpstr>ESCRITA </vt:lpstr>
      <vt:lpstr>TABELAS </vt:lpstr>
      <vt:lpstr>QUADROS </vt:lpstr>
      <vt:lpstr>FIGURAS  </vt:lpstr>
      <vt:lpstr>FIGURAS  </vt:lpstr>
      <vt:lpstr>FIGURAS  </vt:lpstr>
      <vt:lpstr>FORMATAÇÃO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janaramatos</dc:creator>
  <cp:lastModifiedBy>SABRINA MARTINS DOS SANTOS</cp:lastModifiedBy>
  <cp:revision>54</cp:revision>
  <cp:lastPrinted>2018-03-25T15:26:30Z</cp:lastPrinted>
  <dcterms:created xsi:type="dcterms:W3CDTF">2013-02-25T00:58:05Z</dcterms:created>
  <dcterms:modified xsi:type="dcterms:W3CDTF">2023-05-19T20:13:12Z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0x010100F8806A6BBFD8F94CA27EC52F1AE6F20B</vt:lpwstr>
  </property>
  <property fmtid="{D5CDD505-2E9C-101B-9397-08002B2CF9AE}" pid="3" name="Order">
    <vt:r8>2200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