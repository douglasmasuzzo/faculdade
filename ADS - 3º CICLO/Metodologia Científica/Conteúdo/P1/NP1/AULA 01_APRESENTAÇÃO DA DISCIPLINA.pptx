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6.xml" ContentType="application/vnd.openxmlformats-officedocument.presentationml.notesSlide+xml"/>
  <Override PartName="/ppt/notesSlides/notesSlide5.xml" ContentType="application/vnd.openxmlformats-officedocument.presentationml.notesSlide+xml"/>
  <Override PartName="/ppt/notesSlides/notesSlide7.xml" ContentType="application/vnd.openxmlformats-officedocument.presentationml.notesSlide+xml"/>
  <Override PartName="/ppt/notesSlides/notesSlide4.xml" ContentType="application/vnd.openxmlformats-officedocument.presentationml.notesSlide+xml"/>
  <Override PartName="/ppt/slideLayouts/slideLayout10.xml" ContentType="application/vnd.openxmlformats-officedocument.presentationml.slideLayout+xml"/>
  <Override PartName="/ppt/notesMasters/notesMaster1.xml" ContentType="application/vnd.openxmlformats-officedocument.presentationml.notes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docProps/core.xml" ContentType="application/vnd.openxmlformats-package.core-properties+xml"/>
  <Override PartName="/docProps/app.xml" ContentType="application/vnd.openxmlformats-officedocument.extended-properties+xml"/>
  <Override PartName="/customXml/itemProps2.xml" ContentType="application/vnd.openxmlformats-officedocument.customXmlProperties+xml"/>
  <Override PartName="/customXml/itemProps1.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8"/>
  </p:notesMasterIdLst>
  <p:sldIdLst>
    <p:sldId id="256" r:id="rId2"/>
    <p:sldId id="262" r:id="rId3"/>
    <p:sldId id="263" r:id="rId4"/>
    <p:sldId id="264" r:id="rId5"/>
    <p:sldId id="259" r:id="rId6"/>
    <p:sldId id="268" r:id="rId7"/>
    <p:sldId id="269" r:id="rId8"/>
    <p:sldId id="270" r:id="rId9"/>
    <p:sldId id="271" r:id="rId10"/>
    <p:sldId id="272" r:id="rId11"/>
    <p:sldId id="273" r:id="rId12"/>
    <p:sldId id="274" r:id="rId13"/>
    <p:sldId id="275" r:id="rId14"/>
    <p:sldId id="277" r:id="rId15"/>
    <p:sldId id="278" r:id="rId16"/>
    <p:sldId id="276" r:id="rId17"/>
  </p:sldIdLst>
  <p:sldSz cx="12192000" cy="6858000"/>
  <p:notesSz cx="6858000" cy="9144000"/>
  <p:defaultText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3082"/>
    <p:restoredTop sz="94650"/>
  </p:normalViewPr>
  <p:slideViewPr>
    <p:cSldViewPr snapToGrid="0">
      <p:cViewPr varScale="1">
        <p:scale>
          <a:sx n="63" d="100"/>
          <a:sy n="63" d="100"/>
        </p:scale>
        <p:origin x="690"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customXml" Target="../customXml/item3.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customXml" Target="../customXml/item2.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customXml" Target="../customXml/item1.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pt-BR"/>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A7D1C30-63BD-4143-BB15-D2CE71BBE179}" type="datetimeFigureOut">
              <a:rPr lang="pt-BR" smtClean="0"/>
              <a:t>18/02/2023</a:t>
            </a:fld>
            <a:endParaRPr lang="pt-BR"/>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pt-BR"/>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pt-B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pt-BR"/>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C8BA62-9596-40CE-9062-4421B62D9F47}" type="slidenum">
              <a:rPr lang="pt-BR" smtClean="0"/>
              <a:t>‹#›</a:t>
            </a:fld>
            <a:endParaRPr lang="pt-BR"/>
          </a:p>
        </p:txBody>
      </p:sp>
    </p:spTree>
    <p:extLst>
      <p:ext uri="{BB962C8B-B14F-4D97-AF65-F5344CB8AC3E}">
        <p14:creationId xmlns:p14="http://schemas.microsoft.com/office/powerpoint/2010/main" val="6458821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pt-BR" dirty="0"/>
          </a:p>
        </p:txBody>
      </p:sp>
      <p:sp>
        <p:nvSpPr>
          <p:cNvPr id="4" name="Slide Number Placeholder 3"/>
          <p:cNvSpPr>
            <a:spLocks noGrp="1"/>
          </p:cNvSpPr>
          <p:nvPr>
            <p:ph type="sldNum" sz="quarter" idx="5"/>
          </p:nvPr>
        </p:nvSpPr>
        <p:spPr/>
        <p:txBody>
          <a:bodyPr/>
          <a:lstStyle/>
          <a:p>
            <a:fld id="{A6C8BA62-9596-40CE-9062-4421B62D9F47}" type="slidenum">
              <a:rPr lang="pt-BR" smtClean="0"/>
              <a:t>10</a:t>
            </a:fld>
            <a:endParaRPr lang="pt-BR"/>
          </a:p>
        </p:txBody>
      </p:sp>
    </p:spTree>
    <p:extLst>
      <p:ext uri="{BB962C8B-B14F-4D97-AF65-F5344CB8AC3E}">
        <p14:creationId xmlns:p14="http://schemas.microsoft.com/office/powerpoint/2010/main" val="14226794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pt-BR" dirty="0"/>
          </a:p>
        </p:txBody>
      </p:sp>
      <p:sp>
        <p:nvSpPr>
          <p:cNvPr id="4" name="Slide Number Placeholder 3"/>
          <p:cNvSpPr>
            <a:spLocks noGrp="1"/>
          </p:cNvSpPr>
          <p:nvPr>
            <p:ph type="sldNum" sz="quarter" idx="5"/>
          </p:nvPr>
        </p:nvSpPr>
        <p:spPr/>
        <p:txBody>
          <a:bodyPr/>
          <a:lstStyle/>
          <a:p>
            <a:fld id="{A6C8BA62-9596-40CE-9062-4421B62D9F47}" type="slidenum">
              <a:rPr lang="pt-BR" smtClean="0"/>
              <a:t>11</a:t>
            </a:fld>
            <a:endParaRPr lang="pt-BR"/>
          </a:p>
        </p:txBody>
      </p:sp>
    </p:spTree>
    <p:extLst>
      <p:ext uri="{BB962C8B-B14F-4D97-AF65-F5344CB8AC3E}">
        <p14:creationId xmlns:p14="http://schemas.microsoft.com/office/powerpoint/2010/main" val="20690828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pt-BR" dirty="0"/>
          </a:p>
        </p:txBody>
      </p:sp>
      <p:sp>
        <p:nvSpPr>
          <p:cNvPr id="4" name="Slide Number Placeholder 3"/>
          <p:cNvSpPr>
            <a:spLocks noGrp="1"/>
          </p:cNvSpPr>
          <p:nvPr>
            <p:ph type="sldNum" sz="quarter" idx="5"/>
          </p:nvPr>
        </p:nvSpPr>
        <p:spPr/>
        <p:txBody>
          <a:bodyPr/>
          <a:lstStyle/>
          <a:p>
            <a:fld id="{A6C8BA62-9596-40CE-9062-4421B62D9F47}" type="slidenum">
              <a:rPr lang="pt-BR" smtClean="0"/>
              <a:t>12</a:t>
            </a:fld>
            <a:endParaRPr lang="pt-BR"/>
          </a:p>
        </p:txBody>
      </p:sp>
    </p:spTree>
    <p:extLst>
      <p:ext uri="{BB962C8B-B14F-4D97-AF65-F5344CB8AC3E}">
        <p14:creationId xmlns:p14="http://schemas.microsoft.com/office/powerpoint/2010/main" val="143966124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pt-BR" dirty="0"/>
          </a:p>
        </p:txBody>
      </p:sp>
      <p:sp>
        <p:nvSpPr>
          <p:cNvPr id="4" name="Slide Number Placeholder 3"/>
          <p:cNvSpPr>
            <a:spLocks noGrp="1"/>
          </p:cNvSpPr>
          <p:nvPr>
            <p:ph type="sldNum" sz="quarter" idx="5"/>
          </p:nvPr>
        </p:nvSpPr>
        <p:spPr/>
        <p:txBody>
          <a:bodyPr/>
          <a:lstStyle/>
          <a:p>
            <a:fld id="{A6C8BA62-9596-40CE-9062-4421B62D9F47}" type="slidenum">
              <a:rPr lang="pt-BR" smtClean="0"/>
              <a:t>13</a:t>
            </a:fld>
            <a:endParaRPr lang="pt-BR"/>
          </a:p>
        </p:txBody>
      </p:sp>
    </p:spTree>
    <p:extLst>
      <p:ext uri="{BB962C8B-B14F-4D97-AF65-F5344CB8AC3E}">
        <p14:creationId xmlns:p14="http://schemas.microsoft.com/office/powerpoint/2010/main" val="192248997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pt-BR" dirty="0"/>
          </a:p>
        </p:txBody>
      </p:sp>
      <p:sp>
        <p:nvSpPr>
          <p:cNvPr id="4" name="Slide Number Placeholder 3"/>
          <p:cNvSpPr>
            <a:spLocks noGrp="1"/>
          </p:cNvSpPr>
          <p:nvPr>
            <p:ph type="sldNum" sz="quarter" idx="5"/>
          </p:nvPr>
        </p:nvSpPr>
        <p:spPr/>
        <p:txBody>
          <a:bodyPr/>
          <a:lstStyle/>
          <a:p>
            <a:fld id="{A6C8BA62-9596-40CE-9062-4421B62D9F47}" type="slidenum">
              <a:rPr lang="pt-BR" smtClean="0"/>
              <a:t>14</a:t>
            </a:fld>
            <a:endParaRPr lang="pt-BR"/>
          </a:p>
        </p:txBody>
      </p:sp>
    </p:spTree>
    <p:extLst>
      <p:ext uri="{BB962C8B-B14F-4D97-AF65-F5344CB8AC3E}">
        <p14:creationId xmlns:p14="http://schemas.microsoft.com/office/powerpoint/2010/main" val="251187305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pt-BR" dirty="0"/>
          </a:p>
        </p:txBody>
      </p:sp>
      <p:sp>
        <p:nvSpPr>
          <p:cNvPr id="4" name="Slide Number Placeholder 3"/>
          <p:cNvSpPr>
            <a:spLocks noGrp="1"/>
          </p:cNvSpPr>
          <p:nvPr>
            <p:ph type="sldNum" sz="quarter" idx="5"/>
          </p:nvPr>
        </p:nvSpPr>
        <p:spPr/>
        <p:txBody>
          <a:bodyPr/>
          <a:lstStyle/>
          <a:p>
            <a:fld id="{A6C8BA62-9596-40CE-9062-4421B62D9F47}" type="slidenum">
              <a:rPr lang="pt-BR" smtClean="0"/>
              <a:t>15</a:t>
            </a:fld>
            <a:endParaRPr lang="pt-BR"/>
          </a:p>
        </p:txBody>
      </p:sp>
    </p:spTree>
    <p:extLst>
      <p:ext uri="{BB962C8B-B14F-4D97-AF65-F5344CB8AC3E}">
        <p14:creationId xmlns:p14="http://schemas.microsoft.com/office/powerpoint/2010/main" val="53296592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pt-BR" dirty="0"/>
          </a:p>
        </p:txBody>
      </p:sp>
      <p:sp>
        <p:nvSpPr>
          <p:cNvPr id="4" name="Slide Number Placeholder 3"/>
          <p:cNvSpPr>
            <a:spLocks noGrp="1"/>
          </p:cNvSpPr>
          <p:nvPr>
            <p:ph type="sldNum" sz="quarter" idx="5"/>
          </p:nvPr>
        </p:nvSpPr>
        <p:spPr/>
        <p:txBody>
          <a:bodyPr/>
          <a:lstStyle/>
          <a:p>
            <a:fld id="{A6C8BA62-9596-40CE-9062-4421B62D9F47}" type="slidenum">
              <a:rPr lang="pt-BR" smtClean="0"/>
              <a:t>16</a:t>
            </a:fld>
            <a:endParaRPr lang="pt-BR"/>
          </a:p>
        </p:txBody>
      </p:sp>
    </p:spTree>
    <p:extLst>
      <p:ext uri="{BB962C8B-B14F-4D97-AF65-F5344CB8AC3E}">
        <p14:creationId xmlns:p14="http://schemas.microsoft.com/office/powerpoint/2010/main" val="48178357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Slide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7642169-F133-4FBF-1C85-5B49E7F19928}"/>
              </a:ext>
            </a:extLst>
          </p:cNvPr>
          <p:cNvSpPr>
            <a:spLocks noGrp="1"/>
          </p:cNvSpPr>
          <p:nvPr>
            <p:ph type="ctrTitle"/>
          </p:nvPr>
        </p:nvSpPr>
        <p:spPr>
          <a:xfrm>
            <a:off x="1524000" y="1122363"/>
            <a:ext cx="9144000" cy="2387600"/>
          </a:xfrm>
        </p:spPr>
        <p:txBody>
          <a:bodyPr anchor="b"/>
          <a:lstStyle>
            <a:lvl1pPr algn="ctr">
              <a:defRPr sz="6000"/>
            </a:lvl1pPr>
          </a:lstStyle>
          <a:p>
            <a:r>
              <a:rPr lang="pt-BR"/>
              <a:t>Clique para editar o título Mestre</a:t>
            </a:r>
          </a:p>
        </p:txBody>
      </p:sp>
      <p:sp>
        <p:nvSpPr>
          <p:cNvPr id="3" name="Subtítulo 2">
            <a:extLst>
              <a:ext uri="{FF2B5EF4-FFF2-40B4-BE49-F238E27FC236}">
                <a16:creationId xmlns:a16="http://schemas.microsoft.com/office/drawing/2014/main" id="{A917EA8E-35CB-ED00-08C8-8611B27BBC6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pt-BR"/>
              <a:t>Clique para editar o estilo do subtítulo Mestre</a:t>
            </a:r>
          </a:p>
        </p:txBody>
      </p:sp>
      <p:sp>
        <p:nvSpPr>
          <p:cNvPr id="4" name="Espaço Reservado para Data 3">
            <a:extLst>
              <a:ext uri="{FF2B5EF4-FFF2-40B4-BE49-F238E27FC236}">
                <a16:creationId xmlns:a16="http://schemas.microsoft.com/office/drawing/2014/main" id="{41A4ABD5-4AE9-DF3A-8D02-0BA10E0E1DF4}"/>
              </a:ext>
            </a:extLst>
          </p:cNvPr>
          <p:cNvSpPr>
            <a:spLocks noGrp="1"/>
          </p:cNvSpPr>
          <p:nvPr>
            <p:ph type="dt" sz="half" idx="10"/>
          </p:nvPr>
        </p:nvSpPr>
        <p:spPr/>
        <p:txBody>
          <a:bodyPr/>
          <a:lstStyle/>
          <a:p>
            <a:fld id="{6992B809-48F5-9D4D-A526-538C5C80A4E0}" type="datetimeFigureOut">
              <a:rPr lang="pt-BR" smtClean="0"/>
              <a:t>18/02/2023</a:t>
            </a:fld>
            <a:endParaRPr lang="pt-BR"/>
          </a:p>
        </p:txBody>
      </p:sp>
      <p:sp>
        <p:nvSpPr>
          <p:cNvPr id="5" name="Espaço Reservado para Rodapé 4">
            <a:extLst>
              <a:ext uri="{FF2B5EF4-FFF2-40B4-BE49-F238E27FC236}">
                <a16:creationId xmlns:a16="http://schemas.microsoft.com/office/drawing/2014/main" id="{7EF8BA79-9020-123F-3C5C-B911B0DB3706}"/>
              </a:ext>
            </a:extLst>
          </p:cNvPr>
          <p:cNvSpPr>
            <a:spLocks noGrp="1"/>
          </p:cNvSpPr>
          <p:nvPr>
            <p:ph type="ftr" sz="quarter" idx="11"/>
          </p:nvPr>
        </p:nvSpPr>
        <p:spPr/>
        <p:txBody>
          <a:bodyPr/>
          <a:lstStyle/>
          <a:p>
            <a:endParaRPr lang="pt-BR"/>
          </a:p>
        </p:txBody>
      </p:sp>
      <p:sp>
        <p:nvSpPr>
          <p:cNvPr id="6" name="Espaço Reservado para Número de Slide 5">
            <a:extLst>
              <a:ext uri="{FF2B5EF4-FFF2-40B4-BE49-F238E27FC236}">
                <a16:creationId xmlns:a16="http://schemas.microsoft.com/office/drawing/2014/main" id="{73715A6F-158A-833B-0610-FC805FCB7A26}"/>
              </a:ext>
            </a:extLst>
          </p:cNvPr>
          <p:cNvSpPr>
            <a:spLocks noGrp="1"/>
          </p:cNvSpPr>
          <p:nvPr>
            <p:ph type="sldNum" sz="quarter" idx="12"/>
          </p:nvPr>
        </p:nvSpPr>
        <p:spPr/>
        <p:txBody>
          <a:bodyPr/>
          <a:lstStyle/>
          <a:p>
            <a:fld id="{D644EB38-902B-094D-9C9A-22F9B5A0897A}" type="slidenum">
              <a:rPr lang="pt-BR" smtClean="0"/>
              <a:t>‹#›</a:t>
            </a:fld>
            <a:endParaRPr lang="pt-BR"/>
          </a:p>
        </p:txBody>
      </p:sp>
    </p:spTree>
    <p:extLst>
      <p:ext uri="{BB962C8B-B14F-4D97-AF65-F5344CB8AC3E}">
        <p14:creationId xmlns:p14="http://schemas.microsoft.com/office/powerpoint/2010/main" val="28684177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e Conteúd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2350BD0-EEBD-F7C3-FD23-49D6BB6D9714}"/>
              </a:ext>
            </a:extLst>
          </p:cNvPr>
          <p:cNvSpPr>
            <a:spLocks noGrp="1"/>
          </p:cNvSpPr>
          <p:nvPr>
            <p:ph type="title"/>
          </p:nvPr>
        </p:nvSpPr>
        <p:spPr/>
        <p:txBody>
          <a:bodyPr/>
          <a:lstStyle/>
          <a:p>
            <a:r>
              <a:rPr lang="pt-BR"/>
              <a:t>Clique para editar o título Mestre</a:t>
            </a:r>
          </a:p>
        </p:txBody>
      </p:sp>
      <p:sp>
        <p:nvSpPr>
          <p:cNvPr id="3" name="Espaço Reservado para Conteúdo 2">
            <a:extLst>
              <a:ext uri="{FF2B5EF4-FFF2-40B4-BE49-F238E27FC236}">
                <a16:creationId xmlns:a16="http://schemas.microsoft.com/office/drawing/2014/main" id="{9F7AA974-A352-6DE8-B378-8FE83D9B2DF9}"/>
              </a:ext>
            </a:extLst>
          </p:cNvPr>
          <p:cNvSpPr>
            <a:spLocks noGrp="1"/>
          </p:cNvSpPr>
          <p:nvPr>
            <p:ph idx="1"/>
          </p:nvPr>
        </p:nvSpPr>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a:extLst>
              <a:ext uri="{FF2B5EF4-FFF2-40B4-BE49-F238E27FC236}">
                <a16:creationId xmlns:a16="http://schemas.microsoft.com/office/drawing/2014/main" id="{070BC8C7-51A2-1FE3-075D-D54D0084F055}"/>
              </a:ext>
            </a:extLst>
          </p:cNvPr>
          <p:cNvSpPr>
            <a:spLocks noGrp="1"/>
          </p:cNvSpPr>
          <p:nvPr>
            <p:ph type="dt" sz="half" idx="10"/>
          </p:nvPr>
        </p:nvSpPr>
        <p:spPr/>
        <p:txBody>
          <a:bodyPr/>
          <a:lstStyle/>
          <a:p>
            <a:fld id="{6992B809-48F5-9D4D-A526-538C5C80A4E0}" type="datetimeFigureOut">
              <a:rPr lang="pt-BR" smtClean="0"/>
              <a:t>18/02/2023</a:t>
            </a:fld>
            <a:endParaRPr lang="pt-BR"/>
          </a:p>
        </p:txBody>
      </p:sp>
      <p:sp>
        <p:nvSpPr>
          <p:cNvPr id="5" name="Espaço Reservado para Rodapé 4">
            <a:extLst>
              <a:ext uri="{FF2B5EF4-FFF2-40B4-BE49-F238E27FC236}">
                <a16:creationId xmlns:a16="http://schemas.microsoft.com/office/drawing/2014/main" id="{0D0F8BEC-B9DD-D6CE-E62E-0225765303B8}"/>
              </a:ext>
            </a:extLst>
          </p:cNvPr>
          <p:cNvSpPr>
            <a:spLocks noGrp="1"/>
          </p:cNvSpPr>
          <p:nvPr>
            <p:ph type="ftr" sz="quarter" idx="11"/>
          </p:nvPr>
        </p:nvSpPr>
        <p:spPr/>
        <p:txBody>
          <a:bodyPr/>
          <a:lstStyle/>
          <a:p>
            <a:endParaRPr lang="pt-BR"/>
          </a:p>
        </p:txBody>
      </p:sp>
      <p:sp>
        <p:nvSpPr>
          <p:cNvPr id="6" name="Espaço Reservado para Número de Slide 5">
            <a:extLst>
              <a:ext uri="{FF2B5EF4-FFF2-40B4-BE49-F238E27FC236}">
                <a16:creationId xmlns:a16="http://schemas.microsoft.com/office/drawing/2014/main" id="{CC3E22C1-82E8-2372-0E08-1D92F9722700}"/>
              </a:ext>
            </a:extLst>
          </p:cNvPr>
          <p:cNvSpPr>
            <a:spLocks noGrp="1"/>
          </p:cNvSpPr>
          <p:nvPr>
            <p:ph type="sldNum" sz="quarter" idx="12"/>
          </p:nvPr>
        </p:nvSpPr>
        <p:spPr/>
        <p:txBody>
          <a:bodyPr/>
          <a:lstStyle/>
          <a:p>
            <a:fld id="{D644EB38-902B-094D-9C9A-22F9B5A0897A}" type="slidenum">
              <a:rPr lang="pt-BR" smtClean="0"/>
              <a:t>‹#›</a:t>
            </a:fld>
            <a:endParaRPr lang="pt-BR"/>
          </a:p>
        </p:txBody>
      </p:sp>
    </p:spTree>
    <p:extLst>
      <p:ext uri="{BB962C8B-B14F-4D97-AF65-F5344CB8AC3E}">
        <p14:creationId xmlns:p14="http://schemas.microsoft.com/office/powerpoint/2010/main" val="323680964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Cabeçalho da Seçã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7D13EC2-95B6-1301-343D-931AF709CF7D}"/>
              </a:ext>
            </a:extLst>
          </p:cNvPr>
          <p:cNvSpPr>
            <a:spLocks noGrp="1"/>
          </p:cNvSpPr>
          <p:nvPr>
            <p:ph type="title"/>
          </p:nvPr>
        </p:nvSpPr>
        <p:spPr>
          <a:xfrm>
            <a:off x="831850" y="1709738"/>
            <a:ext cx="10515600" cy="2852737"/>
          </a:xfrm>
        </p:spPr>
        <p:txBody>
          <a:bodyPr anchor="b"/>
          <a:lstStyle>
            <a:lvl1pPr>
              <a:defRPr sz="6000"/>
            </a:lvl1pPr>
          </a:lstStyle>
          <a:p>
            <a:r>
              <a:rPr lang="pt-BR"/>
              <a:t>Clique para editar o título Mestre</a:t>
            </a:r>
          </a:p>
        </p:txBody>
      </p:sp>
      <p:sp>
        <p:nvSpPr>
          <p:cNvPr id="3" name="Espaço Reservado para Texto 2">
            <a:extLst>
              <a:ext uri="{FF2B5EF4-FFF2-40B4-BE49-F238E27FC236}">
                <a16:creationId xmlns:a16="http://schemas.microsoft.com/office/drawing/2014/main" id="{2194B5A4-3601-C7CD-ABFB-A33945D4113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pt-BR"/>
              <a:t>Clique para editar os estilos de texto Mestres</a:t>
            </a:r>
          </a:p>
        </p:txBody>
      </p:sp>
      <p:sp>
        <p:nvSpPr>
          <p:cNvPr id="4" name="Espaço Reservado para Data 3">
            <a:extLst>
              <a:ext uri="{FF2B5EF4-FFF2-40B4-BE49-F238E27FC236}">
                <a16:creationId xmlns:a16="http://schemas.microsoft.com/office/drawing/2014/main" id="{0514FE7F-D9B4-FC70-D677-7EE1D2BA4C18}"/>
              </a:ext>
            </a:extLst>
          </p:cNvPr>
          <p:cNvSpPr>
            <a:spLocks noGrp="1"/>
          </p:cNvSpPr>
          <p:nvPr>
            <p:ph type="dt" sz="half" idx="10"/>
          </p:nvPr>
        </p:nvSpPr>
        <p:spPr/>
        <p:txBody>
          <a:bodyPr/>
          <a:lstStyle/>
          <a:p>
            <a:fld id="{6992B809-48F5-9D4D-A526-538C5C80A4E0}" type="datetimeFigureOut">
              <a:rPr lang="pt-BR" smtClean="0"/>
              <a:t>18/02/2023</a:t>
            </a:fld>
            <a:endParaRPr lang="pt-BR"/>
          </a:p>
        </p:txBody>
      </p:sp>
      <p:sp>
        <p:nvSpPr>
          <p:cNvPr id="5" name="Espaço Reservado para Rodapé 4">
            <a:extLst>
              <a:ext uri="{FF2B5EF4-FFF2-40B4-BE49-F238E27FC236}">
                <a16:creationId xmlns:a16="http://schemas.microsoft.com/office/drawing/2014/main" id="{DE44FD56-6814-17AB-6533-879EA3EA8F55}"/>
              </a:ext>
            </a:extLst>
          </p:cNvPr>
          <p:cNvSpPr>
            <a:spLocks noGrp="1"/>
          </p:cNvSpPr>
          <p:nvPr>
            <p:ph type="ftr" sz="quarter" idx="11"/>
          </p:nvPr>
        </p:nvSpPr>
        <p:spPr/>
        <p:txBody>
          <a:bodyPr/>
          <a:lstStyle/>
          <a:p>
            <a:endParaRPr lang="pt-BR"/>
          </a:p>
        </p:txBody>
      </p:sp>
      <p:sp>
        <p:nvSpPr>
          <p:cNvPr id="6" name="Espaço Reservado para Número de Slide 5">
            <a:extLst>
              <a:ext uri="{FF2B5EF4-FFF2-40B4-BE49-F238E27FC236}">
                <a16:creationId xmlns:a16="http://schemas.microsoft.com/office/drawing/2014/main" id="{B13726E3-5FB0-6B49-20CE-C77BE65C8BAA}"/>
              </a:ext>
            </a:extLst>
          </p:cNvPr>
          <p:cNvSpPr>
            <a:spLocks noGrp="1"/>
          </p:cNvSpPr>
          <p:nvPr>
            <p:ph type="sldNum" sz="quarter" idx="12"/>
          </p:nvPr>
        </p:nvSpPr>
        <p:spPr/>
        <p:txBody>
          <a:bodyPr/>
          <a:lstStyle/>
          <a:p>
            <a:fld id="{D644EB38-902B-094D-9C9A-22F9B5A0897A}" type="slidenum">
              <a:rPr lang="pt-BR" smtClean="0"/>
              <a:t>‹#›</a:t>
            </a:fld>
            <a:endParaRPr lang="pt-BR"/>
          </a:p>
        </p:txBody>
      </p:sp>
    </p:spTree>
    <p:extLst>
      <p:ext uri="{BB962C8B-B14F-4D97-AF65-F5344CB8AC3E}">
        <p14:creationId xmlns:p14="http://schemas.microsoft.com/office/powerpoint/2010/main" val="381290366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uas Partes de Conteúd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F2FA22E-445A-C38E-3B78-0B5AE3C94F3A}"/>
              </a:ext>
            </a:extLst>
          </p:cNvPr>
          <p:cNvSpPr>
            <a:spLocks noGrp="1"/>
          </p:cNvSpPr>
          <p:nvPr>
            <p:ph type="title"/>
          </p:nvPr>
        </p:nvSpPr>
        <p:spPr/>
        <p:txBody>
          <a:bodyPr/>
          <a:lstStyle/>
          <a:p>
            <a:r>
              <a:rPr lang="pt-BR"/>
              <a:t>Clique para editar o título Mestre</a:t>
            </a:r>
          </a:p>
        </p:txBody>
      </p:sp>
      <p:sp>
        <p:nvSpPr>
          <p:cNvPr id="3" name="Espaço Reservado para Conteúdo 2">
            <a:extLst>
              <a:ext uri="{FF2B5EF4-FFF2-40B4-BE49-F238E27FC236}">
                <a16:creationId xmlns:a16="http://schemas.microsoft.com/office/drawing/2014/main" id="{268D505E-6A05-D90F-2546-6F0991C72266}"/>
              </a:ext>
            </a:extLst>
          </p:cNvPr>
          <p:cNvSpPr>
            <a:spLocks noGrp="1"/>
          </p:cNvSpPr>
          <p:nvPr>
            <p:ph sz="half" idx="1"/>
          </p:nvPr>
        </p:nvSpPr>
        <p:spPr>
          <a:xfrm>
            <a:off x="838200" y="1825625"/>
            <a:ext cx="5181600" cy="4351338"/>
          </a:xfrm>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Conteúdo 3">
            <a:extLst>
              <a:ext uri="{FF2B5EF4-FFF2-40B4-BE49-F238E27FC236}">
                <a16:creationId xmlns:a16="http://schemas.microsoft.com/office/drawing/2014/main" id="{7F5CDEFB-0282-7FBC-A423-31C365D51329}"/>
              </a:ext>
            </a:extLst>
          </p:cNvPr>
          <p:cNvSpPr>
            <a:spLocks noGrp="1"/>
          </p:cNvSpPr>
          <p:nvPr>
            <p:ph sz="half" idx="2"/>
          </p:nvPr>
        </p:nvSpPr>
        <p:spPr>
          <a:xfrm>
            <a:off x="6172200" y="1825625"/>
            <a:ext cx="5181600" cy="4351338"/>
          </a:xfrm>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5" name="Espaço Reservado para Data 4">
            <a:extLst>
              <a:ext uri="{FF2B5EF4-FFF2-40B4-BE49-F238E27FC236}">
                <a16:creationId xmlns:a16="http://schemas.microsoft.com/office/drawing/2014/main" id="{3D7ABA03-58C6-CC9E-9D1D-833B73D59077}"/>
              </a:ext>
            </a:extLst>
          </p:cNvPr>
          <p:cNvSpPr>
            <a:spLocks noGrp="1"/>
          </p:cNvSpPr>
          <p:nvPr>
            <p:ph type="dt" sz="half" idx="10"/>
          </p:nvPr>
        </p:nvSpPr>
        <p:spPr/>
        <p:txBody>
          <a:bodyPr/>
          <a:lstStyle/>
          <a:p>
            <a:fld id="{6992B809-48F5-9D4D-A526-538C5C80A4E0}" type="datetimeFigureOut">
              <a:rPr lang="pt-BR" smtClean="0"/>
              <a:t>18/02/2023</a:t>
            </a:fld>
            <a:endParaRPr lang="pt-BR"/>
          </a:p>
        </p:txBody>
      </p:sp>
      <p:sp>
        <p:nvSpPr>
          <p:cNvPr id="6" name="Espaço Reservado para Rodapé 5">
            <a:extLst>
              <a:ext uri="{FF2B5EF4-FFF2-40B4-BE49-F238E27FC236}">
                <a16:creationId xmlns:a16="http://schemas.microsoft.com/office/drawing/2014/main" id="{3E728E7E-1DF6-3D0D-F227-AB33996E227E}"/>
              </a:ext>
            </a:extLst>
          </p:cNvPr>
          <p:cNvSpPr>
            <a:spLocks noGrp="1"/>
          </p:cNvSpPr>
          <p:nvPr>
            <p:ph type="ftr" sz="quarter" idx="11"/>
          </p:nvPr>
        </p:nvSpPr>
        <p:spPr/>
        <p:txBody>
          <a:bodyPr/>
          <a:lstStyle/>
          <a:p>
            <a:endParaRPr lang="pt-BR"/>
          </a:p>
        </p:txBody>
      </p:sp>
      <p:sp>
        <p:nvSpPr>
          <p:cNvPr id="7" name="Espaço Reservado para Número de Slide 6">
            <a:extLst>
              <a:ext uri="{FF2B5EF4-FFF2-40B4-BE49-F238E27FC236}">
                <a16:creationId xmlns:a16="http://schemas.microsoft.com/office/drawing/2014/main" id="{68A8DC57-5B01-A7EB-62D3-60B6D51A0172}"/>
              </a:ext>
            </a:extLst>
          </p:cNvPr>
          <p:cNvSpPr>
            <a:spLocks noGrp="1"/>
          </p:cNvSpPr>
          <p:nvPr>
            <p:ph type="sldNum" sz="quarter" idx="12"/>
          </p:nvPr>
        </p:nvSpPr>
        <p:spPr/>
        <p:txBody>
          <a:bodyPr/>
          <a:lstStyle/>
          <a:p>
            <a:fld id="{D644EB38-902B-094D-9C9A-22F9B5A0897A}" type="slidenum">
              <a:rPr lang="pt-BR" smtClean="0"/>
              <a:t>‹#›</a:t>
            </a:fld>
            <a:endParaRPr lang="pt-BR"/>
          </a:p>
        </p:txBody>
      </p:sp>
    </p:spTree>
    <p:extLst>
      <p:ext uri="{BB962C8B-B14F-4D97-AF65-F5344CB8AC3E}">
        <p14:creationId xmlns:p14="http://schemas.microsoft.com/office/powerpoint/2010/main" val="283955721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çã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8B52235-E9F4-178B-C3F5-FE371D8C92F2}"/>
              </a:ext>
            </a:extLst>
          </p:cNvPr>
          <p:cNvSpPr>
            <a:spLocks noGrp="1"/>
          </p:cNvSpPr>
          <p:nvPr>
            <p:ph type="title"/>
          </p:nvPr>
        </p:nvSpPr>
        <p:spPr>
          <a:xfrm>
            <a:off x="839788" y="365125"/>
            <a:ext cx="10515600" cy="1325563"/>
          </a:xfrm>
        </p:spPr>
        <p:txBody>
          <a:bodyPr/>
          <a:lstStyle/>
          <a:p>
            <a:r>
              <a:rPr lang="pt-BR"/>
              <a:t>Clique para editar o título Mestre</a:t>
            </a:r>
          </a:p>
        </p:txBody>
      </p:sp>
      <p:sp>
        <p:nvSpPr>
          <p:cNvPr id="3" name="Espaço Reservado para Texto 2">
            <a:extLst>
              <a:ext uri="{FF2B5EF4-FFF2-40B4-BE49-F238E27FC236}">
                <a16:creationId xmlns:a16="http://schemas.microsoft.com/office/drawing/2014/main" id="{47490913-D08E-80A1-90CB-7A4EFA50497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a:t>Clique para editar os estilos de texto Mestres</a:t>
            </a:r>
          </a:p>
        </p:txBody>
      </p:sp>
      <p:sp>
        <p:nvSpPr>
          <p:cNvPr id="4" name="Espaço Reservado para Conteúdo 3">
            <a:extLst>
              <a:ext uri="{FF2B5EF4-FFF2-40B4-BE49-F238E27FC236}">
                <a16:creationId xmlns:a16="http://schemas.microsoft.com/office/drawing/2014/main" id="{AEAF073D-DE8C-0C2E-91EE-51EA3D2941E7}"/>
              </a:ext>
            </a:extLst>
          </p:cNvPr>
          <p:cNvSpPr>
            <a:spLocks noGrp="1"/>
          </p:cNvSpPr>
          <p:nvPr>
            <p:ph sz="half" idx="2"/>
          </p:nvPr>
        </p:nvSpPr>
        <p:spPr>
          <a:xfrm>
            <a:off x="839788" y="2505075"/>
            <a:ext cx="5157787" cy="3684588"/>
          </a:xfrm>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5" name="Espaço Reservado para Texto 4">
            <a:extLst>
              <a:ext uri="{FF2B5EF4-FFF2-40B4-BE49-F238E27FC236}">
                <a16:creationId xmlns:a16="http://schemas.microsoft.com/office/drawing/2014/main" id="{1681DF6C-3DC1-CBBB-C5C5-E9E32D6F1D5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a:t>Clique para editar os estilos de texto Mestres</a:t>
            </a:r>
          </a:p>
        </p:txBody>
      </p:sp>
      <p:sp>
        <p:nvSpPr>
          <p:cNvPr id="6" name="Espaço Reservado para Conteúdo 5">
            <a:extLst>
              <a:ext uri="{FF2B5EF4-FFF2-40B4-BE49-F238E27FC236}">
                <a16:creationId xmlns:a16="http://schemas.microsoft.com/office/drawing/2014/main" id="{1ED765E9-D858-5065-505E-F5C61F8B9AB5}"/>
              </a:ext>
            </a:extLst>
          </p:cNvPr>
          <p:cNvSpPr>
            <a:spLocks noGrp="1"/>
          </p:cNvSpPr>
          <p:nvPr>
            <p:ph sz="quarter" idx="4"/>
          </p:nvPr>
        </p:nvSpPr>
        <p:spPr>
          <a:xfrm>
            <a:off x="6172200" y="2505075"/>
            <a:ext cx="5183188" cy="3684588"/>
          </a:xfrm>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7" name="Espaço Reservado para Data 6">
            <a:extLst>
              <a:ext uri="{FF2B5EF4-FFF2-40B4-BE49-F238E27FC236}">
                <a16:creationId xmlns:a16="http://schemas.microsoft.com/office/drawing/2014/main" id="{35D81079-17FD-D99E-EAF4-9D834FFC8BAD}"/>
              </a:ext>
            </a:extLst>
          </p:cNvPr>
          <p:cNvSpPr>
            <a:spLocks noGrp="1"/>
          </p:cNvSpPr>
          <p:nvPr>
            <p:ph type="dt" sz="half" idx="10"/>
          </p:nvPr>
        </p:nvSpPr>
        <p:spPr/>
        <p:txBody>
          <a:bodyPr/>
          <a:lstStyle/>
          <a:p>
            <a:fld id="{6992B809-48F5-9D4D-A526-538C5C80A4E0}" type="datetimeFigureOut">
              <a:rPr lang="pt-BR" smtClean="0"/>
              <a:t>18/02/2023</a:t>
            </a:fld>
            <a:endParaRPr lang="pt-BR"/>
          </a:p>
        </p:txBody>
      </p:sp>
      <p:sp>
        <p:nvSpPr>
          <p:cNvPr id="8" name="Espaço Reservado para Rodapé 7">
            <a:extLst>
              <a:ext uri="{FF2B5EF4-FFF2-40B4-BE49-F238E27FC236}">
                <a16:creationId xmlns:a16="http://schemas.microsoft.com/office/drawing/2014/main" id="{EB49035B-40B4-DD84-0776-032F027463B1}"/>
              </a:ext>
            </a:extLst>
          </p:cNvPr>
          <p:cNvSpPr>
            <a:spLocks noGrp="1"/>
          </p:cNvSpPr>
          <p:nvPr>
            <p:ph type="ftr" sz="quarter" idx="11"/>
          </p:nvPr>
        </p:nvSpPr>
        <p:spPr/>
        <p:txBody>
          <a:bodyPr/>
          <a:lstStyle/>
          <a:p>
            <a:endParaRPr lang="pt-BR"/>
          </a:p>
        </p:txBody>
      </p:sp>
      <p:sp>
        <p:nvSpPr>
          <p:cNvPr id="9" name="Espaço Reservado para Número de Slide 8">
            <a:extLst>
              <a:ext uri="{FF2B5EF4-FFF2-40B4-BE49-F238E27FC236}">
                <a16:creationId xmlns:a16="http://schemas.microsoft.com/office/drawing/2014/main" id="{9E728CB9-A810-C292-DA9A-56A0EA8B1CFA}"/>
              </a:ext>
            </a:extLst>
          </p:cNvPr>
          <p:cNvSpPr>
            <a:spLocks noGrp="1"/>
          </p:cNvSpPr>
          <p:nvPr>
            <p:ph type="sldNum" sz="quarter" idx="12"/>
          </p:nvPr>
        </p:nvSpPr>
        <p:spPr/>
        <p:txBody>
          <a:bodyPr/>
          <a:lstStyle/>
          <a:p>
            <a:fld id="{D644EB38-902B-094D-9C9A-22F9B5A0897A}" type="slidenum">
              <a:rPr lang="pt-BR" smtClean="0"/>
              <a:t>‹#›</a:t>
            </a:fld>
            <a:endParaRPr lang="pt-BR"/>
          </a:p>
        </p:txBody>
      </p:sp>
    </p:spTree>
    <p:extLst>
      <p:ext uri="{BB962C8B-B14F-4D97-AF65-F5344CB8AC3E}">
        <p14:creationId xmlns:p14="http://schemas.microsoft.com/office/powerpoint/2010/main" val="142905702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ment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45EA0A4-33DF-6EAA-7C12-49B48ADBB2A9}"/>
              </a:ext>
            </a:extLst>
          </p:cNvPr>
          <p:cNvSpPr>
            <a:spLocks noGrp="1"/>
          </p:cNvSpPr>
          <p:nvPr>
            <p:ph type="title"/>
          </p:nvPr>
        </p:nvSpPr>
        <p:spPr/>
        <p:txBody>
          <a:bodyPr/>
          <a:lstStyle/>
          <a:p>
            <a:r>
              <a:rPr lang="pt-BR"/>
              <a:t>Clique para editar o título Mestre</a:t>
            </a:r>
          </a:p>
        </p:txBody>
      </p:sp>
      <p:sp>
        <p:nvSpPr>
          <p:cNvPr id="3" name="Espaço Reservado para Data 2">
            <a:extLst>
              <a:ext uri="{FF2B5EF4-FFF2-40B4-BE49-F238E27FC236}">
                <a16:creationId xmlns:a16="http://schemas.microsoft.com/office/drawing/2014/main" id="{7696DD7D-76C6-A557-6628-CFA29A0F98CE}"/>
              </a:ext>
            </a:extLst>
          </p:cNvPr>
          <p:cNvSpPr>
            <a:spLocks noGrp="1"/>
          </p:cNvSpPr>
          <p:nvPr>
            <p:ph type="dt" sz="half" idx="10"/>
          </p:nvPr>
        </p:nvSpPr>
        <p:spPr/>
        <p:txBody>
          <a:bodyPr/>
          <a:lstStyle/>
          <a:p>
            <a:fld id="{6992B809-48F5-9D4D-A526-538C5C80A4E0}" type="datetimeFigureOut">
              <a:rPr lang="pt-BR" smtClean="0"/>
              <a:t>18/02/2023</a:t>
            </a:fld>
            <a:endParaRPr lang="pt-BR"/>
          </a:p>
        </p:txBody>
      </p:sp>
      <p:sp>
        <p:nvSpPr>
          <p:cNvPr id="4" name="Espaço Reservado para Rodapé 3">
            <a:extLst>
              <a:ext uri="{FF2B5EF4-FFF2-40B4-BE49-F238E27FC236}">
                <a16:creationId xmlns:a16="http://schemas.microsoft.com/office/drawing/2014/main" id="{2E175447-647C-A71B-002D-C32AFEE0C32A}"/>
              </a:ext>
            </a:extLst>
          </p:cNvPr>
          <p:cNvSpPr>
            <a:spLocks noGrp="1"/>
          </p:cNvSpPr>
          <p:nvPr>
            <p:ph type="ftr" sz="quarter" idx="11"/>
          </p:nvPr>
        </p:nvSpPr>
        <p:spPr/>
        <p:txBody>
          <a:bodyPr/>
          <a:lstStyle/>
          <a:p>
            <a:endParaRPr lang="pt-BR"/>
          </a:p>
        </p:txBody>
      </p:sp>
      <p:sp>
        <p:nvSpPr>
          <p:cNvPr id="5" name="Espaço Reservado para Número de Slide 4">
            <a:extLst>
              <a:ext uri="{FF2B5EF4-FFF2-40B4-BE49-F238E27FC236}">
                <a16:creationId xmlns:a16="http://schemas.microsoft.com/office/drawing/2014/main" id="{F12100EE-B826-80D0-40E3-F52C5E714676}"/>
              </a:ext>
            </a:extLst>
          </p:cNvPr>
          <p:cNvSpPr>
            <a:spLocks noGrp="1"/>
          </p:cNvSpPr>
          <p:nvPr>
            <p:ph type="sldNum" sz="quarter" idx="12"/>
          </p:nvPr>
        </p:nvSpPr>
        <p:spPr/>
        <p:txBody>
          <a:bodyPr/>
          <a:lstStyle/>
          <a:p>
            <a:fld id="{D644EB38-902B-094D-9C9A-22F9B5A0897A}" type="slidenum">
              <a:rPr lang="pt-BR" smtClean="0"/>
              <a:t>‹#›</a:t>
            </a:fld>
            <a:endParaRPr lang="pt-BR"/>
          </a:p>
        </p:txBody>
      </p:sp>
    </p:spTree>
    <p:extLst>
      <p:ext uri="{BB962C8B-B14F-4D97-AF65-F5344CB8AC3E}">
        <p14:creationId xmlns:p14="http://schemas.microsoft.com/office/powerpoint/2010/main" val="348369139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m Branco">
    <p:spTree>
      <p:nvGrpSpPr>
        <p:cNvPr id="1" name=""/>
        <p:cNvGrpSpPr/>
        <p:nvPr/>
      </p:nvGrpSpPr>
      <p:grpSpPr>
        <a:xfrm>
          <a:off x="0" y="0"/>
          <a:ext cx="0" cy="0"/>
          <a:chOff x="0" y="0"/>
          <a:chExt cx="0" cy="0"/>
        </a:xfrm>
      </p:grpSpPr>
      <p:sp>
        <p:nvSpPr>
          <p:cNvPr id="2" name="Espaço Reservado para Data 1">
            <a:extLst>
              <a:ext uri="{FF2B5EF4-FFF2-40B4-BE49-F238E27FC236}">
                <a16:creationId xmlns:a16="http://schemas.microsoft.com/office/drawing/2014/main" id="{2B29F546-84F0-2B65-0783-FFE3CEBE7C62}"/>
              </a:ext>
            </a:extLst>
          </p:cNvPr>
          <p:cNvSpPr>
            <a:spLocks noGrp="1"/>
          </p:cNvSpPr>
          <p:nvPr>
            <p:ph type="dt" sz="half" idx="10"/>
          </p:nvPr>
        </p:nvSpPr>
        <p:spPr/>
        <p:txBody>
          <a:bodyPr/>
          <a:lstStyle/>
          <a:p>
            <a:fld id="{6992B809-48F5-9D4D-A526-538C5C80A4E0}" type="datetimeFigureOut">
              <a:rPr lang="pt-BR" smtClean="0"/>
              <a:t>18/02/2023</a:t>
            </a:fld>
            <a:endParaRPr lang="pt-BR"/>
          </a:p>
        </p:txBody>
      </p:sp>
      <p:sp>
        <p:nvSpPr>
          <p:cNvPr id="3" name="Espaço Reservado para Rodapé 2">
            <a:extLst>
              <a:ext uri="{FF2B5EF4-FFF2-40B4-BE49-F238E27FC236}">
                <a16:creationId xmlns:a16="http://schemas.microsoft.com/office/drawing/2014/main" id="{EE69467C-639F-5515-A415-DEC128AC4A4F}"/>
              </a:ext>
            </a:extLst>
          </p:cNvPr>
          <p:cNvSpPr>
            <a:spLocks noGrp="1"/>
          </p:cNvSpPr>
          <p:nvPr>
            <p:ph type="ftr" sz="quarter" idx="11"/>
          </p:nvPr>
        </p:nvSpPr>
        <p:spPr/>
        <p:txBody>
          <a:bodyPr/>
          <a:lstStyle/>
          <a:p>
            <a:endParaRPr lang="pt-BR"/>
          </a:p>
        </p:txBody>
      </p:sp>
      <p:sp>
        <p:nvSpPr>
          <p:cNvPr id="4" name="Espaço Reservado para Número de Slide 3">
            <a:extLst>
              <a:ext uri="{FF2B5EF4-FFF2-40B4-BE49-F238E27FC236}">
                <a16:creationId xmlns:a16="http://schemas.microsoft.com/office/drawing/2014/main" id="{E7C86DD7-CB2B-0344-2F9E-088984F4FECC}"/>
              </a:ext>
            </a:extLst>
          </p:cNvPr>
          <p:cNvSpPr>
            <a:spLocks noGrp="1"/>
          </p:cNvSpPr>
          <p:nvPr>
            <p:ph type="sldNum" sz="quarter" idx="12"/>
          </p:nvPr>
        </p:nvSpPr>
        <p:spPr/>
        <p:txBody>
          <a:bodyPr/>
          <a:lstStyle/>
          <a:p>
            <a:fld id="{D644EB38-902B-094D-9C9A-22F9B5A0897A}" type="slidenum">
              <a:rPr lang="pt-BR" smtClean="0"/>
              <a:t>‹#›</a:t>
            </a:fld>
            <a:endParaRPr lang="pt-BR"/>
          </a:p>
        </p:txBody>
      </p:sp>
    </p:spTree>
    <p:extLst>
      <p:ext uri="{BB962C8B-B14F-4D97-AF65-F5344CB8AC3E}">
        <p14:creationId xmlns:p14="http://schemas.microsoft.com/office/powerpoint/2010/main" val="131249221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údo com Legenda">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C9023A8-B14D-69CD-2320-E4880245C54E}"/>
              </a:ext>
            </a:extLst>
          </p:cNvPr>
          <p:cNvSpPr>
            <a:spLocks noGrp="1"/>
          </p:cNvSpPr>
          <p:nvPr>
            <p:ph type="title"/>
          </p:nvPr>
        </p:nvSpPr>
        <p:spPr>
          <a:xfrm>
            <a:off x="839788" y="457200"/>
            <a:ext cx="3932237" cy="1600200"/>
          </a:xfrm>
        </p:spPr>
        <p:txBody>
          <a:bodyPr anchor="b"/>
          <a:lstStyle>
            <a:lvl1pPr>
              <a:defRPr sz="3200"/>
            </a:lvl1pPr>
          </a:lstStyle>
          <a:p>
            <a:r>
              <a:rPr lang="pt-BR"/>
              <a:t>Clique para editar o título Mestre</a:t>
            </a:r>
          </a:p>
        </p:txBody>
      </p:sp>
      <p:sp>
        <p:nvSpPr>
          <p:cNvPr id="3" name="Espaço Reservado para Conteúdo 2">
            <a:extLst>
              <a:ext uri="{FF2B5EF4-FFF2-40B4-BE49-F238E27FC236}">
                <a16:creationId xmlns:a16="http://schemas.microsoft.com/office/drawing/2014/main" id="{38FC797A-DBE6-7E03-D5A8-8161C6FA097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Texto 3">
            <a:extLst>
              <a:ext uri="{FF2B5EF4-FFF2-40B4-BE49-F238E27FC236}">
                <a16:creationId xmlns:a16="http://schemas.microsoft.com/office/drawing/2014/main" id="{C276F064-4FE8-5F3C-5F1B-27781BD0015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pt-BR"/>
              <a:t>Clique para editar os estilos de texto Mestres</a:t>
            </a:r>
          </a:p>
        </p:txBody>
      </p:sp>
      <p:sp>
        <p:nvSpPr>
          <p:cNvPr id="5" name="Espaço Reservado para Data 4">
            <a:extLst>
              <a:ext uri="{FF2B5EF4-FFF2-40B4-BE49-F238E27FC236}">
                <a16:creationId xmlns:a16="http://schemas.microsoft.com/office/drawing/2014/main" id="{3BD49F2C-35F6-563E-90B8-EB9CA75DD271}"/>
              </a:ext>
            </a:extLst>
          </p:cNvPr>
          <p:cNvSpPr>
            <a:spLocks noGrp="1"/>
          </p:cNvSpPr>
          <p:nvPr>
            <p:ph type="dt" sz="half" idx="10"/>
          </p:nvPr>
        </p:nvSpPr>
        <p:spPr/>
        <p:txBody>
          <a:bodyPr/>
          <a:lstStyle/>
          <a:p>
            <a:fld id="{6992B809-48F5-9D4D-A526-538C5C80A4E0}" type="datetimeFigureOut">
              <a:rPr lang="pt-BR" smtClean="0"/>
              <a:t>18/02/2023</a:t>
            </a:fld>
            <a:endParaRPr lang="pt-BR"/>
          </a:p>
        </p:txBody>
      </p:sp>
      <p:sp>
        <p:nvSpPr>
          <p:cNvPr id="6" name="Espaço Reservado para Rodapé 5">
            <a:extLst>
              <a:ext uri="{FF2B5EF4-FFF2-40B4-BE49-F238E27FC236}">
                <a16:creationId xmlns:a16="http://schemas.microsoft.com/office/drawing/2014/main" id="{33A2E9F3-C347-E7FA-D47C-3B5DBABC5B65}"/>
              </a:ext>
            </a:extLst>
          </p:cNvPr>
          <p:cNvSpPr>
            <a:spLocks noGrp="1"/>
          </p:cNvSpPr>
          <p:nvPr>
            <p:ph type="ftr" sz="quarter" idx="11"/>
          </p:nvPr>
        </p:nvSpPr>
        <p:spPr/>
        <p:txBody>
          <a:bodyPr/>
          <a:lstStyle/>
          <a:p>
            <a:endParaRPr lang="pt-BR"/>
          </a:p>
        </p:txBody>
      </p:sp>
      <p:sp>
        <p:nvSpPr>
          <p:cNvPr id="7" name="Espaço Reservado para Número de Slide 6">
            <a:extLst>
              <a:ext uri="{FF2B5EF4-FFF2-40B4-BE49-F238E27FC236}">
                <a16:creationId xmlns:a16="http://schemas.microsoft.com/office/drawing/2014/main" id="{646333EE-D383-A542-7B30-42DCC66B627B}"/>
              </a:ext>
            </a:extLst>
          </p:cNvPr>
          <p:cNvSpPr>
            <a:spLocks noGrp="1"/>
          </p:cNvSpPr>
          <p:nvPr>
            <p:ph type="sldNum" sz="quarter" idx="12"/>
          </p:nvPr>
        </p:nvSpPr>
        <p:spPr/>
        <p:txBody>
          <a:bodyPr/>
          <a:lstStyle/>
          <a:p>
            <a:fld id="{D644EB38-902B-094D-9C9A-22F9B5A0897A}" type="slidenum">
              <a:rPr lang="pt-BR" smtClean="0"/>
              <a:t>‹#›</a:t>
            </a:fld>
            <a:endParaRPr lang="pt-BR"/>
          </a:p>
        </p:txBody>
      </p:sp>
    </p:spTree>
    <p:extLst>
      <p:ext uri="{BB962C8B-B14F-4D97-AF65-F5344CB8AC3E}">
        <p14:creationId xmlns:p14="http://schemas.microsoft.com/office/powerpoint/2010/main" val="357119158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m com Legenda">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FB488D1-352A-6475-49F7-B7373B94CD65}"/>
              </a:ext>
            </a:extLst>
          </p:cNvPr>
          <p:cNvSpPr>
            <a:spLocks noGrp="1"/>
          </p:cNvSpPr>
          <p:nvPr>
            <p:ph type="title"/>
          </p:nvPr>
        </p:nvSpPr>
        <p:spPr>
          <a:xfrm>
            <a:off x="839788" y="457200"/>
            <a:ext cx="3932237" cy="1600200"/>
          </a:xfrm>
        </p:spPr>
        <p:txBody>
          <a:bodyPr anchor="b"/>
          <a:lstStyle>
            <a:lvl1pPr>
              <a:defRPr sz="3200"/>
            </a:lvl1pPr>
          </a:lstStyle>
          <a:p>
            <a:r>
              <a:rPr lang="pt-BR"/>
              <a:t>Clique para editar o título Mestre</a:t>
            </a:r>
          </a:p>
        </p:txBody>
      </p:sp>
      <p:sp>
        <p:nvSpPr>
          <p:cNvPr id="3" name="Espaço Reservado para Imagem 2">
            <a:extLst>
              <a:ext uri="{FF2B5EF4-FFF2-40B4-BE49-F238E27FC236}">
                <a16:creationId xmlns:a16="http://schemas.microsoft.com/office/drawing/2014/main" id="{A20F5BE0-1C83-9BA2-FEAC-4962E6D90E2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pt-BR"/>
          </a:p>
        </p:txBody>
      </p:sp>
      <p:sp>
        <p:nvSpPr>
          <p:cNvPr id="4" name="Espaço Reservado para Texto 3">
            <a:extLst>
              <a:ext uri="{FF2B5EF4-FFF2-40B4-BE49-F238E27FC236}">
                <a16:creationId xmlns:a16="http://schemas.microsoft.com/office/drawing/2014/main" id="{4A6A87DC-E995-AD1B-8117-39584A6071B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pt-BR"/>
              <a:t>Clique para editar os estilos de texto Mestres</a:t>
            </a:r>
          </a:p>
        </p:txBody>
      </p:sp>
      <p:sp>
        <p:nvSpPr>
          <p:cNvPr id="5" name="Espaço Reservado para Data 4">
            <a:extLst>
              <a:ext uri="{FF2B5EF4-FFF2-40B4-BE49-F238E27FC236}">
                <a16:creationId xmlns:a16="http://schemas.microsoft.com/office/drawing/2014/main" id="{56F50BC8-58D6-367C-9014-149B585CBD05}"/>
              </a:ext>
            </a:extLst>
          </p:cNvPr>
          <p:cNvSpPr>
            <a:spLocks noGrp="1"/>
          </p:cNvSpPr>
          <p:nvPr>
            <p:ph type="dt" sz="half" idx="10"/>
          </p:nvPr>
        </p:nvSpPr>
        <p:spPr/>
        <p:txBody>
          <a:bodyPr/>
          <a:lstStyle/>
          <a:p>
            <a:fld id="{6992B809-48F5-9D4D-A526-538C5C80A4E0}" type="datetimeFigureOut">
              <a:rPr lang="pt-BR" smtClean="0"/>
              <a:t>18/02/2023</a:t>
            </a:fld>
            <a:endParaRPr lang="pt-BR"/>
          </a:p>
        </p:txBody>
      </p:sp>
      <p:sp>
        <p:nvSpPr>
          <p:cNvPr id="6" name="Espaço Reservado para Rodapé 5">
            <a:extLst>
              <a:ext uri="{FF2B5EF4-FFF2-40B4-BE49-F238E27FC236}">
                <a16:creationId xmlns:a16="http://schemas.microsoft.com/office/drawing/2014/main" id="{7AC2336A-1999-0075-A486-8A8DD8F8B07B}"/>
              </a:ext>
            </a:extLst>
          </p:cNvPr>
          <p:cNvSpPr>
            <a:spLocks noGrp="1"/>
          </p:cNvSpPr>
          <p:nvPr>
            <p:ph type="ftr" sz="quarter" idx="11"/>
          </p:nvPr>
        </p:nvSpPr>
        <p:spPr/>
        <p:txBody>
          <a:bodyPr/>
          <a:lstStyle/>
          <a:p>
            <a:endParaRPr lang="pt-BR"/>
          </a:p>
        </p:txBody>
      </p:sp>
      <p:sp>
        <p:nvSpPr>
          <p:cNvPr id="7" name="Espaço Reservado para Número de Slide 6">
            <a:extLst>
              <a:ext uri="{FF2B5EF4-FFF2-40B4-BE49-F238E27FC236}">
                <a16:creationId xmlns:a16="http://schemas.microsoft.com/office/drawing/2014/main" id="{C446A09B-03C6-9DE1-CF51-A47FE17689C6}"/>
              </a:ext>
            </a:extLst>
          </p:cNvPr>
          <p:cNvSpPr>
            <a:spLocks noGrp="1"/>
          </p:cNvSpPr>
          <p:nvPr>
            <p:ph type="sldNum" sz="quarter" idx="12"/>
          </p:nvPr>
        </p:nvSpPr>
        <p:spPr/>
        <p:txBody>
          <a:bodyPr/>
          <a:lstStyle/>
          <a:p>
            <a:fld id="{D644EB38-902B-094D-9C9A-22F9B5A0897A}" type="slidenum">
              <a:rPr lang="pt-BR" smtClean="0"/>
              <a:t>‹#›</a:t>
            </a:fld>
            <a:endParaRPr lang="pt-BR"/>
          </a:p>
        </p:txBody>
      </p:sp>
    </p:spTree>
    <p:extLst>
      <p:ext uri="{BB962C8B-B14F-4D97-AF65-F5344CB8AC3E}">
        <p14:creationId xmlns:p14="http://schemas.microsoft.com/office/powerpoint/2010/main" val="132532425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e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1131D0C-409D-8AE2-9C05-4863072DE8E1}"/>
              </a:ext>
            </a:extLst>
          </p:cNvPr>
          <p:cNvSpPr>
            <a:spLocks noGrp="1"/>
          </p:cNvSpPr>
          <p:nvPr>
            <p:ph type="title"/>
          </p:nvPr>
        </p:nvSpPr>
        <p:spPr/>
        <p:txBody>
          <a:bodyPr/>
          <a:lstStyle/>
          <a:p>
            <a:r>
              <a:rPr lang="pt-BR"/>
              <a:t>Clique para editar o título Mestre</a:t>
            </a:r>
          </a:p>
        </p:txBody>
      </p:sp>
      <p:sp>
        <p:nvSpPr>
          <p:cNvPr id="3" name="Espaço Reservado para Texto Vertical 2">
            <a:extLst>
              <a:ext uri="{FF2B5EF4-FFF2-40B4-BE49-F238E27FC236}">
                <a16:creationId xmlns:a16="http://schemas.microsoft.com/office/drawing/2014/main" id="{E4335538-6CE5-8C37-E3E5-DE2E9C08E9BF}"/>
              </a:ext>
            </a:extLst>
          </p:cNvPr>
          <p:cNvSpPr>
            <a:spLocks noGrp="1"/>
          </p:cNvSpPr>
          <p:nvPr>
            <p:ph type="body" orient="vert" idx="1"/>
          </p:nvPr>
        </p:nvSpPr>
        <p:spPr/>
        <p:txBody>
          <a:bodyPr vert="eaVert"/>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a:extLst>
              <a:ext uri="{FF2B5EF4-FFF2-40B4-BE49-F238E27FC236}">
                <a16:creationId xmlns:a16="http://schemas.microsoft.com/office/drawing/2014/main" id="{F7F74F3F-96EF-6252-3356-158392D4A204}"/>
              </a:ext>
            </a:extLst>
          </p:cNvPr>
          <p:cNvSpPr>
            <a:spLocks noGrp="1"/>
          </p:cNvSpPr>
          <p:nvPr>
            <p:ph type="dt" sz="half" idx="10"/>
          </p:nvPr>
        </p:nvSpPr>
        <p:spPr/>
        <p:txBody>
          <a:bodyPr/>
          <a:lstStyle/>
          <a:p>
            <a:fld id="{6992B809-48F5-9D4D-A526-538C5C80A4E0}" type="datetimeFigureOut">
              <a:rPr lang="pt-BR" smtClean="0"/>
              <a:t>18/02/2023</a:t>
            </a:fld>
            <a:endParaRPr lang="pt-BR"/>
          </a:p>
        </p:txBody>
      </p:sp>
      <p:sp>
        <p:nvSpPr>
          <p:cNvPr id="5" name="Espaço Reservado para Rodapé 4">
            <a:extLst>
              <a:ext uri="{FF2B5EF4-FFF2-40B4-BE49-F238E27FC236}">
                <a16:creationId xmlns:a16="http://schemas.microsoft.com/office/drawing/2014/main" id="{1268C0F9-FEEF-DA92-1EB8-B9ECEB69BD7A}"/>
              </a:ext>
            </a:extLst>
          </p:cNvPr>
          <p:cNvSpPr>
            <a:spLocks noGrp="1"/>
          </p:cNvSpPr>
          <p:nvPr>
            <p:ph type="ftr" sz="quarter" idx="11"/>
          </p:nvPr>
        </p:nvSpPr>
        <p:spPr/>
        <p:txBody>
          <a:bodyPr/>
          <a:lstStyle/>
          <a:p>
            <a:endParaRPr lang="pt-BR"/>
          </a:p>
        </p:txBody>
      </p:sp>
      <p:sp>
        <p:nvSpPr>
          <p:cNvPr id="6" name="Espaço Reservado para Número de Slide 5">
            <a:extLst>
              <a:ext uri="{FF2B5EF4-FFF2-40B4-BE49-F238E27FC236}">
                <a16:creationId xmlns:a16="http://schemas.microsoft.com/office/drawing/2014/main" id="{CB494A28-B4CF-FA81-4D5B-EE9E19D12D8F}"/>
              </a:ext>
            </a:extLst>
          </p:cNvPr>
          <p:cNvSpPr>
            <a:spLocks noGrp="1"/>
          </p:cNvSpPr>
          <p:nvPr>
            <p:ph type="sldNum" sz="quarter" idx="12"/>
          </p:nvPr>
        </p:nvSpPr>
        <p:spPr/>
        <p:txBody>
          <a:bodyPr/>
          <a:lstStyle/>
          <a:p>
            <a:fld id="{D644EB38-902B-094D-9C9A-22F9B5A0897A}" type="slidenum">
              <a:rPr lang="pt-BR" smtClean="0"/>
              <a:t>‹#›</a:t>
            </a:fld>
            <a:endParaRPr lang="pt-BR"/>
          </a:p>
        </p:txBody>
      </p:sp>
    </p:spTree>
    <p:extLst>
      <p:ext uri="{BB962C8B-B14F-4D97-AF65-F5344CB8AC3E}">
        <p14:creationId xmlns:p14="http://schemas.microsoft.com/office/powerpoint/2010/main" val="396599151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exto e Título Vertical">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F864D3E7-4967-2E2F-5FC5-58ADFEAD5F8D}"/>
              </a:ext>
            </a:extLst>
          </p:cNvPr>
          <p:cNvSpPr>
            <a:spLocks noGrp="1"/>
          </p:cNvSpPr>
          <p:nvPr>
            <p:ph type="title" orient="vert"/>
          </p:nvPr>
        </p:nvSpPr>
        <p:spPr>
          <a:xfrm>
            <a:off x="8724900" y="365125"/>
            <a:ext cx="2628900" cy="5811838"/>
          </a:xfrm>
        </p:spPr>
        <p:txBody>
          <a:bodyPr vert="eaVert"/>
          <a:lstStyle/>
          <a:p>
            <a:r>
              <a:rPr lang="pt-BR"/>
              <a:t>Clique para editar o título Mestre</a:t>
            </a:r>
          </a:p>
        </p:txBody>
      </p:sp>
      <p:sp>
        <p:nvSpPr>
          <p:cNvPr id="3" name="Espaço Reservado para Texto Vertical 2">
            <a:extLst>
              <a:ext uri="{FF2B5EF4-FFF2-40B4-BE49-F238E27FC236}">
                <a16:creationId xmlns:a16="http://schemas.microsoft.com/office/drawing/2014/main" id="{2A5200DD-25C3-35A6-3227-BD111F967931}"/>
              </a:ext>
            </a:extLst>
          </p:cNvPr>
          <p:cNvSpPr>
            <a:spLocks noGrp="1"/>
          </p:cNvSpPr>
          <p:nvPr>
            <p:ph type="body" orient="vert" idx="1"/>
          </p:nvPr>
        </p:nvSpPr>
        <p:spPr>
          <a:xfrm>
            <a:off x="838200" y="365125"/>
            <a:ext cx="7734300" cy="5811838"/>
          </a:xfrm>
        </p:spPr>
        <p:txBody>
          <a:bodyPr vert="eaVert"/>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a:extLst>
              <a:ext uri="{FF2B5EF4-FFF2-40B4-BE49-F238E27FC236}">
                <a16:creationId xmlns:a16="http://schemas.microsoft.com/office/drawing/2014/main" id="{4EC5FEFC-5653-43F1-0707-A460BCCBD196}"/>
              </a:ext>
            </a:extLst>
          </p:cNvPr>
          <p:cNvSpPr>
            <a:spLocks noGrp="1"/>
          </p:cNvSpPr>
          <p:nvPr>
            <p:ph type="dt" sz="half" idx="10"/>
          </p:nvPr>
        </p:nvSpPr>
        <p:spPr/>
        <p:txBody>
          <a:bodyPr/>
          <a:lstStyle/>
          <a:p>
            <a:fld id="{6992B809-48F5-9D4D-A526-538C5C80A4E0}" type="datetimeFigureOut">
              <a:rPr lang="pt-BR" smtClean="0"/>
              <a:t>18/02/2023</a:t>
            </a:fld>
            <a:endParaRPr lang="pt-BR"/>
          </a:p>
        </p:txBody>
      </p:sp>
      <p:sp>
        <p:nvSpPr>
          <p:cNvPr id="5" name="Espaço Reservado para Rodapé 4">
            <a:extLst>
              <a:ext uri="{FF2B5EF4-FFF2-40B4-BE49-F238E27FC236}">
                <a16:creationId xmlns:a16="http://schemas.microsoft.com/office/drawing/2014/main" id="{8EB5AF0C-F04B-C596-1F3B-40BAF15394DA}"/>
              </a:ext>
            </a:extLst>
          </p:cNvPr>
          <p:cNvSpPr>
            <a:spLocks noGrp="1"/>
          </p:cNvSpPr>
          <p:nvPr>
            <p:ph type="ftr" sz="quarter" idx="11"/>
          </p:nvPr>
        </p:nvSpPr>
        <p:spPr/>
        <p:txBody>
          <a:bodyPr/>
          <a:lstStyle/>
          <a:p>
            <a:endParaRPr lang="pt-BR"/>
          </a:p>
        </p:txBody>
      </p:sp>
      <p:sp>
        <p:nvSpPr>
          <p:cNvPr id="6" name="Espaço Reservado para Número de Slide 5">
            <a:extLst>
              <a:ext uri="{FF2B5EF4-FFF2-40B4-BE49-F238E27FC236}">
                <a16:creationId xmlns:a16="http://schemas.microsoft.com/office/drawing/2014/main" id="{70579073-F838-B5E6-4FA1-DC391C0E92AD}"/>
              </a:ext>
            </a:extLst>
          </p:cNvPr>
          <p:cNvSpPr>
            <a:spLocks noGrp="1"/>
          </p:cNvSpPr>
          <p:nvPr>
            <p:ph type="sldNum" sz="quarter" idx="12"/>
          </p:nvPr>
        </p:nvSpPr>
        <p:spPr/>
        <p:txBody>
          <a:bodyPr/>
          <a:lstStyle/>
          <a:p>
            <a:fld id="{D644EB38-902B-094D-9C9A-22F9B5A0897A}" type="slidenum">
              <a:rPr lang="pt-BR" smtClean="0"/>
              <a:t>‹#›</a:t>
            </a:fld>
            <a:endParaRPr lang="pt-BR"/>
          </a:p>
        </p:txBody>
      </p:sp>
    </p:spTree>
    <p:extLst>
      <p:ext uri="{BB962C8B-B14F-4D97-AF65-F5344CB8AC3E}">
        <p14:creationId xmlns:p14="http://schemas.microsoft.com/office/powerpoint/2010/main" val="312690888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ço Reservado para Título 1">
            <a:extLst>
              <a:ext uri="{FF2B5EF4-FFF2-40B4-BE49-F238E27FC236}">
                <a16:creationId xmlns:a16="http://schemas.microsoft.com/office/drawing/2014/main" id="{05ADA0D9-7240-E14D-DE03-81D58E68B99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pt-BR"/>
              <a:t>Clique para editar o título Mestre</a:t>
            </a:r>
          </a:p>
        </p:txBody>
      </p:sp>
      <p:sp>
        <p:nvSpPr>
          <p:cNvPr id="3" name="Espaço Reservado para Texto 2">
            <a:extLst>
              <a:ext uri="{FF2B5EF4-FFF2-40B4-BE49-F238E27FC236}">
                <a16:creationId xmlns:a16="http://schemas.microsoft.com/office/drawing/2014/main" id="{D78D7A77-6CC6-3854-02B2-1FD2760A179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a:extLst>
              <a:ext uri="{FF2B5EF4-FFF2-40B4-BE49-F238E27FC236}">
                <a16:creationId xmlns:a16="http://schemas.microsoft.com/office/drawing/2014/main" id="{02013D53-F94C-B9E5-2BB8-3832D0FA60D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992B809-48F5-9D4D-A526-538C5C80A4E0}" type="datetimeFigureOut">
              <a:rPr lang="pt-BR" smtClean="0"/>
              <a:t>18/02/2023</a:t>
            </a:fld>
            <a:endParaRPr lang="pt-BR"/>
          </a:p>
        </p:txBody>
      </p:sp>
      <p:sp>
        <p:nvSpPr>
          <p:cNvPr id="5" name="Espaço Reservado para Rodapé 4">
            <a:extLst>
              <a:ext uri="{FF2B5EF4-FFF2-40B4-BE49-F238E27FC236}">
                <a16:creationId xmlns:a16="http://schemas.microsoft.com/office/drawing/2014/main" id="{B47CD4F6-5954-3263-E7E9-F434D0AF682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pt-BR"/>
          </a:p>
        </p:txBody>
      </p:sp>
      <p:sp>
        <p:nvSpPr>
          <p:cNvPr id="6" name="Espaço Reservado para Número de Slide 5">
            <a:extLst>
              <a:ext uri="{FF2B5EF4-FFF2-40B4-BE49-F238E27FC236}">
                <a16:creationId xmlns:a16="http://schemas.microsoft.com/office/drawing/2014/main" id="{4720C746-AADA-8C49-C9C6-52B8E26B219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644EB38-902B-094D-9C9A-22F9B5A0897A}" type="slidenum">
              <a:rPr lang="pt-BR" smtClean="0"/>
              <a:t>‹#›</a:t>
            </a:fld>
            <a:endParaRPr lang="pt-BR"/>
          </a:p>
        </p:txBody>
      </p:sp>
    </p:spTree>
    <p:extLst>
      <p:ext uri="{BB962C8B-B14F-4D97-AF65-F5344CB8AC3E}">
        <p14:creationId xmlns:p14="http://schemas.microsoft.com/office/powerpoint/2010/main" val="126693377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33" name="Rectangle 1032">
            <a:extLst>
              <a:ext uri="{FF2B5EF4-FFF2-40B4-BE49-F238E27FC236}">
                <a16:creationId xmlns:a16="http://schemas.microsoft.com/office/drawing/2014/main" id="{E91DC736-0EF8-4F87-9146-EBF1D2EE4D3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28" name="Picture 4" descr="Fotos de Certificado diploma, Imagens de Certificado diploma sem royalties  | Depositphotos">
            <a:extLst>
              <a:ext uri="{FF2B5EF4-FFF2-40B4-BE49-F238E27FC236}">
                <a16:creationId xmlns:a16="http://schemas.microsoft.com/office/drawing/2014/main" id="{5302CC5B-BEB9-3558-EF06-CD21469062E6}"/>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9091" r="13818"/>
          <a:stretch/>
        </p:blipFill>
        <p:spPr bwMode="auto">
          <a:xfrm>
            <a:off x="3523488" y="10"/>
            <a:ext cx="8668512" cy="6857990"/>
          </a:xfrm>
          <a:prstGeom prst="rect">
            <a:avLst/>
          </a:prstGeom>
          <a:noFill/>
          <a:extLst>
            <a:ext uri="{909E8E84-426E-40DD-AFC4-6F175D3DCCD1}">
              <a14:hiddenFill xmlns:a14="http://schemas.microsoft.com/office/drawing/2010/main">
                <a:solidFill>
                  <a:srgbClr val="FFFFFF"/>
                </a:solidFill>
              </a14:hiddenFill>
            </a:ext>
          </a:extLst>
        </p:spPr>
      </p:pic>
      <p:sp>
        <p:nvSpPr>
          <p:cNvPr id="1035" name="Rectangle 1034">
            <a:extLst>
              <a:ext uri="{FF2B5EF4-FFF2-40B4-BE49-F238E27FC236}">
                <a16:creationId xmlns:a16="http://schemas.microsoft.com/office/drawing/2014/main" id="{097CD68E-23E3-4007-8847-CD0944C4F7B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756601" cy="6858000"/>
          </a:xfrm>
          <a:prstGeom prst="rect">
            <a:avLst/>
          </a:prstGeom>
          <a:gradFill>
            <a:gsLst>
              <a:gs pos="58000">
                <a:schemeClr val="bg1"/>
              </a:gs>
              <a:gs pos="35000">
                <a:schemeClr val="bg1">
                  <a:alpha val="79000"/>
                </a:schemeClr>
              </a:gs>
              <a:gs pos="19000">
                <a:schemeClr val="bg1">
                  <a:alpha val="38000"/>
                </a:schemeClr>
              </a:gs>
              <a:gs pos="0">
                <a:schemeClr val="bg1">
                  <a:alpha val="0"/>
                </a:schemeClr>
              </a:gs>
              <a:gs pos="100000">
                <a:schemeClr val="bg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ítulo 1">
            <a:extLst>
              <a:ext uri="{FF2B5EF4-FFF2-40B4-BE49-F238E27FC236}">
                <a16:creationId xmlns:a16="http://schemas.microsoft.com/office/drawing/2014/main" id="{C7255606-1553-8DBD-B0B7-F36BD1DD4B7B}"/>
              </a:ext>
            </a:extLst>
          </p:cNvPr>
          <p:cNvSpPr>
            <a:spLocks noGrp="1"/>
          </p:cNvSpPr>
          <p:nvPr>
            <p:ph type="ctrTitle"/>
          </p:nvPr>
        </p:nvSpPr>
        <p:spPr>
          <a:xfrm>
            <a:off x="477981" y="1122363"/>
            <a:ext cx="4023360" cy="3204134"/>
          </a:xfrm>
        </p:spPr>
        <p:txBody>
          <a:bodyPr anchor="b">
            <a:normAutofit/>
          </a:bodyPr>
          <a:lstStyle/>
          <a:p>
            <a:r>
              <a:rPr lang="pt-BR" sz="4800" b="1" dirty="0"/>
              <a:t>Metodologia do Trabalho Científico</a:t>
            </a:r>
          </a:p>
        </p:txBody>
      </p:sp>
      <p:sp>
        <p:nvSpPr>
          <p:cNvPr id="3" name="Subtítulo 2">
            <a:extLst>
              <a:ext uri="{FF2B5EF4-FFF2-40B4-BE49-F238E27FC236}">
                <a16:creationId xmlns:a16="http://schemas.microsoft.com/office/drawing/2014/main" id="{D1719692-C287-1B55-209B-9023BF53DEB3}"/>
              </a:ext>
            </a:extLst>
          </p:cNvPr>
          <p:cNvSpPr>
            <a:spLocks noGrp="1"/>
          </p:cNvSpPr>
          <p:nvPr>
            <p:ph type="subTitle" idx="1"/>
          </p:nvPr>
        </p:nvSpPr>
        <p:spPr>
          <a:xfrm>
            <a:off x="477980" y="4872922"/>
            <a:ext cx="4023359" cy="1208141"/>
          </a:xfrm>
        </p:spPr>
        <p:txBody>
          <a:bodyPr>
            <a:normAutofit/>
          </a:bodyPr>
          <a:lstStyle/>
          <a:p>
            <a:r>
              <a:rPr lang="pt-BR" sz="2000" b="1" dirty="0"/>
              <a:t>Fatec Praia Grande</a:t>
            </a:r>
          </a:p>
          <a:p>
            <a:r>
              <a:rPr lang="pt-BR" sz="2000" dirty="0"/>
              <a:t>2023-1</a:t>
            </a:r>
          </a:p>
        </p:txBody>
      </p:sp>
      <p:sp>
        <p:nvSpPr>
          <p:cNvPr id="1037" name="Rectangle 1036">
            <a:extLst>
              <a:ext uri="{FF2B5EF4-FFF2-40B4-BE49-F238E27FC236}">
                <a16:creationId xmlns:a16="http://schemas.microsoft.com/office/drawing/2014/main" id="{AF2F604E-43BE-4DC3-B983-E071523364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759921" y="346791"/>
            <a:ext cx="146304"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039" name="Rectangle 1038">
            <a:extLst>
              <a:ext uri="{FF2B5EF4-FFF2-40B4-BE49-F238E27FC236}">
                <a16:creationId xmlns:a16="http://schemas.microsoft.com/office/drawing/2014/main" id="{08C9B587-E65E-4B52-B37C-ABEBB6E879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1029" y="4546920"/>
            <a:ext cx="397764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78192904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 name="Picture 4" descr="Rochas à beira-mar">
            <a:extLst>
              <a:ext uri="{FF2B5EF4-FFF2-40B4-BE49-F238E27FC236}">
                <a16:creationId xmlns:a16="http://schemas.microsoft.com/office/drawing/2014/main" id="{B5C96F45-1BAA-65C6-ACB6-AEA5C81685EA}"/>
              </a:ext>
            </a:extLst>
          </p:cNvPr>
          <p:cNvPicPr>
            <a:picLocks noChangeAspect="1"/>
          </p:cNvPicPr>
          <p:nvPr/>
        </p:nvPicPr>
        <p:blipFill rotWithShape="1">
          <a:blip r:embed="rId2">
            <a:duotone>
              <a:prstClr val="black"/>
              <a:schemeClr val="tx2">
                <a:tint val="45000"/>
                <a:satMod val="400000"/>
              </a:schemeClr>
            </a:duotone>
          </a:blip>
          <a:srcRect b="15730"/>
          <a:stretch/>
        </p:blipFill>
        <p:spPr>
          <a:xfrm>
            <a:off x="20" y="10"/>
            <a:ext cx="12191980" cy="6857990"/>
          </a:xfrm>
          <a:prstGeom prst="rect">
            <a:avLst/>
          </a:prstGeom>
        </p:spPr>
      </p:pic>
      <p:sp>
        <p:nvSpPr>
          <p:cNvPr id="9" name="Rectangle 8">
            <a:extLst>
              <a:ext uri="{FF2B5EF4-FFF2-40B4-BE49-F238E27FC236}">
                <a16:creationId xmlns:a16="http://schemas.microsoft.com/office/drawing/2014/main" id="{B4147794-66B7-4CDE-BC75-BBDC48B2FC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559481" y="0"/>
            <a:ext cx="7718119" cy="6858000"/>
          </a:xfrm>
          <a:prstGeom prst="rect">
            <a:avLst/>
          </a:prstGeom>
          <a:solidFill>
            <a:schemeClr val="bg1">
              <a:alpha val="8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entury Schoolbook" panose="02040604050505020304"/>
              <a:ea typeface="+mn-ea"/>
              <a:cs typeface="+mn-cs"/>
            </a:endParaRPr>
          </a:p>
        </p:txBody>
      </p:sp>
      <p:sp>
        <p:nvSpPr>
          <p:cNvPr id="3" name="Espaço Reservado para Conteúdo 2">
            <a:extLst>
              <a:ext uri="{FF2B5EF4-FFF2-40B4-BE49-F238E27FC236}">
                <a16:creationId xmlns:a16="http://schemas.microsoft.com/office/drawing/2014/main" id="{16C8AF6D-DCD3-DBD6-A3B1-87C806E509BE}"/>
              </a:ext>
            </a:extLst>
          </p:cNvPr>
          <p:cNvSpPr>
            <a:spLocks noGrp="1"/>
          </p:cNvSpPr>
          <p:nvPr>
            <p:ph idx="1"/>
          </p:nvPr>
        </p:nvSpPr>
        <p:spPr>
          <a:xfrm>
            <a:off x="4050889" y="1111170"/>
            <a:ext cx="6784259" cy="5088017"/>
          </a:xfrm>
        </p:spPr>
        <p:txBody>
          <a:bodyPr>
            <a:normAutofit/>
          </a:bodyPr>
          <a:lstStyle/>
          <a:p>
            <a:pPr algn="just"/>
            <a:r>
              <a:rPr lang="pt-BR" dirty="0"/>
              <a:t>Para a ciência, os recursos utilizados são determinados por sua própria natureza. No entanto, sua apresentação deve seguir uma padronização (PRODANOV; FREITAS, 2013).</a:t>
            </a:r>
          </a:p>
          <a:p>
            <a:pPr algn="just"/>
            <a:endParaRPr lang="pt-BR" dirty="0"/>
          </a:p>
          <a:p>
            <a:pPr algn="just"/>
            <a:endParaRPr lang="pt-BR" dirty="0"/>
          </a:p>
          <a:p>
            <a:pPr algn="just"/>
            <a:r>
              <a:rPr lang="pt-BR" dirty="0"/>
              <a:t>O Trabalho de Graduação (TG) na Fatec Praia Grande compreende cursar três disciplinas, a saber: Metodologia do Trabalho Científico/Métodos para a Produção do Conhecimento e Trabalho de Graduação 1 e Trabalho de Graduação 2. </a:t>
            </a:r>
          </a:p>
        </p:txBody>
      </p:sp>
      <p:sp>
        <p:nvSpPr>
          <p:cNvPr id="11" name="Rectangle 10">
            <a:extLst>
              <a:ext uri="{FF2B5EF4-FFF2-40B4-BE49-F238E27FC236}">
                <a16:creationId xmlns:a16="http://schemas.microsoft.com/office/drawing/2014/main" id="{41202E79-1236-4DF8-9921-F47A0B079C1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277600" y="0"/>
            <a:ext cx="914400" cy="6858000"/>
          </a:xfrm>
          <a:prstGeom prst="rect">
            <a:avLst/>
          </a:prstGeom>
          <a:solidFill>
            <a:schemeClr val="tx1">
              <a:lumMod val="85000"/>
              <a:lumOff val="15000"/>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86560949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827B839B-9ADE-406B-8590-F1CAEDED45A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45">
            <a:extLst>
              <a:ext uri="{FF2B5EF4-FFF2-40B4-BE49-F238E27FC236}">
                <a16:creationId xmlns:a16="http://schemas.microsoft.com/office/drawing/2014/main" id="{CFE45BF0-46DB-408C-B5F7-7B11716805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409710" y="1022350"/>
            <a:ext cx="709612" cy="2095501"/>
          </a:xfrm>
          <a:custGeom>
            <a:avLst/>
            <a:gdLst>
              <a:gd name="T0" fmla="*/ 447 w 447"/>
              <a:gd name="T1" fmla="*/ 1363 h 1363"/>
              <a:gd name="T2" fmla="*/ 0 w 447"/>
              <a:gd name="T3" fmla="*/ 987 h 1363"/>
              <a:gd name="T4" fmla="*/ 0 w 447"/>
              <a:gd name="T5" fmla="*/ 0 h 1363"/>
              <a:gd name="T6" fmla="*/ 447 w 447"/>
              <a:gd name="T7" fmla="*/ 376 h 1363"/>
              <a:gd name="T8" fmla="*/ 447 w 447"/>
              <a:gd name="T9" fmla="*/ 1363 h 1363"/>
            </a:gdLst>
            <a:ahLst/>
            <a:cxnLst>
              <a:cxn ang="0">
                <a:pos x="T0" y="T1"/>
              </a:cxn>
              <a:cxn ang="0">
                <a:pos x="T2" y="T3"/>
              </a:cxn>
              <a:cxn ang="0">
                <a:pos x="T4" y="T5"/>
              </a:cxn>
              <a:cxn ang="0">
                <a:pos x="T6" y="T7"/>
              </a:cxn>
              <a:cxn ang="0">
                <a:pos x="T8" y="T9"/>
              </a:cxn>
            </a:cxnLst>
            <a:rect l="0" t="0" r="r" b="b"/>
            <a:pathLst>
              <a:path w="447" h="1363">
                <a:moveTo>
                  <a:pt x="447" y="1363"/>
                </a:moveTo>
                <a:lnTo>
                  <a:pt x="0" y="987"/>
                </a:lnTo>
                <a:lnTo>
                  <a:pt x="0" y="0"/>
                </a:lnTo>
                <a:lnTo>
                  <a:pt x="447" y="376"/>
                </a:lnTo>
                <a:lnTo>
                  <a:pt x="447" y="1363"/>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2" name="Freeform 46">
            <a:extLst>
              <a:ext uri="{FF2B5EF4-FFF2-40B4-BE49-F238E27FC236}">
                <a16:creationId xmlns:a16="http://schemas.microsoft.com/office/drawing/2014/main" id="{2AEBC8F2-97B1-41B4-93F1-2D289E197F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409710" y="837744"/>
            <a:ext cx="403225" cy="1705431"/>
          </a:xfrm>
          <a:custGeom>
            <a:avLst/>
            <a:gdLst>
              <a:gd name="T0" fmla="*/ 254 w 254"/>
              <a:gd name="T1" fmla="*/ 987 h 1109"/>
              <a:gd name="T2" fmla="*/ 0 w 254"/>
              <a:gd name="T3" fmla="*/ 1109 h 1109"/>
              <a:gd name="T4" fmla="*/ 0 w 254"/>
              <a:gd name="T5" fmla="*/ 119 h 1109"/>
              <a:gd name="T6" fmla="*/ 254 w 254"/>
              <a:gd name="T7" fmla="*/ 0 h 1109"/>
              <a:gd name="T8" fmla="*/ 254 w 254"/>
              <a:gd name="T9" fmla="*/ 987 h 1109"/>
            </a:gdLst>
            <a:ahLst/>
            <a:cxnLst>
              <a:cxn ang="0">
                <a:pos x="T0" y="T1"/>
              </a:cxn>
              <a:cxn ang="0">
                <a:pos x="T2" y="T3"/>
              </a:cxn>
              <a:cxn ang="0">
                <a:pos x="T4" y="T5"/>
              </a:cxn>
              <a:cxn ang="0">
                <a:pos x="T6" y="T7"/>
              </a:cxn>
              <a:cxn ang="0">
                <a:pos x="T8" y="T9"/>
              </a:cxn>
            </a:cxnLst>
            <a:rect l="0" t="0" r="r" b="b"/>
            <a:pathLst>
              <a:path w="254" h="1109">
                <a:moveTo>
                  <a:pt x="254" y="987"/>
                </a:moveTo>
                <a:lnTo>
                  <a:pt x="0" y="1109"/>
                </a:lnTo>
                <a:lnTo>
                  <a:pt x="0" y="119"/>
                </a:lnTo>
                <a:lnTo>
                  <a:pt x="254" y="0"/>
                </a:lnTo>
                <a:lnTo>
                  <a:pt x="254" y="987"/>
                </a:lnTo>
                <a:close/>
              </a:path>
            </a:pathLst>
          </a:custGeom>
          <a:solidFill>
            <a:schemeClr val="accent1">
              <a:lumMod val="7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4" name="Freeform 47">
            <a:extLst>
              <a:ext uri="{FF2B5EF4-FFF2-40B4-BE49-F238E27FC236}">
                <a16:creationId xmlns:a16="http://schemas.microsoft.com/office/drawing/2014/main" id="{472E3A19-F5D5-48FC-BB9C-48C2F68F598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644660" y="640894"/>
            <a:ext cx="168275" cy="1713195"/>
          </a:xfrm>
          <a:custGeom>
            <a:avLst/>
            <a:gdLst>
              <a:gd name="T0" fmla="*/ 106 w 106"/>
              <a:gd name="T1" fmla="*/ 1114 h 1114"/>
              <a:gd name="T2" fmla="*/ 0 w 106"/>
              <a:gd name="T3" fmla="*/ 1005 h 1114"/>
              <a:gd name="T4" fmla="*/ 0 w 106"/>
              <a:gd name="T5" fmla="*/ 0 h 1114"/>
              <a:gd name="T6" fmla="*/ 106 w 106"/>
              <a:gd name="T7" fmla="*/ 110 h 1114"/>
              <a:gd name="T8" fmla="*/ 106 w 106"/>
              <a:gd name="T9" fmla="*/ 1114 h 1114"/>
            </a:gdLst>
            <a:ahLst/>
            <a:cxnLst>
              <a:cxn ang="0">
                <a:pos x="T0" y="T1"/>
              </a:cxn>
              <a:cxn ang="0">
                <a:pos x="T2" y="T3"/>
              </a:cxn>
              <a:cxn ang="0">
                <a:pos x="T4" y="T5"/>
              </a:cxn>
              <a:cxn ang="0">
                <a:pos x="T6" y="T7"/>
              </a:cxn>
              <a:cxn ang="0">
                <a:pos x="T8" y="T9"/>
              </a:cxn>
            </a:cxnLst>
            <a:rect l="0" t="0" r="r" b="b"/>
            <a:pathLst>
              <a:path w="106" h="1114">
                <a:moveTo>
                  <a:pt x="106" y="1114"/>
                </a:moveTo>
                <a:lnTo>
                  <a:pt x="0" y="1005"/>
                </a:lnTo>
                <a:lnTo>
                  <a:pt x="0" y="0"/>
                </a:lnTo>
                <a:lnTo>
                  <a:pt x="106" y="110"/>
                </a:lnTo>
                <a:lnTo>
                  <a:pt x="106" y="1114"/>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6" name="Freeform 44">
            <a:extLst>
              <a:ext uri="{FF2B5EF4-FFF2-40B4-BE49-F238E27FC236}">
                <a16:creationId xmlns:a16="http://schemas.microsoft.com/office/drawing/2014/main" id="{7A62E32F-BB65-43A8-8EB5-92346890E5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1223203" y="635716"/>
            <a:ext cx="328612" cy="1742360"/>
          </a:xfrm>
          <a:custGeom>
            <a:avLst/>
            <a:gdLst>
              <a:gd name="T0" fmla="*/ 207 w 207"/>
              <a:gd name="T1" fmla="*/ 987 h 1114"/>
              <a:gd name="T2" fmla="*/ 0 w 207"/>
              <a:gd name="T3" fmla="*/ 1114 h 1114"/>
              <a:gd name="T4" fmla="*/ 0 w 207"/>
              <a:gd name="T5" fmla="*/ 127 h 1114"/>
              <a:gd name="T6" fmla="*/ 207 w 207"/>
              <a:gd name="T7" fmla="*/ 0 h 1114"/>
              <a:gd name="T8" fmla="*/ 207 w 207"/>
              <a:gd name="T9" fmla="*/ 987 h 1114"/>
            </a:gdLst>
            <a:ahLst/>
            <a:cxnLst>
              <a:cxn ang="0">
                <a:pos x="T0" y="T1"/>
              </a:cxn>
              <a:cxn ang="0">
                <a:pos x="T2" y="T3"/>
              </a:cxn>
              <a:cxn ang="0">
                <a:pos x="T4" y="T5"/>
              </a:cxn>
              <a:cxn ang="0">
                <a:pos x="T6" y="T7"/>
              </a:cxn>
              <a:cxn ang="0">
                <a:pos x="T8" y="T9"/>
              </a:cxn>
            </a:cxnLst>
            <a:rect l="0" t="0" r="r" b="b"/>
            <a:pathLst>
              <a:path w="207" h="1114">
                <a:moveTo>
                  <a:pt x="207" y="987"/>
                </a:moveTo>
                <a:lnTo>
                  <a:pt x="0" y="1114"/>
                </a:lnTo>
                <a:lnTo>
                  <a:pt x="0" y="127"/>
                </a:lnTo>
                <a:lnTo>
                  <a:pt x="207" y="0"/>
                </a:lnTo>
                <a:lnTo>
                  <a:pt x="207" y="987"/>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8" name="Rectangle 17">
            <a:extLst>
              <a:ext uri="{FF2B5EF4-FFF2-40B4-BE49-F238E27FC236}">
                <a16:creationId xmlns:a16="http://schemas.microsoft.com/office/drawing/2014/main" id="{14E91B64-9FCC-451E-AFB4-A827D63293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644055" y="635715"/>
            <a:ext cx="10907863" cy="1541457"/>
          </a:xfrm>
          <a:prstGeom prst="rect">
            <a:avLst/>
          </a:prstGeom>
          <a:solidFill>
            <a:schemeClr val="accent1"/>
          </a:solidFill>
          <a:ln>
            <a:noFill/>
          </a:ln>
        </p:spPr>
        <p:txBody>
          <a:bodyPr vert="horz" wrap="square" lIns="91440" tIns="45720" rIns="91440" bIns="45720" numCol="1" anchor="t" anchorCtr="0" compatLnSpc="1">
            <a:prstTxWarp prst="textNoShape">
              <a:avLst/>
            </a:prstTxWarp>
          </a:bodyPr>
          <a:lstStyle/>
          <a:p>
            <a:endParaRPr lang="en-US"/>
          </a:p>
        </p:txBody>
      </p:sp>
      <p:sp>
        <p:nvSpPr>
          <p:cNvPr id="2" name="Título 1">
            <a:extLst>
              <a:ext uri="{FF2B5EF4-FFF2-40B4-BE49-F238E27FC236}">
                <a16:creationId xmlns:a16="http://schemas.microsoft.com/office/drawing/2014/main" id="{21DF0D54-3E73-7D7D-2038-E1585018B8F0}"/>
              </a:ext>
            </a:extLst>
          </p:cNvPr>
          <p:cNvSpPr>
            <a:spLocks noGrp="1"/>
          </p:cNvSpPr>
          <p:nvPr>
            <p:ph type="title"/>
          </p:nvPr>
        </p:nvSpPr>
        <p:spPr>
          <a:xfrm>
            <a:off x="958506" y="800392"/>
            <a:ext cx="10264697" cy="1212102"/>
          </a:xfrm>
        </p:spPr>
        <p:txBody>
          <a:bodyPr>
            <a:normAutofit/>
          </a:bodyPr>
          <a:lstStyle/>
          <a:p>
            <a:pPr algn="ctr"/>
            <a:r>
              <a:rPr lang="pt-BR" sz="4000" b="1" dirty="0">
                <a:solidFill>
                  <a:srgbClr val="FFFFFF"/>
                </a:solidFill>
              </a:rPr>
              <a:t>Metodologia do Trabalho Científico / </a:t>
            </a:r>
            <a:br>
              <a:rPr lang="pt-BR" sz="4000" b="1" dirty="0">
                <a:solidFill>
                  <a:srgbClr val="FFFFFF"/>
                </a:solidFill>
              </a:rPr>
            </a:br>
            <a:r>
              <a:rPr lang="pt-BR" sz="4000" b="1" dirty="0">
                <a:solidFill>
                  <a:srgbClr val="FFFFFF"/>
                </a:solidFill>
              </a:rPr>
              <a:t>Métodos para a Produção do Conhecimento</a:t>
            </a:r>
          </a:p>
        </p:txBody>
      </p:sp>
      <p:sp>
        <p:nvSpPr>
          <p:cNvPr id="3" name="Espaço Reservado para Conteúdo 2">
            <a:extLst>
              <a:ext uri="{FF2B5EF4-FFF2-40B4-BE49-F238E27FC236}">
                <a16:creationId xmlns:a16="http://schemas.microsoft.com/office/drawing/2014/main" id="{5C0D6511-EC8A-95F7-C79C-09EE5C7D5721}"/>
              </a:ext>
            </a:extLst>
          </p:cNvPr>
          <p:cNvSpPr>
            <a:spLocks noGrp="1"/>
          </p:cNvSpPr>
          <p:nvPr>
            <p:ph idx="1"/>
          </p:nvPr>
        </p:nvSpPr>
        <p:spPr>
          <a:xfrm>
            <a:off x="1367624" y="2490436"/>
            <a:ext cx="9708995" cy="4095559"/>
          </a:xfrm>
        </p:spPr>
        <p:txBody>
          <a:bodyPr anchor="ctr">
            <a:normAutofit lnSpcReduction="10000"/>
          </a:bodyPr>
          <a:lstStyle/>
          <a:p>
            <a:pPr marL="0" indent="0">
              <a:buNone/>
            </a:pPr>
            <a:r>
              <a:rPr lang="pt-BR" sz="2000" b="1" dirty="0"/>
              <a:t>Objetivos de Aprendizagem: </a:t>
            </a:r>
          </a:p>
          <a:p>
            <a:r>
              <a:rPr lang="pt-BR" sz="2000" dirty="0"/>
              <a:t>Identificar os elementos e etapas necessárias para o estudo produtivo, estabelecendo um roteiro de estudo e pesquisa adequado às suas necessidades e objetivos. </a:t>
            </a:r>
          </a:p>
          <a:p>
            <a:r>
              <a:rPr lang="pt-BR" sz="2000" dirty="0"/>
              <a:t>Diferenciar os tipos de leitura e identificar as várias formas de conhecimento necessárias para elaborar diferentes análises. </a:t>
            </a:r>
          </a:p>
          <a:p>
            <a:r>
              <a:rPr lang="pt-BR" sz="2000" dirty="0"/>
              <a:t>Reconhecer as características da ciência e da tecnologia para desenvolver diversas atividades acadêmicas ao longo do curso, diferenciando os tipos de pesquisa. </a:t>
            </a:r>
          </a:p>
          <a:p>
            <a:r>
              <a:rPr lang="pt-BR" sz="2000" dirty="0"/>
              <a:t>Conhecer e utilizar ferramentas de produção em processador de textos. </a:t>
            </a:r>
          </a:p>
          <a:p>
            <a:r>
              <a:rPr lang="pt-BR" sz="2000" dirty="0"/>
              <a:t>Compreender e aplicar o método científico e normas ABNT para pensar e elaborar um projeto de pesquisa e estruturar textos científicos e acadêmicos como resenha, artigo, relatório, pôster científico, monografia, etc., valorizando o trabalho trans, </a:t>
            </a:r>
            <a:r>
              <a:rPr lang="pt-BR" sz="2000" dirty="0" err="1"/>
              <a:t>multi</a:t>
            </a:r>
            <a:r>
              <a:rPr lang="pt-BR" sz="2000" dirty="0"/>
              <a:t> e interdisciplinar, a pesquisa tecnológica, a ética e o respeito aos direitos autorais, evitando o plágio.</a:t>
            </a:r>
          </a:p>
        </p:txBody>
      </p:sp>
    </p:spTree>
    <p:extLst>
      <p:ext uri="{BB962C8B-B14F-4D97-AF65-F5344CB8AC3E}">
        <p14:creationId xmlns:p14="http://schemas.microsoft.com/office/powerpoint/2010/main" val="230945767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DE7FFD28-545C-4C88-A2E7-152FB234C92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191135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4F03BBB4-05F4-3CB8-A26C-C7B7D1E1D88A}"/>
              </a:ext>
            </a:extLst>
          </p:cNvPr>
          <p:cNvSpPr>
            <a:spLocks noGrp="1"/>
          </p:cNvSpPr>
          <p:nvPr>
            <p:ph type="title"/>
          </p:nvPr>
        </p:nvSpPr>
        <p:spPr>
          <a:xfrm>
            <a:off x="838200" y="365125"/>
            <a:ext cx="10515600" cy="1325563"/>
          </a:xfrm>
        </p:spPr>
        <p:txBody>
          <a:bodyPr>
            <a:normAutofit/>
          </a:bodyPr>
          <a:lstStyle/>
          <a:p>
            <a:r>
              <a:rPr lang="pt-BR" sz="4600" b="1" dirty="0">
                <a:solidFill>
                  <a:srgbClr val="FFFFFF"/>
                </a:solidFill>
              </a:rPr>
              <a:t>Ementa:</a:t>
            </a:r>
          </a:p>
        </p:txBody>
      </p:sp>
      <p:sp>
        <p:nvSpPr>
          <p:cNvPr id="3" name="Espaço Reservado para Conteúdo 2">
            <a:extLst>
              <a:ext uri="{FF2B5EF4-FFF2-40B4-BE49-F238E27FC236}">
                <a16:creationId xmlns:a16="http://schemas.microsoft.com/office/drawing/2014/main" id="{0D11AF86-ED8B-42A0-B136-56EF5EDF3990}"/>
              </a:ext>
            </a:extLst>
          </p:cNvPr>
          <p:cNvSpPr>
            <a:spLocks noGrp="1"/>
          </p:cNvSpPr>
          <p:nvPr>
            <p:ph idx="1"/>
          </p:nvPr>
        </p:nvSpPr>
        <p:spPr>
          <a:xfrm>
            <a:off x="838200" y="2438400"/>
            <a:ext cx="10515600" cy="3738562"/>
          </a:xfrm>
        </p:spPr>
        <p:txBody>
          <a:bodyPr>
            <a:normAutofit/>
          </a:bodyPr>
          <a:lstStyle/>
          <a:p>
            <a:pPr algn="just"/>
            <a:r>
              <a:rPr lang="pt-BR" sz="2600" dirty="0"/>
              <a:t>O Papel da ciência e da tecnologia. Tipos de conhecimento. Método e técnica. Planejamento e desenvolvimento da pesquisa: coleta das informações, organização e análise. Trabalhos acadêmicos: tipos, características e composição estrutural. O projeto de pesquisa experimental e não-experimental. Pesquisa científica e tecnológica, pesquisa qualitativa e quantitativa. Pesquisas e pensamentos </a:t>
            </a:r>
            <a:r>
              <a:rPr lang="pt-BR" sz="2600" dirty="0" err="1"/>
              <a:t>inter</a:t>
            </a:r>
            <a:r>
              <a:rPr lang="pt-BR" sz="2600" dirty="0"/>
              <a:t>, </a:t>
            </a:r>
            <a:r>
              <a:rPr lang="pt-BR" sz="2600" dirty="0" err="1"/>
              <a:t>multi</a:t>
            </a:r>
            <a:r>
              <a:rPr lang="pt-BR" sz="2600" dirty="0"/>
              <a:t> e transdisciplinar. Ferramentas de produção em processador de textos. Apresentação gráfica dos diferentes trabalhos. Normas da ABNT, citações e bibliografias. Valores éticos e princípios de direitos autorais. Ferramentas para identificação de plágio.</a:t>
            </a:r>
          </a:p>
        </p:txBody>
      </p:sp>
    </p:spTree>
    <p:extLst>
      <p:ext uri="{BB962C8B-B14F-4D97-AF65-F5344CB8AC3E}">
        <p14:creationId xmlns:p14="http://schemas.microsoft.com/office/powerpoint/2010/main" val="17153470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827B839B-9ADE-406B-8590-F1CAEDED45A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45">
            <a:extLst>
              <a:ext uri="{FF2B5EF4-FFF2-40B4-BE49-F238E27FC236}">
                <a16:creationId xmlns:a16="http://schemas.microsoft.com/office/drawing/2014/main" id="{CFE45BF0-46DB-408C-B5F7-7B11716805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409710" y="1022350"/>
            <a:ext cx="709612" cy="2095501"/>
          </a:xfrm>
          <a:custGeom>
            <a:avLst/>
            <a:gdLst>
              <a:gd name="T0" fmla="*/ 447 w 447"/>
              <a:gd name="T1" fmla="*/ 1363 h 1363"/>
              <a:gd name="T2" fmla="*/ 0 w 447"/>
              <a:gd name="T3" fmla="*/ 987 h 1363"/>
              <a:gd name="T4" fmla="*/ 0 w 447"/>
              <a:gd name="T5" fmla="*/ 0 h 1363"/>
              <a:gd name="T6" fmla="*/ 447 w 447"/>
              <a:gd name="T7" fmla="*/ 376 h 1363"/>
              <a:gd name="T8" fmla="*/ 447 w 447"/>
              <a:gd name="T9" fmla="*/ 1363 h 1363"/>
            </a:gdLst>
            <a:ahLst/>
            <a:cxnLst>
              <a:cxn ang="0">
                <a:pos x="T0" y="T1"/>
              </a:cxn>
              <a:cxn ang="0">
                <a:pos x="T2" y="T3"/>
              </a:cxn>
              <a:cxn ang="0">
                <a:pos x="T4" y="T5"/>
              </a:cxn>
              <a:cxn ang="0">
                <a:pos x="T6" y="T7"/>
              </a:cxn>
              <a:cxn ang="0">
                <a:pos x="T8" y="T9"/>
              </a:cxn>
            </a:cxnLst>
            <a:rect l="0" t="0" r="r" b="b"/>
            <a:pathLst>
              <a:path w="447" h="1363">
                <a:moveTo>
                  <a:pt x="447" y="1363"/>
                </a:moveTo>
                <a:lnTo>
                  <a:pt x="0" y="987"/>
                </a:lnTo>
                <a:lnTo>
                  <a:pt x="0" y="0"/>
                </a:lnTo>
                <a:lnTo>
                  <a:pt x="447" y="376"/>
                </a:lnTo>
                <a:lnTo>
                  <a:pt x="447" y="1363"/>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2" name="Freeform 46">
            <a:extLst>
              <a:ext uri="{FF2B5EF4-FFF2-40B4-BE49-F238E27FC236}">
                <a16:creationId xmlns:a16="http://schemas.microsoft.com/office/drawing/2014/main" id="{2AEBC8F2-97B1-41B4-93F1-2D289E197F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409710" y="837744"/>
            <a:ext cx="403225" cy="1705431"/>
          </a:xfrm>
          <a:custGeom>
            <a:avLst/>
            <a:gdLst>
              <a:gd name="T0" fmla="*/ 254 w 254"/>
              <a:gd name="T1" fmla="*/ 987 h 1109"/>
              <a:gd name="T2" fmla="*/ 0 w 254"/>
              <a:gd name="T3" fmla="*/ 1109 h 1109"/>
              <a:gd name="T4" fmla="*/ 0 w 254"/>
              <a:gd name="T5" fmla="*/ 119 h 1109"/>
              <a:gd name="T6" fmla="*/ 254 w 254"/>
              <a:gd name="T7" fmla="*/ 0 h 1109"/>
              <a:gd name="T8" fmla="*/ 254 w 254"/>
              <a:gd name="T9" fmla="*/ 987 h 1109"/>
            </a:gdLst>
            <a:ahLst/>
            <a:cxnLst>
              <a:cxn ang="0">
                <a:pos x="T0" y="T1"/>
              </a:cxn>
              <a:cxn ang="0">
                <a:pos x="T2" y="T3"/>
              </a:cxn>
              <a:cxn ang="0">
                <a:pos x="T4" y="T5"/>
              </a:cxn>
              <a:cxn ang="0">
                <a:pos x="T6" y="T7"/>
              </a:cxn>
              <a:cxn ang="0">
                <a:pos x="T8" y="T9"/>
              </a:cxn>
            </a:cxnLst>
            <a:rect l="0" t="0" r="r" b="b"/>
            <a:pathLst>
              <a:path w="254" h="1109">
                <a:moveTo>
                  <a:pt x="254" y="987"/>
                </a:moveTo>
                <a:lnTo>
                  <a:pt x="0" y="1109"/>
                </a:lnTo>
                <a:lnTo>
                  <a:pt x="0" y="119"/>
                </a:lnTo>
                <a:lnTo>
                  <a:pt x="254" y="0"/>
                </a:lnTo>
                <a:lnTo>
                  <a:pt x="254" y="987"/>
                </a:lnTo>
                <a:close/>
              </a:path>
            </a:pathLst>
          </a:custGeom>
          <a:solidFill>
            <a:schemeClr val="accent1">
              <a:lumMod val="7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4" name="Freeform 47">
            <a:extLst>
              <a:ext uri="{FF2B5EF4-FFF2-40B4-BE49-F238E27FC236}">
                <a16:creationId xmlns:a16="http://schemas.microsoft.com/office/drawing/2014/main" id="{472E3A19-F5D5-48FC-BB9C-48C2F68F598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644660" y="640894"/>
            <a:ext cx="168275" cy="1713195"/>
          </a:xfrm>
          <a:custGeom>
            <a:avLst/>
            <a:gdLst>
              <a:gd name="T0" fmla="*/ 106 w 106"/>
              <a:gd name="T1" fmla="*/ 1114 h 1114"/>
              <a:gd name="T2" fmla="*/ 0 w 106"/>
              <a:gd name="T3" fmla="*/ 1005 h 1114"/>
              <a:gd name="T4" fmla="*/ 0 w 106"/>
              <a:gd name="T5" fmla="*/ 0 h 1114"/>
              <a:gd name="T6" fmla="*/ 106 w 106"/>
              <a:gd name="T7" fmla="*/ 110 h 1114"/>
              <a:gd name="T8" fmla="*/ 106 w 106"/>
              <a:gd name="T9" fmla="*/ 1114 h 1114"/>
            </a:gdLst>
            <a:ahLst/>
            <a:cxnLst>
              <a:cxn ang="0">
                <a:pos x="T0" y="T1"/>
              </a:cxn>
              <a:cxn ang="0">
                <a:pos x="T2" y="T3"/>
              </a:cxn>
              <a:cxn ang="0">
                <a:pos x="T4" y="T5"/>
              </a:cxn>
              <a:cxn ang="0">
                <a:pos x="T6" y="T7"/>
              </a:cxn>
              <a:cxn ang="0">
                <a:pos x="T8" y="T9"/>
              </a:cxn>
            </a:cxnLst>
            <a:rect l="0" t="0" r="r" b="b"/>
            <a:pathLst>
              <a:path w="106" h="1114">
                <a:moveTo>
                  <a:pt x="106" y="1114"/>
                </a:moveTo>
                <a:lnTo>
                  <a:pt x="0" y="1005"/>
                </a:lnTo>
                <a:lnTo>
                  <a:pt x="0" y="0"/>
                </a:lnTo>
                <a:lnTo>
                  <a:pt x="106" y="110"/>
                </a:lnTo>
                <a:lnTo>
                  <a:pt x="106" y="1114"/>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6" name="Freeform 44">
            <a:extLst>
              <a:ext uri="{FF2B5EF4-FFF2-40B4-BE49-F238E27FC236}">
                <a16:creationId xmlns:a16="http://schemas.microsoft.com/office/drawing/2014/main" id="{7A62E32F-BB65-43A8-8EB5-92346890E5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1223203" y="635716"/>
            <a:ext cx="328612" cy="1742360"/>
          </a:xfrm>
          <a:custGeom>
            <a:avLst/>
            <a:gdLst>
              <a:gd name="T0" fmla="*/ 207 w 207"/>
              <a:gd name="T1" fmla="*/ 987 h 1114"/>
              <a:gd name="T2" fmla="*/ 0 w 207"/>
              <a:gd name="T3" fmla="*/ 1114 h 1114"/>
              <a:gd name="T4" fmla="*/ 0 w 207"/>
              <a:gd name="T5" fmla="*/ 127 h 1114"/>
              <a:gd name="T6" fmla="*/ 207 w 207"/>
              <a:gd name="T7" fmla="*/ 0 h 1114"/>
              <a:gd name="T8" fmla="*/ 207 w 207"/>
              <a:gd name="T9" fmla="*/ 987 h 1114"/>
            </a:gdLst>
            <a:ahLst/>
            <a:cxnLst>
              <a:cxn ang="0">
                <a:pos x="T0" y="T1"/>
              </a:cxn>
              <a:cxn ang="0">
                <a:pos x="T2" y="T3"/>
              </a:cxn>
              <a:cxn ang="0">
                <a:pos x="T4" y="T5"/>
              </a:cxn>
              <a:cxn ang="0">
                <a:pos x="T6" y="T7"/>
              </a:cxn>
              <a:cxn ang="0">
                <a:pos x="T8" y="T9"/>
              </a:cxn>
            </a:cxnLst>
            <a:rect l="0" t="0" r="r" b="b"/>
            <a:pathLst>
              <a:path w="207" h="1114">
                <a:moveTo>
                  <a:pt x="207" y="987"/>
                </a:moveTo>
                <a:lnTo>
                  <a:pt x="0" y="1114"/>
                </a:lnTo>
                <a:lnTo>
                  <a:pt x="0" y="127"/>
                </a:lnTo>
                <a:lnTo>
                  <a:pt x="207" y="0"/>
                </a:lnTo>
                <a:lnTo>
                  <a:pt x="207" y="987"/>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8" name="Rectangle 17">
            <a:extLst>
              <a:ext uri="{FF2B5EF4-FFF2-40B4-BE49-F238E27FC236}">
                <a16:creationId xmlns:a16="http://schemas.microsoft.com/office/drawing/2014/main" id="{14E91B64-9FCC-451E-AFB4-A827D63293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644055" y="635715"/>
            <a:ext cx="10907863" cy="1541457"/>
          </a:xfrm>
          <a:prstGeom prst="rect">
            <a:avLst/>
          </a:prstGeom>
          <a:solidFill>
            <a:schemeClr val="accent1"/>
          </a:solidFill>
          <a:ln>
            <a:noFill/>
          </a:ln>
        </p:spPr>
        <p:txBody>
          <a:bodyPr vert="horz" wrap="square" lIns="91440" tIns="45720" rIns="91440" bIns="45720" numCol="1" anchor="t" anchorCtr="0" compatLnSpc="1">
            <a:prstTxWarp prst="textNoShape">
              <a:avLst/>
            </a:prstTxWarp>
          </a:bodyPr>
          <a:lstStyle/>
          <a:p>
            <a:endParaRPr lang="en-US"/>
          </a:p>
        </p:txBody>
      </p:sp>
      <p:sp>
        <p:nvSpPr>
          <p:cNvPr id="2" name="Título 1">
            <a:extLst>
              <a:ext uri="{FF2B5EF4-FFF2-40B4-BE49-F238E27FC236}">
                <a16:creationId xmlns:a16="http://schemas.microsoft.com/office/drawing/2014/main" id="{E6306A88-6B44-E5BB-9AE2-5EDEBFEC4AD2}"/>
              </a:ext>
            </a:extLst>
          </p:cNvPr>
          <p:cNvSpPr>
            <a:spLocks noGrp="1"/>
          </p:cNvSpPr>
          <p:nvPr>
            <p:ph type="title"/>
          </p:nvPr>
        </p:nvSpPr>
        <p:spPr>
          <a:xfrm>
            <a:off x="958506" y="800392"/>
            <a:ext cx="10264697" cy="1212102"/>
          </a:xfrm>
        </p:spPr>
        <p:txBody>
          <a:bodyPr>
            <a:normAutofit/>
          </a:bodyPr>
          <a:lstStyle/>
          <a:p>
            <a:r>
              <a:rPr lang="pt-BR" sz="4000" b="1" dirty="0">
                <a:solidFill>
                  <a:srgbClr val="FFFFFF"/>
                </a:solidFill>
              </a:rPr>
              <a:t>PLANO DE AULA</a:t>
            </a:r>
          </a:p>
        </p:txBody>
      </p:sp>
      <p:sp>
        <p:nvSpPr>
          <p:cNvPr id="3" name="Espaço Reservado para Conteúdo 2">
            <a:extLst>
              <a:ext uri="{FF2B5EF4-FFF2-40B4-BE49-F238E27FC236}">
                <a16:creationId xmlns:a16="http://schemas.microsoft.com/office/drawing/2014/main" id="{561AF302-7709-84C1-2098-F05A5945B78C}"/>
              </a:ext>
            </a:extLst>
          </p:cNvPr>
          <p:cNvSpPr>
            <a:spLocks noGrp="1"/>
          </p:cNvSpPr>
          <p:nvPr>
            <p:ph idx="1"/>
          </p:nvPr>
        </p:nvSpPr>
        <p:spPr>
          <a:xfrm>
            <a:off x="1367624" y="2164080"/>
            <a:ext cx="9708995" cy="4365969"/>
          </a:xfrm>
        </p:spPr>
        <p:txBody>
          <a:bodyPr anchor="ctr">
            <a:noAutofit/>
          </a:bodyPr>
          <a:lstStyle/>
          <a:p>
            <a:pPr marL="0" indent="0" algn="just">
              <a:lnSpc>
                <a:spcPct val="107000"/>
              </a:lnSpc>
              <a:spcAft>
                <a:spcPts val="800"/>
              </a:spcAft>
              <a:buNone/>
            </a:pPr>
            <a:r>
              <a:rPr lang="pt-BR" sz="2000" b="1" kern="1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AULA 1 – APRESENTAÇÃO DA DISCIPLINA: </a:t>
            </a:r>
            <a:r>
              <a:rPr lang="pt-BR" sz="2000" kern="100" dirty="0">
                <a:effectLst/>
                <a:latin typeface="Calibri" panose="020F0502020204030204" pitchFamily="34" charset="0"/>
                <a:ea typeface="Calibri" panose="020F0502020204030204" pitchFamily="34" charset="0"/>
                <a:cs typeface="Times New Roman" panose="02020603050405020304" pitchFamily="18" charset="0"/>
              </a:rPr>
              <a:t>PLANO DE ENSINO, CRITÉRIOS DE AVALIAÇÃO E COMPOSIÇÃO DE NOTAS, METODOLOGIAS DE ENSINO E BIBLIOGRAFIAS.</a:t>
            </a:r>
          </a:p>
          <a:p>
            <a:pPr marL="0" indent="0" algn="just">
              <a:lnSpc>
                <a:spcPct val="107000"/>
              </a:lnSpc>
              <a:spcAft>
                <a:spcPts val="800"/>
              </a:spcAft>
              <a:buNone/>
            </a:pPr>
            <a:r>
              <a:rPr lang="pt-BR" sz="2000" kern="100" dirty="0">
                <a:effectLst/>
                <a:latin typeface="Calibri" panose="020F0502020204030204" pitchFamily="34" charset="0"/>
                <a:ea typeface="Calibri" panose="020F0502020204030204" pitchFamily="34" charset="0"/>
                <a:cs typeface="Times New Roman" panose="02020603050405020304" pitchFamily="18" charset="0"/>
              </a:rPr>
              <a:t>DEFINIÇÃO DE METODOLOGIA CIENTÍFICA E SUA APLICAÇÃO NA VIDA ACADÊMICA.</a:t>
            </a:r>
          </a:p>
          <a:p>
            <a:pPr marL="0" indent="0" algn="just">
              <a:lnSpc>
                <a:spcPct val="107000"/>
              </a:lnSpc>
              <a:spcAft>
                <a:spcPts val="800"/>
              </a:spcAft>
              <a:buNone/>
            </a:pPr>
            <a:r>
              <a:rPr lang="pt-BR" sz="2000" b="1" kern="1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AULA 2 - CONHECIMENTO CIENTÍFICO</a:t>
            </a:r>
          </a:p>
          <a:p>
            <a:pPr marL="0" indent="0" algn="just">
              <a:lnSpc>
                <a:spcPct val="107000"/>
              </a:lnSpc>
              <a:spcAft>
                <a:spcPts val="800"/>
              </a:spcAft>
              <a:buNone/>
            </a:pPr>
            <a:r>
              <a:rPr lang="pt-BR" sz="2000" kern="100" dirty="0">
                <a:effectLst/>
                <a:latin typeface="Calibri" panose="020F0502020204030204" pitchFamily="34" charset="0"/>
                <a:ea typeface="Calibri" panose="020F0502020204030204" pitchFamily="34" charset="0"/>
                <a:cs typeface="Times New Roman" panose="02020603050405020304" pitchFamily="18" charset="0"/>
              </a:rPr>
              <a:t>Origem do pensamento científico, Natureza do conhecimento, Conhecimento científico e outros tipos de conhecimento, Correlação entre conhecimento popular e conhecimento científico, Características do conhecimento popular e científico e Tipos de conhecimento: popular, filosófico, religioso e científico</a:t>
            </a:r>
          </a:p>
        </p:txBody>
      </p:sp>
    </p:spTree>
    <p:extLst>
      <p:ext uri="{BB962C8B-B14F-4D97-AF65-F5344CB8AC3E}">
        <p14:creationId xmlns:p14="http://schemas.microsoft.com/office/powerpoint/2010/main" val="192443054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827B839B-9ADE-406B-8590-F1CAEDED45A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45">
            <a:extLst>
              <a:ext uri="{FF2B5EF4-FFF2-40B4-BE49-F238E27FC236}">
                <a16:creationId xmlns:a16="http://schemas.microsoft.com/office/drawing/2014/main" id="{CFE45BF0-46DB-408C-B5F7-7B11716805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409710" y="1022350"/>
            <a:ext cx="709612" cy="2095501"/>
          </a:xfrm>
          <a:custGeom>
            <a:avLst/>
            <a:gdLst>
              <a:gd name="T0" fmla="*/ 447 w 447"/>
              <a:gd name="T1" fmla="*/ 1363 h 1363"/>
              <a:gd name="T2" fmla="*/ 0 w 447"/>
              <a:gd name="T3" fmla="*/ 987 h 1363"/>
              <a:gd name="T4" fmla="*/ 0 w 447"/>
              <a:gd name="T5" fmla="*/ 0 h 1363"/>
              <a:gd name="T6" fmla="*/ 447 w 447"/>
              <a:gd name="T7" fmla="*/ 376 h 1363"/>
              <a:gd name="T8" fmla="*/ 447 w 447"/>
              <a:gd name="T9" fmla="*/ 1363 h 1363"/>
            </a:gdLst>
            <a:ahLst/>
            <a:cxnLst>
              <a:cxn ang="0">
                <a:pos x="T0" y="T1"/>
              </a:cxn>
              <a:cxn ang="0">
                <a:pos x="T2" y="T3"/>
              </a:cxn>
              <a:cxn ang="0">
                <a:pos x="T4" y="T5"/>
              </a:cxn>
              <a:cxn ang="0">
                <a:pos x="T6" y="T7"/>
              </a:cxn>
              <a:cxn ang="0">
                <a:pos x="T8" y="T9"/>
              </a:cxn>
            </a:cxnLst>
            <a:rect l="0" t="0" r="r" b="b"/>
            <a:pathLst>
              <a:path w="447" h="1363">
                <a:moveTo>
                  <a:pt x="447" y="1363"/>
                </a:moveTo>
                <a:lnTo>
                  <a:pt x="0" y="987"/>
                </a:lnTo>
                <a:lnTo>
                  <a:pt x="0" y="0"/>
                </a:lnTo>
                <a:lnTo>
                  <a:pt x="447" y="376"/>
                </a:lnTo>
                <a:lnTo>
                  <a:pt x="447" y="1363"/>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2" name="Freeform 46">
            <a:extLst>
              <a:ext uri="{FF2B5EF4-FFF2-40B4-BE49-F238E27FC236}">
                <a16:creationId xmlns:a16="http://schemas.microsoft.com/office/drawing/2014/main" id="{2AEBC8F2-97B1-41B4-93F1-2D289E197F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409710" y="837744"/>
            <a:ext cx="403225" cy="1705431"/>
          </a:xfrm>
          <a:custGeom>
            <a:avLst/>
            <a:gdLst>
              <a:gd name="T0" fmla="*/ 254 w 254"/>
              <a:gd name="T1" fmla="*/ 987 h 1109"/>
              <a:gd name="T2" fmla="*/ 0 w 254"/>
              <a:gd name="T3" fmla="*/ 1109 h 1109"/>
              <a:gd name="T4" fmla="*/ 0 w 254"/>
              <a:gd name="T5" fmla="*/ 119 h 1109"/>
              <a:gd name="T6" fmla="*/ 254 w 254"/>
              <a:gd name="T7" fmla="*/ 0 h 1109"/>
              <a:gd name="T8" fmla="*/ 254 w 254"/>
              <a:gd name="T9" fmla="*/ 987 h 1109"/>
            </a:gdLst>
            <a:ahLst/>
            <a:cxnLst>
              <a:cxn ang="0">
                <a:pos x="T0" y="T1"/>
              </a:cxn>
              <a:cxn ang="0">
                <a:pos x="T2" y="T3"/>
              </a:cxn>
              <a:cxn ang="0">
                <a:pos x="T4" y="T5"/>
              </a:cxn>
              <a:cxn ang="0">
                <a:pos x="T6" y="T7"/>
              </a:cxn>
              <a:cxn ang="0">
                <a:pos x="T8" y="T9"/>
              </a:cxn>
            </a:cxnLst>
            <a:rect l="0" t="0" r="r" b="b"/>
            <a:pathLst>
              <a:path w="254" h="1109">
                <a:moveTo>
                  <a:pt x="254" y="987"/>
                </a:moveTo>
                <a:lnTo>
                  <a:pt x="0" y="1109"/>
                </a:lnTo>
                <a:lnTo>
                  <a:pt x="0" y="119"/>
                </a:lnTo>
                <a:lnTo>
                  <a:pt x="254" y="0"/>
                </a:lnTo>
                <a:lnTo>
                  <a:pt x="254" y="987"/>
                </a:lnTo>
                <a:close/>
              </a:path>
            </a:pathLst>
          </a:custGeom>
          <a:solidFill>
            <a:schemeClr val="accent1">
              <a:lumMod val="7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4" name="Freeform 47">
            <a:extLst>
              <a:ext uri="{FF2B5EF4-FFF2-40B4-BE49-F238E27FC236}">
                <a16:creationId xmlns:a16="http://schemas.microsoft.com/office/drawing/2014/main" id="{472E3A19-F5D5-48FC-BB9C-48C2F68F598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644660" y="640894"/>
            <a:ext cx="168275" cy="1713195"/>
          </a:xfrm>
          <a:custGeom>
            <a:avLst/>
            <a:gdLst>
              <a:gd name="T0" fmla="*/ 106 w 106"/>
              <a:gd name="T1" fmla="*/ 1114 h 1114"/>
              <a:gd name="T2" fmla="*/ 0 w 106"/>
              <a:gd name="T3" fmla="*/ 1005 h 1114"/>
              <a:gd name="T4" fmla="*/ 0 w 106"/>
              <a:gd name="T5" fmla="*/ 0 h 1114"/>
              <a:gd name="T6" fmla="*/ 106 w 106"/>
              <a:gd name="T7" fmla="*/ 110 h 1114"/>
              <a:gd name="T8" fmla="*/ 106 w 106"/>
              <a:gd name="T9" fmla="*/ 1114 h 1114"/>
            </a:gdLst>
            <a:ahLst/>
            <a:cxnLst>
              <a:cxn ang="0">
                <a:pos x="T0" y="T1"/>
              </a:cxn>
              <a:cxn ang="0">
                <a:pos x="T2" y="T3"/>
              </a:cxn>
              <a:cxn ang="0">
                <a:pos x="T4" y="T5"/>
              </a:cxn>
              <a:cxn ang="0">
                <a:pos x="T6" y="T7"/>
              </a:cxn>
              <a:cxn ang="0">
                <a:pos x="T8" y="T9"/>
              </a:cxn>
            </a:cxnLst>
            <a:rect l="0" t="0" r="r" b="b"/>
            <a:pathLst>
              <a:path w="106" h="1114">
                <a:moveTo>
                  <a:pt x="106" y="1114"/>
                </a:moveTo>
                <a:lnTo>
                  <a:pt x="0" y="1005"/>
                </a:lnTo>
                <a:lnTo>
                  <a:pt x="0" y="0"/>
                </a:lnTo>
                <a:lnTo>
                  <a:pt x="106" y="110"/>
                </a:lnTo>
                <a:lnTo>
                  <a:pt x="106" y="1114"/>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6" name="Freeform 44">
            <a:extLst>
              <a:ext uri="{FF2B5EF4-FFF2-40B4-BE49-F238E27FC236}">
                <a16:creationId xmlns:a16="http://schemas.microsoft.com/office/drawing/2014/main" id="{7A62E32F-BB65-43A8-8EB5-92346890E5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1223203" y="635716"/>
            <a:ext cx="328612" cy="1742360"/>
          </a:xfrm>
          <a:custGeom>
            <a:avLst/>
            <a:gdLst>
              <a:gd name="T0" fmla="*/ 207 w 207"/>
              <a:gd name="T1" fmla="*/ 987 h 1114"/>
              <a:gd name="T2" fmla="*/ 0 w 207"/>
              <a:gd name="T3" fmla="*/ 1114 h 1114"/>
              <a:gd name="T4" fmla="*/ 0 w 207"/>
              <a:gd name="T5" fmla="*/ 127 h 1114"/>
              <a:gd name="T6" fmla="*/ 207 w 207"/>
              <a:gd name="T7" fmla="*/ 0 h 1114"/>
              <a:gd name="T8" fmla="*/ 207 w 207"/>
              <a:gd name="T9" fmla="*/ 987 h 1114"/>
            </a:gdLst>
            <a:ahLst/>
            <a:cxnLst>
              <a:cxn ang="0">
                <a:pos x="T0" y="T1"/>
              </a:cxn>
              <a:cxn ang="0">
                <a:pos x="T2" y="T3"/>
              </a:cxn>
              <a:cxn ang="0">
                <a:pos x="T4" y="T5"/>
              </a:cxn>
              <a:cxn ang="0">
                <a:pos x="T6" y="T7"/>
              </a:cxn>
              <a:cxn ang="0">
                <a:pos x="T8" y="T9"/>
              </a:cxn>
            </a:cxnLst>
            <a:rect l="0" t="0" r="r" b="b"/>
            <a:pathLst>
              <a:path w="207" h="1114">
                <a:moveTo>
                  <a:pt x="207" y="987"/>
                </a:moveTo>
                <a:lnTo>
                  <a:pt x="0" y="1114"/>
                </a:lnTo>
                <a:lnTo>
                  <a:pt x="0" y="127"/>
                </a:lnTo>
                <a:lnTo>
                  <a:pt x="207" y="0"/>
                </a:lnTo>
                <a:lnTo>
                  <a:pt x="207" y="987"/>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8" name="Rectangle 17">
            <a:extLst>
              <a:ext uri="{FF2B5EF4-FFF2-40B4-BE49-F238E27FC236}">
                <a16:creationId xmlns:a16="http://schemas.microsoft.com/office/drawing/2014/main" id="{14E91B64-9FCC-451E-AFB4-A827D63293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644055" y="635715"/>
            <a:ext cx="10907863" cy="1541457"/>
          </a:xfrm>
          <a:prstGeom prst="rect">
            <a:avLst/>
          </a:prstGeom>
          <a:solidFill>
            <a:schemeClr val="accent1"/>
          </a:solidFill>
          <a:ln>
            <a:noFill/>
          </a:ln>
        </p:spPr>
        <p:txBody>
          <a:bodyPr vert="horz" wrap="square" lIns="91440" tIns="45720" rIns="91440" bIns="45720" numCol="1" anchor="t" anchorCtr="0" compatLnSpc="1">
            <a:prstTxWarp prst="textNoShape">
              <a:avLst/>
            </a:prstTxWarp>
          </a:bodyPr>
          <a:lstStyle/>
          <a:p>
            <a:endParaRPr lang="en-US"/>
          </a:p>
        </p:txBody>
      </p:sp>
      <p:sp>
        <p:nvSpPr>
          <p:cNvPr id="2" name="Título 1">
            <a:extLst>
              <a:ext uri="{FF2B5EF4-FFF2-40B4-BE49-F238E27FC236}">
                <a16:creationId xmlns:a16="http://schemas.microsoft.com/office/drawing/2014/main" id="{E6306A88-6B44-E5BB-9AE2-5EDEBFEC4AD2}"/>
              </a:ext>
            </a:extLst>
          </p:cNvPr>
          <p:cNvSpPr>
            <a:spLocks noGrp="1"/>
          </p:cNvSpPr>
          <p:nvPr>
            <p:ph type="title"/>
          </p:nvPr>
        </p:nvSpPr>
        <p:spPr>
          <a:xfrm>
            <a:off x="958506" y="800392"/>
            <a:ext cx="10264697" cy="1212102"/>
          </a:xfrm>
        </p:spPr>
        <p:txBody>
          <a:bodyPr>
            <a:normAutofit/>
          </a:bodyPr>
          <a:lstStyle/>
          <a:p>
            <a:r>
              <a:rPr lang="pt-BR" sz="4000" b="1" dirty="0">
                <a:solidFill>
                  <a:srgbClr val="FFFFFF"/>
                </a:solidFill>
              </a:rPr>
              <a:t>PLANO DE AULA</a:t>
            </a:r>
          </a:p>
        </p:txBody>
      </p:sp>
      <p:sp>
        <p:nvSpPr>
          <p:cNvPr id="3" name="Espaço Reservado para Conteúdo 2">
            <a:extLst>
              <a:ext uri="{FF2B5EF4-FFF2-40B4-BE49-F238E27FC236}">
                <a16:creationId xmlns:a16="http://schemas.microsoft.com/office/drawing/2014/main" id="{561AF302-7709-84C1-2098-F05A5945B78C}"/>
              </a:ext>
            </a:extLst>
          </p:cNvPr>
          <p:cNvSpPr>
            <a:spLocks noGrp="1"/>
          </p:cNvSpPr>
          <p:nvPr>
            <p:ph idx="1"/>
          </p:nvPr>
        </p:nvSpPr>
        <p:spPr>
          <a:xfrm>
            <a:off x="1367624" y="2164080"/>
            <a:ext cx="9708995" cy="4365969"/>
          </a:xfrm>
        </p:spPr>
        <p:txBody>
          <a:bodyPr anchor="ctr">
            <a:noAutofit/>
          </a:bodyPr>
          <a:lstStyle/>
          <a:p>
            <a:pPr marL="0" indent="0" algn="just">
              <a:lnSpc>
                <a:spcPct val="107000"/>
              </a:lnSpc>
              <a:spcAft>
                <a:spcPts val="800"/>
              </a:spcAft>
              <a:buNone/>
            </a:pPr>
            <a:r>
              <a:rPr lang="pt-BR" sz="2000" b="1" kern="1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AULA 3 – CIÊNCIA  </a:t>
            </a:r>
          </a:p>
          <a:p>
            <a:pPr marL="0" indent="0" algn="just">
              <a:lnSpc>
                <a:spcPct val="107000"/>
              </a:lnSpc>
              <a:spcAft>
                <a:spcPts val="800"/>
              </a:spcAft>
              <a:buNone/>
            </a:pPr>
            <a:r>
              <a:rPr lang="pt-BR" sz="2000" kern="100" dirty="0">
                <a:effectLst/>
                <a:latin typeface="Calibri" panose="020F0502020204030204" pitchFamily="34" charset="0"/>
                <a:ea typeface="Calibri" panose="020F0502020204030204" pitchFamily="34" charset="0"/>
                <a:cs typeface="Times New Roman" panose="02020603050405020304" pitchFamily="18" charset="0"/>
              </a:rPr>
              <a:t>Conceito de ciência, Classificação e divisão da ciência, Papel da ciência e da tecnologia e Método e Técnica</a:t>
            </a:r>
          </a:p>
          <a:p>
            <a:pPr marL="0" indent="0" algn="just">
              <a:lnSpc>
                <a:spcPct val="107000"/>
              </a:lnSpc>
              <a:spcAft>
                <a:spcPts val="800"/>
              </a:spcAft>
              <a:buNone/>
            </a:pPr>
            <a:r>
              <a:rPr lang="pt-BR" sz="2000" b="1" kern="1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AULA 4 - MÉTODOS CIENTÍFICOS</a:t>
            </a:r>
          </a:p>
          <a:p>
            <a:pPr marL="0" indent="0" algn="just">
              <a:lnSpc>
                <a:spcPct val="107000"/>
              </a:lnSpc>
              <a:spcAft>
                <a:spcPts val="800"/>
              </a:spcAft>
              <a:buNone/>
            </a:pPr>
            <a:r>
              <a:rPr lang="pt-BR" sz="2000" kern="100" dirty="0">
                <a:effectLst/>
                <a:latin typeface="Calibri" panose="020F0502020204030204" pitchFamily="34" charset="0"/>
                <a:ea typeface="Calibri" panose="020F0502020204030204" pitchFamily="34" charset="0"/>
                <a:cs typeface="Times New Roman" panose="02020603050405020304" pitchFamily="18" charset="0"/>
              </a:rPr>
              <a:t>Conceito de método, Desenvolvimento histórico do método, Método indutivo: Caracterização, Leis, regras e fases do método indutivo e Formas de indução, Método dedutivo: Argumentos dedutivos e indutivos e Argumentos condicionais e Método hipotético-dedutivo: Etapas do método hipotético-dedutivo segundo Popper, Problema, Conjecturas, Tentativas de falseamento e o método hipotético-dedutivo segundo Bunge</a:t>
            </a:r>
          </a:p>
          <a:p>
            <a:pPr marL="0" indent="0">
              <a:lnSpc>
                <a:spcPct val="107000"/>
              </a:lnSpc>
              <a:spcAft>
                <a:spcPts val="800"/>
              </a:spcAft>
              <a:buNone/>
            </a:pPr>
            <a:endParaRPr lang="pt-BR" sz="20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422013653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827B839B-9ADE-406B-8590-F1CAEDED45A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45">
            <a:extLst>
              <a:ext uri="{FF2B5EF4-FFF2-40B4-BE49-F238E27FC236}">
                <a16:creationId xmlns:a16="http://schemas.microsoft.com/office/drawing/2014/main" id="{CFE45BF0-46DB-408C-B5F7-7B11716805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409710" y="1022350"/>
            <a:ext cx="709612" cy="2095501"/>
          </a:xfrm>
          <a:custGeom>
            <a:avLst/>
            <a:gdLst>
              <a:gd name="T0" fmla="*/ 447 w 447"/>
              <a:gd name="T1" fmla="*/ 1363 h 1363"/>
              <a:gd name="T2" fmla="*/ 0 w 447"/>
              <a:gd name="T3" fmla="*/ 987 h 1363"/>
              <a:gd name="T4" fmla="*/ 0 w 447"/>
              <a:gd name="T5" fmla="*/ 0 h 1363"/>
              <a:gd name="T6" fmla="*/ 447 w 447"/>
              <a:gd name="T7" fmla="*/ 376 h 1363"/>
              <a:gd name="T8" fmla="*/ 447 w 447"/>
              <a:gd name="T9" fmla="*/ 1363 h 1363"/>
            </a:gdLst>
            <a:ahLst/>
            <a:cxnLst>
              <a:cxn ang="0">
                <a:pos x="T0" y="T1"/>
              </a:cxn>
              <a:cxn ang="0">
                <a:pos x="T2" y="T3"/>
              </a:cxn>
              <a:cxn ang="0">
                <a:pos x="T4" y="T5"/>
              </a:cxn>
              <a:cxn ang="0">
                <a:pos x="T6" y="T7"/>
              </a:cxn>
              <a:cxn ang="0">
                <a:pos x="T8" y="T9"/>
              </a:cxn>
            </a:cxnLst>
            <a:rect l="0" t="0" r="r" b="b"/>
            <a:pathLst>
              <a:path w="447" h="1363">
                <a:moveTo>
                  <a:pt x="447" y="1363"/>
                </a:moveTo>
                <a:lnTo>
                  <a:pt x="0" y="987"/>
                </a:lnTo>
                <a:lnTo>
                  <a:pt x="0" y="0"/>
                </a:lnTo>
                <a:lnTo>
                  <a:pt x="447" y="376"/>
                </a:lnTo>
                <a:lnTo>
                  <a:pt x="447" y="1363"/>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2" name="Freeform 46">
            <a:extLst>
              <a:ext uri="{FF2B5EF4-FFF2-40B4-BE49-F238E27FC236}">
                <a16:creationId xmlns:a16="http://schemas.microsoft.com/office/drawing/2014/main" id="{2AEBC8F2-97B1-41B4-93F1-2D289E197F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409710" y="837744"/>
            <a:ext cx="403225" cy="1705431"/>
          </a:xfrm>
          <a:custGeom>
            <a:avLst/>
            <a:gdLst>
              <a:gd name="T0" fmla="*/ 254 w 254"/>
              <a:gd name="T1" fmla="*/ 987 h 1109"/>
              <a:gd name="T2" fmla="*/ 0 w 254"/>
              <a:gd name="T3" fmla="*/ 1109 h 1109"/>
              <a:gd name="T4" fmla="*/ 0 w 254"/>
              <a:gd name="T5" fmla="*/ 119 h 1109"/>
              <a:gd name="T6" fmla="*/ 254 w 254"/>
              <a:gd name="T7" fmla="*/ 0 h 1109"/>
              <a:gd name="T8" fmla="*/ 254 w 254"/>
              <a:gd name="T9" fmla="*/ 987 h 1109"/>
            </a:gdLst>
            <a:ahLst/>
            <a:cxnLst>
              <a:cxn ang="0">
                <a:pos x="T0" y="T1"/>
              </a:cxn>
              <a:cxn ang="0">
                <a:pos x="T2" y="T3"/>
              </a:cxn>
              <a:cxn ang="0">
                <a:pos x="T4" y="T5"/>
              </a:cxn>
              <a:cxn ang="0">
                <a:pos x="T6" y="T7"/>
              </a:cxn>
              <a:cxn ang="0">
                <a:pos x="T8" y="T9"/>
              </a:cxn>
            </a:cxnLst>
            <a:rect l="0" t="0" r="r" b="b"/>
            <a:pathLst>
              <a:path w="254" h="1109">
                <a:moveTo>
                  <a:pt x="254" y="987"/>
                </a:moveTo>
                <a:lnTo>
                  <a:pt x="0" y="1109"/>
                </a:lnTo>
                <a:lnTo>
                  <a:pt x="0" y="119"/>
                </a:lnTo>
                <a:lnTo>
                  <a:pt x="254" y="0"/>
                </a:lnTo>
                <a:lnTo>
                  <a:pt x="254" y="987"/>
                </a:lnTo>
                <a:close/>
              </a:path>
            </a:pathLst>
          </a:custGeom>
          <a:solidFill>
            <a:schemeClr val="accent1">
              <a:lumMod val="7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4" name="Freeform 47">
            <a:extLst>
              <a:ext uri="{FF2B5EF4-FFF2-40B4-BE49-F238E27FC236}">
                <a16:creationId xmlns:a16="http://schemas.microsoft.com/office/drawing/2014/main" id="{472E3A19-F5D5-48FC-BB9C-48C2F68F598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644660" y="640894"/>
            <a:ext cx="168275" cy="1713195"/>
          </a:xfrm>
          <a:custGeom>
            <a:avLst/>
            <a:gdLst>
              <a:gd name="T0" fmla="*/ 106 w 106"/>
              <a:gd name="T1" fmla="*/ 1114 h 1114"/>
              <a:gd name="T2" fmla="*/ 0 w 106"/>
              <a:gd name="T3" fmla="*/ 1005 h 1114"/>
              <a:gd name="T4" fmla="*/ 0 w 106"/>
              <a:gd name="T5" fmla="*/ 0 h 1114"/>
              <a:gd name="T6" fmla="*/ 106 w 106"/>
              <a:gd name="T7" fmla="*/ 110 h 1114"/>
              <a:gd name="T8" fmla="*/ 106 w 106"/>
              <a:gd name="T9" fmla="*/ 1114 h 1114"/>
            </a:gdLst>
            <a:ahLst/>
            <a:cxnLst>
              <a:cxn ang="0">
                <a:pos x="T0" y="T1"/>
              </a:cxn>
              <a:cxn ang="0">
                <a:pos x="T2" y="T3"/>
              </a:cxn>
              <a:cxn ang="0">
                <a:pos x="T4" y="T5"/>
              </a:cxn>
              <a:cxn ang="0">
                <a:pos x="T6" y="T7"/>
              </a:cxn>
              <a:cxn ang="0">
                <a:pos x="T8" y="T9"/>
              </a:cxn>
            </a:cxnLst>
            <a:rect l="0" t="0" r="r" b="b"/>
            <a:pathLst>
              <a:path w="106" h="1114">
                <a:moveTo>
                  <a:pt x="106" y="1114"/>
                </a:moveTo>
                <a:lnTo>
                  <a:pt x="0" y="1005"/>
                </a:lnTo>
                <a:lnTo>
                  <a:pt x="0" y="0"/>
                </a:lnTo>
                <a:lnTo>
                  <a:pt x="106" y="110"/>
                </a:lnTo>
                <a:lnTo>
                  <a:pt x="106" y="1114"/>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6" name="Freeform 44">
            <a:extLst>
              <a:ext uri="{FF2B5EF4-FFF2-40B4-BE49-F238E27FC236}">
                <a16:creationId xmlns:a16="http://schemas.microsoft.com/office/drawing/2014/main" id="{7A62E32F-BB65-43A8-8EB5-92346890E5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1223203" y="635716"/>
            <a:ext cx="328612" cy="1742360"/>
          </a:xfrm>
          <a:custGeom>
            <a:avLst/>
            <a:gdLst>
              <a:gd name="T0" fmla="*/ 207 w 207"/>
              <a:gd name="T1" fmla="*/ 987 h 1114"/>
              <a:gd name="T2" fmla="*/ 0 w 207"/>
              <a:gd name="T3" fmla="*/ 1114 h 1114"/>
              <a:gd name="T4" fmla="*/ 0 w 207"/>
              <a:gd name="T5" fmla="*/ 127 h 1114"/>
              <a:gd name="T6" fmla="*/ 207 w 207"/>
              <a:gd name="T7" fmla="*/ 0 h 1114"/>
              <a:gd name="T8" fmla="*/ 207 w 207"/>
              <a:gd name="T9" fmla="*/ 987 h 1114"/>
            </a:gdLst>
            <a:ahLst/>
            <a:cxnLst>
              <a:cxn ang="0">
                <a:pos x="T0" y="T1"/>
              </a:cxn>
              <a:cxn ang="0">
                <a:pos x="T2" y="T3"/>
              </a:cxn>
              <a:cxn ang="0">
                <a:pos x="T4" y="T5"/>
              </a:cxn>
              <a:cxn ang="0">
                <a:pos x="T6" y="T7"/>
              </a:cxn>
              <a:cxn ang="0">
                <a:pos x="T8" y="T9"/>
              </a:cxn>
            </a:cxnLst>
            <a:rect l="0" t="0" r="r" b="b"/>
            <a:pathLst>
              <a:path w="207" h="1114">
                <a:moveTo>
                  <a:pt x="207" y="987"/>
                </a:moveTo>
                <a:lnTo>
                  <a:pt x="0" y="1114"/>
                </a:lnTo>
                <a:lnTo>
                  <a:pt x="0" y="127"/>
                </a:lnTo>
                <a:lnTo>
                  <a:pt x="207" y="0"/>
                </a:lnTo>
                <a:lnTo>
                  <a:pt x="207" y="987"/>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8" name="Rectangle 17">
            <a:extLst>
              <a:ext uri="{FF2B5EF4-FFF2-40B4-BE49-F238E27FC236}">
                <a16:creationId xmlns:a16="http://schemas.microsoft.com/office/drawing/2014/main" id="{14E91B64-9FCC-451E-AFB4-A827D63293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644055" y="635715"/>
            <a:ext cx="10907863" cy="1541457"/>
          </a:xfrm>
          <a:prstGeom prst="rect">
            <a:avLst/>
          </a:prstGeom>
          <a:solidFill>
            <a:schemeClr val="accent1"/>
          </a:solidFill>
          <a:ln>
            <a:noFill/>
          </a:ln>
        </p:spPr>
        <p:txBody>
          <a:bodyPr vert="horz" wrap="square" lIns="91440" tIns="45720" rIns="91440" bIns="45720" numCol="1" anchor="t" anchorCtr="0" compatLnSpc="1">
            <a:prstTxWarp prst="textNoShape">
              <a:avLst/>
            </a:prstTxWarp>
          </a:bodyPr>
          <a:lstStyle/>
          <a:p>
            <a:endParaRPr lang="en-US"/>
          </a:p>
        </p:txBody>
      </p:sp>
      <p:sp>
        <p:nvSpPr>
          <p:cNvPr id="2" name="Título 1">
            <a:extLst>
              <a:ext uri="{FF2B5EF4-FFF2-40B4-BE49-F238E27FC236}">
                <a16:creationId xmlns:a16="http://schemas.microsoft.com/office/drawing/2014/main" id="{E6306A88-6B44-E5BB-9AE2-5EDEBFEC4AD2}"/>
              </a:ext>
            </a:extLst>
          </p:cNvPr>
          <p:cNvSpPr>
            <a:spLocks noGrp="1"/>
          </p:cNvSpPr>
          <p:nvPr>
            <p:ph type="title"/>
          </p:nvPr>
        </p:nvSpPr>
        <p:spPr>
          <a:xfrm>
            <a:off x="958506" y="800392"/>
            <a:ext cx="10264697" cy="1212102"/>
          </a:xfrm>
        </p:spPr>
        <p:txBody>
          <a:bodyPr>
            <a:normAutofit/>
          </a:bodyPr>
          <a:lstStyle/>
          <a:p>
            <a:r>
              <a:rPr lang="pt-BR" sz="4000" b="1" dirty="0">
                <a:solidFill>
                  <a:srgbClr val="FFFFFF"/>
                </a:solidFill>
              </a:rPr>
              <a:t>PLANO DE AULA</a:t>
            </a:r>
          </a:p>
        </p:txBody>
      </p:sp>
      <p:sp>
        <p:nvSpPr>
          <p:cNvPr id="3" name="Espaço Reservado para Conteúdo 2">
            <a:extLst>
              <a:ext uri="{FF2B5EF4-FFF2-40B4-BE49-F238E27FC236}">
                <a16:creationId xmlns:a16="http://schemas.microsoft.com/office/drawing/2014/main" id="{561AF302-7709-84C1-2098-F05A5945B78C}"/>
              </a:ext>
            </a:extLst>
          </p:cNvPr>
          <p:cNvSpPr>
            <a:spLocks noGrp="1"/>
          </p:cNvSpPr>
          <p:nvPr>
            <p:ph idx="1"/>
          </p:nvPr>
        </p:nvSpPr>
        <p:spPr>
          <a:xfrm>
            <a:off x="1367624" y="2164080"/>
            <a:ext cx="9708995" cy="4365969"/>
          </a:xfrm>
        </p:spPr>
        <p:txBody>
          <a:bodyPr anchor="ctr">
            <a:noAutofit/>
          </a:bodyPr>
          <a:lstStyle/>
          <a:p>
            <a:pPr marL="0" indent="0" algn="just">
              <a:lnSpc>
                <a:spcPct val="107000"/>
              </a:lnSpc>
              <a:spcAft>
                <a:spcPts val="800"/>
              </a:spcAft>
              <a:buNone/>
            </a:pPr>
            <a:r>
              <a:rPr lang="pt-BR" sz="2000" b="1" kern="1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AULA 5 - PESQUISA</a:t>
            </a:r>
          </a:p>
          <a:p>
            <a:pPr marL="0" indent="0" algn="just">
              <a:lnSpc>
                <a:spcPct val="107000"/>
              </a:lnSpc>
              <a:spcAft>
                <a:spcPts val="800"/>
              </a:spcAft>
              <a:buNone/>
            </a:pPr>
            <a:r>
              <a:rPr lang="pt-BR" sz="2000" kern="100" dirty="0">
                <a:effectLst/>
                <a:latin typeface="Calibri" panose="020F0502020204030204" pitchFamily="34" charset="0"/>
                <a:ea typeface="Calibri" panose="020F0502020204030204" pitchFamily="34" charset="0"/>
                <a:cs typeface="Times New Roman" panose="02020603050405020304" pitchFamily="18" charset="0"/>
              </a:rPr>
              <a:t>Conceito, Planejamento da pesquisa, Preparação da pesquisa: Decisão, especificação de objetivos, elaboração de um esquema, constituição da equipe de trabalho, levantamento de recursos e cronograma</a:t>
            </a:r>
          </a:p>
          <a:p>
            <a:pPr marL="0" indent="0" algn="just">
              <a:lnSpc>
                <a:spcPct val="107000"/>
              </a:lnSpc>
              <a:spcAft>
                <a:spcPts val="800"/>
              </a:spcAft>
              <a:buNone/>
            </a:pPr>
            <a:r>
              <a:rPr lang="pt-BR" sz="2000" b="1" kern="1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AULA 6 – FASES DA PESQUISA</a:t>
            </a:r>
          </a:p>
          <a:p>
            <a:pPr marL="0" indent="0" algn="just">
              <a:lnSpc>
                <a:spcPct val="107000"/>
              </a:lnSpc>
              <a:spcAft>
                <a:spcPts val="800"/>
              </a:spcAft>
              <a:buNone/>
            </a:pPr>
            <a:r>
              <a:rPr lang="pt-BR" sz="2000" kern="100" dirty="0">
                <a:effectLst/>
                <a:latin typeface="Calibri" panose="020F0502020204030204" pitchFamily="34" charset="0"/>
                <a:ea typeface="Calibri" panose="020F0502020204030204" pitchFamily="34" charset="0"/>
                <a:cs typeface="Times New Roman" panose="02020603050405020304" pitchFamily="18" charset="0"/>
              </a:rPr>
              <a:t>Escolha do tema, Levantamento de dados, Formulação do problema, Definição dos termos, Construção de hipóteses, Indicação de variáveis, Delimitação da pesquisa, Amostragem, Seleção dos métodos e técnicas, Organização do instrumental de pesquisa, </a:t>
            </a:r>
            <a:r>
              <a:rPr lang="pt-BR" sz="2000" dirty="0">
                <a:effectLst/>
                <a:latin typeface="Calibri" panose="020F0502020204030204" pitchFamily="34" charset="0"/>
                <a:ea typeface="Calibri" panose="020F0502020204030204" pitchFamily="34" charset="0"/>
                <a:cs typeface="Times New Roman" panose="02020603050405020304" pitchFamily="18" charset="0"/>
              </a:rPr>
              <a:t>Teste de instrumentos e procedimentos</a:t>
            </a:r>
            <a:endParaRPr lang="pt-BR" sz="20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88434401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827B839B-9ADE-406B-8590-F1CAEDED45A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45">
            <a:extLst>
              <a:ext uri="{FF2B5EF4-FFF2-40B4-BE49-F238E27FC236}">
                <a16:creationId xmlns:a16="http://schemas.microsoft.com/office/drawing/2014/main" id="{CFE45BF0-46DB-408C-B5F7-7B11716805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409710" y="1022350"/>
            <a:ext cx="709612" cy="2095501"/>
          </a:xfrm>
          <a:custGeom>
            <a:avLst/>
            <a:gdLst>
              <a:gd name="T0" fmla="*/ 447 w 447"/>
              <a:gd name="T1" fmla="*/ 1363 h 1363"/>
              <a:gd name="T2" fmla="*/ 0 w 447"/>
              <a:gd name="T3" fmla="*/ 987 h 1363"/>
              <a:gd name="T4" fmla="*/ 0 w 447"/>
              <a:gd name="T5" fmla="*/ 0 h 1363"/>
              <a:gd name="T6" fmla="*/ 447 w 447"/>
              <a:gd name="T7" fmla="*/ 376 h 1363"/>
              <a:gd name="T8" fmla="*/ 447 w 447"/>
              <a:gd name="T9" fmla="*/ 1363 h 1363"/>
            </a:gdLst>
            <a:ahLst/>
            <a:cxnLst>
              <a:cxn ang="0">
                <a:pos x="T0" y="T1"/>
              </a:cxn>
              <a:cxn ang="0">
                <a:pos x="T2" y="T3"/>
              </a:cxn>
              <a:cxn ang="0">
                <a:pos x="T4" y="T5"/>
              </a:cxn>
              <a:cxn ang="0">
                <a:pos x="T6" y="T7"/>
              </a:cxn>
              <a:cxn ang="0">
                <a:pos x="T8" y="T9"/>
              </a:cxn>
            </a:cxnLst>
            <a:rect l="0" t="0" r="r" b="b"/>
            <a:pathLst>
              <a:path w="447" h="1363">
                <a:moveTo>
                  <a:pt x="447" y="1363"/>
                </a:moveTo>
                <a:lnTo>
                  <a:pt x="0" y="987"/>
                </a:lnTo>
                <a:lnTo>
                  <a:pt x="0" y="0"/>
                </a:lnTo>
                <a:lnTo>
                  <a:pt x="447" y="376"/>
                </a:lnTo>
                <a:lnTo>
                  <a:pt x="447" y="1363"/>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2" name="Freeform 46">
            <a:extLst>
              <a:ext uri="{FF2B5EF4-FFF2-40B4-BE49-F238E27FC236}">
                <a16:creationId xmlns:a16="http://schemas.microsoft.com/office/drawing/2014/main" id="{2AEBC8F2-97B1-41B4-93F1-2D289E197F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409710" y="837744"/>
            <a:ext cx="403225" cy="1705431"/>
          </a:xfrm>
          <a:custGeom>
            <a:avLst/>
            <a:gdLst>
              <a:gd name="T0" fmla="*/ 254 w 254"/>
              <a:gd name="T1" fmla="*/ 987 h 1109"/>
              <a:gd name="T2" fmla="*/ 0 w 254"/>
              <a:gd name="T3" fmla="*/ 1109 h 1109"/>
              <a:gd name="T4" fmla="*/ 0 w 254"/>
              <a:gd name="T5" fmla="*/ 119 h 1109"/>
              <a:gd name="T6" fmla="*/ 254 w 254"/>
              <a:gd name="T7" fmla="*/ 0 h 1109"/>
              <a:gd name="T8" fmla="*/ 254 w 254"/>
              <a:gd name="T9" fmla="*/ 987 h 1109"/>
            </a:gdLst>
            <a:ahLst/>
            <a:cxnLst>
              <a:cxn ang="0">
                <a:pos x="T0" y="T1"/>
              </a:cxn>
              <a:cxn ang="0">
                <a:pos x="T2" y="T3"/>
              </a:cxn>
              <a:cxn ang="0">
                <a:pos x="T4" y="T5"/>
              </a:cxn>
              <a:cxn ang="0">
                <a:pos x="T6" y="T7"/>
              </a:cxn>
              <a:cxn ang="0">
                <a:pos x="T8" y="T9"/>
              </a:cxn>
            </a:cxnLst>
            <a:rect l="0" t="0" r="r" b="b"/>
            <a:pathLst>
              <a:path w="254" h="1109">
                <a:moveTo>
                  <a:pt x="254" y="987"/>
                </a:moveTo>
                <a:lnTo>
                  <a:pt x="0" y="1109"/>
                </a:lnTo>
                <a:lnTo>
                  <a:pt x="0" y="119"/>
                </a:lnTo>
                <a:lnTo>
                  <a:pt x="254" y="0"/>
                </a:lnTo>
                <a:lnTo>
                  <a:pt x="254" y="987"/>
                </a:lnTo>
                <a:close/>
              </a:path>
            </a:pathLst>
          </a:custGeom>
          <a:solidFill>
            <a:schemeClr val="accent1">
              <a:lumMod val="7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4" name="Freeform 47">
            <a:extLst>
              <a:ext uri="{FF2B5EF4-FFF2-40B4-BE49-F238E27FC236}">
                <a16:creationId xmlns:a16="http://schemas.microsoft.com/office/drawing/2014/main" id="{472E3A19-F5D5-48FC-BB9C-48C2F68F598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644660" y="640894"/>
            <a:ext cx="168275" cy="1713195"/>
          </a:xfrm>
          <a:custGeom>
            <a:avLst/>
            <a:gdLst>
              <a:gd name="T0" fmla="*/ 106 w 106"/>
              <a:gd name="T1" fmla="*/ 1114 h 1114"/>
              <a:gd name="T2" fmla="*/ 0 w 106"/>
              <a:gd name="T3" fmla="*/ 1005 h 1114"/>
              <a:gd name="T4" fmla="*/ 0 w 106"/>
              <a:gd name="T5" fmla="*/ 0 h 1114"/>
              <a:gd name="T6" fmla="*/ 106 w 106"/>
              <a:gd name="T7" fmla="*/ 110 h 1114"/>
              <a:gd name="T8" fmla="*/ 106 w 106"/>
              <a:gd name="T9" fmla="*/ 1114 h 1114"/>
            </a:gdLst>
            <a:ahLst/>
            <a:cxnLst>
              <a:cxn ang="0">
                <a:pos x="T0" y="T1"/>
              </a:cxn>
              <a:cxn ang="0">
                <a:pos x="T2" y="T3"/>
              </a:cxn>
              <a:cxn ang="0">
                <a:pos x="T4" y="T5"/>
              </a:cxn>
              <a:cxn ang="0">
                <a:pos x="T6" y="T7"/>
              </a:cxn>
              <a:cxn ang="0">
                <a:pos x="T8" y="T9"/>
              </a:cxn>
            </a:cxnLst>
            <a:rect l="0" t="0" r="r" b="b"/>
            <a:pathLst>
              <a:path w="106" h="1114">
                <a:moveTo>
                  <a:pt x="106" y="1114"/>
                </a:moveTo>
                <a:lnTo>
                  <a:pt x="0" y="1005"/>
                </a:lnTo>
                <a:lnTo>
                  <a:pt x="0" y="0"/>
                </a:lnTo>
                <a:lnTo>
                  <a:pt x="106" y="110"/>
                </a:lnTo>
                <a:lnTo>
                  <a:pt x="106" y="1114"/>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6" name="Freeform 44">
            <a:extLst>
              <a:ext uri="{FF2B5EF4-FFF2-40B4-BE49-F238E27FC236}">
                <a16:creationId xmlns:a16="http://schemas.microsoft.com/office/drawing/2014/main" id="{7A62E32F-BB65-43A8-8EB5-92346890E5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1223203" y="635716"/>
            <a:ext cx="328612" cy="1742360"/>
          </a:xfrm>
          <a:custGeom>
            <a:avLst/>
            <a:gdLst>
              <a:gd name="T0" fmla="*/ 207 w 207"/>
              <a:gd name="T1" fmla="*/ 987 h 1114"/>
              <a:gd name="T2" fmla="*/ 0 w 207"/>
              <a:gd name="T3" fmla="*/ 1114 h 1114"/>
              <a:gd name="T4" fmla="*/ 0 w 207"/>
              <a:gd name="T5" fmla="*/ 127 h 1114"/>
              <a:gd name="T6" fmla="*/ 207 w 207"/>
              <a:gd name="T7" fmla="*/ 0 h 1114"/>
              <a:gd name="T8" fmla="*/ 207 w 207"/>
              <a:gd name="T9" fmla="*/ 987 h 1114"/>
            </a:gdLst>
            <a:ahLst/>
            <a:cxnLst>
              <a:cxn ang="0">
                <a:pos x="T0" y="T1"/>
              </a:cxn>
              <a:cxn ang="0">
                <a:pos x="T2" y="T3"/>
              </a:cxn>
              <a:cxn ang="0">
                <a:pos x="T4" y="T5"/>
              </a:cxn>
              <a:cxn ang="0">
                <a:pos x="T6" y="T7"/>
              </a:cxn>
              <a:cxn ang="0">
                <a:pos x="T8" y="T9"/>
              </a:cxn>
            </a:cxnLst>
            <a:rect l="0" t="0" r="r" b="b"/>
            <a:pathLst>
              <a:path w="207" h="1114">
                <a:moveTo>
                  <a:pt x="207" y="987"/>
                </a:moveTo>
                <a:lnTo>
                  <a:pt x="0" y="1114"/>
                </a:lnTo>
                <a:lnTo>
                  <a:pt x="0" y="127"/>
                </a:lnTo>
                <a:lnTo>
                  <a:pt x="207" y="0"/>
                </a:lnTo>
                <a:lnTo>
                  <a:pt x="207" y="987"/>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8" name="Rectangle 17">
            <a:extLst>
              <a:ext uri="{FF2B5EF4-FFF2-40B4-BE49-F238E27FC236}">
                <a16:creationId xmlns:a16="http://schemas.microsoft.com/office/drawing/2014/main" id="{14E91B64-9FCC-451E-AFB4-A827D63293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644055" y="635715"/>
            <a:ext cx="10907863" cy="1541457"/>
          </a:xfrm>
          <a:prstGeom prst="rect">
            <a:avLst/>
          </a:prstGeom>
          <a:solidFill>
            <a:schemeClr val="accent1"/>
          </a:solidFill>
          <a:ln>
            <a:noFill/>
          </a:ln>
        </p:spPr>
        <p:txBody>
          <a:bodyPr vert="horz" wrap="square" lIns="91440" tIns="45720" rIns="91440" bIns="45720" numCol="1" anchor="t" anchorCtr="0" compatLnSpc="1">
            <a:prstTxWarp prst="textNoShape">
              <a:avLst/>
            </a:prstTxWarp>
          </a:bodyPr>
          <a:lstStyle/>
          <a:p>
            <a:endParaRPr lang="en-US"/>
          </a:p>
        </p:txBody>
      </p:sp>
      <p:sp>
        <p:nvSpPr>
          <p:cNvPr id="2" name="Título 1">
            <a:extLst>
              <a:ext uri="{FF2B5EF4-FFF2-40B4-BE49-F238E27FC236}">
                <a16:creationId xmlns:a16="http://schemas.microsoft.com/office/drawing/2014/main" id="{E6306A88-6B44-E5BB-9AE2-5EDEBFEC4AD2}"/>
              </a:ext>
            </a:extLst>
          </p:cNvPr>
          <p:cNvSpPr>
            <a:spLocks noGrp="1"/>
          </p:cNvSpPr>
          <p:nvPr>
            <p:ph type="title"/>
          </p:nvPr>
        </p:nvSpPr>
        <p:spPr>
          <a:xfrm>
            <a:off x="958506" y="800392"/>
            <a:ext cx="10264697" cy="1212102"/>
          </a:xfrm>
        </p:spPr>
        <p:txBody>
          <a:bodyPr>
            <a:normAutofit/>
          </a:bodyPr>
          <a:lstStyle/>
          <a:p>
            <a:r>
              <a:rPr lang="pt-BR" sz="4000" b="1" dirty="0">
                <a:solidFill>
                  <a:srgbClr val="FFFFFF"/>
                </a:solidFill>
              </a:rPr>
              <a:t>PLANO DE AULA</a:t>
            </a:r>
          </a:p>
        </p:txBody>
      </p:sp>
      <p:sp>
        <p:nvSpPr>
          <p:cNvPr id="5" name="TextBox 4">
            <a:extLst>
              <a:ext uri="{FF2B5EF4-FFF2-40B4-BE49-F238E27FC236}">
                <a16:creationId xmlns:a16="http://schemas.microsoft.com/office/drawing/2014/main" id="{93EC0AFD-6C42-F8E3-6353-A72275AE8820}"/>
              </a:ext>
            </a:extLst>
          </p:cNvPr>
          <p:cNvSpPr txBox="1"/>
          <p:nvPr/>
        </p:nvSpPr>
        <p:spPr>
          <a:xfrm>
            <a:off x="1264893" y="2265313"/>
            <a:ext cx="9968601" cy="4520981"/>
          </a:xfrm>
          <a:prstGeom prst="rect">
            <a:avLst/>
          </a:prstGeom>
          <a:noFill/>
        </p:spPr>
        <p:txBody>
          <a:bodyPr wrap="square">
            <a:spAutoFit/>
          </a:bodyPr>
          <a:lstStyle/>
          <a:p>
            <a:pPr>
              <a:lnSpc>
                <a:spcPct val="107000"/>
              </a:lnSpc>
              <a:spcAft>
                <a:spcPts val="800"/>
              </a:spcAft>
            </a:pPr>
            <a:r>
              <a:rPr lang="pt-BR" sz="2000" b="1" kern="1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AULA 7 – DESENVOLVIMENTO / EXECUÇÃO DA PESQUISA</a:t>
            </a:r>
          </a:p>
          <a:p>
            <a:pPr>
              <a:lnSpc>
                <a:spcPct val="107000"/>
              </a:lnSpc>
              <a:spcAft>
                <a:spcPts val="800"/>
              </a:spcAft>
            </a:pPr>
            <a:r>
              <a:rPr lang="pt-BR" sz="2000" kern="100" dirty="0">
                <a:effectLst/>
                <a:latin typeface="Calibri" panose="020F0502020204030204" pitchFamily="34" charset="0"/>
                <a:ea typeface="Calibri" panose="020F0502020204030204" pitchFamily="34" charset="0"/>
                <a:cs typeface="Times New Roman" panose="02020603050405020304" pitchFamily="18" charset="0"/>
              </a:rPr>
              <a:t>Coleta de dados, Elaboração dos dados, Análise e interpretação dos dados, Representação dos dados: tabelas, quadros e gráficos e Conclusões.</a:t>
            </a:r>
          </a:p>
          <a:p>
            <a:pPr>
              <a:lnSpc>
                <a:spcPct val="107000"/>
              </a:lnSpc>
              <a:spcAft>
                <a:spcPts val="800"/>
              </a:spcAft>
            </a:pPr>
            <a:r>
              <a:rPr lang="pt-BR" sz="2000" b="1" kern="1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AULA 8 – TECNICAS DE PESQUISA</a:t>
            </a:r>
          </a:p>
          <a:p>
            <a:pPr>
              <a:lnSpc>
                <a:spcPct val="107000"/>
              </a:lnSpc>
              <a:spcAft>
                <a:spcPts val="800"/>
              </a:spcAft>
            </a:pPr>
            <a:r>
              <a:rPr lang="pt-BR" sz="2000" kern="100" dirty="0">
                <a:effectLst/>
                <a:latin typeface="Calibri" panose="020F0502020204030204" pitchFamily="34" charset="0"/>
                <a:ea typeface="Calibri" panose="020F0502020204030204" pitchFamily="34" charset="0"/>
                <a:cs typeface="Times New Roman" panose="02020603050405020304" pitchFamily="18" charset="0"/>
              </a:rPr>
              <a:t>1- Documentação indireta</a:t>
            </a:r>
          </a:p>
          <a:p>
            <a:pPr marL="742950" lvl="1" indent="-285750">
              <a:lnSpc>
                <a:spcPct val="107000"/>
              </a:lnSpc>
              <a:buFont typeface="+mj-lt"/>
              <a:buAutoNum type="arabicPeriod"/>
            </a:pPr>
            <a:r>
              <a:rPr lang="pt-BR" sz="2000" kern="100" dirty="0">
                <a:effectLst/>
                <a:latin typeface="Calibri" panose="020F0502020204030204" pitchFamily="34" charset="0"/>
                <a:ea typeface="Calibri" panose="020F0502020204030204" pitchFamily="34" charset="0"/>
                <a:cs typeface="Times New Roman" panose="02020603050405020304" pitchFamily="18" charset="0"/>
              </a:rPr>
              <a:t>Pesquisa documental: fontes e tipos de documentos</a:t>
            </a:r>
          </a:p>
          <a:p>
            <a:pPr marL="742950" lvl="1" indent="-285750">
              <a:lnSpc>
                <a:spcPct val="107000"/>
              </a:lnSpc>
              <a:spcAft>
                <a:spcPts val="800"/>
              </a:spcAft>
              <a:buFont typeface="+mj-lt"/>
              <a:buAutoNum type="arabicPeriod"/>
            </a:pPr>
            <a:r>
              <a:rPr lang="pt-BR" sz="2000" kern="100" dirty="0">
                <a:effectLst/>
                <a:latin typeface="Calibri" panose="020F0502020204030204" pitchFamily="34" charset="0"/>
                <a:ea typeface="Calibri" panose="020F0502020204030204" pitchFamily="34" charset="0"/>
                <a:cs typeface="Times New Roman" panose="02020603050405020304" pitchFamily="18" charset="0"/>
              </a:rPr>
              <a:t>Pesquisa bibliográfica: Tipos e fontes bibliográficas</a:t>
            </a:r>
          </a:p>
          <a:p>
            <a:pPr>
              <a:lnSpc>
                <a:spcPct val="107000"/>
              </a:lnSpc>
              <a:spcAft>
                <a:spcPts val="800"/>
              </a:spcAft>
            </a:pPr>
            <a:r>
              <a:rPr lang="pt-BR" sz="2000" kern="100" dirty="0">
                <a:effectLst/>
                <a:latin typeface="Calibri" panose="020F0502020204030204" pitchFamily="34" charset="0"/>
                <a:ea typeface="Calibri" panose="020F0502020204030204" pitchFamily="34" charset="0"/>
                <a:cs typeface="Times New Roman" panose="02020603050405020304" pitchFamily="18" charset="0"/>
              </a:rPr>
              <a:t>2- Documentação direta: </a:t>
            </a:r>
          </a:p>
          <a:p>
            <a:pPr>
              <a:lnSpc>
                <a:spcPct val="107000"/>
              </a:lnSpc>
              <a:spcAft>
                <a:spcPts val="800"/>
              </a:spcAft>
            </a:pPr>
            <a:r>
              <a:rPr lang="pt-BR" sz="2000" kern="100" dirty="0">
                <a:effectLst/>
                <a:latin typeface="Calibri" panose="020F0502020204030204" pitchFamily="34" charset="0"/>
                <a:ea typeface="Calibri" panose="020F0502020204030204" pitchFamily="34" charset="0"/>
                <a:cs typeface="Times New Roman" panose="02020603050405020304" pitchFamily="18" charset="0"/>
              </a:rPr>
              <a:t>2.1 Pesquisa de campo: tipos de pesquisa de campi</a:t>
            </a:r>
          </a:p>
          <a:p>
            <a:pPr>
              <a:lnSpc>
                <a:spcPct val="107000"/>
              </a:lnSpc>
              <a:spcAft>
                <a:spcPts val="800"/>
              </a:spcAft>
            </a:pPr>
            <a:r>
              <a:rPr lang="pt-BR" sz="2000" kern="100" dirty="0">
                <a:effectLst/>
                <a:latin typeface="Calibri" panose="020F0502020204030204" pitchFamily="34" charset="0"/>
                <a:ea typeface="Calibri" panose="020F0502020204030204" pitchFamily="34" charset="0"/>
                <a:cs typeface="Times New Roman" panose="02020603050405020304" pitchFamily="18" charset="0"/>
              </a:rPr>
              <a:t>2.2 Pesquisa de laboratório</a:t>
            </a:r>
          </a:p>
          <a:p>
            <a:pPr>
              <a:lnSpc>
                <a:spcPct val="107000"/>
              </a:lnSpc>
              <a:spcAft>
                <a:spcPts val="800"/>
              </a:spcAft>
            </a:pPr>
            <a:r>
              <a:rPr lang="pt-BR" sz="2000" b="1" kern="1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AULA 9 – SEMANA DE AVALIAÇÕES – P1</a:t>
            </a:r>
          </a:p>
        </p:txBody>
      </p:sp>
    </p:spTree>
    <p:extLst>
      <p:ext uri="{BB962C8B-B14F-4D97-AF65-F5344CB8AC3E}">
        <p14:creationId xmlns:p14="http://schemas.microsoft.com/office/powerpoint/2010/main" val="129323939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827B839B-9ADE-406B-8590-F1CAEDED45A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45">
            <a:extLst>
              <a:ext uri="{FF2B5EF4-FFF2-40B4-BE49-F238E27FC236}">
                <a16:creationId xmlns:a16="http://schemas.microsoft.com/office/drawing/2014/main" id="{CFE45BF0-46DB-408C-B5F7-7B11716805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409710" y="1022350"/>
            <a:ext cx="709612" cy="2095501"/>
          </a:xfrm>
          <a:custGeom>
            <a:avLst/>
            <a:gdLst>
              <a:gd name="T0" fmla="*/ 447 w 447"/>
              <a:gd name="T1" fmla="*/ 1363 h 1363"/>
              <a:gd name="T2" fmla="*/ 0 w 447"/>
              <a:gd name="T3" fmla="*/ 987 h 1363"/>
              <a:gd name="T4" fmla="*/ 0 w 447"/>
              <a:gd name="T5" fmla="*/ 0 h 1363"/>
              <a:gd name="T6" fmla="*/ 447 w 447"/>
              <a:gd name="T7" fmla="*/ 376 h 1363"/>
              <a:gd name="T8" fmla="*/ 447 w 447"/>
              <a:gd name="T9" fmla="*/ 1363 h 1363"/>
            </a:gdLst>
            <a:ahLst/>
            <a:cxnLst>
              <a:cxn ang="0">
                <a:pos x="T0" y="T1"/>
              </a:cxn>
              <a:cxn ang="0">
                <a:pos x="T2" y="T3"/>
              </a:cxn>
              <a:cxn ang="0">
                <a:pos x="T4" y="T5"/>
              </a:cxn>
              <a:cxn ang="0">
                <a:pos x="T6" y="T7"/>
              </a:cxn>
              <a:cxn ang="0">
                <a:pos x="T8" y="T9"/>
              </a:cxn>
            </a:cxnLst>
            <a:rect l="0" t="0" r="r" b="b"/>
            <a:pathLst>
              <a:path w="447" h="1363">
                <a:moveTo>
                  <a:pt x="447" y="1363"/>
                </a:moveTo>
                <a:lnTo>
                  <a:pt x="0" y="987"/>
                </a:lnTo>
                <a:lnTo>
                  <a:pt x="0" y="0"/>
                </a:lnTo>
                <a:lnTo>
                  <a:pt x="447" y="376"/>
                </a:lnTo>
                <a:lnTo>
                  <a:pt x="447" y="1363"/>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2" name="Freeform 46">
            <a:extLst>
              <a:ext uri="{FF2B5EF4-FFF2-40B4-BE49-F238E27FC236}">
                <a16:creationId xmlns:a16="http://schemas.microsoft.com/office/drawing/2014/main" id="{2AEBC8F2-97B1-41B4-93F1-2D289E197F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409710" y="837744"/>
            <a:ext cx="403225" cy="1705431"/>
          </a:xfrm>
          <a:custGeom>
            <a:avLst/>
            <a:gdLst>
              <a:gd name="T0" fmla="*/ 254 w 254"/>
              <a:gd name="T1" fmla="*/ 987 h 1109"/>
              <a:gd name="T2" fmla="*/ 0 w 254"/>
              <a:gd name="T3" fmla="*/ 1109 h 1109"/>
              <a:gd name="T4" fmla="*/ 0 w 254"/>
              <a:gd name="T5" fmla="*/ 119 h 1109"/>
              <a:gd name="T6" fmla="*/ 254 w 254"/>
              <a:gd name="T7" fmla="*/ 0 h 1109"/>
              <a:gd name="T8" fmla="*/ 254 w 254"/>
              <a:gd name="T9" fmla="*/ 987 h 1109"/>
            </a:gdLst>
            <a:ahLst/>
            <a:cxnLst>
              <a:cxn ang="0">
                <a:pos x="T0" y="T1"/>
              </a:cxn>
              <a:cxn ang="0">
                <a:pos x="T2" y="T3"/>
              </a:cxn>
              <a:cxn ang="0">
                <a:pos x="T4" y="T5"/>
              </a:cxn>
              <a:cxn ang="0">
                <a:pos x="T6" y="T7"/>
              </a:cxn>
              <a:cxn ang="0">
                <a:pos x="T8" y="T9"/>
              </a:cxn>
            </a:cxnLst>
            <a:rect l="0" t="0" r="r" b="b"/>
            <a:pathLst>
              <a:path w="254" h="1109">
                <a:moveTo>
                  <a:pt x="254" y="987"/>
                </a:moveTo>
                <a:lnTo>
                  <a:pt x="0" y="1109"/>
                </a:lnTo>
                <a:lnTo>
                  <a:pt x="0" y="119"/>
                </a:lnTo>
                <a:lnTo>
                  <a:pt x="254" y="0"/>
                </a:lnTo>
                <a:lnTo>
                  <a:pt x="254" y="987"/>
                </a:lnTo>
                <a:close/>
              </a:path>
            </a:pathLst>
          </a:custGeom>
          <a:solidFill>
            <a:schemeClr val="accent1">
              <a:lumMod val="7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4" name="Freeform 47">
            <a:extLst>
              <a:ext uri="{FF2B5EF4-FFF2-40B4-BE49-F238E27FC236}">
                <a16:creationId xmlns:a16="http://schemas.microsoft.com/office/drawing/2014/main" id="{472E3A19-F5D5-48FC-BB9C-48C2F68F598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644660" y="640894"/>
            <a:ext cx="168275" cy="1713195"/>
          </a:xfrm>
          <a:custGeom>
            <a:avLst/>
            <a:gdLst>
              <a:gd name="T0" fmla="*/ 106 w 106"/>
              <a:gd name="T1" fmla="*/ 1114 h 1114"/>
              <a:gd name="T2" fmla="*/ 0 w 106"/>
              <a:gd name="T3" fmla="*/ 1005 h 1114"/>
              <a:gd name="T4" fmla="*/ 0 w 106"/>
              <a:gd name="T5" fmla="*/ 0 h 1114"/>
              <a:gd name="T6" fmla="*/ 106 w 106"/>
              <a:gd name="T7" fmla="*/ 110 h 1114"/>
              <a:gd name="T8" fmla="*/ 106 w 106"/>
              <a:gd name="T9" fmla="*/ 1114 h 1114"/>
            </a:gdLst>
            <a:ahLst/>
            <a:cxnLst>
              <a:cxn ang="0">
                <a:pos x="T0" y="T1"/>
              </a:cxn>
              <a:cxn ang="0">
                <a:pos x="T2" y="T3"/>
              </a:cxn>
              <a:cxn ang="0">
                <a:pos x="T4" y="T5"/>
              </a:cxn>
              <a:cxn ang="0">
                <a:pos x="T6" y="T7"/>
              </a:cxn>
              <a:cxn ang="0">
                <a:pos x="T8" y="T9"/>
              </a:cxn>
            </a:cxnLst>
            <a:rect l="0" t="0" r="r" b="b"/>
            <a:pathLst>
              <a:path w="106" h="1114">
                <a:moveTo>
                  <a:pt x="106" y="1114"/>
                </a:moveTo>
                <a:lnTo>
                  <a:pt x="0" y="1005"/>
                </a:lnTo>
                <a:lnTo>
                  <a:pt x="0" y="0"/>
                </a:lnTo>
                <a:lnTo>
                  <a:pt x="106" y="110"/>
                </a:lnTo>
                <a:lnTo>
                  <a:pt x="106" y="1114"/>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6" name="Freeform 44">
            <a:extLst>
              <a:ext uri="{FF2B5EF4-FFF2-40B4-BE49-F238E27FC236}">
                <a16:creationId xmlns:a16="http://schemas.microsoft.com/office/drawing/2014/main" id="{7A62E32F-BB65-43A8-8EB5-92346890E5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1223203" y="635716"/>
            <a:ext cx="328612" cy="1742360"/>
          </a:xfrm>
          <a:custGeom>
            <a:avLst/>
            <a:gdLst>
              <a:gd name="T0" fmla="*/ 207 w 207"/>
              <a:gd name="T1" fmla="*/ 987 h 1114"/>
              <a:gd name="T2" fmla="*/ 0 w 207"/>
              <a:gd name="T3" fmla="*/ 1114 h 1114"/>
              <a:gd name="T4" fmla="*/ 0 w 207"/>
              <a:gd name="T5" fmla="*/ 127 h 1114"/>
              <a:gd name="T6" fmla="*/ 207 w 207"/>
              <a:gd name="T7" fmla="*/ 0 h 1114"/>
              <a:gd name="T8" fmla="*/ 207 w 207"/>
              <a:gd name="T9" fmla="*/ 987 h 1114"/>
            </a:gdLst>
            <a:ahLst/>
            <a:cxnLst>
              <a:cxn ang="0">
                <a:pos x="T0" y="T1"/>
              </a:cxn>
              <a:cxn ang="0">
                <a:pos x="T2" y="T3"/>
              </a:cxn>
              <a:cxn ang="0">
                <a:pos x="T4" y="T5"/>
              </a:cxn>
              <a:cxn ang="0">
                <a:pos x="T6" y="T7"/>
              </a:cxn>
              <a:cxn ang="0">
                <a:pos x="T8" y="T9"/>
              </a:cxn>
            </a:cxnLst>
            <a:rect l="0" t="0" r="r" b="b"/>
            <a:pathLst>
              <a:path w="207" h="1114">
                <a:moveTo>
                  <a:pt x="207" y="987"/>
                </a:moveTo>
                <a:lnTo>
                  <a:pt x="0" y="1114"/>
                </a:lnTo>
                <a:lnTo>
                  <a:pt x="0" y="127"/>
                </a:lnTo>
                <a:lnTo>
                  <a:pt x="207" y="0"/>
                </a:lnTo>
                <a:lnTo>
                  <a:pt x="207" y="987"/>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8" name="Rectangle 17">
            <a:extLst>
              <a:ext uri="{FF2B5EF4-FFF2-40B4-BE49-F238E27FC236}">
                <a16:creationId xmlns:a16="http://schemas.microsoft.com/office/drawing/2014/main" id="{14E91B64-9FCC-451E-AFB4-A827D63293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644055" y="635715"/>
            <a:ext cx="10907863" cy="1541457"/>
          </a:xfrm>
          <a:prstGeom prst="rect">
            <a:avLst/>
          </a:prstGeom>
          <a:solidFill>
            <a:schemeClr val="accent1"/>
          </a:solidFill>
          <a:ln>
            <a:noFill/>
          </a:ln>
        </p:spPr>
        <p:txBody>
          <a:bodyPr vert="horz" wrap="square" lIns="91440" tIns="45720" rIns="91440" bIns="45720" numCol="1" anchor="t" anchorCtr="0" compatLnSpc="1">
            <a:prstTxWarp prst="textNoShape">
              <a:avLst/>
            </a:prstTxWarp>
          </a:bodyPr>
          <a:lstStyle/>
          <a:p>
            <a:endParaRPr lang="en-US"/>
          </a:p>
        </p:txBody>
      </p:sp>
      <p:sp>
        <p:nvSpPr>
          <p:cNvPr id="2" name="Título 1">
            <a:extLst>
              <a:ext uri="{FF2B5EF4-FFF2-40B4-BE49-F238E27FC236}">
                <a16:creationId xmlns:a16="http://schemas.microsoft.com/office/drawing/2014/main" id="{E6306A88-6B44-E5BB-9AE2-5EDEBFEC4AD2}"/>
              </a:ext>
            </a:extLst>
          </p:cNvPr>
          <p:cNvSpPr>
            <a:spLocks noGrp="1"/>
          </p:cNvSpPr>
          <p:nvPr>
            <p:ph type="title"/>
          </p:nvPr>
        </p:nvSpPr>
        <p:spPr>
          <a:xfrm>
            <a:off x="958506" y="800392"/>
            <a:ext cx="10264697" cy="1212102"/>
          </a:xfrm>
        </p:spPr>
        <p:txBody>
          <a:bodyPr>
            <a:normAutofit/>
          </a:bodyPr>
          <a:lstStyle/>
          <a:p>
            <a:r>
              <a:rPr lang="pt-BR" sz="4000" b="1" dirty="0">
                <a:solidFill>
                  <a:srgbClr val="FFFFFF"/>
                </a:solidFill>
              </a:rPr>
              <a:t>PLANO DE AULA</a:t>
            </a:r>
          </a:p>
        </p:txBody>
      </p:sp>
      <p:sp>
        <p:nvSpPr>
          <p:cNvPr id="5" name="TextBox 4">
            <a:extLst>
              <a:ext uri="{FF2B5EF4-FFF2-40B4-BE49-F238E27FC236}">
                <a16:creationId xmlns:a16="http://schemas.microsoft.com/office/drawing/2014/main" id="{93EC0AFD-6C42-F8E3-6353-A72275AE8820}"/>
              </a:ext>
            </a:extLst>
          </p:cNvPr>
          <p:cNvSpPr txBox="1"/>
          <p:nvPr/>
        </p:nvSpPr>
        <p:spPr>
          <a:xfrm>
            <a:off x="1264893" y="2204353"/>
            <a:ext cx="9968601" cy="5080493"/>
          </a:xfrm>
          <a:prstGeom prst="rect">
            <a:avLst/>
          </a:prstGeom>
          <a:noFill/>
        </p:spPr>
        <p:txBody>
          <a:bodyPr wrap="square">
            <a:spAutoFit/>
          </a:bodyPr>
          <a:lstStyle/>
          <a:p>
            <a:pPr algn="just">
              <a:lnSpc>
                <a:spcPct val="107000"/>
              </a:lnSpc>
              <a:spcAft>
                <a:spcPts val="800"/>
              </a:spcAft>
            </a:pPr>
            <a:r>
              <a:rPr lang="pt-BR" sz="1800" b="1" kern="1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AULA 10 – TECNICAS DE PESQUISA</a:t>
            </a:r>
          </a:p>
          <a:p>
            <a:pPr algn="just">
              <a:lnSpc>
                <a:spcPct val="107000"/>
              </a:lnSpc>
              <a:spcAft>
                <a:spcPts val="800"/>
              </a:spcAft>
            </a:pPr>
            <a:r>
              <a:rPr lang="pt-BR" sz="1800" kern="100" dirty="0">
                <a:effectLst/>
                <a:latin typeface="Calibri" panose="020F0502020204030204" pitchFamily="34" charset="0"/>
                <a:ea typeface="Calibri" panose="020F0502020204030204" pitchFamily="34" charset="0"/>
                <a:cs typeface="Times New Roman" panose="02020603050405020304" pitchFamily="18" charset="0"/>
              </a:rPr>
              <a:t>3- Observação direta intensiva</a:t>
            </a:r>
          </a:p>
          <a:p>
            <a:pPr algn="just">
              <a:lnSpc>
                <a:spcPct val="107000"/>
              </a:lnSpc>
              <a:spcAft>
                <a:spcPts val="800"/>
              </a:spcAft>
            </a:pPr>
            <a:r>
              <a:rPr lang="pt-BR" sz="1800" kern="100" dirty="0">
                <a:effectLst/>
                <a:latin typeface="Calibri" panose="020F0502020204030204" pitchFamily="34" charset="0"/>
                <a:ea typeface="Calibri" panose="020F0502020204030204" pitchFamily="34" charset="0"/>
                <a:cs typeface="Times New Roman" panose="02020603050405020304" pitchFamily="18" charset="0"/>
              </a:rPr>
              <a:t>3.1 Observação: Assistemática, sistemática, não-participante, participante, individual, em equipe, na vida real, e em laboratório </a:t>
            </a:r>
          </a:p>
          <a:p>
            <a:pPr algn="just">
              <a:lnSpc>
                <a:spcPct val="107000"/>
              </a:lnSpc>
              <a:spcAft>
                <a:spcPts val="800"/>
              </a:spcAft>
            </a:pPr>
            <a:r>
              <a:rPr lang="pt-BR" sz="1800" kern="100" dirty="0">
                <a:effectLst/>
                <a:latin typeface="Calibri" panose="020F0502020204030204" pitchFamily="34" charset="0"/>
                <a:ea typeface="Calibri" panose="020F0502020204030204" pitchFamily="34" charset="0"/>
                <a:cs typeface="Times New Roman" panose="02020603050405020304" pitchFamily="18" charset="0"/>
              </a:rPr>
              <a:t>3.2 Entrevista: Objetivos, tipos de entrevistas, vantagens e limitações, preparação da entrevista, diretrizes da entrevista e observação direta extensiva</a:t>
            </a:r>
          </a:p>
          <a:p>
            <a:pPr algn="just">
              <a:lnSpc>
                <a:spcPct val="107000"/>
              </a:lnSpc>
              <a:spcAft>
                <a:spcPts val="800"/>
              </a:spcAft>
            </a:pPr>
            <a:r>
              <a:rPr lang="pt-BR" sz="1800" kern="100" dirty="0">
                <a:effectLst/>
                <a:latin typeface="Calibri" panose="020F0502020204030204" pitchFamily="34" charset="0"/>
                <a:ea typeface="Calibri" panose="020F0502020204030204" pitchFamily="34" charset="0"/>
                <a:cs typeface="Times New Roman" panose="02020603050405020304" pitchFamily="18" charset="0"/>
              </a:rPr>
              <a:t>4- Observação direta extensiva</a:t>
            </a:r>
          </a:p>
          <a:p>
            <a:pPr algn="just">
              <a:lnSpc>
                <a:spcPct val="107000"/>
              </a:lnSpc>
              <a:spcAft>
                <a:spcPts val="800"/>
              </a:spcAft>
            </a:pPr>
            <a:r>
              <a:rPr lang="pt-BR" sz="1800" kern="100" dirty="0">
                <a:effectLst/>
                <a:latin typeface="Calibri" panose="020F0502020204030204" pitchFamily="34" charset="0"/>
                <a:ea typeface="Calibri" panose="020F0502020204030204" pitchFamily="34" charset="0"/>
                <a:cs typeface="Times New Roman" panose="02020603050405020304" pitchFamily="18" charset="0"/>
              </a:rPr>
              <a:t>4.1 Questionário: Vantagens e desvantagens, processo de elaboração, pré-teste, classificação das perguntas, conteúdo, vocabulário, bateria e ordem das perguntas</a:t>
            </a:r>
          </a:p>
          <a:p>
            <a:pPr algn="just">
              <a:lnSpc>
                <a:spcPct val="107000"/>
              </a:lnSpc>
              <a:spcAft>
                <a:spcPts val="800"/>
              </a:spcAft>
            </a:pPr>
            <a:r>
              <a:rPr lang="pt-BR" sz="1800" kern="100" dirty="0">
                <a:effectLst/>
                <a:latin typeface="Calibri" panose="020F0502020204030204" pitchFamily="34" charset="0"/>
                <a:ea typeface="Calibri" panose="020F0502020204030204" pitchFamily="34" charset="0"/>
                <a:cs typeface="Times New Roman" panose="02020603050405020304" pitchFamily="18" charset="0"/>
              </a:rPr>
              <a:t>4.2 Formulário: Vantagens e desvantagens e apresentação do formulário</a:t>
            </a:r>
          </a:p>
          <a:p>
            <a:pPr algn="just">
              <a:lnSpc>
                <a:spcPct val="107000"/>
              </a:lnSpc>
              <a:spcAft>
                <a:spcPts val="800"/>
              </a:spcAft>
            </a:pPr>
            <a:r>
              <a:rPr lang="pt-BR" sz="1800" kern="100" dirty="0">
                <a:effectLst/>
                <a:latin typeface="Calibri" panose="020F0502020204030204" pitchFamily="34" charset="0"/>
                <a:ea typeface="Calibri" panose="020F0502020204030204" pitchFamily="34" charset="0"/>
                <a:cs typeface="Times New Roman" panose="02020603050405020304" pitchFamily="18" charset="0"/>
              </a:rPr>
              <a:t>5- Tipos de pesquisa: Pesquisa científica e tecnológica, pesquisa qualitativa e quantitativa, pesquisa básica e aplicada, pesquisas exploratória, descritiva, explicativa e metodológica, pesquisas e pensamentos inter, multi e transdisciplinar.</a:t>
            </a:r>
          </a:p>
          <a:p>
            <a:pPr algn="just">
              <a:lnSpc>
                <a:spcPct val="107000"/>
              </a:lnSpc>
              <a:spcAft>
                <a:spcPts val="800"/>
              </a:spcAft>
            </a:pPr>
            <a:endParaRPr lang="pt-BR" sz="2000" b="1" kern="1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23094207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827B839B-9ADE-406B-8590-F1CAEDED45A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45">
            <a:extLst>
              <a:ext uri="{FF2B5EF4-FFF2-40B4-BE49-F238E27FC236}">
                <a16:creationId xmlns:a16="http://schemas.microsoft.com/office/drawing/2014/main" id="{CFE45BF0-46DB-408C-B5F7-7B11716805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409710" y="1022350"/>
            <a:ext cx="709612" cy="2095501"/>
          </a:xfrm>
          <a:custGeom>
            <a:avLst/>
            <a:gdLst>
              <a:gd name="T0" fmla="*/ 447 w 447"/>
              <a:gd name="T1" fmla="*/ 1363 h 1363"/>
              <a:gd name="T2" fmla="*/ 0 w 447"/>
              <a:gd name="T3" fmla="*/ 987 h 1363"/>
              <a:gd name="T4" fmla="*/ 0 w 447"/>
              <a:gd name="T5" fmla="*/ 0 h 1363"/>
              <a:gd name="T6" fmla="*/ 447 w 447"/>
              <a:gd name="T7" fmla="*/ 376 h 1363"/>
              <a:gd name="T8" fmla="*/ 447 w 447"/>
              <a:gd name="T9" fmla="*/ 1363 h 1363"/>
            </a:gdLst>
            <a:ahLst/>
            <a:cxnLst>
              <a:cxn ang="0">
                <a:pos x="T0" y="T1"/>
              </a:cxn>
              <a:cxn ang="0">
                <a:pos x="T2" y="T3"/>
              </a:cxn>
              <a:cxn ang="0">
                <a:pos x="T4" y="T5"/>
              </a:cxn>
              <a:cxn ang="0">
                <a:pos x="T6" y="T7"/>
              </a:cxn>
              <a:cxn ang="0">
                <a:pos x="T8" y="T9"/>
              </a:cxn>
            </a:cxnLst>
            <a:rect l="0" t="0" r="r" b="b"/>
            <a:pathLst>
              <a:path w="447" h="1363">
                <a:moveTo>
                  <a:pt x="447" y="1363"/>
                </a:moveTo>
                <a:lnTo>
                  <a:pt x="0" y="987"/>
                </a:lnTo>
                <a:lnTo>
                  <a:pt x="0" y="0"/>
                </a:lnTo>
                <a:lnTo>
                  <a:pt x="447" y="376"/>
                </a:lnTo>
                <a:lnTo>
                  <a:pt x="447" y="1363"/>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2" name="Freeform 46">
            <a:extLst>
              <a:ext uri="{FF2B5EF4-FFF2-40B4-BE49-F238E27FC236}">
                <a16:creationId xmlns:a16="http://schemas.microsoft.com/office/drawing/2014/main" id="{2AEBC8F2-97B1-41B4-93F1-2D289E197F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409710" y="837744"/>
            <a:ext cx="403225" cy="1705431"/>
          </a:xfrm>
          <a:custGeom>
            <a:avLst/>
            <a:gdLst>
              <a:gd name="T0" fmla="*/ 254 w 254"/>
              <a:gd name="T1" fmla="*/ 987 h 1109"/>
              <a:gd name="T2" fmla="*/ 0 w 254"/>
              <a:gd name="T3" fmla="*/ 1109 h 1109"/>
              <a:gd name="T4" fmla="*/ 0 w 254"/>
              <a:gd name="T5" fmla="*/ 119 h 1109"/>
              <a:gd name="T6" fmla="*/ 254 w 254"/>
              <a:gd name="T7" fmla="*/ 0 h 1109"/>
              <a:gd name="T8" fmla="*/ 254 w 254"/>
              <a:gd name="T9" fmla="*/ 987 h 1109"/>
            </a:gdLst>
            <a:ahLst/>
            <a:cxnLst>
              <a:cxn ang="0">
                <a:pos x="T0" y="T1"/>
              </a:cxn>
              <a:cxn ang="0">
                <a:pos x="T2" y="T3"/>
              </a:cxn>
              <a:cxn ang="0">
                <a:pos x="T4" y="T5"/>
              </a:cxn>
              <a:cxn ang="0">
                <a:pos x="T6" y="T7"/>
              </a:cxn>
              <a:cxn ang="0">
                <a:pos x="T8" y="T9"/>
              </a:cxn>
            </a:cxnLst>
            <a:rect l="0" t="0" r="r" b="b"/>
            <a:pathLst>
              <a:path w="254" h="1109">
                <a:moveTo>
                  <a:pt x="254" y="987"/>
                </a:moveTo>
                <a:lnTo>
                  <a:pt x="0" y="1109"/>
                </a:lnTo>
                <a:lnTo>
                  <a:pt x="0" y="119"/>
                </a:lnTo>
                <a:lnTo>
                  <a:pt x="254" y="0"/>
                </a:lnTo>
                <a:lnTo>
                  <a:pt x="254" y="987"/>
                </a:lnTo>
                <a:close/>
              </a:path>
            </a:pathLst>
          </a:custGeom>
          <a:solidFill>
            <a:schemeClr val="accent1">
              <a:lumMod val="7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4" name="Freeform 47">
            <a:extLst>
              <a:ext uri="{FF2B5EF4-FFF2-40B4-BE49-F238E27FC236}">
                <a16:creationId xmlns:a16="http://schemas.microsoft.com/office/drawing/2014/main" id="{472E3A19-F5D5-48FC-BB9C-48C2F68F598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644660" y="640894"/>
            <a:ext cx="168275" cy="1713195"/>
          </a:xfrm>
          <a:custGeom>
            <a:avLst/>
            <a:gdLst>
              <a:gd name="T0" fmla="*/ 106 w 106"/>
              <a:gd name="T1" fmla="*/ 1114 h 1114"/>
              <a:gd name="T2" fmla="*/ 0 w 106"/>
              <a:gd name="T3" fmla="*/ 1005 h 1114"/>
              <a:gd name="T4" fmla="*/ 0 w 106"/>
              <a:gd name="T5" fmla="*/ 0 h 1114"/>
              <a:gd name="T6" fmla="*/ 106 w 106"/>
              <a:gd name="T7" fmla="*/ 110 h 1114"/>
              <a:gd name="T8" fmla="*/ 106 w 106"/>
              <a:gd name="T9" fmla="*/ 1114 h 1114"/>
            </a:gdLst>
            <a:ahLst/>
            <a:cxnLst>
              <a:cxn ang="0">
                <a:pos x="T0" y="T1"/>
              </a:cxn>
              <a:cxn ang="0">
                <a:pos x="T2" y="T3"/>
              </a:cxn>
              <a:cxn ang="0">
                <a:pos x="T4" y="T5"/>
              </a:cxn>
              <a:cxn ang="0">
                <a:pos x="T6" y="T7"/>
              </a:cxn>
              <a:cxn ang="0">
                <a:pos x="T8" y="T9"/>
              </a:cxn>
            </a:cxnLst>
            <a:rect l="0" t="0" r="r" b="b"/>
            <a:pathLst>
              <a:path w="106" h="1114">
                <a:moveTo>
                  <a:pt x="106" y="1114"/>
                </a:moveTo>
                <a:lnTo>
                  <a:pt x="0" y="1005"/>
                </a:lnTo>
                <a:lnTo>
                  <a:pt x="0" y="0"/>
                </a:lnTo>
                <a:lnTo>
                  <a:pt x="106" y="110"/>
                </a:lnTo>
                <a:lnTo>
                  <a:pt x="106" y="1114"/>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6" name="Freeform 44">
            <a:extLst>
              <a:ext uri="{FF2B5EF4-FFF2-40B4-BE49-F238E27FC236}">
                <a16:creationId xmlns:a16="http://schemas.microsoft.com/office/drawing/2014/main" id="{7A62E32F-BB65-43A8-8EB5-92346890E5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1223203" y="635716"/>
            <a:ext cx="328612" cy="1742360"/>
          </a:xfrm>
          <a:custGeom>
            <a:avLst/>
            <a:gdLst>
              <a:gd name="T0" fmla="*/ 207 w 207"/>
              <a:gd name="T1" fmla="*/ 987 h 1114"/>
              <a:gd name="T2" fmla="*/ 0 w 207"/>
              <a:gd name="T3" fmla="*/ 1114 h 1114"/>
              <a:gd name="T4" fmla="*/ 0 w 207"/>
              <a:gd name="T5" fmla="*/ 127 h 1114"/>
              <a:gd name="T6" fmla="*/ 207 w 207"/>
              <a:gd name="T7" fmla="*/ 0 h 1114"/>
              <a:gd name="T8" fmla="*/ 207 w 207"/>
              <a:gd name="T9" fmla="*/ 987 h 1114"/>
            </a:gdLst>
            <a:ahLst/>
            <a:cxnLst>
              <a:cxn ang="0">
                <a:pos x="T0" y="T1"/>
              </a:cxn>
              <a:cxn ang="0">
                <a:pos x="T2" y="T3"/>
              </a:cxn>
              <a:cxn ang="0">
                <a:pos x="T4" y="T5"/>
              </a:cxn>
              <a:cxn ang="0">
                <a:pos x="T6" y="T7"/>
              </a:cxn>
              <a:cxn ang="0">
                <a:pos x="T8" y="T9"/>
              </a:cxn>
            </a:cxnLst>
            <a:rect l="0" t="0" r="r" b="b"/>
            <a:pathLst>
              <a:path w="207" h="1114">
                <a:moveTo>
                  <a:pt x="207" y="987"/>
                </a:moveTo>
                <a:lnTo>
                  <a:pt x="0" y="1114"/>
                </a:lnTo>
                <a:lnTo>
                  <a:pt x="0" y="127"/>
                </a:lnTo>
                <a:lnTo>
                  <a:pt x="207" y="0"/>
                </a:lnTo>
                <a:lnTo>
                  <a:pt x="207" y="987"/>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8" name="Rectangle 17">
            <a:extLst>
              <a:ext uri="{FF2B5EF4-FFF2-40B4-BE49-F238E27FC236}">
                <a16:creationId xmlns:a16="http://schemas.microsoft.com/office/drawing/2014/main" id="{14E91B64-9FCC-451E-AFB4-A827D63293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644055" y="635715"/>
            <a:ext cx="10907863" cy="1541457"/>
          </a:xfrm>
          <a:prstGeom prst="rect">
            <a:avLst/>
          </a:prstGeom>
          <a:solidFill>
            <a:schemeClr val="accent1"/>
          </a:solidFill>
          <a:ln>
            <a:noFill/>
          </a:ln>
        </p:spPr>
        <p:txBody>
          <a:bodyPr vert="horz" wrap="square" lIns="91440" tIns="45720" rIns="91440" bIns="45720" numCol="1" anchor="t" anchorCtr="0" compatLnSpc="1">
            <a:prstTxWarp prst="textNoShape">
              <a:avLst/>
            </a:prstTxWarp>
          </a:bodyPr>
          <a:lstStyle/>
          <a:p>
            <a:endParaRPr lang="en-US"/>
          </a:p>
        </p:txBody>
      </p:sp>
      <p:sp>
        <p:nvSpPr>
          <p:cNvPr id="2" name="Título 1">
            <a:extLst>
              <a:ext uri="{FF2B5EF4-FFF2-40B4-BE49-F238E27FC236}">
                <a16:creationId xmlns:a16="http://schemas.microsoft.com/office/drawing/2014/main" id="{E6306A88-6B44-E5BB-9AE2-5EDEBFEC4AD2}"/>
              </a:ext>
            </a:extLst>
          </p:cNvPr>
          <p:cNvSpPr>
            <a:spLocks noGrp="1"/>
          </p:cNvSpPr>
          <p:nvPr>
            <p:ph type="title"/>
          </p:nvPr>
        </p:nvSpPr>
        <p:spPr>
          <a:xfrm>
            <a:off x="958506" y="800392"/>
            <a:ext cx="10264697" cy="1212102"/>
          </a:xfrm>
        </p:spPr>
        <p:txBody>
          <a:bodyPr>
            <a:normAutofit/>
          </a:bodyPr>
          <a:lstStyle/>
          <a:p>
            <a:r>
              <a:rPr lang="pt-BR" sz="4000" b="1" dirty="0">
                <a:solidFill>
                  <a:srgbClr val="FFFFFF"/>
                </a:solidFill>
              </a:rPr>
              <a:t>PLANO DE AULA</a:t>
            </a:r>
          </a:p>
        </p:txBody>
      </p:sp>
      <p:sp>
        <p:nvSpPr>
          <p:cNvPr id="5" name="TextBox 4">
            <a:extLst>
              <a:ext uri="{FF2B5EF4-FFF2-40B4-BE49-F238E27FC236}">
                <a16:creationId xmlns:a16="http://schemas.microsoft.com/office/drawing/2014/main" id="{93EC0AFD-6C42-F8E3-6353-A72275AE8820}"/>
              </a:ext>
            </a:extLst>
          </p:cNvPr>
          <p:cNvSpPr txBox="1"/>
          <p:nvPr/>
        </p:nvSpPr>
        <p:spPr>
          <a:xfrm>
            <a:off x="1264893" y="2250073"/>
            <a:ext cx="9968601" cy="4315797"/>
          </a:xfrm>
          <a:prstGeom prst="rect">
            <a:avLst/>
          </a:prstGeom>
          <a:noFill/>
        </p:spPr>
        <p:txBody>
          <a:bodyPr wrap="square">
            <a:spAutoFit/>
          </a:bodyPr>
          <a:lstStyle/>
          <a:p>
            <a:pPr algn="just">
              <a:lnSpc>
                <a:spcPct val="107000"/>
              </a:lnSpc>
              <a:spcAft>
                <a:spcPts val="800"/>
              </a:spcAft>
            </a:pPr>
            <a:r>
              <a:rPr lang="pt-BR" sz="2000" b="1" kern="1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AULA 11 - TRABALHOS ACADÊMICOS CIENTÍFICOS E PUBLICAÇÕES</a:t>
            </a:r>
          </a:p>
          <a:p>
            <a:pPr algn="just">
              <a:lnSpc>
                <a:spcPct val="107000"/>
              </a:lnSpc>
              <a:spcAft>
                <a:spcPts val="800"/>
              </a:spcAft>
            </a:pPr>
            <a:r>
              <a:rPr lang="pt-BR" sz="2000" kern="100" dirty="0">
                <a:effectLst/>
                <a:latin typeface="Calibri" panose="020F0502020204030204" pitchFamily="34" charset="0"/>
                <a:ea typeface="Calibri" panose="020F0502020204030204" pitchFamily="34" charset="0"/>
                <a:cs typeface="Times New Roman" panose="02020603050405020304" pitchFamily="18" charset="0"/>
              </a:rPr>
              <a:t>1- Tipos, conceito, características, normas e composição estrutural: Monografia, Dissertação, Tese, Artigo Científico e Relatório Técnico.</a:t>
            </a:r>
          </a:p>
          <a:p>
            <a:pPr algn="just">
              <a:lnSpc>
                <a:spcPct val="107000"/>
              </a:lnSpc>
              <a:spcAft>
                <a:spcPts val="800"/>
              </a:spcAft>
            </a:pPr>
            <a:r>
              <a:rPr lang="pt-BR" sz="2000" kern="100" dirty="0">
                <a:effectLst/>
                <a:latin typeface="Calibri" panose="020F0502020204030204" pitchFamily="34" charset="0"/>
                <a:ea typeface="Calibri" panose="020F0502020204030204" pitchFamily="34" charset="0"/>
                <a:cs typeface="Times New Roman" panose="02020603050405020304" pitchFamily="18" charset="0"/>
              </a:rPr>
              <a:t>2- Meios de Comunicação e aspectos: trabalhos de congressos, artigos científicos, informe científico, resenha crítica e conferência e outros</a:t>
            </a:r>
          </a:p>
          <a:p>
            <a:pPr algn="just">
              <a:lnSpc>
                <a:spcPct val="107000"/>
              </a:lnSpc>
              <a:spcAft>
                <a:spcPts val="800"/>
              </a:spcAft>
            </a:pPr>
            <a:endParaRPr lang="pt-BR" sz="2000" kern="1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Aft>
                <a:spcPts val="800"/>
              </a:spcAft>
            </a:pPr>
            <a:r>
              <a:rPr lang="pt-BR" sz="2000" b="1" kern="1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AULA 12 – LEITURA, DOCUMENTAÇÃO E ELABORAÇÃO DE TRABALHOS CIENTÍFICOS ACADÊMICOS </a:t>
            </a:r>
          </a:p>
          <a:p>
            <a:pPr algn="just">
              <a:lnSpc>
                <a:spcPct val="107000"/>
              </a:lnSpc>
              <a:spcAft>
                <a:spcPts val="800"/>
              </a:spcAft>
            </a:pPr>
            <a:r>
              <a:rPr lang="pt-BR" sz="2000" kern="100" dirty="0">
                <a:effectLst/>
                <a:latin typeface="Calibri" panose="020F0502020204030204" pitchFamily="34" charset="0"/>
                <a:ea typeface="Calibri" panose="020F0502020204030204" pitchFamily="34" charset="0"/>
                <a:cs typeface="Times New Roman" panose="02020603050405020304" pitchFamily="18" charset="0"/>
              </a:rPr>
              <a:t>A importância da leitura, Aproveitamento da leitura, Documentação, Técnicas para redigir textos, Trabalhos científicos acadêmicos e Ferramentas de produção em processador de textos</a:t>
            </a:r>
          </a:p>
          <a:p>
            <a:pPr algn="just">
              <a:lnSpc>
                <a:spcPct val="107000"/>
              </a:lnSpc>
              <a:spcAft>
                <a:spcPts val="800"/>
              </a:spcAft>
            </a:pPr>
            <a:endParaRPr lang="pt-BR" sz="2000" b="1" kern="1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15193790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827B839B-9ADE-406B-8590-F1CAEDED45A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45">
            <a:extLst>
              <a:ext uri="{FF2B5EF4-FFF2-40B4-BE49-F238E27FC236}">
                <a16:creationId xmlns:a16="http://schemas.microsoft.com/office/drawing/2014/main" id="{CFE45BF0-46DB-408C-B5F7-7B11716805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409710" y="1022350"/>
            <a:ext cx="709612" cy="2095501"/>
          </a:xfrm>
          <a:custGeom>
            <a:avLst/>
            <a:gdLst>
              <a:gd name="T0" fmla="*/ 447 w 447"/>
              <a:gd name="T1" fmla="*/ 1363 h 1363"/>
              <a:gd name="T2" fmla="*/ 0 w 447"/>
              <a:gd name="T3" fmla="*/ 987 h 1363"/>
              <a:gd name="T4" fmla="*/ 0 w 447"/>
              <a:gd name="T5" fmla="*/ 0 h 1363"/>
              <a:gd name="T6" fmla="*/ 447 w 447"/>
              <a:gd name="T7" fmla="*/ 376 h 1363"/>
              <a:gd name="T8" fmla="*/ 447 w 447"/>
              <a:gd name="T9" fmla="*/ 1363 h 1363"/>
            </a:gdLst>
            <a:ahLst/>
            <a:cxnLst>
              <a:cxn ang="0">
                <a:pos x="T0" y="T1"/>
              </a:cxn>
              <a:cxn ang="0">
                <a:pos x="T2" y="T3"/>
              </a:cxn>
              <a:cxn ang="0">
                <a:pos x="T4" y="T5"/>
              </a:cxn>
              <a:cxn ang="0">
                <a:pos x="T6" y="T7"/>
              </a:cxn>
              <a:cxn ang="0">
                <a:pos x="T8" y="T9"/>
              </a:cxn>
            </a:cxnLst>
            <a:rect l="0" t="0" r="r" b="b"/>
            <a:pathLst>
              <a:path w="447" h="1363">
                <a:moveTo>
                  <a:pt x="447" y="1363"/>
                </a:moveTo>
                <a:lnTo>
                  <a:pt x="0" y="987"/>
                </a:lnTo>
                <a:lnTo>
                  <a:pt x="0" y="0"/>
                </a:lnTo>
                <a:lnTo>
                  <a:pt x="447" y="376"/>
                </a:lnTo>
                <a:lnTo>
                  <a:pt x="447" y="1363"/>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2" name="Freeform 46">
            <a:extLst>
              <a:ext uri="{FF2B5EF4-FFF2-40B4-BE49-F238E27FC236}">
                <a16:creationId xmlns:a16="http://schemas.microsoft.com/office/drawing/2014/main" id="{2AEBC8F2-97B1-41B4-93F1-2D289E197F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409710" y="837744"/>
            <a:ext cx="403225" cy="1705431"/>
          </a:xfrm>
          <a:custGeom>
            <a:avLst/>
            <a:gdLst>
              <a:gd name="T0" fmla="*/ 254 w 254"/>
              <a:gd name="T1" fmla="*/ 987 h 1109"/>
              <a:gd name="T2" fmla="*/ 0 w 254"/>
              <a:gd name="T3" fmla="*/ 1109 h 1109"/>
              <a:gd name="T4" fmla="*/ 0 w 254"/>
              <a:gd name="T5" fmla="*/ 119 h 1109"/>
              <a:gd name="T6" fmla="*/ 254 w 254"/>
              <a:gd name="T7" fmla="*/ 0 h 1109"/>
              <a:gd name="T8" fmla="*/ 254 w 254"/>
              <a:gd name="T9" fmla="*/ 987 h 1109"/>
            </a:gdLst>
            <a:ahLst/>
            <a:cxnLst>
              <a:cxn ang="0">
                <a:pos x="T0" y="T1"/>
              </a:cxn>
              <a:cxn ang="0">
                <a:pos x="T2" y="T3"/>
              </a:cxn>
              <a:cxn ang="0">
                <a:pos x="T4" y="T5"/>
              </a:cxn>
              <a:cxn ang="0">
                <a:pos x="T6" y="T7"/>
              </a:cxn>
              <a:cxn ang="0">
                <a:pos x="T8" y="T9"/>
              </a:cxn>
            </a:cxnLst>
            <a:rect l="0" t="0" r="r" b="b"/>
            <a:pathLst>
              <a:path w="254" h="1109">
                <a:moveTo>
                  <a:pt x="254" y="987"/>
                </a:moveTo>
                <a:lnTo>
                  <a:pt x="0" y="1109"/>
                </a:lnTo>
                <a:lnTo>
                  <a:pt x="0" y="119"/>
                </a:lnTo>
                <a:lnTo>
                  <a:pt x="254" y="0"/>
                </a:lnTo>
                <a:lnTo>
                  <a:pt x="254" y="987"/>
                </a:lnTo>
                <a:close/>
              </a:path>
            </a:pathLst>
          </a:custGeom>
          <a:solidFill>
            <a:schemeClr val="accent1">
              <a:lumMod val="7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4" name="Freeform 47">
            <a:extLst>
              <a:ext uri="{FF2B5EF4-FFF2-40B4-BE49-F238E27FC236}">
                <a16:creationId xmlns:a16="http://schemas.microsoft.com/office/drawing/2014/main" id="{472E3A19-F5D5-48FC-BB9C-48C2F68F598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644660" y="640894"/>
            <a:ext cx="168275" cy="1713195"/>
          </a:xfrm>
          <a:custGeom>
            <a:avLst/>
            <a:gdLst>
              <a:gd name="T0" fmla="*/ 106 w 106"/>
              <a:gd name="T1" fmla="*/ 1114 h 1114"/>
              <a:gd name="T2" fmla="*/ 0 w 106"/>
              <a:gd name="T3" fmla="*/ 1005 h 1114"/>
              <a:gd name="T4" fmla="*/ 0 w 106"/>
              <a:gd name="T5" fmla="*/ 0 h 1114"/>
              <a:gd name="T6" fmla="*/ 106 w 106"/>
              <a:gd name="T7" fmla="*/ 110 h 1114"/>
              <a:gd name="T8" fmla="*/ 106 w 106"/>
              <a:gd name="T9" fmla="*/ 1114 h 1114"/>
            </a:gdLst>
            <a:ahLst/>
            <a:cxnLst>
              <a:cxn ang="0">
                <a:pos x="T0" y="T1"/>
              </a:cxn>
              <a:cxn ang="0">
                <a:pos x="T2" y="T3"/>
              </a:cxn>
              <a:cxn ang="0">
                <a:pos x="T4" y="T5"/>
              </a:cxn>
              <a:cxn ang="0">
                <a:pos x="T6" y="T7"/>
              </a:cxn>
              <a:cxn ang="0">
                <a:pos x="T8" y="T9"/>
              </a:cxn>
            </a:cxnLst>
            <a:rect l="0" t="0" r="r" b="b"/>
            <a:pathLst>
              <a:path w="106" h="1114">
                <a:moveTo>
                  <a:pt x="106" y="1114"/>
                </a:moveTo>
                <a:lnTo>
                  <a:pt x="0" y="1005"/>
                </a:lnTo>
                <a:lnTo>
                  <a:pt x="0" y="0"/>
                </a:lnTo>
                <a:lnTo>
                  <a:pt x="106" y="110"/>
                </a:lnTo>
                <a:lnTo>
                  <a:pt x="106" y="1114"/>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6" name="Freeform 44">
            <a:extLst>
              <a:ext uri="{FF2B5EF4-FFF2-40B4-BE49-F238E27FC236}">
                <a16:creationId xmlns:a16="http://schemas.microsoft.com/office/drawing/2014/main" id="{7A62E32F-BB65-43A8-8EB5-92346890E5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1223203" y="635716"/>
            <a:ext cx="328612" cy="1742360"/>
          </a:xfrm>
          <a:custGeom>
            <a:avLst/>
            <a:gdLst>
              <a:gd name="T0" fmla="*/ 207 w 207"/>
              <a:gd name="T1" fmla="*/ 987 h 1114"/>
              <a:gd name="T2" fmla="*/ 0 w 207"/>
              <a:gd name="T3" fmla="*/ 1114 h 1114"/>
              <a:gd name="T4" fmla="*/ 0 w 207"/>
              <a:gd name="T5" fmla="*/ 127 h 1114"/>
              <a:gd name="T6" fmla="*/ 207 w 207"/>
              <a:gd name="T7" fmla="*/ 0 h 1114"/>
              <a:gd name="T8" fmla="*/ 207 w 207"/>
              <a:gd name="T9" fmla="*/ 987 h 1114"/>
            </a:gdLst>
            <a:ahLst/>
            <a:cxnLst>
              <a:cxn ang="0">
                <a:pos x="T0" y="T1"/>
              </a:cxn>
              <a:cxn ang="0">
                <a:pos x="T2" y="T3"/>
              </a:cxn>
              <a:cxn ang="0">
                <a:pos x="T4" y="T5"/>
              </a:cxn>
              <a:cxn ang="0">
                <a:pos x="T6" y="T7"/>
              </a:cxn>
              <a:cxn ang="0">
                <a:pos x="T8" y="T9"/>
              </a:cxn>
            </a:cxnLst>
            <a:rect l="0" t="0" r="r" b="b"/>
            <a:pathLst>
              <a:path w="207" h="1114">
                <a:moveTo>
                  <a:pt x="207" y="987"/>
                </a:moveTo>
                <a:lnTo>
                  <a:pt x="0" y="1114"/>
                </a:lnTo>
                <a:lnTo>
                  <a:pt x="0" y="127"/>
                </a:lnTo>
                <a:lnTo>
                  <a:pt x="207" y="0"/>
                </a:lnTo>
                <a:lnTo>
                  <a:pt x="207" y="987"/>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8" name="Rectangle 17">
            <a:extLst>
              <a:ext uri="{FF2B5EF4-FFF2-40B4-BE49-F238E27FC236}">
                <a16:creationId xmlns:a16="http://schemas.microsoft.com/office/drawing/2014/main" id="{14E91B64-9FCC-451E-AFB4-A827D63293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644055" y="635715"/>
            <a:ext cx="10907863" cy="1541457"/>
          </a:xfrm>
          <a:prstGeom prst="rect">
            <a:avLst/>
          </a:prstGeom>
          <a:solidFill>
            <a:schemeClr val="accent1"/>
          </a:solidFill>
          <a:ln>
            <a:noFill/>
          </a:ln>
        </p:spPr>
        <p:txBody>
          <a:bodyPr vert="horz" wrap="square" lIns="91440" tIns="45720" rIns="91440" bIns="45720" numCol="1" anchor="t" anchorCtr="0" compatLnSpc="1">
            <a:prstTxWarp prst="textNoShape">
              <a:avLst/>
            </a:prstTxWarp>
          </a:bodyPr>
          <a:lstStyle/>
          <a:p>
            <a:endParaRPr lang="en-US"/>
          </a:p>
        </p:txBody>
      </p:sp>
      <p:sp>
        <p:nvSpPr>
          <p:cNvPr id="2" name="Título 1">
            <a:extLst>
              <a:ext uri="{FF2B5EF4-FFF2-40B4-BE49-F238E27FC236}">
                <a16:creationId xmlns:a16="http://schemas.microsoft.com/office/drawing/2014/main" id="{E6306A88-6B44-E5BB-9AE2-5EDEBFEC4AD2}"/>
              </a:ext>
            </a:extLst>
          </p:cNvPr>
          <p:cNvSpPr>
            <a:spLocks noGrp="1"/>
          </p:cNvSpPr>
          <p:nvPr>
            <p:ph type="title"/>
          </p:nvPr>
        </p:nvSpPr>
        <p:spPr>
          <a:xfrm>
            <a:off x="958506" y="800392"/>
            <a:ext cx="10264697" cy="1212102"/>
          </a:xfrm>
        </p:spPr>
        <p:txBody>
          <a:bodyPr>
            <a:normAutofit/>
          </a:bodyPr>
          <a:lstStyle/>
          <a:p>
            <a:r>
              <a:rPr lang="pt-BR" sz="4000" b="1" dirty="0">
                <a:solidFill>
                  <a:srgbClr val="FFFFFF"/>
                </a:solidFill>
              </a:rPr>
              <a:t>PLANO DE AULA</a:t>
            </a:r>
          </a:p>
        </p:txBody>
      </p:sp>
      <p:sp>
        <p:nvSpPr>
          <p:cNvPr id="5" name="TextBox 4">
            <a:extLst>
              <a:ext uri="{FF2B5EF4-FFF2-40B4-BE49-F238E27FC236}">
                <a16:creationId xmlns:a16="http://schemas.microsoft.com/office/drawing/2014/main" id="{93EC0AFD-6C42-F8E3-6353-A72275AE8820}"/>
              </a:ext>
            </a:extLst>
          </p:cNvPr>
          <p:cNvSpPr txBox="1"/>
          <p:nvPr/>
        </p:nvSpPr>
        <p:spPr>
          <a:xfrm>
            <a:off x="1264893" y="2250073"/>
            <a:ext cx="9968601" cy="4439933"/>
          </a:xfrm>
          <a:prstGeom prst="rect">
            <a:avLst/>
          </a:prstGeom>
          <a:noFill/>
        </p:spPr>
        <p:txBody>
          <a:bodyPr wrap="square">
            <a:spAutoFit/>
          </a:bodyPr>
          <a:lstStyle/>
          <a:p>
            <a:pPr algn="just">
              <a:lnSpc>
                <a:spcPct val="107000"/>
              </a:lnSpc>
              <a:spcAft>
                <a:spcPts val="800"/>
              </a:spcAft>
            </a:pPr>
            <a:r>
              <a:rPr lang="pt-BR" sz="2000" b="1" kern="1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AULA 13 – ESTRUTURA DOS TRABALHOS CIENTÍFICOS ACADÊMICOS </a:t>
            </a:r>
          </a:p>
          <a:p>
            <a:pPr algn="just">
              <a:lnSpc>
                <a:spcPct val="107000"/>
              </a:lnSpc>
              <a:spcAft>
                <a:spcPts val="800"/>
              </a:spcAft>
            </a:pPr>
            <a:r>
              <a:rPr lang="pt-BR" sz="2000" kern="100" dirty="0">
                <a:effectLst/>
                <a:latin typeface="Calibri" panose="020F0502020204030204" pitchFamily="34" charset="0"/>
                <a:ea typeface="Calibri" panose="020F0502020204030204" pitchFamily="34" charset="0"/>
                <a:cs typeface="Times New Roman" panose="02020603050405020304" pitchFamily="18" charset="0"/>
              </a:rPr>
              <a:t>Estrutura e apresentação de trabalhos científicos acadêmicos, Elementos pré-textuais, Elementos textuais, Elementos pós-textuais, Formas de apresentação e Apresentação gráfica de diferentes modalidades de trabalhos acadêmicos</a:t>
            </a:r>
          </a:p>
          <a:p>
            <a:pPr algn="just">
              <a:lnSpc>
                <a:spcPct val="107000"/>
              </a:lnSpc>
              <a:spcAft>
                <a:spcPts val="800"/>
              </a:spcAft>
            </a:pPr>
            <a:r>
              <a:rPr lang="pt-BR" sz="2000" b="1" kern="1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AULA 14 - FORMATAÇÃO, FORMAS DE ELABORAR CITAÇÕES E REFERÊNCIAS</a:t>
            </a:r>
          </a:p>
          <a:p>
            <a:pPr algn="just">
              <a:lnSpc>
                <a:spcPct val="107000"/>
              </a:lnSpc>
              <a:spcAft>
                <a:spcPts val="800"/>
              </a:spcAft>
            </a:pPr>
            <a:r>
              <a:rPr lang="pt-BR" sz="2000" kern="100" dirty="0">
                <a:effectLst/>
                <a:latin typeface="Calibri" panose="020F0502020204030204" pitchFamily="34" charset="0"/>
                <a:ea typeface="Calibri" panose="020F0502020204030204" pitchFamily="34" charset="0"/>
                <a:cs typeface="Times New Roman" panose="02020603050405020304" pitchFamily="18" charset="0"/>
              </a:rPr>
              <a:t>1- Formatação básica de trabalhos acadêmicos científicos em conformidade com as normas ABNT, Regras para elaboração de citações, Regras complementares das citações, Formas de apresentação das referências, Regras complementares de referências, Apresentação do Guia de formatação da Fatec de Praia Grande  e os bonecos para escrita de projeto de pesquisa, monografia, relatório técnico e artigo científico, Valores éticos e princípios de direitos autorais e Ferramentas para identificação de plágio.</a:t>
            </a:r>
          </a:p>
          <a:p>
            <a:pPr algn="just">
              <a:lnSpc>
                <a:spcPct val="107000"/>
              </a:lnSpc>
              <a:spcAft>
                <a:spcPts val="800"/>
              </a:spcAft>
            </a:pPr>
            <a:endParaRPr lang="pt-BR" sz="2000" b="1" kern="1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91637057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827B839B-9ADE-406B-8590-F1CAEDED45A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45">
            <a:extLst>
              <a:ext uri="{FF2B5EF4-FFF2-40B4-BE49-F238E27FC236}">
                <a16:creationId xmlns:a16="http://schemas.microsoft.com/office/drawing/2014/main" id="{CFE45BF0-46DB-408C-B5F7-7B11716805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409710" y="1022350"/>
            <a:ext cx="709612" cy="2095501"/>
          </a:xfrm>
          <a:custGeom>
            <a:avLst/>
            <a:gdLst>
              <a:gd name="T0" fmla="*/ 447 w 447"/>
              <a:gd name="T1" fmla="*/ 1363 h 1363"/>
              <a:gd name="T2" fmla="*/ 0 w 447"/>
              <a:gd name="T3" fmla="*/ 987 h 1363"/>
              <a:gd name="T4" fmla="*/ 0 w 447"/>
              <a:gd name="T5" fmla="*/ 0 h 1363"/>
              <a:gd name="T6" fmla="*/ 447 w 447"/>
              <a:gd name="T7" fmla="*/ 376 h 1363"/>
              <a:gd name="T8" fmla="*/ 447 w 447"/>
              <a:gd name="T9" fmla="*/ 1363 h 1363"/>
            </a:gdLst>
            <a:ahLst/>
            <a:cxnLst>
              <a:cxn ang="0">
                <a:pos x="T0" y="T1"/>
              </a:cxn>
              <a:cxn ang="0">
                <a:pos x="T2" y="T3"/>
              </a:cxn>
              <a:cxn ang="0">
                <a:pos x="T4" y="T5"/>
              </a:cxn>
              <a:cxn ang="0">
                <a:pos x="T6" y="T7"/>
              </a:cxn>
              <a:cxn ang="0">
                <a:pos x="T8" y="T9"/>
              </a:cxn>
            </a:cxnLst>
            <a:rect l="0" t="0" r="r" b="b"/>
            <a:pathLst>
              <a:path w="447" h="1363">
                <a:moveTo>
                  <a:pt x="447" y="1363"/>
                </a:moveTo>
                <a:lnTo>
                  <a:pt x="0" y="987"/>
                </a:lnTo>
                <a:lnTo>
                  <a:pt x="0" y="0"/>
                </a:lnTo>
                <a:lnTo>
                  <a:pt x="447" y="376"/>
                </a:lnTo>
                <a:lnTo>
                  <a:pt x="447" y="1363"/>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2" name="Freeform 46">
            <a:extLst>
              <a:ext uri="{FF2B5EF4-FFF2-40B4-BE49-F238E27FC236}">
                <a16:creationId xmlns:a16="http://schemas.microsoft.com/office/drawing/2014/main" id="{2AEBC8F2-97B1-41B4-93F1-2D289E197F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409710" y="837744"/>
            <a:ext cx="403225" cy="1705431"/>
          </a:xfrm>
          <a:custGeom>
            <a:avLst/>
            <a:gdLst>
              <a:gd name="T0" fmla="*/ 254 w 254"/>
              <a:gd name="T1" fmla="*/ 987 h 1109"/>
              <a:gd name="T2" fmla="*/ 0 w 254"/>
              <a:gd name="T3" fmla="*/ 1109 h 1109"/>
              <a:gd name="T4" fmla="*/ 0 w 254"/>
              <a:gd name="T5" fmla="*/ 119 h 1109"/>
              <a:gd name="T6" fmla="*/ 254 w 254"/>
              <a:gd name="T7" fmla="*/ 0 h 1109"/>
              <a:gd name="T8" fmla="*/ 254 w 254"/>
              <a:gd name="T9" fmla="*/ 987 h 1109"/>
            </a:gdLst>
            <a:ahLst/>
            <a:cxnLst>
              <a:cxn ang="0">
                <a:pos x="T0" y="T1"/>
              </a:cxn>
              <a:cxn ang="0">
                <a:pos x="T2" y="T3"/>
              </a:cxn>
              <a:cxn ang="0">
                <a:pos x="T4" y="T5"/>
              </a:cxn>
              <a:cxn ang="0">
                <a:pos x="T6" y="T7"/>
              </a:cxn>
              <a:cxn ang="0">
                <a:pos x="T8" y="T9"/>
              </a:cxn>
            </a:cxnLst>
            <a:rect l="0" t="0" r="r" b="b"/>
            <a:pathLst>
              <a:path w="254" h="1109">
                <a:moveTo>
                  <a:pt x="254" y="987"/>
                </a:moveTo>
                <a:lnTo>
                  <a:pt x="0" y="1109"/>
                </a:lnTo>
                <a:lnTo>
                  <a:pt x="0" y="119"/>
                </a:lnTo>
                <a:lnTo>
                  <a:pt x="254" y="0"/>
                </a:lnTo>
                <a:lnTo>
                  <a:pt x="254" y="987"/>
                </a:lnTo>
                <a:close/>
              </a:path>
            </a:pathLst>
          </a:custGeom>
          <a:solidFill>
            <a:schemeClr val="accent1">
              <a:lumMod val="7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4" name="Freeform 47">
            <a:extLst>
              <a:ext uri="{FF2B5EF4-FFF2-40B4-BE49-F238E27FC236}">
                <a16:creationId xmlns:a16="http://schemas.microsoft.com/office/drawing/2014/main" id="{472E3A19-F5D5-48FC-BB9C-48C2F68F598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644660" y="640894"/>
            <a:ext cx="168275" cy="1713195"/>
          </a:xfrm>
          <a:custGeom>
            <a:avLst/>
            <a:gdLst>
              <a:gd name="T0" fmla="*/ 106 w 106"/>
              <a:gd name="T1" fmla="*/ 1114 h 1114"/>
              <a:gd name="T2" fmla="*/ 0 w 106"/>
              <a:gd name="T3" fmla="*/ 1005 h 1114"/>
              <a:gd name="T4" fmla="*/ 0 w 106"/>
              <a:gd name="T5" fmla="*/ 0 h 1114"/>
              <a:gd name="T6" fmla="*/ 106 w 106"/>
              <a:gd name="T7" fmla="*/ 110 h 1114"/>
              <a:gd name="T8" fmla="*/ 106 w 106"/>
              <a:gd name="T9" fmla="*/ 1114 h 1114"/>
            </a:gdLst>
            <a:ahLst/>
            <a:cxnLst>
              <a:cxn ang="0">
                <a:pos x="T0" y="T1"/>
              </a:cxn>
              <a:cxn ang="0">
                <a:pos x="T2" y="T3"/>
              </a:cxn>
              <a:cxn ang="0">
                <a:pos x="T4" y="T5"/>
              </a:cxn>
              <a:cxn ang="0">
                <a:pos x="T6" y="T7"/>
              </a:cxn>
              <a:cxn ang="0">
                <a:pos x="T8" y="T9"/>
              </a:cxn>
            </a:cxnLst>
            <a:rect l="0" t="0" r="r" b="b"/>
            <a:pathLst>
              <a:path w="106" h="1114">
                <a:moveTo>
                  <a:pt x="106" y="1114"/>
                </a:moveTo>
                <a:lnTo>
                  <a:pt x="0" y="1005"/>
                </a:lnTo>
                <a:lnTo>
                  <a:pt x="0" y="0"/>
                </a:lnTo>
                <a:lnTo>
                  <a:pt x="106" y="110"/>
                </a:lnTo>
                <a:lnTo>
                  <a:pt x="106" y="1114"/>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6" name="Freeform 44">
            <a:extLst>
              <a:ext uri="{FF2B5EF4-FFF2-40B4-BE49-F238E27FC236}">
                <a16:creationId xmlns:a16="http://schemas.microsoft.com/office/drawing/2014/main" id="{7A62E32F-BB65-43A8-8EB5-92346890E5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1223203" y="635716"/>
            <a:ext cx="328612" cy="1742360"/>
          </a:xfrm>
          <a:custGeom>
            <a:avLst/>
            <a:gdLst>
              <a:gd name="T0" fmla="*/ 207 w 207"/>
              <a:gd name="T1" fmla="*/ 987 h 1114"/>
              <a:gd name="T2" fmla="*/ 0 w 207"/>
              <a:gd name="T3" fmla="*/ 1114 h 1114"/>
              <a:gd name="T4" fmla="*/ 0 w 207"/>
              <a:gd name="T5" fmla="*/ 127 h 1114"/>
              <a:gd name="T6" fmla="*/ 207 w 207"/>
              <a:gd name="T7" fmla="*/ 0 h 1114"/>
              <a:gd name="T8" fmla="*/ 207 w 207"/>
              <a:gd name="T9" fmla="*/ 987 h 1114"/>
            </a:gdLst>
            <a:ahLst/>
            <a:cxnLst>
              <a:cxn ang="0">
                <a:pos x="T0" y="T1"/>
              </a:cxn>
              <a:cxn ang="0">
                <a:pos x="T2" y="T3"/>
              </a:cxn>
              <a:cxn ang="0">
                <a:pos x="T4" y="T5"/>
              </a:cxn>
              <a:cxn ang="0">
                <a:pos x="T6" y="T7"/>
              </a:cxn>
              <a:cxn ang="0">
                <a:pos x="T8" y="T9"/>
              </a:cxn>
            </a:cxnLst>
            <a:rect l="0" t="0" r="r" b="b"/>
            <a:pathLst>
              <a:path w="207" h="1114">
                <a:moveTo>
                  <a:pt x="207" y="987"/>
                </a:moveTo>
                <a:lnTo>
                  <a:pt x="0" y="1114"/>
                </a:lnTo>
                <a:lnTo>
                  <a:pt x="0" y="127"/>
                </a:lnTo>
                <a:lnTo>
                  <a:pt x="207" y="0"/>
                </a:lnTo>
                <a:lnTo>
                  <a:pt x="207" y="987"/>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8" name="Rectangle 17">
            <a:extLst>
              <a:ext uri="{FF2B5EF4-FFF2-40B4-BE49-F238E27FC236}">
                <a16:creationId xmlns:a16="http://schemas.microsoft.com/office/drawing/2014/main" id="{14E91B64-9FCC-451E-AFB4-A827D63293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644055" y="635715"/>
            <a:ext cx="10907863" cy="1541457"/>
          </a:xfrm>
          <a:prstGeom prst="rect">
            <a:avLst/>
          </a:prstGeom>
          <a:solidFill>
            <a:schemeClr val="accent1"/>
          </a:solidFill>
          <a:ln>
            <a:noFill/>
          </a:ln>
        </p:spPr>
        <p:txBody>
          <a:bodyPr vert="horz" wrap="square" lIns="91440" tIns="45720" rIns="91440" bIns="45720" numCol="1" anchor="t" anchorCtr="0" compatLnSpc="1">
            <a:prstTxWarp prst="textNoShape">
              <a:avLst/>
            </a:prstTxWarp>
          </a:bodyPr>
          <a:lstStyle/>
          <a:p>
            <a:endParaRPr lang="en-US"/>
          </a:p>
        </p:txBody>
      </p:sp>
      <p:sp>
        <p:nvSpPr>
          <p:cNvPr id="2" name="Título 1">
            <a:extLst>
              <a:ext uri="{FF2B5EF4-FFF2-40B4-BE49-F238E27FC236}">
                <a16:creationId xmlns:a16="http://schemas.microsoft.com/office/drawing/2014/main" id="{E6306A88-6B44-E5BB-9AE2-5EDEBFEC4AD2}"/>
              </a:ext>
            </a:extLst>
          </p:cNvPr>
          <p:cNvSpPr>
            <a:spLocks noGrp="1"/>
          </p:cNvSpPr>
          <p:nvPr>
            <p:ph type="title"/>
          </p:nvPr>
        </p:nvSpPr>
        <p:spPr>
          <a:xfrm>
            <a:off x="958506" y="800392"/>
            <a:ext cx="10264697" cy="1212102"/>
          </a:xfrm>
        </p:spPr>
        <p:txBody>
          <a:bodyPr>
            <a:normAutofit/>
          </a:bodyPr>
          <a:lstStyle/>
          <a:p>
            <a:r>
              <a:rPr lang="pt-BR" sz="4000" b="1" dirty="0">
                <a:solidFill>
                  <a:srgbClr val="FFFFFF"/>
                </a:solidFill>
              </a:rPr>
              <a:t>PLANO DE AULA</a:t>
            </a:r>
          </a:p>
        </p:txBody>
      </p:sp>
      <p:sp>
        <p:nvSpPr>
          <p:cNvPr id="5" name="TextBox 4">
            <a:extLst>
              <a:ext uri="{FF2B5EF4-FFF2-40B4-BE49-F238E27FC236}">
                <a16:creationId xmlns:a16="http://schemas.microsoft.com/office/drawing/2014/main" id="{93EC0AFD-6C42-F8E3-6353-A72275AE8820}"/>
              </a:ext>
            </a:extLst>
          </p:cNvPr>
          <p:cNvSpPr txBox="1"/>
          <p:nvPr/>
        </p:nvSpPr>
        <p:spPr>
          <a:xfrm>
            <a:off x="1264893" y="2250073"/>
            <a:ext cx="9968601" cy="4552657"/>
          </a:xfrm>
          <a:prstGeom prst="rect">
            <a:avLst/>
          </a:prstGeom>
          <a:noFill/>
        </p:spPr>
        <p:txBody>
          <a:bodyPr wrap="square">
            <a:spAutoFit/>
          </a:bodyPr>
          <a:lstStyle/>
          <a:p>
            <a:pPr algn="just">
              <a:lnSpc>
                <a:spcPct val="107000"/>
              </a:lnSpc>
              <a:spcAft>
                <a:spcPts val="800"/>
              </a:spcAft>
            </a:pPr>
            <a:r>
              <a:rPr lang="pt-BR" sz="1800" b="1" kern="1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AULAS 15  e 16 - PROJETO DE PESQUISA </a:t>
            </a:r>
          </a:p>
          <a:p>
            <a:pPr algn="just">
              <a:lnSpc>
                <a:spcPct val="107000"/>
              </a:lnSpc>
              <a:spcAft>
                <a:spcPts val="800"/>
              </a:spcAft>
            </a:pPr>
            <a:r>
              <a:rPr lang="pt-BR" sz="1800" kern="100" dirty="0">
                <a:effectLst/>
                <a:latin typeface="Calibri" panose="020F0502020204030204" pitchFamily="34" charset="0"/>
                <a:ea typeface="Calibri" panose="020F0502020204030204" pitchFamily="34" charset="0"/>
                <a:cs typeface="Times New Roman" panose="02020603050405020304" pitchFamily="18" charset="0"/>
              </a:rPr>
              <a:t>1- Noções introdutórias</a:t>
            </a:r>
          </a:p>
          <a:p>
            <a:pPr algn="just">
              <a:lnSpc>
                <a:spcPct val="107000"/>
              </a:lnSpc>
              <a:spcAft>
                <a:spcPts val="800"/>
              </a:spcAft>
            </a:pPr>
            <a:r>
              <a:rPr lang="pt-BR" sz="1800" kern="100" dirty="0">
                <a:effectLst/>
                <a:latin typeface="Calibri" panose="020F0502020204030204" pitchFamily="34" charset="0"/>
                <a:ea typeface="Calibri" panose="020F0502020204030204" pitchFamily="34" charset="0"/>
                <a:cs typeface="Times New Roman" panose="02020603050405020304" pitchFamily="18" charset="0"/>
              </a:rPr>
              <a:t>2- Estrutura do projeto:  Experimental e não experimental</a:t>
            </a:r>
          </a:p>
          <a:p>
            <a:pPr algn="just">
              <a:lnSpc>
                <a:spcPct val="107000"/>
              </a:lnSpc>
              <a:spcAft>
                <a:spcPts val="800"/>
              </a:spcAft>
            </a:pPr>
            <a:r>
              <a:rPr lang="pt-BR" sz="1800" kern="100" dirty="0">
                <a:effectLst/>
                <a:latin typeface="Calibri" panose="020F0502020204030204" pitchFamily="34" charset="0"/>
                <a:ea typeface="Calibri" panose="020F0502020204030204" pitchFamily="34" charset="0"/>
                <a:cs typeface="Times New Roman" panose="02020603050405020304" pitchFamily="18" charset="0"/>
              </a:rPr>
              <a:t>2.1 Apresentação, Tema, Delimitação do tema, Objetivo geral, Objetivos específicos, Justificativa, Problema, Hipóteses, Variáveis.</a:t>
            </a:r>
          </a:p>
          <a:p>
            <a:pPr algn="just">
              <a:lnSpc>
                <a:spcPct val="107000"/>
              </a:lnSpc>
              <a:spcAft>
                <a:spcPts val="800"/>
              </a:spcAft>
            </a:pPr>
            <a:r>
              <a:rPr lang="pt-BR" sz="1800" kern="100" dirty="0">
                <a:effectLst/>
                <a:latin typeface="Calibri" panose="020F0502020204030204" pitchFamily="34" charset="0"/>
                <a:ea typeface="Calibri" panose="020F0502020204030204" pitchFamily="34" charset="0"/>
                <a:cs typeface="Times New Roman" panose="02020603050405020304" pitchFamily="18" charset="0"/>
              </a:rPr>
              <a:t>2.2 Metodologia: Método de abordagem, Métodos de procedimento, Técnicas, Delimitação do universo (descrição da população),  Tipo de amostragem</a:t>
            </a:r>
          </a:p>
          <a:p>
            <a:pPr algn="just">
              <a:lnSpc>
                <a:spcPct val="107000"/>
              </a:lnSpc>
              <a:spcAft>
                <a:spcPts val="800"/>
              </a:spcAft>
            </a:pPr>
            <a:r>
              <a:rPr lang="pt-BR" sz="1800" kern="100" dirty="0">
                <a:effectLst/>
                <a:latin typeface="Calibri" panose="020F0502020204030204" pitchFamily="34" charset="0"/>
                <a:ea typeface="Calibri" panose="020F0502020204030204" pitchFamily="34" charset="0"/>
                <a:cs typeface="Times New Roman" panose="02020603050405020304" pitchFamily="18" charset="0"/>
              </a:rPr>
              <a:t>2.3 Embasamento teórico: Teoria de base, Revisão da bibliografia, Definição dos termos</a:t>
            </a:r>
          </a:p>
          <a:p>
            <a:pPr algn="just">
              <a:lnSpc>
                <a:spcPct val="107000"/>
              </a:lnSpc>
              <a:spcAft>
                <a:spcPts val="800"/>
              </a:spcAft>
            </a:pPr>
            <a:r>
              <a:rPr lang="pt-BR" sz="1800" kern="100" dirty="0">
                <a:effectLst/>
                <a:latin typeface="Calibri" panose="020F0502020204030204" pitchFamily="34" charset="0"/>
                <a:ea typeface="Calibri" panose="020F0502020204030204" pitchFamily="34" charset="0"/>
                <a:cs typeface="Times New Roman" panose="02020603050405020304" pitchFamily="18" charset="0"/>
              </a:rPr>
              <a:t>2.4  Cronograma e Recursos materiais e humanos</a:t>
            </a:r>
          </a:p>
          <a:p>
            <a:pPr algn="just">
              <a:lnSpc>
                <a:spcPct val="107000"/>
              </a:lnSpc>
              <a:spcAft>
                <a:spcPts val="800"/>
              </a:spcAft>
            </a:pPr>
            <a:r>
              <a:rPr lang="pt-BR" sz="1800" kern="100" dirty="0">
                <a:effectLst/>
                <a:latin typeface="Calibri" panose="020F0502020204030204" pitchFamily="34" charset="0"/>
                <a:ea typeface="Calibri" panose="020F0502020204030204" pitchFamily="34" charset="0"/>
                <a:cs typeface="Times New Roman" panose="02020603050405020304" pitchFamily="18" charset="0"/>
              </a:rPr>
              <a:t>2.5 Instrumento(s) de pesquisa</a:t>
            </a:r>
          </a:p>
          <a:p>
            <a:pPr algn="just">
              <a:lnSpc>
                <a:spcPct val="107000"/>
              </a:lnSpc>
              <a:spcAft>
                <a:spcPts val="800"/>
              </a:spcAft>
            </a:pPr>
            <a:r>
              <a:rPr lang="pt-BR" sz="1800" kern="100" dirty="0">
                <a:effectLst/>
                <a:latin typeface="Calibri" panose="020F0502020204030204" pitchFamily="34" charset="0"/>
                <a:ea typeface="Calibri" panose="020F0502020204030204" pitchFamily="34" charset="0"/>
                <a:cs typeface="Times New Roman" panose="02020603050405020304" pitchFamily="18" charset="0"/>
              </a:rPr>
              <a:t>2.6 Referencias Bibliográficas</a:t>
            </a:r>
          </a:p>
          <a:p>
            <a:pPr algn="just"/>
            <a:r>
              <a:rPr lang="pt-BR" sz="1800" dirty="0">
                <a:effectLst/>
                <a:latin typeface="Calibri" panose="020F0502020204030204" pitchFamily="34" charset="0"/>
                <a:ea typeface="Calibri" panose="020F0502020204030204" pitchFamily="34" charset="0"/>
                <a:cs typeface="Times New Roman" panose="02020603050405020304" pitchFamily="18" charset="0"/>
              </a:rPr>
              <a:t>Aplicação: Estudo prático sobre artigo científico - parte 1 e 2</a:t>
            </a:r>
            <a:endParaRPr lang="pt-BR" sz="2000" b="1" kern="1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91367579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827B839B-9ADE-406B-8590-F1CAEDED45A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45">
            <a:extLst>
              <a:ext uri="{FF2B5EF4-FFF2-40B4-BE49-F238E27FC236}">
                <a16:creationId xmlns:a16="http://schemas.microsoft.com/office/drawing/2014/main" id="{CFE45BF0-46DB-408C-B5F7-7B11716805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409710" y="1022350"/>
            <a:ext cx="709612" cy="2095501"/>
          </a:xfrm>
          <a:custGeom>
            <a:avLst/>
            <a:gdLst>
              <a:gd name="T0" fmla="*/ 447 w 447"/>
              <a:gd name="T1" fmla="*/ 1363 h 1363"/>
              <a:gd name="T2" fmla="*/ 0 w 447"/>
              <a:gd name="T3" fmla="*/ 987 h 1363"/>
              <a:gd name="T4" fmla="*/ 0 w 447"/>
              <a:gd name="T5" fmla="*/ 0 h 1363"/>
              <a:gd name="T6" fmla="*/ 447 w 447"/>
              <a:gd name="T7" fmla="*/ 376 h 1363"/>
              <a:gd name="T8" fmla="*/ 447 w 447"/>
              <a:gd name="T9" fmla="*/ 1363 h 1363"/>
            </a:gdLst>
            <a:ahLst/>
            <a:cxnLst>
              <a:cxn ang="0">
                <a:pos x="T0" y="T1"/>
              </a:cxn>
              <a:cxn ang="0">
                <a:pos x="T2" y="T3"/>
              </a:cxn>
              <a:cxn ang="0">
                <a:pos x="T4" y="T5"/>
              </a:cxn>
              <a:cxn ang="0">
                <a:pos x="T6" y="T7"/>
              </a:cxn>
              <a:cxn ang="0">
                <a:pos x="T8" y="T9"/>
              </a:cxn>
            </a:cxnLst>
            <a:rect l="0" t="0" r="r" b="b"/>
            <a:pathLst>
              <a:path w="447" h="1363">
                <a:moveTo>
                  <a:pt x="447" y="1363"/>
                </a:moveTo>
                <a:lnTo>
                  <a:pt x="0" y="987"/>
                </a:lnTo>
                <a:lnTo>
                  <a:pt x="0" y="0"/>
                </a:lnTo>
                <a:lnTo>
                  <a:pt x="447" y="376"/>
                </a:lnTo>
                <a:lnTo>
                  <a:pt x="447" y="1363"/>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2" name="Freeform 46">
            <a:extLst>
              <a:ext uri="{FF2B5EF4-FFF2-40B4-BE49-F238E27FC236}">
                <a16:creationId xmlns:a16="http://schemas.microsoft.com/office/drawing/2014/main" id="{2AEBC8F2-97B1-41B4-93F1-2D289E197F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409710" y="837744"/>
            <a:ext cx="403225" cy="1705431"/>
          </a:xfrm>
          <a:custGeom>
            <a:avLst/>
            <a:gdLst>
              <a:gd name="T0" fmla="*/ 254 w 254"/>
              <a:gd name="T1" fmla="*/ 987 h 1109"/>
              <a:gd name="T2" fmla="*/ 0 w 254"/>
              <a:gd name="T3" fmla="*/ 1109 h 1109"/>
              <a:gd name="T4" fmla="*/ 0 w 254"/>
              <a:gd name="T5" fmla="*/ 119 h 1109"/>
              <a:gd name="T6" fmla="*/ 254 w 254"/>
              <a:gd name="T7" fmla="*/ 0 h 1109"/>
              <a:gd name="T8" fmla="*/ 254 w 254"/>
              <a:gd name="T9" fmla="*/ 987 h 1109"/>
            </a:gdLst>
            <a:ahLst/>
            <a:cxnLst>
              <a:cxn ang="0">
                <a:pos x="T0" y="T1"/>
              </a:cxn>
              <a:cxn ang="0">
                <a:pos x="T2" y="T3"/>
              </a:cxn>
              <a:cxn ang="0">
                <a:pos x="T4" y="T5"/>
              </a:cxn>
              <a:cxn ang="0">
                <a:pos x="T6" y="T7"/>
              </a:cxn>
              <a:cxn ang="0">
                <a:pos x="T8" y="T9"/>
              </a:cxn>
            </a:cxnLst>
            <a:rect l="0" t="0" r="r" b="b"/>
            <a:pathLst>
              <a:path w="254" h="1109">
                <a:moveTo>
                  <a:pt x="254" y="987"/>
                </a:moveTo>
                <a:lnTo>
                  <a:pt x="0" y="1109"/>
                </a:lnTo>
                <a:lnTo>
                  <a:pt x="0" y="119"/>
                </a:lnTo>
                <a:lnTo>
                  <a:pt x="254" y="0"/>
                </a:lnTo>
                <a:lnTo>
                  <a:pt x="254" y="987"/>
                </a:lnTo>
                <a:close/>
              </a:path>
            </a:pathLst>
          </a:custGeom>
          <a:solidFill>
            <a:schemeClr val="accent1">
              <a:lumMod val="7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4" name="Freeform 47">
            <a:extLst>
              <a:ext uri="{FF2B5EF4-FFF2-40B4-BE49-F238E27FC236}">
                <a16:creationId xmlns:a16="http://schemas.microsoft.com/office/drawing/2014/main" id="{472E3A19-F5D5-48FC-BB9C-48C2F68F598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644660" y="640894"/>
            <a:ext cx="168275" cy="1713195"/>
          </a:xfrm>
          <a:custGeom>
            <a:avLst/>
            <a:gdLst>
              <a:gd name="T0" fmla="*/ 106 w 106"/>
              <a:gd name="T1" fmla="*/ 1114 h 1114"/>
              <a:gd name="T2" fmla="*/ 0 w 106"/>
              <a:gd name="T3" fmla="*/ 1005 h 1114"/>
              <a:gd name="T4" fmla="*/ 0 w 106"/>
              <a:gd name="T5" fmla="*/ 0 h 1114"/>
              <a:gd name="T6" fmla="*/ 106 w 106"/>
              <a:gd name="T7" fmla="*/ 110 h 1114"/>
              <a:gd name="T8" fmla="*/ 106 w 106"/>
              <a:gd name="T9" fmla="*/ 1114 h 1114"/>
            </a:gdLst>
            <a:ahLst/>
            <a:cxnLst>
              <a:cxn ang="0">
                <a:pos x="T0" y="T1"/>
              </a:cxn>
              <a:cxn ang="0">
                <a:pos x="T2" y="T3"/>
              </a:cxn>
              <a:cxn ang="0">
                <a:pos x="T4" y="T5"/>
              </a:cxn>
              <a:cxn ang="0">
                <a:pos x="T6" y="T7"/>
              </a:cxn>
              <a:cxn ang="0">
                <a:pos x="T8" y="T9"/>
              </a:cxn>
            </a:cxnLst>
            <a:rect l="0" t="0" r="r" b="b"/>
            <a:pathLst>
              <a:path w="106" h="1114">
                <a:moveTo>
                  <a:pt x="106" y="1114"/>
                </a:moveTo>
                <a:lnTo>
                  <a:pt x="0" y="1005"/>
                </a:lnTo>
                <a:lnTo>
                  <a:pt x="0" y="0"/>
                </a:lnTo>
                <a:lnTo>
                  <a:pt x="106" y="110"/>
                </a:lnTo>
                <a:lnTo>
                  <a:pt x="106" y="1114"/>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6" name="Freeform 44">
            <a:extLst>
              <a:ext uri="{FF2B5EF4-FFF2-40B4-BE49-F238E27FC236}">
                <a16:creationId xmlns:a16="http://schemas.microsoft.com/office/drawing/2014/main" id="{7A62E32F-BB65-43A8-8EB5-92346890E5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1223203" y="635716"/>
            <a:ext cx="328612" cy="1742360"/>
          </a:xfrm>
          <a:custGeom>
            <a:avLst/>
            <a:gdLst>
              <a:gd name="T0" fmla="*/ 207 w 207"/>
              <a:gd name="T1" fmla="*/ 987 h 1114"/>
              <a:gd name="T2" fmla="*/ 0 w 207"/>
              <a:gd name="T3" fmla="*/ 1114 h 1114"/>
              <a:gd name="T4" fmla="*/ 0 w 207"/>
              <a:gd name="T5" fmla="*/ 127 h 1114"/>
              <a:gd name="T6" fmla="*/ 207 w 207"/>
              <a:gd name="T7" fmla="*/ 0 h 1114"/>
              <a:gd name="T8" fmla="*/ 207 w 207"/>
              <a:gd name="T9" fmla="*/ 987 h 1114"/>
            </a:gdLst>
            <a:ahLst/>
            <a:cxnLst>
              <a:cxn ang="0">
                <a:pos x="T0" y="T1"/>
              </a:cxn>
              <a:cxn ang="0">
                <a:pos x="T2" y="T3"/>
              </a:cxn>
              <a:cxn ang="0">
                <a:pos x="T4" y="T5"/>
              </a:cxn>
              <a:cxn ang="0">
                <a:pos x="T6" y="T7"/>
              </a:cxn>
              <a:cxn ang="0">
                <a:pos x="T8" y="T9"/>
              </a:cxn>
            </a:cxnLst>
            <a:rect l="0" t="0" r="r" b="b"/>
            <a:pathLst>
              <a:path w="207" h="1114">
                <a:moveTo>
                  <a:pt x="207" y="987"/>
                </a:moveTo>
                <a:lnTo>
                  <a:pt x="0" y="1114"/>
                </a:lnTo>
                <a:lnTo>
                  <a:pt x="0" y="127"/>
                </a:lnTo>
                <a:lnTo>
                  <a:pt x="207" y="0"/>
                </a:lnTo>
                <a:lnTo>
                  <a:pt x="207" y="987"/>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8" name="Rectangle 17">
            <a:extLst>
              <a:ext uri="{FF2B5EF4-FFF2-40B4-BE49-F238E27FC236}">
                <a16:creationId xmlns:a16="http://schemas.microsoft.com/office/drawing/2014/main" id="{14E91B64-9FCC-451E-AFB4-A827D63293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644055" y="635715"/>
            <a:ext cx="10907863" cy="1541457"/>
          </a:xfrm>
          <a:prstGeom prst="rect">
            <a:avLst/>
          </a:prstGeom>
          <a:solidFill>
            <a:schemeClr val="accent1"/>
          </a:solidFill>
          <a:ln>
            <a:noFill/>
          </a:ln>
        </p:spPr>
        <p:txBody>
          <a:bodyPr vert="horz" wrap="square" lIns="91440" tIns="45720" rIns="91440" bIns="45720" numCol="1" anchor="t" anchorCtr="0" compatLnSpc="1">
            <a:prstTxWarp prst="textNoShape">
              <a:avLst/>
            </a:prstTxWarp>
          </a:bodyPr>
          <a:lstStyle/>
          <a:p>
            <a:endParaRPr lang="en-US"/>
          </a:p>
        </p:txBody>
      </p:sp>
      <p:sp>
        <p:nvSpPr>
          <p:cNvPr id="2" name="Título 1">
            <a:extLst>
              <a:ext uri="{FF2B5EF4-FFF2-40B4-BE49-F238E27FC236}">
                <a16:creationId xmlns:a16="http://schemas.microsoft.com/office/drawing/2014/main" id="{E6306A88-6B44-E5BB-9AE2-5EDEBFEC4AD2}"/>
              </a:ext>
            </a:extLst>
          </p:cNvPr>
          <p:cNvSpPr>
            <a:spLocks noGrp="1"/>
          </p:cNvSpPr>
          <p:nvPr>
            <p:ph type="title"/>
          </p:nvPr>
        </p:nvSpPr>
        <p:spPr>
          <a:xfrm>
            <a:off x="958506" y="800392"/>
            <a:ext cx="10264697" cy="1212102"/>
          </a:xfrm>
        </p:spPr>
        <p:txBody>
          <a:bodyPr>
            <a:normAutofit/>
          </a:bodyPr>
          <a:lstStyle/>
          <a:p>
            <a:r>
              <a:rPr lang="pt-BR" sz="4000" b="1" dirty="0">
                <a:solidFill>
                  <a:srgbClr val="FFFFFF"/>
                </a:solidFill>
              </a:rPr>
              <a:t>PLANO DE AULA</a:t>
            </a:r>
          </a:p>
        </p:txBody>
      </p:sp>
      <p:sp>
        <p:nvSpPr>
          <p:cNvPr id="5" name="TextBox 4">
            <a:extLst>
              <a:ext uri="{FF2B5EF4-FFF2-40B4-BE49-F238E27FC236}">
                <a16:creationId xmlns:a16="http://schemas.microsoft.com/office/drawing/2014/main" id="{93EC0AFD-6C42-F8E3-6353-A72275AE8820}"/>
              </a:ext>
            </a:extLst>
          </p:cNvPr>
          <p:cNvSpPr txBox="1"/>
          <p:nvPr/>
        </p:nvSpPr>
        <p:spPr>
          <a:xfrm>
            <a:off x="1264893" y="2250073"/>
            <a:ext cx="9968601" cy="2755241"/>
          </a:xfrm>
          <a:prstGeom prst="rect">
            <a:avLst/>
          </a:prstGeom>
          <a:noFill/>
        </p:spPr>
        <p:txBody>
          <a:bodyPr wrap="square">
            <a:spAutoFit/>
          </a:bodyPr>
          <a:lstStyle/>
          <a:p>
            <a:pPr algn="just">
              <a:lnSpc>
                <a:spcPct val="107000"/>
              </a:lnSpc>
              <a:spcAft>
                <a:spcPts val="800"/>
              </a:spcAft>
            </a:pPr>
            <a:r>
              <a:rPr lang="pt-BR" sz="2200" b="1" kern="1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AULA 17 – PROJETO DE PESQUISA</a:t>
            </a:r>
          </a:p>
          <a:p>
            <a:pPr algn="just">
              <a:lnSpc>
                <a:spcPct val="107000"/>
              </a:lnSpc>
              <a:spcAft>
                <a:spcPts val="800"/>
              </a:spcAft>
            </a:pPr>
            <a:r>
              <a:rPr lang="pt-BR" sz="2200" kern="100" dirty="0">
                <a:effectLst/>
                <a:latin typeface="Calibri" panose="020F0502020204030204" pitchFamily="34" charset="0"/>
                <a:ea typeface="Calibri" panose="020F0502020204030204" pitchFamily="34" charset="0"/>
                <a:cs typeface="Times New Roman" panose="02020603050405020304" pitchFamily="18" charset="0"/>
              </a:rPr>
              <a:t>Aplicação: Estudo prático sobre artigo científico - parte 3 e 4</a:t>
            </a:r>
          </a:p>
          <a:p>
            <a:pPr algn="just">
              <a:lnSpc>
                <a:spcPct val="107000"/>
              </a:lnSpc>
              <a:spcAft>
                <a:spcPts val="800"/>
              </a:spcAft>
            </a:pPr>
            <a:endParaRPr lang="pt-BR" sz="2200" kern="1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Aft>
                <a:spcPts val="800"/>
              </a:spcAft>
            </a:pPr>
            <a:r>
              <a:rPr lang="pt-BR" sz="2200" b="1" kern="100" dirty="0">
                <a:solidFill>
                  <a:srgbClr val="FF0000"/>
                </a:solidFill>
                <a:latin typeface="Calibri" panose="020F0502020204030204" pitchFamily="34" charset="0"/>
                <a:cs typeface="Times New Roman" panose="02020603050405020304" pitchFamily="18" charset="0"/>
              </a:rPr>
              <a:t>AULA 18 – SEMANA DE AVALIAÇÕES – P2</a:t>
            </a:r>
          </a:p>
          <a:p>
            <a:pPr algn="just">
              <a:lnSpc>
                <a:spcPct val="107000"/>
              </a:lnSpc>
              <a:spcAft>
                <a:spcPts val="800"/>
              </a:spcAft>
            </a:pPr>
            <a:r>
              <a:rPr lang="pt-BR" sz="2200" b="1" kern="100" dirty="0">
                <a:solidFill>
                  <a:srgbClr val="FF0000"/>
                </a:solidFill>
                <a:latin typeface="Calibri" panose="020F0502020204030204" pitchFamily="34" charset="0"/>
                <a:cs typeface="Times New Roman" panose="02020603050405020304" pitchFamily="18" charset="0"/>
              </a:rPr>
              <a:t>AULA 19 – PROVA SUBSTITUTIVA P1/P2</a:t>
            </a:r>
          </a:p>
          <a:p>
            <a:pPr algn="just">
              <a:lnSpc>
                <a:spcPct val="107000"/>
              </a:lnSpc>
              <a:spcAft>
                <a:spcPts val="800"/>
              </a:spcAft>
            </a:pPr>
            <a:r>
              <a:rPr lang="pt-BR" sz="2200" b="1" kern="100" dirty="0">
                <a:solidFill>
                  <a:srgbClr val="FF0000"/>
                </a:solidFill>
                <a:latin typeface="Calibri" panose="020F0502020204030204" pitchFamily="34" charset="0"/>
                <a:cs typeface="Times New Roman" panose="02020603050405020304" pitchFamily="18" charset="0"/>
              </a:rPr>
              <a:t>AULA 20 – REVISÃO DE FALTAS E NOTAS</a:t>
            </a:r>
          </a:p>
        </p:txBody>
      </p:sp>
    </p:spTree>
    <p:extLst>
      <p:ext uri="{BB962C8B-B14F-4D97-AF65-F5344CB8AC3E}">
        <p14:creationId xmlns:p14="http://schemas.microsoft.com/office/powerpoint/2010/main" val="248444013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827B839B-9ADE-406B-8590-F1CAEDED45A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45">
            <a:extLst>
              <a:ext uri="{FF2B5EF4-FFF2-40B4-BE49-F238E27FC236}">
                <a16:creationId xmlns:a16="http://schemas.microsoft.com/office/drawing/2014/main" id="{CFE45BF0-46DB-408C-B5F7-7B11716805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409710" y="1022350"/>
            <a:ext cx="709612" cy="2095501"/>
          </a:xfrm>
          <a:custGeom>
            <a:avLst/>
            <a:gdLst>
              <a:gd name="T0" fmla="*/ 447 w 447"/>
              <a:gd name="T1" fmla="*/ 1363 h 1363"/>
              <a:gd name="T2" fmla="*/ 0 w 447"/>
              <a:gd name="T3" fmla="*/ 987 h 1363"/>
              <a:gd name="T4" fmla="*/ 0 w 447"/>
              <a:gd name="T5" fmla="*/ 0 h 1363"/>
              <a:gd name="T6" fmla="*/ 447 w 447"/>
              <a:gd name="T7" fmla="*/ 376 h 1363"/>
              <a:gd name="T8" fmla="*/ 447 w 447"/>
              <a:gd name="T9" fmla="*/ 1363 h 1363"/>
            </a:gdLst>
            <a:ahLst/>
            <a:cxnLst>
              <a:cxn ang="0">
                <a:pos x="T0" y="T1"/>
              </a:cxn>
              <a:cxn ang="0">
                <a:pos x="T2" y="T3"/>
              </a:cxn>
              <a:cxn ang="0">
                <a:pos x="T4" y="T5"/>
              </a:cxn>
              <a:cxn ang="0">
                <a:pos x="T6" y="T7"/>
              </a:cxn>
              <a:cxn ang="0">
                <a:pos x="T8" y="T9"/>
              </a:cxn>
            </a:cxnLst>
            <a:rect l="0" t="0" r="r" b="b"/>
            <a:pathLst>
              <a:path w="447" h="1363">
                <a:moveTo>
                  <a:pt x="447" y="1363"/>
                </a:moveTo>
                <a:lnTo>
                  <a:pt x="0" y="987"/>
                </a:lnTo>
                <a:lnTo>
                  <a:pt x="0" y="0"/>
                </a:lnTo>
                <a:lnTo>
                  <a:pt x="447" y="376"/>
                </a:lnTo>
                <a:lnTo>
                  <a:pt x="447" y="1363"/>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2" name="Freeform 46">
            <a:extLst>
              <a:ext uri="{FF2B5EF4-FFF2-40B4-BE49-F238E27FC236}">
                <a16:creationId xmlns:a16="http://schemas.microsoft.com/office/drawing/2014/main" id="{2AEBC8F2-97B1-41B4-93F1-2D289E197F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409710" y="837744"/>
            <a:ext cx="403225" cy="1705431"/>
          </a:xfrm>
          <a:custGeom>
            <a:avLst/>
            <a:gdLst>
              <a:gd name="T0" fmla="*/ 254 w 254"/>
              <a:gd name="T1" fmla="*/ 987 h 1109"/>
              <a:gd name="T2" fmla="*/ 0 w 254"/>
              <a:gd name="T3" fmla="*/ 1109 h 1109"/>
              <a:gd name="T4" fmla="*/ 0 w 254"/>
              <a:gd name="T5" fmla="*/ 119 h 1109"/>
              <a:gd name="T6" fmla="*/ 254 w 254"/>
              <a:gd name="T7" fmla="*/ 0 h 1109"/>
              <a:gd name="T8" fmla="*/ 254 w 254"/>
              <a:gd name="T9" fmla="*/ 987 h 1109"/>
            </a:gdLst>
            <a:ahLst/>
            <a:cxnLst>
              <a:cxn ang="0">
                <a:pos x="T0" y="T1"/>
              </a:cxn>
              <a:cxn ang="0">
                <a:pos x="T2" y="T3"/>
              </a:cxn>
              <a:cxn ang="0">
                <a:pos x="T4" y="T5"/>
              </a:cxn>
              <a:cxn ang="0">
                <a:pos x="T6" y="T7"/>
              </a:cxn>
              <a:cxn ang="0">
                <a:pos x="T8" y="T9"/>
              </a:cxn>
            </a:cxnLst>
            <a:rect l="0" t="0" r="r" b="b"/>
            <a:pathLst>
              <a:path w="254" h="1109">
                <a:moveTo>
                  <a:pt x="254" y="987"/>
                </a:moveTo>
                <a:lnTo>
                  <a:pt x="0" y="1109"/>
                </a:lnTo>
                <a:lnTo>
                  <a:pt x="0" y="119"/>
                </a:lnTo>
                <a:lnTo>
                  <a:pt x="254" y="0"/>
                </a:lnTo>
                <a:lnTo>
                  <a:pt x="254" y="987"/>
                </a:lnTo>
                <a:close/>
              </a:path>
            </a:pathLst>
          </a:custGeom>
          <a:solidFill>
            <a:schemeClr val="accent1">
              <a:lumMod val="7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4" name="Freeform 47">
            <a:extLst>
              <a:ext uri="{FF2B5EF4-FFF2-40B4-BE49-F238E27FC236}">
                <a16:creationId xmlns:a16="http://schemas.microsoft.com/office/drawing/2014/main" id="{472E3A19-F5D5-48FC-BB9C-48C2F68F598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644660" y="640894"/>
            <a:ext cx="168275" cy="1713195"/>
          </a:xfrm>
          <a:custGeom>
            <a:avLst/>
            <a:gdLst>
              <a:gd name="T0" fmla="*/ 106 w 106"/>
              <a:gd name="T1" fmla="*/ 1114 h 1114"/>
              <a:gd name="T2" fmla="*/ 0 w 106"/>
              <a:gd name="T3" fmla="*/ 1005 h 1114"/>
              <a:gd name="T4" fmla="*/ 0 w 106"/>
              <a:gd name="T5" fmla="*/ 0 h 1114"/>
              <a:gd name="T6" fmla="*/ 106 w 106"/>
              <a:gd name="T7" fmla="*/ 110 h 1114"/>
              <a:gd name="T8" fmla="*/ 106 w 106"/>
              <a:gd name="T9" fmla="*/ 1114 h 1114"/>
            </a:gdLst>
            <a:ahLst/>
            <a:cxnLst>
              <a:cxn ang="0">
                <a:pos x="T0" y="T1"/>
              </a:cxn>
              <a:cxn ang="0">
                <a:pos x="T2" y="T3"/>
              </a:cxn>
              <a:cxn ang="0">
                <a:pos x="T4" y="T5"/>
              </a:cxn>
              <a:cxn ang="0">
                <a:pos x="T6" y="T7"/>
              </a:cxn>
              <a:cxn ang="0">
                <a:pos x="T8" y="T9"/>
              </a:cxn>
            </a:cxnLst>
            <a:rect l="0" t="0" r="r" b="b"/>
            <a:pathLst>
              <a:path w="106" h="1114">
                <a:moveTo>
                  <a:pt x="106" y="1114"/>
                </a:moveTo>
                <a:lnTo>
                  <a:pt x="0" y="1005"/>
                </a:lnTo>
                <a:lnTo>
                  <a:pt x="0" y="0"/>
                </a:lnTo>
                <a:lnTo>
                  <a:pt x="106" y="110"/>
                </a:lnTo>
                <a:lnTo>
                  <a:pt x="106" y="1114"/>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6" name="Freeform 44">
            <a:extLst>
              <a:ext uri="{FF2B5EF4-FFF2-40B4-BE49-F238E27FC236}">
                <a16:creationId xmlns:a16="http://schemas.microsoft.com/office/drawing/2014/main" id="{7A62E32F-BB65-43A8-8EB5-92346890E5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1223203" y="635716"/>
            <a:ext cx="328612" cy="1742360"/>
          </a:xfrm>
          <a:custGeom>
            <a:avLst/>
            <a:gdLst>
              <a:gd name="T0" fmla="*/ 207 w 207"/>
              <a:gd name="T1" fmla="*/ 987 h 1114"/>
              <a:gd name="T2" fmla="*/ 0 w 207"/>
              <a:gd name="T3" fmla="*/ 1114 h 1114"/>
              <a:gd name="T4" fmla="*/ 0 w 207"/>
              <a:gd name="T5" fmla="*/ 127 h 1114"/>
              <a:gd name="T6" fmla="*/ 207 w 207"/>
              <a:gd name="T7" fmla="*/ 0 h 1114"/>
              <a:gd name="T8" fmla="*/ 207 w 207"/>
              <a:gd name="T9" fmla="*/ 987 h 1114"/>
            </a:gdLst>
            <a:ahLst/>
            <a:cxnLst>
              <a:cxn ang="0">
                <a:pos x="T0" y="T1"/>
              </a:cxn>
              <a:cxn ang="0">
                <a:pos x="T2" y="T3"/>
              </a:cxn>
              <a:cxn ang="0">
                <a:pos x="T4" y="T5"/>
              </a:cxn>
              <a:cxn ang="0">
                <a:pos x="T6" y="T7"/>
              </a:cxn>
              <a:cxn ang="0">
                <a:pos x="T8" y="T9"/>
              </a:cxn>
            </a:cxnLst>
            <a:rect l="0" t="0" r="r" b="b"/>
            <a:pathLst>
              <a:path w="207" h="1114">
                <a:moveTo>
                  <a:pt x="207" y="987"/>
                </a:moveTo>
                <a:lnTo>
                  <a:pt x="0" y="1114"/>
                </a:lnTo>
                <a:lnTo>
                  <a:pt x="0" y="127"/>
                </a:lnTo>
                <a:lnTo>
                  <a:pt x="207" y="0"/>
                </a:lnTo>
                <a:lnTo>
                  <a:pt x="207" y="987"/>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8" name="Rectangle 17">
            <a:extLst>
              <a:ext uri="{FF2B5EF4-FFF2-40B4-BE49-F238E27FC236}">
                <a16:creationId xmlns:a16="http://schemas.microsoft.com/office/drawing/2014/main" id="{14E91B64-9FCC-451E-AFB4-A827D63293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644055" y="635715"/>
            <a:ext cx="10907863" cy="1541457"/>
          </a:xfrm>
          <a:prstGeom prst="rect">
            <a:avLst/>
          </a:prstGeom>
          <a:solidFill>
            <a:schemeClr val="accent1"/>
          </a:solidFill>
          <a:ln>
            <a:noFill/>
          </a:ln>
        </p:spPr>
        <p:txBody>
          <a:bodyPr vert="horz" wrap="square" lIns="91440" tIns="45720" rIns="91440" bIns="45720" numCol="1" anchor="t" anchorCtr="0" compatLnSpc="1">
            <a:prstTxWarp prst="textNoShape">
              <a:avLst/>
            </a:prstTxWarp>
          </a:bodyPr>
          <a:lstStyle/>
          <a:p>
            <a:endParaRPr lang="en-US"/>
          </a:p>
        </p:txBody>
      </p:sp>
      <p:sp>
        <p:nvSpPr>
          <p:cNvPr id="2" name="Título 1">
            <a:extLst>
              <a:ext uri="{FF2B5EF4-FFF2-40B4-BE49-F238E27FC236}">
                <a16:creationId xmlns:a16="http://schemas.microsoft.com/office/drawing/2014/main" id="{E6306A88-6B44-E5BB-9AE2-5EDEBFEC4AD2}"/>
              </a:ext>
            </a:extLst>
          </p:cNvPr>
          <p:cNvSpPr>
            <a:spLocks noGrp="1"/>
          </p:cNvSpPr>
          <p:nvPr>
            <p:ph type="title"/>
          </p:nvPr>
        </p:nvSpPr>
        <p:spPr>
          <a:xfrm>
            <a:off x="958506" y="800392"/>
            <a:ext cx="10264697" cy="1212102"/>
          </a:xfrm>
        </p:spPr>
        <p:txBody>
          <a:bodyPr>
            <a:normAutofit/>
          </a:bodyPr>
          <a:lstStyle/>
          <a:p>
            <a:r>
              <a:rPr lang="pt-BR" sz="4000" b="1" dirty="0">
                <a:solidFill>
                  <a:srgbClr val="FFFFFF"/>
                </a:solidFill>
              </a:rPr>
              <a:t>BIBLIOGRAFIAS</a:t>
            </a:r>
          </a:p>
        </p:txBody>
      </p:sp>
      <p:sp>
        <p:nvSpPr>
          <p:cNvPr id="5" name="TextBox 4">
            <a:extLst>
              <a:ext uri="{FF2B5EF4-FFF2-40B4-BE49-F238E27FC236}">
                <a16:creationId xmlns:a16="http://schemas.microsoft.com/office/drawing/2014/main" id="{93EC0AFD-6C42-F8E3-6353-A72275AE8820}"/>
              </a:ext>
            </a:extLst>
          </p:cNvPr>
          <p:cNvSpPr txBox="1"/>
          <p:nvPr/>
        </p:nvSpPr>
        <p:spPr>
          <a:xfrm>
            <a:off x="1264893" y="2250073"/>
            <a:ext cx="9968601" cy="3022622"/>
          </a:xfrm>
          <a:prstGeom prst="rect">
            <a:avLst/>
          </a:prstGeom>
          <a:noFill/>
        </p:spPr>
        <p:txBody>
          <a:bodyPr wrap="square">
            <a:spAutoFit/>
          </a:bodyPr>
          <a:lstStyle/>
          <a:p>
            <a:pPr algn="just">
              <a:lnSpc>
                <a:spcPct val="107000"/>
              </a:lnSpc>
              <a:spcAft>
                <a:spcPts val="800"/>
              </a:spcAft>
            </a:pPr>
            <a:r>
              <a:rPr lang="pt-BR" sz="2200" b="1" kern="1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BÁSICA: </a:t>
            </a:r>
          </a:p>
          <a:p>
            <a:pPr algn="just">
              <a:lnSpc>
                <a:spcPct val="107000"/>
              </a:lnSpc>
              <a:spcAft>
                <a:spcPts val="800"/>
              </a:spcAft>
            </a:pPr>
            <a:endParaRPr lang="pt-BR" sz="2200" b="1" kern="100" dirty="0">
              <a:solidFill>
                <a:srgbClr val="FF0000"/>
              </a:solidFill>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Aft>
                <a:spcPts val="800"/>
              </a:spcAft>
            </a:pPr>
            <a:r>
              <a:rPr lang="pt-BR" sz="2200" b="1" kern="100" dirty="0">
                <a:effectLst/>
                <a:latin typeface="Calibri" panose="020F0502020204030204" pitchFamily="34" charset="0"/>
                <a:ea typeface="Calibri" panose="020F0502020204030204" pitchFamily="34" charset="0"/>
                <a:cs typeface="Times New Roman" panose="02020603050405020304" pitchFamily="18" charset="0"/>
              </a:rPr>
              <a:t>ANDRADE, M M. Introdução à Metodologia do Trabalho Cientifico. Atlas, 2009.</a:t>
            </a:r>
          </a:p>
          <a:p>
            <a:pPr algn="just">
              <a:lnSpc>
                <a:spcPct val="107000"/>
              </a:lnSpc>
              <a:spcAft>
                <a:spcPts val="800"/>
              </a:spcAft>
            </a:pPr>
            <a:r>
              <a:rPr lang="pt-BR" sz="2200" b="1" kern="100" dirty="0">
                <a:effectLst/>
                <a:latin typeface="Calibri" panose="020F0502020204030204" pitchFamily="34" charset="0"/>
                <a:ea typeface="Calibri" panose="020F0502020204030204" pitchFamily="34" charset="0"/>
                <a:cs typeface="Times New Roman" panose="02020603050405020304" pitchFamily="18" charset="0"/>
              </a:rPr>
              <a:t>SEVERINO, Antonio J. Metodologia do trabalho científico. 23.ed. São Paulo: Cortez, 2007. </a:t>
            </a:r>
          </a:p>
          <a:p>
            <a:pPr algn="just">
              <a:lnSpc>
                <a:spcPct val="107000"/>
              </a:lnSpc>
              <a:spcAft>
                <a:spcPts val="800"/>
              </a:spcAft>
            </a:pPr>
            <a:r>
              <a:rPr lang="pt-BR" sz="2200" b="1" kern="100" dirty="0">
                <a:effectLst/>
                <a:latin typeface="Calibri" panose="020F0502020204030204" pitchFamily="34" charset="0"/>
                <a:ea typeface="Calibri" panose="020F0502020204030204" pitchFamily="34" charset="0"/>
                <a:cs typeface="Times New Roman" panose="02020603050405020304" pitchFamily="18" charset="0"/>
              </a:rPr>
              <a:t>WAZLAWICK, Raul S. Metodologia de pesquisa para ciência da computação. Rio de Janeiro: Campus, 2009.</a:t>
            </a:r>
            <a:endParaRPr lang="pt-BR" sz="2200" b="1" kern="100" dirty="0">
              <a:latin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67061447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827B839B-9ADE-406B-8590-F1CAEDED45A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45">
            <a:extLst>
              <a:ext uri="{FF2B5EF4-FFF2-40B4-BE49-F238E27FC236}">
                <a16:creationId xmlns:a16="http://schemas.microsoft.com/office/drawing/2014/main" id="{CFE45BF0-46DB-408C-B5F7-7B11716805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409710" y="1022350"/>
            <a:ext cx="709612" cy="2095501"/>
          </a:xfrm>
          <a:custGeom>
            <a:avLst/>
            <a:gdLst>
              <a:gd name="T0" fmla="*/ 447 w 447"/>
              <a:gd name="T1" fmla="*/ 1363 h 1363"/>
              <a:gd name="T2" fmla="*/ 0 w 447"/>
              <a:gd name="T3" fmla="*/ 987 h 1363"/>
              <a:gd name="T4" fmla="*/ 0 w 447"/>
              <a:gd name="T5" fmla="*/ 0 h 1363"/>
              <a:gd name="T6" fmla="*/ 447 w 447"/>
              <a:gd name="T7" fmla="*/ 376 h 1363"/>
              <a:gd name="T8" fmla="*/ 447 w 447"/>
              <a:gd name="T9" fmla="*/ 1363 h 1363"/>
            </a:gdLst>
            <a:ahLst/>
            <a:cxnLst>
              <a:cxn ang="0">
                <a:pos x="T0" y="T1"/>
              </a:cxn>
              <a:cxn ang="0">
                <a:pos x="T2" y="T3"/>
              </a:cxn>
              <a:cxn ang="0">
                <a:pos x="T4" y="T5"/>
              </a:cxn>
              <a:cxn ang="0">
                <a:pos x="T6" y="T7"/>
              </a:cxn>
              <a:cxn ang="0">
                <a:pos x="T8" y="T9"/>
              </a:cxn>
            </a:cxnLst>
            <a:rect l="0" t="0" r="r" b="b"/>
            <a:pathLst>
              <a:path w="447" h="1363">
                <a:moveTo>
                  <a:pt x="447" y="1363"/>
                </a:moveTo>
                <a:lnTo>
                  <a:pt x="0" y="987"/>
                </a:lnTo>
                <a:lnTo>
                  <a:pt x="0" y="0"/>
                </a:lnTo>
                <a:lnTo>
                  <a:pt x="447" y="376"/>
                </a:lnTo>
                <a:lnTo>
                  <a:pt x="447" y="1363"/>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2" name="Freeform 46">
            <a:extLst>
              <a:ext uri="{FF2B5EF4-FFF2-40B4-BE49-F238E27FC236}">
                <a16:creationId xmlns:a16="http://schemas.microsoft.com/office/drawing/2014/main" id="{2AEBC8F2-97B1-41B4-93F1-2D289E197F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409710" y="837744"/>
            <a:ext cx="403225" cy="1705431"/>
          </a:xfrm>
          <a:custGeom>
            <a:avLst/>
            <a:gdLst>
              <a:gd name="T0" fmla="*/ 254 w 254"/>
              <a:gd name="T1" fmla="*/ 987 h 1109"/>
              <a:gd name="T2" fmla="*/ 0 w 254"/>
              <a:gd name="T3" fmla="*/ 1109 h 1109"/>
              <a:gd name="T4" fmla="*/ 0 w 254"/>
              <a:gd name="T5" fmla="*/ 119 h 1109"/>
              <a:gd name="T6" fmla="*/ 254 w 254"/>
              <a:gd name="T7" fmla="*/ 0 h 1109"/>
              <a:gd name="T8" fmla="*/ 254 w 254"/>
              <a:gd name="T9" fmla="*/ 987 h 1109"/>
            </a:gdLst>
            <a:ahLst/>
            <a:cxnLst>
              <a:cxn ang="0">
                <a:pos x="T0" y="T1"/>
              </a:cxn>
              <a:cxn ang="0">
                <a:pos x="T2" y="T3"/>
              </a:cxn>
              <a:cxn ang="0">
                <a:pos x="T4" y="T5"/>
              </a:cxn>
              <a:cxn ang="0">
                <a:pos x="T6" y="T7"/>
              </a:cxn>
              <a:cxn ang="0">
                <a:pos x="T8" y="T9"/>
              </a:cxn>
            </a:cxnLst>
            <a:rect l="0" t="0" r="r" b="b"/>
            <a:pathLst>
              <a:path w="254" h="1109">
                <a:moveTo>
                  <a:pt x="254" y="987"/>
                </a:moveTo>
                <a:lnTo>
                  <a:pt x="0" y="1109"/>
                </a:lnTo>
                <a:lnTo>
                  <a:pt x="0" y="119"/>
                </a:lnTo>
                <a:lnTo>
                  <a:pt x="254" y="0"/>
                </a:lnTo>
                <a:lnTo>
                  <a:pt x="254" y="987"/>
                </a:lnTo>
                <a:close/>
              </a:path>
            </a:pathLst>
          </a:custGeom>
          <a:solidFill>
            <a:schemeClr val="accent1">
              <a:lumMod val="7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4" name="Freeform 47">
            <a:extLst>
              <a:ext uri="{FF2B5EF4-FFF2-40B4-BE49-F238E27FC236}">
                <a16:creationId xmlns:a16="http://schemas.microsoft.com/office/drawing/2014/main" id="{472E3A19-F5D5-48FC-BB9C-48C2F68F598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644660" y="640894"/>
            <a:ext cx="168275" cy="1713195"/>
          </a:xfrm>
          <a:custGeom>
            <a:avLst/>
            <a:gdLst>
              <a:gd name="T0" fmla="*/ 106 w 106"/>
              <a:gd name="T1" fmla="*/ 1114 h 1114"/>
              <a:gd name="T2" fmla="*/ 0 w 106"/>
              <a:gd name="T3" fmla="*/ 1005 h 1114"/>
              <a:gd name="T4" fmla="*/ 0 w 106"/>
              <a:gd name="T5" fmla="*/ 0 h 1114"/>
              <a:gd name="T6" fmla="*/ 106 w 106"/>
              <a:gd name="T7" fmla="*/ 110 h 1114"/>
              <a:gd name="T8" fmla="*/ 106 w 106"/>
              <a:gd name="T9" fmla="*/ 1114 h 1114"/>
            </a:gdLst>
            <a:ahLst/>
            <a:cxnLst>
              <a:cxn ang="0">
                <a:pos x="T0" y="T1"/>
              </a:cxn>
              <a:cxn ang="0">
                <a:pos x="T2" y="T3"/>
              </a:cxn>
              <a:cxn ang="0">
                <a:pos x="T4" y="T5"/>
              </a:cxn>
              <a:cxn ang="0">
                <a:pos x="T6" y="T7"/>
              </a:cxn>
              <a:cxn ang="0">
                <a:pos x="T8" y="T9"/>
              </a:cxn>
            </a:cxnLst>
            <a:rect l="0" t="0" r="r" b="b"/>
            <a:pathLst>
              <a:path w="106" h="1114">
                <a:moveTo>
                  <a:pt x="106" y="1114"/>
                </a:moveTo>
                <a:lnTo>
                  <a:pt x="0" y="1005"/>
                </a:lnTo>
                <a:lnTo>
                  <a:pt x="0" y="0"/>
                </a:lnTo>
                <a:lnTo>
                  <a:pt x="106" y="110"/>
                </a:lnTo>
                <a:lnTo>
                  <a:pt x="106" y="1114"/>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6" name="Freeform 44">
            <a:extLst>
              <a:ext uri="{FF2B5EF4-FFF2-40B4-BE49-F238E27FC236}">
                <a16:creationId xmlns:a16="http://schemas.microsoft.com/office/drawing/2014/main" id="{7A62E32F-BB65-43A8-8EB5-92346890E5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1223203" y="635716"/>
            <a:ext cx="328612" cy="1742360"/>
          </a:xfrm>
          <a:custGeom>
            <a:avLst/>
            <a:gdLst>
              <a:gd name="T0" fmla="*/ 207 w 207"/>
              <a:gd name="T1" fmla="*/ 987 h 1114"/>
              <a:gd name="T2" fmla="*/ 0 w 207"/>
              <a:gd name="T3" fmla="*/ 1114 h 1114"/>
              <a:gd name="T4" fmla="*/ 0 w 207"/>
              <a:gd name="T5" fmla="*/ 127 h 1114"/>
              <a:gd name="T6" fmla="*/ 207 w 207"/>
              <a:gd name="T7" fmla="*/ 0 h 1114"/>
              <a:gd name="T8" fmla="*/ 207 w 207"/>
              <a:gd name="T9" fmla="*/ 987 h 1114"/>
            </a:gdLst>
            <a:ahLst/>
            <a:cxnLst>
              <a:cxn ang="0">
                <a:pos x="T0" y="T1"/>
              </a:cxn>
              <a:cxn ang="0">
                <a:pos x="T2" y="T3"/>
              </a:cxn>
              <a:cxn ang="0">
                <a:pos x="T4" y="T5"/>
              </a:cxn>
              <a:cxn ang="0">
                <a:pos x="T6" y="T7"/>
              </a:cxn>
              <a:cxn ang="0">
                <a:pos x="T8" y="T9"/>
              </a:cxn>
            </a:cxnLst>
            <a:rect l="0" t="0" r="r" b="b"/>
            <a:pathLst>
              <a:path w="207" h="1114">
                <a:moveTo>
                  <a:pt x="207" y="987"/>
                </a:moveTo>
                <a:lnTo>
                  <a:pt x="0" y="1114"/>
                </a:lnTo>
                <a:lnTo>
                  <a:pt x="0" y="127"/>
                </a:lnTo>
                <a:lnTo>
                  <a:pt x="207" y="0"/>
                </a:lnTo>
                <a:lnTo>
                  <a:pt x="207" y="987"/>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8" name="Rectangle 17">
            <a:extLst>
              <a:ext uri="{FF2B5EF4-FFF2-40B4-BE49-F238E27FC236}">
                <a16:creationId xmlns:a16="http://schemas.microsoft.com/office/drawing/2014/main" id="{14E91B64-9FCC-451E-AFB4-A827D63293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644055" y="635715"/>
            <a:ext cx="10907863" cy="1541457"/>
          </a:xfrm>
          <a:prstGeom prst="rect">
            <a:avLst/>
          </a:prstGeom>
          <a:solidFill>
            <a:schemeClr val="accent1"/>
          </a:solidFill>
          <a:ln>
            <a:noFill/>
          </a:ln>
        </p:spPr>
        <p:txBody>
          <a:bodyPr vert="horz" wrap="square" lIns="91440" tIns="45720" rIns="91440" bIns="45720" numCol="1" anchor="t" anchorCtr="0" compatLnSpc="1">
            <a:prstTxWarp prst="textNoShape">
              <a:avLst/>
            </a:prstTxWarp>
          </a:bodyPr>
          <a:lstStyle/>
          <a:p>
            <a:endParaRPr lang="en-US"/>
          </a:p>
        </p:txBody>
      </p:sp>
      <p:sp>
        <p:nvSpPr>
          <p:cNvPr id="2" name="Título 1">
            <a:extLst>
              <a:ext uri="{FF2B5EF4-FFF2-40B4-BE49-F238E27FC236}">
                <a16:creationId xmlns:a16="http://schemas.microsoft.com/office/drawing/2014/main" id="{E6306A88-6B44-E5BB-9AE2-5EDEBFEC4AD2}"/>
              </a:ext>
            </a:extLst>
          </p:cNvPr>
          <p:cNvSpPr>
            <a:spLocks noGrp="1"/>
          </p:cNvSpPr>
          <p:nvPr>
            <p:ph type="title"/>
          </p:nvPr>
        </p:nvSpPr>
        <p:spPr>
          <a:xfrm>
            <a:off x="958506" y="800392"/>
            <a:ext cx="10264697" cy="1212102"/>
          </a:xfrm>
        </p:spPr>
        <p:txBody>
          <a:bodyPr>
            <a:normAutofit/>
          </a:bodyPr>
          <a:lstStyle/>
          <a:p>
            <a:r>
              <a:rPr lang="pt-BR" sz="4000" b="1" dirty="0">
                <a:solidFill>
                  <a:srgbClr val="FFFFFF"/>
                </a:solidFill>
              </a:rPr>
              <a:t>BIBLIOGRAFIAS</a:t>
            </a:r>
          </a:p>
        </p:txBody>
      </p:sp>
      <p:sp>
        <p:nvSpPr>
          <p:cNvPr id="5" name="TextBox 4">
            <a:extLst>
              <a:ext uri="{FF2B5EF4-FFF2-40B4-BE49-F238E27FC236}">
                <a16:creationId xmlns:a16="http://schemas.microsoft.com/office/drawing/2014/main" id="{93EC0AFD-6C42-F8E3-6353-A72275AE8820}"/>
              </a:ext>
            </a:extLst>
          </p:cNvPr>
          <p:cNvSpPr txBox="1"/>
          <p:nvPr/>
        </p:nvSpPr>
        <p:spPr>
          <a:xfrm>
            <a:off x="1264893" y="2250073"/>
            <a:ext cx="9968601" cy="1794915"/>
          </a:xfrm>
          <a:prstGeom prst="rect">
            <a:avLst/>
          </a:prstGeom>
          <a:noFill/>
        </p:spPr>
        <p:txBody>
          <a:bodyPr wrap="square">
            <a:spAutoFit/>
          </a:bodyPr>
          <a:lstStyle/>
          <a:p>
            <a:pPr algn="just">
              <a:lnSpc>
                <a:spcPct val="107000"/>
              </a:lnSpc>
              <a:spcAft>
                <a:spcPts val="800"/>
              </a:spcAft>
            </a:pPr>
            <a:r>
              <a:rPr lang="pt-BR" sz="2200" b="1" kern="100" dirty="0">
                <a:solidFill>
                  <a:srgbClr val="FF0000"/>
                </a:solidFill>
                <a:latin typeface="Calibri" panose="020F0502020204030204" pitchFamily="34" charset="0"/>
                <a:ea typeface="Calibri" panose="020F0502020204030204" pitchFamily="34" charset="0"/>
                <a:cs typeface="Times New Roman" panose="02020603050405020304" pitchFamily="18" charset="0"/>
              </a:rPr>
              <a:t>REFERÊNCIA:</a:t>
            </a:r>
            <a:endParaRPr lang="pt-BR" sz="2200" b="1" kern="1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Aft>
                <a:spcPts val="800"/>
              </a:spcAft>
            </a:pPr>
            <a:endParaRPr lang="pt-BR" sz="2200" b="1" kern="100" dirty="0">
              <a:solidFill>
                <a:srgbClr val="FF0000"/>
              </a:solidFill>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Aft>
                <a:spcPts val="800"/>
              </a:spcAft>
            </a:pPr>
            <a:r>
              <a:rPr lang="pt-BR" sz="2400" b="1" dirty="0"/>
              <a:t>LAKATOS, Eva Marina; MARCONI, Marina de Andrade. Metodologia do Trabalho Científico. 2. ed. São Paulo: Atlas, 1987. 198 p.</a:t>
            </a:r>
            <a:endParaRPr lang="pt-BR" sz="2200" b="1" kern="100" dirty="0">
              <a:latin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47144519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827B839B-9ADE-406B-8590-F1CAEDED45A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45">
            <a:extLst>
              <a:ext uri="{FF2B5EF4-FFF2-40B4-BE49-F238E27FC236}">
                <a16:creationId xmlns:a16="http://schemas.microsoft.com/office/drawing/2014/main" id="{CFE45BF0-46DB-408C-B5F7-7B11716805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409710" y="1022350"/>
            <a:ext cx="709612" cy="2095501"/>
          </a:xfrm>
          <a:custGeom>
            <a:avLst/>
            <a:gdLst>
              <a:gd name="T0" fmla="*/ 447 w 447"/>
              <a:gd name="T1" fmla="*/ 1363 h 1363"/>
              <a:gd name="T2" fmla="*/ 0 w 447"/>
              <a:gd name="T3" fmla="*/ 987 h 1363"/>
              <a:gd name="T4" fmla="*/ 0 w 447"/>
              <a:gd name="T5" fmla="*/ 0 h 1363"/>
              <a:gd name="T6" fmla="*/ 447 w 447"/>
              <a:gd name="T7" fmla="*/ 376 h 1363"/>
              <a:gd name="T8" fmla="*/ 447 w 447"/>
              <a:gd name="T9" fmla="*/ 1363 h 1363"/>
            </a:gdLst>
            <a:ahLst/>
            <a:cxnLst>
              <a:cxn ang="0">
                <a:pos x="T0" y="T1"/>
              </a:cxn>
              <a:cxn ang="0">
                <a:pos x="T2" y="T3"/>
              </a:cxn>
              <a:cxn ang="0">
                <a:pos x="T4" y="T5"/>
              </a:cxn>
              <a:cxn ang="0">
                <a:pos x="T6" y="T7"/>
              </a:cxn>
              <a:cxn ang="0">
                <a:pos x="T8" y="T9"/>
              </a:cxn>
            </a:cxnLst>
            <a:rect l="0" t="0" r="r" b="b"/>
            <a:pathLst>
              <a:path w="447" h="1363">
                <a:moveTo>
                  <a:pt x="447" y="1363"/>
                </a:moveTo>
                <a:lnTo>
                  <a:pt x="0" y="987"/>
                </a:lnTo>
                <a:lnTo>
                  <a:pt x="0" y="0"/>
                </a:lnTo>
                <a:lnTo>
                  <a:pt x="447" y="376"/>
                </a:lnTo>
                <a:lnTo>
                  <a:pt x="447" y="1363"/>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2" name="Freeform 46">
            <a:extLst>
              <a:ext uri="{FF2B5EF4-FFF2-40B4-BE49-F238E27FC236}">
                <a16:creationId xmlns:a16="http://schemas.microsoft.com/office/drawing/2014/main" id="{2AEBC8F2-97B1-41B4-93F1-2D289E197F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409710" y="837744"/>
            <a:ext cx="403225" cy="1705431"/>
          </a:xfrm>
          <a:custGeom>
            <a:avLst/>
            <a:gdLst>
              <a:gd name="T0" fmla="*/ 254 w 254"/>
              <a:gd name="T1" fmla="*/ 987 h 1109"/>
              <a:gd name="T2" fmla="*/ 0 w 254"/>
              <a:gd name="T3" fmla="*/ 1109 h 1109"/>
              <a:gd name="T4" fmla="*/ 0 w 254"/>
              <a:gd name="T5" fmla="*/ 119 h 1109"/>
              <a:gd name="T6" fmla="*/ 254 w 254"/>
              <a:gd name="T7" fmla="*/ 0 h 1109"/>
              <a:gd name="T8" fmla="*/ 254 w 254"/>
              <a:gd name="T9" fmla="*/ 987 h 1109"/>
            </a:gdLst>
            <a:ahLst/>
            <a:cxnLst>
              <a:cxn ang="0">
                <a:pos x="T0" y="T1"/>
              </a:cxn>
              <a:cxn ang="0">
                <a:pos x="T2" y="T3"/>
              </a:cxn>
              <a:cxn ang="0">
                <a:pos x="T4" y="T5"/>
              </a:cxn>
              <a:cxn ang="0">
                <a:pos x="T6" y="T7"/>
              </a:cxn>
              <a:cxn ang="0">
                <a:pos x="T8" y="T9"/>
              </a:cxn>
            </a:cxnLst>
            <a:rect l="0" t="0" r="r" b="b"/>
            <a:pathLst>
              <a:path w="254" h="1109">
                <a:moveTo>
                  <a:pt x="254" y="987"/>
                </a:moveTo>
                <a:lnTo>
                  <a:pt x="0" y="1109"/>
                </a:lnTo>
                <a:lnTo>
                  <a:pt x="0" y="119"/>
                </a:lnTo>
                <a:lnTo>
                  <a:pt x="254" y="0"/>
                </a:lnTo>
                <a:lnTo>
                  <a:pt x="254" y="987"/>
                </a:lnTo>
                <a:close/>
              </a:path>
            </a:pathLst>
          </a:custGeom>
          <a:solidFill>
            <a:schemeClr val="accent1">
              <a:lumMod val="7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4" name="Freeform 47">
            <a:extLst>
              <a:ext uri="{FF2B5EF4-FFF2-40B4-BE49-F238E27FC236}">
                <a16:creationId xmlns:a16="http://schemas.microsoft.com/office/drawing/2014/main" id="{472E3A19-F5D5-48FC-BB9C-48C2F68F598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644660" y="640894"/>
            <a:ext cx="168275" cy="1713195"/>
          </a:xfrm>
          <a:custGeom>
            <a:avLst/>
            <a:gdLst>
              <a:gd name="T0" fmla="*/ 106 w 106"/>
              <a:gd name="T1" fmla="*/ 1114 h 1114"/>
              <a:gd name="T2" fmla="*/ 0 w 106"/>
              <a:gd name="T3" fmla="*/ 1005 h 1114"/>
              <a:gd name="T4" fmla="*/ 0 w 106"/>
              <a:gd name="T5" fmla="*/ 0 h 1114"/>
              <a:gd name="T6" fmla="*/ 106 w 106"/>
              <a:gd name="T7" fmla="*/ 110 h 1114"/>
              <a:gd name="T8" fmla="*/ 106 w 106"/>
              <a:gd name="T9" fmla="*/ 1114 h 1114"/>
            </a:gdLst>
            <a:ahLst/>
            <a:cxnLst>
              <a:cxn ang="0">
                <a:pos x="T0" y="T1"/>
              </a:cxn>
              <a:cxn ang="0">
                <a:pos x="T2" y="T3"/>
              </a:cxn>
              <a:cxn ang="0">
                <a:pos x="T4" y="T5"/>
              </a:cxn>
              <a:cxn ang="0">
                <a:pos x="T6" y="T7"/>
              </a:cxn>
              <a:cxn ang="0">
                <a:pos x="T8" y="T9"/>
              </a:cxn>
            </a:cxnLst>
            <a:rect l="0" t="0" r="r" b="b"/>
            <a:pathLst>
              <a:path w="106" h="1114">
                <a:moveTo>
                  <a:pt x="106" y="1114"/>
                </a:moveTo>
                <a:lnTo>
                  <a:pt x="0" y="1005"/>
                </a:lnTo>
                <a:lnTo>
                  <a:pt x="0" y="0"/>
                </a:lnTo>
                <a:lnTo>
                  <a:pt x="106" y="110"/>
                </a:lnTo>
                <a:lnTo>
                  <a:pt x="106" y="1114"/>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6" name="Freeform 44">
            <a:extLst>
              <a:ext uri="{FF2B5EF4-FFF2-40B4-BE49-F238E27FC236}">
                <a16:creationId xmlns:a16="http://schemas.microsoft.com/office/drawing/2014/main" id="{7A62E32F-BB65-43A8-8EB5-92346890E5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1223203" y="635716"/>
            <a:ext cx="328612" cy="1742360"/>
          </a:xfrm>
          <a:custGeom>
            <a:avLst/>
            <a:gdLst>
              <a:gd name="T0" fmla="*/ 207 w 207"/>
              <a:gd name="T1" fmla="*/ 987 h 1114"/>
              <a:gd name="T2" fmla="*/ 0 w 207"/>
              <a:gd name="T3" fmla="*/ 1114 h 1114"/>
              <a:gd name="T4" fmla="*/ 0 w 207"/>
              <a:gd name="T5" fmla="*/ 127 h 1114"/>
              <a:gd name="T6" fmla="*/ 207 w 207"/>
              <a:gd name="T7" fmla="*/ 0 h 1114"/>
              <a:gd name="T8" fmla="*/ 207 w 207"/>
              <a:gd name="T9" fmla="*/ 987 h 1114"/>
            </a:gdLst>
            <a:ahLst/>
            <a:cxnLst>
              <a:cxn ang="0">
                <a:pos x="T0" y="T1"/>
              </a:cxn>
              <a:cxn ang="0">
                <a:pos x="T2" y="T3"/>
              </a:cxn>
              <a:cxn ang="0">
                <a:pos x="T4" y="T5"/>
              </a:cxn>
              <a:cxn ang="0">
                <a:pos x="T6" y="T7"/>
              </a:cxn>
              <a:cxn ang="0">
                <a:pos x="T8" y="T9"/>
              </a:cxn>
            </a:cxnLst>
            <a:rect l="0" t="0" r="r" b="b"/>
            <a:pathLst>
              <a:path w="207" h="1114">
                <a:moveTo>
                  <a:pt x="207" y="987"/>
                </a:moveTo>
                <a:lnTo>
                  <a:pt x="0" y="1114"/>
                </a:lnTo>
                <a:lnTo>
                  <a:pt x="0" y="127"/>
                </a:lnTo>
                <a:lnTo>
                  <a:pt x="207" y="0"/>
                </a:lnTo>
                <a:lnTo>
                  <a:pt x="207" y="987"/>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8" name="Rectangle 17">
            <a:extLst>
              <a:ext uri="{FF2B5EF4-FFF2-40B4-BE49-F238E27FC236}">
                <a16:creationId xmlns:a16="http://schemas.microsoft.com/office/drawing/2014/main" id="{14E91B64-9FCC-451E-AFB4-A827D63293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644055" y="635715"/>
            <a:ext cx="10907863" cy="1541457"/>
          </a:xfrm>
          <a:prstGeom prst="rect">
            <a:avLst/>
          </a:prstGeom>
          <a:solidFill>
            <a:schemeClr val="accent1"/>
          </a:solidFill>
          <a:ln>
            <a:noFill/>
          </a:ln>
        </p:spPr>
        <p:txBody>
          <a:bodyPr vert="horz" wrap="square" lIns="91440" tIns="45720" rIns="91440" bIns="45720" numCol="1" anchor="t" anchorCtr="0" compatLnSpc="1">
            <a:prstTxWarp prst="textNoShape">
              <a:avLst/>
            </a:prstTxWarp>
          </a:bodyPr>
          <a:lstStyle/>
          <a:p>
            <a:endParaRPr lang="en-US"/>
          </a:p>
        </p:txBody>
      </p:sp>
      <p:sp>
        <p:nvSpPr>
          <p:cNvPr id="2" name="Título 1">
            <a:extLst>
              <a:ext uri="{FF2B5EF4-FFF2-40B4-BE49-F238E27FC236}">
                <a16:creationId xmlns:a16="http://schemas.microsoft.com/office/drawing/2014/main" id="{E6306A88-6B44-E5BB-9AE2-5EDEBFEC4AD2}"/>
              </a:ext>
            </a:extLst>
          </p:cNvPr>
          <p:cNvSpPr>
            <a:spLocks noGrp="1"/>
          </p:cNvSpPr>
          <p:nvPr>
            <p:ph type="title"/>
          </p:nvPr>
        </p:nvSpPr>
        <p:spPr>
          <a:xfrm>
            <a:off x="958506" y="800392"/>
            <a:ext cx="10264697" cy="1212102"/>
          </a:xfrm>
        </p:spPr>
        <p:txBody>
          <a:bodyPr>
            <a:normAutofit/>
          </a:bodyPr>
          <a:lstStyle/>
          <a:p>
            <a:r>
              <a:rPr lang="pt-BR" sz="4000" b="1" dirty="0">
                <a:solidFill>
                  <a:srgbClr val="FFFFFF"/>
                </a:solidFill>
              </a:rPr>
              <a:t>CRITÉRIOS DE NOTAS</a:t>
            </a:r>
          </a:p>
        </p:txBody>
      </p:sp>
      <p:sp>
        <p:nvSpPr>
          <p:cNvPr id="5" name="TextBox 4">
            <a:extLst>
              <a:ext uri="{FF2B5EF4-FFF2-40B4-BE49-F238E27FC236}">
                <a16:creationId xmlns:a16="http://schemas.microsoft.com/office/drawing/2014/main" id="{93EC0AFD-6C42-F8E3-6353-A72275AE8820}"/>
              </a:ext>
            </a:extLst>
          </p:cNvPr>
          <p:cNvSpPr txBox="1"/>
          <p:nvPr/>
        </p:nvSpPr>
        <p:spPr>
          <a:xfrm>
            <a:off x="1264893" y="2250073"/>
            <a:ext cx="9968601" cy="4157548"/>
          </a:xfrm>
          <a:prstGeom prst="rect">
            <a:avLst/>
          </a:prstGeom>
          <a:noFill/>
        </p:spPr>
        <p:txBody>
          <a:bodyPr wrap="square">
            <a:spAutoFit/>
          </a:bodyPr>
          <a:lstStyle/>
          <a:p>
            <a:pPr algn="just">
              <a:lnSpc>
                <a:spcPct val="107000"/>
              </a:lnSpc>
              <a:spcAft>
                <a:spcPts val="800"/>
              </a:spcAft>
            </a:pPr>
            <a:r>
              <a:rPr lang="pt-BR" sz="2200" b="1" kern="100" dirty="0">
                <a:solidFill>
                  <a:srgbClr val="FF0000"/>
                </a:solidFill>
                <a:latin typeface="Calibri" panose="020F0502020204030204" pitchFamily="34" charset="0"/>
                <a:cs typeface="Times New Roman" panose="02020603050405020304" pitchFamily="18" charset="0"/>
              </a:rPr>
              <a:t>FÓRMULA:</a:t>
            </a:r>
          </a:p>
          <a:p>
            <a:pPr algn="just">
              <a:lnSpc>
                <a:spcPct val="107000"/>
              </a:lnSpc>
              <a:spcAft>
                <a:spcPts val="800"/>
              </a:spcAft>
            </a:pPr>
            <a:endParaRPr lang="pt-BR" sz="2200" b="1" kern="100" dirty="0">
              <a:latin typeface="Calibri" panose="020F0502020204030204" pitchFamily="34" charset="0"/>
              <a:cs typeface="Times New Roman" panose="02020603050405020304" pitchFamily="18" charset="0"/>
            </a:endParaRPr>
          </a:p>
          <a:p>
            <a:pPr algn="just">
              <a:lnSpc>
                <a:spcPct val="107000"/>
              </a:lnSpc>
              <a:spcAft>
                <a:spcPts val="800"/>
              </a:spcAft>
            </a:pPr>
            <a:r>
              <a:rPr lang="pt-BR" sz="2200" b="1" kern="100" dirty="0">
                <a:latin typeface="Calibri" panose="020F0502020204030204" pitchFamily="34" charset="0"/>
                <a:cs typeface="Times New Roman" panose="02020603050405020304" pitchFamily="18" charset="0"/>
              </a:rPr>
              <a:t>(P1 + P2 + TP) / 3</a:t>
            </a:r>
          </a:p>
          <a:p>
            <a:pPr algn="just">
              <a:lnSpc>
                <a:spcPct val="107000"/>
              </a:lnSpc>
              <a:spcAft>
                <a:spcPts val="800"/>
              </a:spcAft>
            </a:pPr>
            <a:r>
              <a:rPr lang="pt-BR" sz="2200" b="1" kern="100" dirty="0">
                <a:latin typeface="Calibri" panose="020F0502020204030204" pitchFamily="34" charset="0"/>
                <a:cs typeface="Times New Roman" panose="02020603050405020304" pitchFamily="18" charset="0"/>
              </a:rPr>
              <a:t>Sendo: </a:t>
            </a:r>
          </a:p>
          <a:p>
            <a:pPr algn="just">
              <a:lnSpc>
                <a:spcPct val="107000"/>
              </a:lnSpc>
              <a:spcAft>
                <a:spcPts val="800"/>
              </a:spcAft>
            </a:pPr>
            <a:r>
              <a:rPr lang="pt-BR" sz="2200" b="1" kern="100" dirty="0">
                <a:latin typeface="Calibri" panose="020F0502020204030204" pitchFamily="34" charset="0"/>
                <a:cs typeface="Times New Roman" panose="02020603050405020304" pitchFamily="18" charset="0"/>
              </a:rPr>
              <a:t>P1 – prova bimestral 1</a:t>
            </a:r>
          </a:p>
          <a:p>
            <a:pPr algn="just">
              <a:lnSpc>
                <a:spcPct val="107000"/>
              </a:lnSpc>
              <a:spcAft>
                <a:spcPts val="800"/>
              </a:spcAft>
            </a:pPr>
            <a:r>
              <a:rPr lang="pt-BR" sz="2200" b="1" kern="100" dirty="0">
                <a:latin typeface="Calibri" panose="020F0502020204030204" pitchFamily="34" charset="0"/>
                <a:cs typeface="Times New Roman" panose="02020603050405020304" pitchFamily="18" charset="0"/>
              </a:rPr>
              <a:t>P2 – prova bimetral 2</a:t>
            </a:r>
          </a:p>
          <a:p>
            <a:pPr algn="just">
              <a:lnSpc>
                <a:spcPct val="107000"/>
              </a:lnSpc>
              <a:spcAft>
                <a:spcPts val="800"/>
              </a:spcAft>
            </a:pPr>
            <a:r>
              <a:rPr lang="pt-BR" sz="2200" b="1" kern="100" dirty="0">
                <a:latin typeface="Calibri" panose="020F0502020204030204" pitchFamily="34" charset="0"/>
                <a:cs typeface="Times New Roman" panose="02020603050405020304" pitchFamily="18" charset="0"/>
              </a:rPr>
              <a:t>TP – trabalhos desenvolvidos  em aula</a:t>
            </a:r>
          </a:p>
          <a:p>
            <a:pPr algn="just">
              <a:lnSpc>
                <a:spcPct val="107000"/>
              </a:lnSpc>
              <a:spcAft>
                <a:spcPts val="800"/>
              </a:spcAft>
            </a:pPr>
            <a:endParaRPr lang="pt-BR" sz="2200" b="1" kern="100" dirty="0">
              <a:latin typeface="Calibri" panose="020F0502020204030204" pitchFamily="34" charset="0"/>
              <a:cs typeface="Times New Roman" panose="02020603050405020304" pitchFamily="18" charset="0"/>
            </a:endParaRPr>
          </a:p>
          <a:p>
            <a:pPr algn="just">
              <a:lnSpc>
                <a:spcPct val="107000"/>
              </a:lnSpc>
              <a:spcAft>
                <a:spcPts val="800"/>
              </a:spcAft>
            </a:pPr>
            <a:r>
              <a:rPr lang="pt-BR" sz="2200" b="1" kern="100" dirty="0">
                <a:latin typeface="Calibri" panose="020F0502020204030204" pitchFamily="34" charset="0"/>
                <a:cs typeface="Times New Roman" panose="02020603050405020304" pitchFamily="18" charset="0"/>
              </a:rPr>
              <a:t>Média para aprovação = 6,0</a:t>
            </a:r>
          </a:p>
        </p:txBody>
      </p:sp>
    </p:spTree>
    <p:extLst>
      <p:ext uri="{BB962C8B-B14F-4D97-AF65-F5344CB8AC3E}">
        <p14:creationId xmlns:p14="http://schemas.microsoft.com/office/powerpoint/2010/main" val="2598334539"/>
      </p:ext>
    </p:extLst>
  </p:cSld>
  <p:clrMapOvr>
    <a:masterClrMapping/>
  </p:clrMapOvr>
</p:sld>
</file>

<file path=ppt/theme/theme1.xml><?xml version="1.0" encoding="utf-8"?>
<a:theme xmlns:a="http://schemas.openxmlformats.org/drawingml/2006/main" name="Tema do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o" ma:contentTypeID="0x010100F8806A6BBFD8F94CA27EC52F1AE6F20B" ma:contentTypeVersion="0" ma:contentTypeDescription="Crie um novo documento." ma:contentTypeScope="" ma:versionID="009204c953e4c078fd4847655011986a">
  <xsd:schema xmlns:xsd="http://www.w3.org/2001/XMLSchema" xmlns:xs="http://www.w3.org/2001/XMLSchema" xmlns:p="http://schemas.microsoft.com/office/2006/metadata/properties" targetNamespace="http://schemas.microsoft.com/office/2006/metadata/properties" ma:root="true" ma:fieldsID="574c6ccb71ee63fbc30cff3237551ec3">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e Conteúdo"/>
        <xsd:element ref="dc:title" minOccurs="0" maxOccurs="1" ma:index="4" ma:displayName="Títu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62B9341F-FB6E-45EC-8BD2-8F8BA864CC71}"/>
</file>

<file path=customXml/itemProps2.xml><?xml version="1.0" encoding="utf-8"?>
<ds:datastoreItem xmlns:ds="http://schemas.openxmlformats.org/officeDocument/2006/customXml" ds:itemID="{6BFE3BBF-5BA2-4965-AF4B-360AD8306FF2}"/>
</file>

<file path=customXml/itemProps3.xml><?xml version="1.0" encoding="utf-8"?>
<ds:datastoreItem xmlns:ds="http://schemas.openxmlformats.org/officeDocument/2006/customXml" ds:itemID="{C90F3D60-0EC4-4431-ACA4-D9BCA64AF062}"/>
</file>

<file path=docProps/app.xml><?xml version="1.0" encoding="utf-8"?>
<Properties xmlns="http://schemas.openxmlformats.org/officeDocument/2006/extended-properties" xmlns:vt="http://schemas.openxmlformats.org/officeDocument/2006/docPropsVTypes">
  <TotalTime>85</TotalTime>
  <Words>1361</Words>
  <Application>Microsoft Office PowerPoint</Application>
  <PresentationFormat>Widescreen</PresentationFormat>
  <Paragraphs>108</Paragraphs>
  <Slides>16</Slides>
  <Notes>7</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16</vt:i4>
      </vt:variant>
    </vt:vector>
  </HeadingPairs>
  <TitlesOfParts>
    <vt:vector size="21" baseType="lpstr">
      <vt:lpstr>Arial</vt:lpstr>
      <vt:lpstr>Calibri</vt:lpstr>
      <vt:lpstr>Calibri Light</vt:lpstr>
      <vt:lpstr>Century Schoolbook</vt:lpstr>
      <vt:lpstr>Tema do Office</vt:lpstr>
      <vt:lpstr>Metodologia do Trabalho Científico</vt:lpstr>
      <vt:lpstr>PowerPoint Presentation</vt:lpstr>
      <vt:lpstr>Metodologia do Trabalho Científico /  Métodos para a Produção do Conhecimento</vt:lpstr>
      <vt:lpstr>Ementa:</vt:lpstr>
      <vt:lpstr>PLANO DE AULA</vt:lpstr>
      <vt:lpstr>PLANO DE AULA</vt:lpstr>
      <vt:lpstr>PLANO DE AULA</vt:lpstr>
      <vt:lpstr>PLANO DE AULA</vt:lpstr>
      <vt:lpstr>PLANO DE AULA</vt:lpstr>
      <vt:lpstr>PLANO DE AULA</vt:lpstr>
      <vt:lpstr>PLANO DE AULA</vt:lpstr>
      <vt:lpstr>PLANO DE AULA</vt:lpstr>
      <vt:lpstr>PLANO DE AULA</vt:lpstr>
      <vt:lpstr>BIBLIOGRAFIAS</vt:lpstr>
      <vt:lpstr>BIBLIOGRAFIAS</vt:lpstr>
      <vt:lpstr>CRITÉRIOS DE NOTAS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Trabalho de Graduação (TG)</dc:title>
  <dc:creator>ULYSSES CAMARGO CORREA DIEGUES</dc:creator>
  <cp:lastModifiedBy>SABRINA MARTINS DOS SANTOS</cp:lastModifiedBy>
  <cp:revision>7</cp:revision>
  <dcterms:created xsi:type="dcterms:W3CDTF">2023-01-17T21:59:24Z</dcterms:created>
  <dcterms:modified xsi:type="dcterms:W3CDTF">2023-02-18T15:30:46Z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0x010100F8806A6BBFD8F94CA27EC52F1AE6F20B</vt:lpwstr>
  </property>
  <property fmtid="{D5CDD505-2E9C-101B-9397-08002B2CF9AE}" pid="3" name="Order">
    <vt:r8>400</vt:r8>
  </property>
  <property fmtid="{D5CDD505-2E9C-101B-9397-08002B2CF9AE}" pid="4" name="xd_Signature">
    <vt:bool>false</vt:bool>
  </property>
  <property fmtid="{D5CDD505-2E9C-101B-9397-08002B2CF9AE}" pid="5" name="xd_ProgID">
    <vt:lpwstr/>
  </property>
  <property fmtid="{D5CDD505-2E9C-101B-9397-08002B2CF9AE}" pid="6" name="_ExtendedDescription">
    <vt:lpwstr/>
  </property>
  <property fmtid="{D5CDD505-2E9C-101B-9397-08002B2CF9AE}" pid="7" name="TriggerFlowInfo">
    <vt:lpwstr/>
  </property>
  <property fmtid="{D5CDD505-2E9C-101B-9397-08002B2CF9AE}" pid="8" name="_SourceUrl">
    <vt:lpwstr/>
  </property>
  <property fmtid="{D5CDD505-2E9C-101B-9397-08002B2CF9AE}" pid="9" name="_SharedFileIndex">
    <vt:lpwstr/>
  </property>
  <property fmtid="{D5CDD505-2E9C-101B-9397-08002B2CF9AE}" pid="10" name="ComplianceAssetId">
    <vt:lpwstr/>
  </property>
  <property fmtid="{D5CDD505-2E9C-101B-9397-08002B2CF9AE}" pid="11" name="TemplateUrl">
    <vt:lpwstr/>
  </property>
</Properties>
</file>