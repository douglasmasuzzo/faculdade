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271" r:id="rId6"/>
    <p:sldId id="263" r:id="rId7"/>
    <p:sldId id="257" r:id="rId8"/>
    <p:sldId id="265" r:id="rId9"/>
    <p:sldId id="258" r:id="rId10"/>
    <p:sldId id="266" r:id="rId11"/>
    <p:sldId id="259" r:id="rId12"/>
    <p:sldId id="267" r:id="rId13"/>
    <p:sldId id="264" r:id="rId14"/>
    <p:sldId id="268" r:id="rId15"/>
    <p:sldId id="272" r:id="rId16"/>
    <p:sldId id="273" r:id="rId17"/>
    <p:sldId id="260" r:id="rId18"/>
    <p:sldId id="261" r:id="rId19"/>
    <p:sldId id="270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D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4" autoAdjust="0"/>
    <p:restoredTop sz="94038" autoAdjust="0"/>
  </p:normalViewPr>
  <p:slideViewPr>
    <p:cSldViewPr snapToGrid="0">
      <p:cViewPr varScale="1">
        <p:scale>
          <a:sx n="63" d="100"/>
          <a:sy n="63" d="100"/>
        </p:scale>
        <p:origin x="9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4E7E31-4E3F-42B5-A3DB-3372CEBD2933}" type="doc">
      <dgm:prSet loTypeId="urn:microsoft.com/office/officeart/2005/8/layout/list1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pt-BR"/>
        </a:p>
      </dgm:t>
    </dgm:pt>
    <dgm:pt modelId="{10727427-1C1B-4794-9F22-DDA9CFAF9A31}">
      <dgm:prSet phldrT="[Texto]"/>
      <dgm:spPr>
        <a:solidFill>
          <a:schemeClr val="accent1"/>
        </a:solidFill>
      </dgm:spPr>
      <dgm:t>
        <a:bodyPr/>
        <a:lstStyle/>
        <a:p>
          <a:r>
            <a:rPr lang="pt-BR" dirty="0">
              <a:solidFill>
                <a:schemeClr val="tx1"/>
              </a:solidFill>
            </a:rPr>
            <a:t>ESCRITA</a:t>
          </a:r>
        </a:p>
      </dgm:t>
    </dgm:pt>
    <dgm:pt modelId="{0C76BAB0-509B-499F-A881-F7864EE6DB69}" type="parTrans" cxnId="{C0126A2F-6B30-4B5A-B9C9-1925AC868155}">
      <dgm:prSet/>
      <dgm:spPr/>
      <dgm:t>
        <a:bodyPr/>
        <a:lstStyle/>
        <a:p>
          <a:endParaRPr lang="pt-BR"/>
        </a:p>
      </dgm:t>
    </dgm:pt>
    <dgm:pt modelId="{30D782AC-F2A0-4828-B880-60936727BD74}" type="sibTrans" cxnId="{C0126A2F-6B30-4B5A-B9C9-1925AC868155}">
      <dgm:prSet/>
      <dgm:spPr/>
      <dgm:t>
        <a:bodyPr/>
        <a:lstStyle/>
        <a:p>
          <a:endParaRPr lang="pt-BR"/>
        </a:p>
      </dgm:t>
    </dgm:pt>
    <dgm:pt modelId="{FD7C0C67-D0B5-4617-8B49-6DCB5BDB9665}">
      <dgm:prSet phldrT="[Texto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pt-BR" dirty="0">
              <a:solidFill>
                <a:schemeClr val="tx1"/>
              </a:solidFill>
            </a:rPr>
            <a:t>ESTRUTURA</a:t>
          </a:r>
        </a:p>
      </dgm:t>
    </dgm:pt>
    <dgm:pt modelId="{2B579FCF-05F1-45BC-A551-D7A28BF7A1B0}" type="parTrans" cxnId="{53524DF7-156D-49A3-93AA-431665BA2654}">
      <dgm:prSet/>
      <dgm:spPr/>
      <dgm:t>
        <a:bodyPr/>
        <a:lstStyle/>
        <a:p>
          <a:endParaRPr lang="pt-BR"/>
        </a:p>
      </dgm:t>
    </dgm:pt>
    <dgm:pt modelId="{49599A8F-916A-4D11-A929-1AEF9B328F97}" type="sibTrans" cxnId="{53524DF7-156D-49A3-93AA-431665BA2654}">
      <dgm:prSet/>
      <dgm:spPr/>
      <dgm:t>
        <a:bodyPr/>
        <a:lstStyle/>
        <a:p>
          <a:endParaRPr lang="pt-BR"/>
        </a:p>
      </dgm:t>
    </dgm:pt>
    <dgm:pt modelId="{5391B929-B4E4-4452-8866-BA797AB7D862}">
      <dgm:prSet phldrT="[Texto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pt-BR" dirty="0">
              <a:solidFill>
                <a:schemeClr val="tx1"/>
              </a:solidFill>
            </a:rPr>
            <a:t>FORMATAÇÃO</a:t>
          </a:r>
        </a:p>
      </dgm:t>
    </dgm:pt>
    <dgm:pt modelId="{A637437E-BED5-49F4-95AA-296F613A81BA}" type="parTrans" cxnId="{D43072DD-E40B-4146-80BD-9B41201FB11D}">
      <dgm:prSet/>
      <dgm:spPr/>
      <dgm:t>
        <a:bodyPr/>
        <a:lstStyle/>
        <a:p>
          <a:endParaRPr lang="pt-BR"/>
        </a:p>
      </dgm:t>
    </dgm:pt>
    <dgm:pt modelId="{11C3F61C-35A5-47F0-9A5B-0FA8E5DA2C54}" type="sibTrans" cxnId="{D43072DD-E40B-4146-80BD-9B41201FB11D}">
      <dgm:prSet/>
      <dgm:spPr/>
      <dgm:t>
        <a:bodyPr/>
        <a:lstStyle/>
        <a:p>
          <a:endParaRPr lang="pt-BR"/>
        </a:p>
      </dgm:t>
    </dgm:pt>
    <dgm:pt modelId="{24B645F9-1AAF-4954-8933-6FE9456649E6}">
      <dgm:prSet custT="1"/>
      <dgm:spPr/>
      <dgm:t>
        <a:bodyPr/>
        <a:lstStyle/>
        <a:p>
          <a:r>
            <a:rPr lang="pt-BR" sz="2000" dirty="0"/>
            <a:t>Normas ABNT ou outra</a:t>
          </a:r>
        </a:p>
      </dgm:t>
    </dgm:pt>
    <dgm:pt modelId="{BECF8B8C-5625-4DE8-938E-123F4F1A772F}" type="parTrans" cxnId="{943C4781-39A9-45D1-9846-71C9097A0E25}">
      <dgm:prSet/>
      <dgm:spPr/>
      <dgm:t>
        <a:bodyPr/>
        <a:lstStyle/>
        <a:p>
          <a:endParaRPr lang="pt-BR"/>
        </a:p>
      </dgm:t>
    </dgm:pt>
    <dgm:pt modelId="{1B033FD6-2376-420C-AF31-47BC4361474F}" type="sibTrans" cxnId="{943C4781-39A9-45D1-9846-71C9097A0E25}">
      <dgm:prSet/>
      <dgm:spPr/>
      <dgm:t>
        <a:bodyPr/>
        <a:lstStyle/>
        <a:p>
          <a:endParaRPr lang="pt-BR"/>
        </a:p>
      </dgm:t>
    </dgm:pt>
    <dgm:pt modelId="{C845E714-C65B-4A81-A6D7-13A0708B960A}">
      <dgm:prSet custT="1"/>
      <dgm:spPr/>
      <dgm:t>
        <a:bodyPr/>
        <a:lstStyle/>
        <a:p>
          <a:r>
            <a:rPr lang="pt-BR" sz="2000" dirty="0"/>
            <a:t>Formalidade na expressão </a:t>
          </a:r>
        </a:p>
      </dgm:t>
    </dgm:pt>
    <dgm:pt modelId="{261A3CB5-EA92-4688-AC10-6B0C02A35012}" type="parTrans" cxnId="{B4C246B7-9F8A-4DB2-9B13-E0B64686B90F}">
      <dgm:prSet/>
      <dgm:spPr/>
      <dgm:t>
        <a:bodyPr/>
        <a:lstStyle/>
        <a:p>
          <a:endParaRPr lang="pt-BR"/>
        </a:p>
      </dgm:t>
    </dgm:pt>
    <dgm:pt modelId="{2E20CAA0-878C-404A-BE18-43BC4DBE76D5}" type="sibTrans" cxnId="{B4C246B7-9F8A-4DB2-9B13-E0B64686B90F}">
      <dgm:prSet/>
      <dgm:spPr/>
      <dgm:t>
        <a:bodyPr/>
        <a:lstStyle/>
        <a:p>
          <a:endParaRPr lang="pt-BR"/>
        </a:p>
      </dgm:t>
    </dgm:pt>
    <dgm:pt modelId="{FB4AA2F1-93A9-42A9-8A09-487DB4DEFC90}">
      <dgm:prSet custT="1"/>
      <dgm:spPr/>
      <dgm:t>
        <a:bodyPr/>
        <a:lstStyle/>
        <a:p>
          <a:r>
            <a:rPr lang="pt-BR" sz="2000" dirty="0"/>
            <a:t>Estrutura própria padronizada</a:t>
          </a:r>
        </a:p>
      </dgm:t>
    </dgm:pt>
    <dgm:pt modelId="{D4E6F088-4DA3-4A42-8C5D-1A76C9EEA647}" type="parTrans" cxnId="{6A7C0BA0-95D6-4F38-96FD-6F84FD787A0F}">
      <dgm:prSet/>
      <dgm:spPr/>
      <dgm:t>
        <a:bodyPr/>
        <a:lstStyle/>
        <a:p>
          <a:endParaRPr lang="pt-BR"/>
        </a:p>
      </dgm:t>
    </dgm:pt>
    <dgm:pt modelId="{076F5AAC-1617-4DE7-A35C-921ABF60F99E}" type="sibTrans" cxnId="{6A7C0BA0-95D6-4F38-96FD-6F84FD787A0F}">
      <dgm:prSet/>
      <dgm:spPr/>
      <dgm:t>
        <a:bodyPr/>
        <a:lstStyle/>
        <a:p>
          <a:endParaRPr lang="pt-BR"/>
        </a:p>
      </dgm:t>
    </dgm:pt>
    <dgm:pt modelId="{B80E2DAC-87F4-4C64-96A3-7C563282482E}" type="pres">
      <dgm:prSet presAssocID="{954E7E31-4E3F-42B5-A3DB-3372CEBD2933}" presName="linear" presStyleCnt="0">
        <dgm:presLayoutVars>
          <dgm:dir/>
          <dgm:animLvl val="lvl"/>
          <dgm:resizeHandles val="exact"/>
        </dgm:presLayoutVars>
      </dgm:prSet>
      <dgm:spPr/>
    </dgm:pt>
    <dgm:pt modelId="{C2FA8289-BEA8-443C-91B4-EE43E91A0EAF}" type="pres">
      <dgm:prSet presAssocID="{10727427-1C1B-4794-9F22-DDA9CFAF9A31}" presName="parentLin" presStyleCnt="0"/>
      <dgm:spPr/>
    </dgm:pt>
    <dgm:pt modelId="{792A6A52-54A0-4725-9C87-7ED01B946D03}" type="pres">
      <dgm:prSet presAssocID="{10727427-1C1B-4794-9F22-DDA9CFAF9A31}" presName="parentLeftMargin" presStyleLbl="node1" presStyleIdx="0" presStyleCnt="3"/>
      <dgm:spPr/>
    </dgm:pt>
    <dgm:pt modelId="{5E26F55A-82B6-435B-99AA-88376308361F}" type="pres">
      <dgm:prSet presAssocID="{10727427-1C1B-4794-9F22-DDA9CFAF9A3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731260-E6A5-46C0-AC1A-102EBC4734BC}" type="pres">
      <dgm:prSet presAssocID="{10727427-1C1B-4794-9F22-DDA9CFAF9A31}" presName="negativeSpace" presStyleCnt="0"/>
      <dgm:spPr/>
    </dgm:pt>
    <dgm:pt modelId="{15DC1AD6-5DDB-4B29-81CB-84772D2BB00C}" type="pres">
      <dgm:prSet presAssocID="{10727427-1C1B-4794-9F22-DDA9CFAF9A31}" presName="childText" presStyleLbl="conFgAcc1" presStyleIdx="0" presStyleCnt="3">
        <dgm:presLayoutVars>
          <dgm:bulletEnabled val="1"/>
        </dgm:presLayoutVars>
      </dgm:prSet>
      <dgm:spPr/>
    </dgm:pt>
    <dgm:pt modelId="{CC775B9E-946E-43FE-8BC9-837F46E82ED4}" type="pres">
      <dgm:prSet presAssocID="{30D782AC-F2A0-4828-B880-60936727BD74}" presName="spaceBetweenRectangles" presStyleCnt="0"/>
      <dgm:spPr/>
    </dgm:pt>
    <dgm:pt modelId="{3606A579-BEC7-4E8C-80BF-1407CEC666F6}" type="pres">
      <dgm:prSet presAssocID="{FD7C0C67-D0B5-4617-8B49-6DCB5BDB9665}" presName="parentLin" presStyleCnt="0"/>
      <dgm:spPr/>
    </dgm:pt>
    <dgm:pt modelId="{856E4429-923D-4887-B43B-646EB27FD62F}" type="pres">
      <dgm:prSet presAssocID="{FD7C0C67-D0B5-4617-8B49-6DCB5BDB9665}" presName="parentLeftMargin" presStyleLbl="node1" presStyleIdx="0" presStyleCnt="3"/>
      <dgm:spPr/>
    </dgm:pt>
    <dgm:pt modelId="{A032D239-DBDF-4728-B261-BDD19A5484DB}" type="pres">
      <dgm:prSet presAssocID="{FD7C0C67-D0B5-4617-8B49-6DCB5BDB9665}" presName="parentText" presStyleLbl="node1" presStyleIdx="1" presStyleCnt="3" custLinFactNeighborX="36743" custLinFactNeighborY="-829">
        <dgm:presLayoutVars>
          <dgm:chMax val="0"/>
          <dgm:bulletEnabled val="1"/>
        </dgm:presLayoutVars>
      </dgm:prSet>
      <dgm:spPr/>
    </dgm:pt>
    <dgm:pt modelId="{F54C8079-75C5-4017-81E6-F5D9811B1D03}" type="pres">
      <dgm:prSet presAssocID="{FD7C0C67-D0B5-4617-8B49-6DCB5BDB9665}" presName="negativeSpace" presStyleCnt="0"/>
      <dgm:spPr/>
    </dgm:pt>
    <dgm:pt modelId="{9ECA2CED-03BF-45D8-8FEE-50167E5DCD0D}" type="pres">
      <dgm:prSet presAssocID="{FD7C0C67-D0B5-4617-8B49-6DCB5BDB9665}" presName="childText" presStyleLbl="conFgAcc1" presStyleIdx="1" presStyleCnt="3">
        <dgm:presLayoutVars>
          <dgm:bulletEnabled val="1"/>
        </dgm:presLayoutVars>
      </dgm:prSet>
      <dgm:spPr/>
    </dgm:pt>
    <dgm:pt modelId="{8005335D-1FFB-4492-9123-55D7CAAE17BE}" type="pres">
      <dgm:prSet presAssocID="{49599A8F-916A-4D11-A929-1AEF9B328F97}" presName="spaceBetweenRectangles" presStyleCnt="0"/>
      <dgm:spPr/>
    </dgm:pt>
    <dgm:pt modelId="{9A6FFCB5-E07F-43E7-AB3B-164A32328406}" type="pres">
      <dgm:prSet presAssocID="{5391B929-B4E4-4452-8866-BA797AB7D862}" presName="parentLin" presStyleCnt="0"/>
      <dgm:spPr/>
    </dgm:pt>
    <dgm:pt modelId="{463CE25A-CCD9-49C5-94AF-B45F53081391}" type="pres">
      <dgm:prSet presAssocID="{5391B929-B4E4-4452-8866-BA797AB7D862}" presName="parentLeftMargin" presStyleLbl="node1" presStyleIdx="1" presStyleCnt="3"/>
      <dgm:spPr/>
    </dgm:pt>
    <dgm:pt modelId="{AD54F2A3-4B5D-4442-971C-5D1331BE0F71}" type="pres">
      <dgm:prSet presAssocID="{5391B929-B4E4-4452-8866-BA797AB7D86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0BDCD64-0A60-4CB8-921D-CAADA5DFB917}" type="pres">
      <dgm:prSet presAssocID="{5391B929-B4E4-4452-8866-BA797AB7D862}" presName="negativeSpace" presStyleCnt="0"/>
      <dgm:spPr/>
    </dgm:pt>
    <dgm:pt modelId="{83F4ED9B-26C3-4CE8-865F-1A53AD94250E}" type="pres">
      <dgm:prSet presAssocID="{5391B929-B4E4-4452-8866-BA797AB7D86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0126A2F-6B30-4B5A-B9C9-1925AC868155}" srcId="{954E7E31-4E3F-42B5-A3DB-3372CEBD2933}" destId="{10727427-1C1B-4794-9F22-DDA9CFAF9A31}" srcOrd="0" destOrd="0" parTransId="{0C76BAB0-509B-499F-A881-F7864EE6DB69}" sibTransId="{30D782AC-F2A0-4828-B880-60936727BD74}"/>
    <dgm:cxn modelId="{EAC9F93D-28EC-48AE-AE0F-5D0FDB96894F}" type="presOf" srcId="{FD7C0C67-D0B5-4617-8B49-6DCB5BDB9665}" destId="{856E4429-923D-4887-B43B-646EB27FD62F}" srcOrd="0" destOrd="0" presId="urn:microsoft.com/office/officeart/2005/8/layout/list1"/>
    <dgm:cxn modelId="{D4E8B64C-09FA-418A-9CA1-37C38E6667AC}" type="presOf" srcId="{5391B929-B4E4-4452-8866-BA797AB7D862}" destId="{463CE25A-CCD9-49C5-94AF-B45F53081391}" srcOrd="0" destOrd="0" presId="urn:microsoft.com/office/officeart/2005/8/layout/list1"/>
    <dgm:cxn modelId="{5A240E50-4D1E-45B4-B476-D3EA50E780CE}" type="presOf" srcId="{10727427-1C1B-4794-9F22-DDA9CFAF9A31}" destId="{5E26F55A-82B6-435B-99AA-88376308361F}" srcOrd="1" destOrd="0" presId="urn:microsoft.com/office/officeart/2005/8/layout/list1"/>
    <dgm:cxn modelId="{9E6B1670-6980-4758-B3CF-2C248275DB6A}" type="presOf" srcId="{954E7E31-4E3F-42B5-A3DB-3372CEBD2933}" destId="{B80E2DAC-87F4-4C64-96A3-7C563282482E}" srcOrd="0" destOrd="0" presId="urn:microsoft.com/office/officeart/2005/8/layout/list1"/>
    <dgm:cxn modelId="{C82D0D52-B881-4B89-8B49-CBC780687E08}" type="presOf" srcId="{FB4AA2F1-93A9-42A9-8A09-487DB4DEFC90}" destId="{9ECA2CED-03BF-45D8-8FEE-50167E5DCD0D}" srcOrd="0" destOrd="0" presId="urn:microsoft.com/office/officeart/2005/8/layout/list1"/>
    <dgm:cxn modelId="{943C4781-39A9-45D1-9846-71C9097A0E25}" srcId="{5391B929-B4E4-4452-8866-BA797AB7D862}" destId="{24B645F9-1AAF-4954-8933-6FE9456649E6}" srcOrd="0" destOrd="0" parTransId="{BECF8B8C-5625-4DE8-938E-123F4F1A772F}" sibTransId="{1B033FD6-2376-420C-AF31-47BC4361474F}"/>
    <dgm:cxn modelId="{6A7C0BA0-95D6-4F38-96FD-6F84FD787A0F}" srcId="{FD7C0C67-D0B5-4617-8B49-6DCB5BDB9665}" destId="{FB4AA2F1-93A9-42A9-8A09-487DB4DEFC90}" srcOrd="0" destOrd="0" parTransId="{D4E6F088-4DA3-4A42-8C5D-1A76C9EEA647}" sibTransId="{076F5AAC-1617-4DE7-A35C-921ABF60F99E}"/>
    <dgm:cxn modelId="{B4C246B7-9F8A-4DB2-9B13-E0B64686B90F}" srcId="{10727427-1C1B-4794-9F22-DDA9CFAF9A31}" destId="{C845E714-C65B-4A81-A6D7-13A0708B960A}" srcOrd="0" destOrd="0" parTransId="{261A3CB5-EA92-4688-AC10-6B0C02A35012}" sibTransId="{2E20CAA0-878C-404A-BE18-43BC4DBE76D5}"/>
    <dgm:cxn modelId="{C67D17CF-9B57-4234-AC0E-E8366E101E86}" type="presOf" srcId="{10727427-1C1B-4794-9F22-DDA9CFAF9A31}" destId="{792A6A52-54A0-4725-9C87-7ED01B946D03}" srcOrd="0" destOrd="0" presId="urn:microsoft.com/office/officeart/2005/8/layout/list1"/>
    <dgm:cxn modelId="{100D09D6-E92E-4BB9-B14F-C07CEA633874}" type="presOf" srcId="{5391B929-B4E4-4452-8866-BA797AB7D862}" destId="{AD54F2A3-4B5D-4442-971C-5D1331BE0F71}" srcOrd="1" destOrd="0" presId="urn:microsoft.com/office/officeart/2005/8/layout/list1"/>
    <dgm:cxn modelId="{C0A325D6-9BD5-4EB2-8662-632F4F1AF0A9}" type="presOf" srcId="{24B645F9-1AAF-4954-8933-6FE9456649E6}" destId="{83F4ED9B-26C3-4CE8-865F-1A53AD94250E}" srcOrd="0" destOrd="0" presId="urn:microsoft.com/office/officeart/2005/8/layout/list1"/>
    <dgm:cxn modelId="{5532B5DB-149B-41DC-B011-A2A5FDF45545}" type="presOf" srcId="{FD7C0C67-D0B5-4617-8B49-6DCB5BDB9665}" destId="{A032D239-DBDF-4728-B261-BDD19A5484DB}" srcOrd="1" destOrd="0" presId="urn:microsoft.com/office/officeart/2005/8/layout/list1"/>
    <dgm:cxn modelId="{D43072DD-E40B-4146-80BD-9B41201FB11D}" srcId="{954E7E31-4E3F-42B5-A3DB-3372CEBD2933}" destId="{5391B929-B4E4-4452-8866-BA797AB7D862}" srcOrd="2" destOrd="0" parTransId="{A637437E-BED5-49F4-95AA-296F613A81BA}" sibTransId="{11C3F61C-35A5-47F0-9A5B-0FA8E5DA2C54}"/>
    <dgm:cxn modelId="{EAEB7EEC-59B9-4B70-974C-1BD5C5826BD9}" type="presOf" srcId="{C845E714-C65B-4A81-A6D7-13A0708B960A}" destId="{15DC1AD6-5DDB-4B29-81CB-84772D2BB00C}" srcOrd="0" destOrd="0" presId="urn:microsoft.com/office/officeart/2005/8/layout/list1"/>
    <dgm:cxn modelId="{53524DF7-156D-49A3-93AA-431665BA2654}" srcId="{954E7E31-4E3F-42B5-A3DB-3372CEBD2933}" destId="{FD7C0C67-D0B5-4617-8B49-6DCB5BDB9665}" srcOrd="1" destOrd="0" parTransId="{2B579FCF-05F1-45BC-A551-D7A28BF7A1B0}" sibTransId="{49599A8F-916A-4D11-A929-1AEF9B328F97}"/>
    <dgm:cxn modelId="{B9318271-7F87-4A4C-8723-5CE961E7B0E0}" type="presParOf" srcId="{B80E2DAC-87F4-4C64-96A3-7C563282482E}" destId="{C2FA8289-BEA8-443C-91B4-EE43E91A0EAF}" srcOrd="0" destOrd="0" presId="urn:microsoft.com/office/officeart/2005/8/layout/list1"/>
    <dgm:cxn modelId="{6003DEEB-D2EF-40BD-9397-38D1ADD5BEA8}" type="presParOf" srcId="{C2FA8289-BEA8-443C-91B4-EE43E91A0EAF}" destId="{792A6A52-54A0-4725-9C87-7ED01B946D03}" srcOrd="0" destOrd="0" presId="urn:microsoft.com/office/officeart/2005/8/layout/list1"/>
    <dgm:cxn modelId="{E3E32407-BA0A-4F6F-8A19-E7B0CA801494}" type="presParOf" srcId="{C2FA8289-BEA8-443C-91B4-EE43E91A0EAF}" destId="{5E26F55A-82B6-435B-99AA-88376308361F}" srcOrd="1" destOrd="0" presId="urn:microsoft.com/office/officeart/2005/8/layout/list1"/>
    <dgm:cxn modelId="{0E739192-C76C-40C1-8990-F6373CAA3221}" type="presParOf" srcId="{B80E2DAC-87F4-4C64-96A3-7C563282482E}" destId="{F2731260-E6A5-46C0-AC1A-102EBC4734BC}" srcOrd="1" destOrd="0" presId="urn:microsoft.com/office/officeart/2005/8/layout/list1"/>
    <dgm:cxn modelId="{BA5B5952-84D1-44DC-9A26-3258FBE5DFB5}" type="presParOf" srcId="{B80E2DAC-87F4-4C64-96A3-7C563282482E}" destId="{15DC1AD6-5DDB-4B29-81CB-84772D2BB00C}" srcOrd="2" destOrd="0" presId="urn:microsoft.com/office/officeart/2005/8/layout/list1"/>
    <dgm:cxn modelId="{0FADEDA7-4D69-412C-ADFF-88F216AB8BC7}" type="presParOf" srcId="{B80E2DAC-87F4-4C64-96A3-7C563282482E}" destId="{CC775B9E-946E-43FE-8BC9-837F46E82ED4}" srcOrd="3" destOrd="0" presId="urn:microsoft.com/office/officeart/2005/8/layout/list1"/>
    <dgm:cxn modelId="{E04A0FF0-9A54-4AB0-9D14-BD2E7B67F507}" type="presParOf" srcId="{B80E2DAC-87F4-4C64-96A3-7C563282482E}" destId="{3606A579-BEC7-4E8C-80BF-1407CEC666F6}" srcOrd="4" destOrd="0" presId="urn:microsoft.com/office/officeart/2005/8/layout/list1"/>
    <dgm:cxn modelId="{EA3B79B6-D058-4ED2-8657-6EEDC02DDEF3}" type="presParOf" srcId="{3606A579-BEC7-4E8C-80BF-1407CEC666F6}" destId="{856E4429-923D-4887-B43B-646EB27FD62F}" srcOrd="0" destOrd="0" presId="urn:microsoft.com/office/officeart/2005/8/layout/list1"/>
    <dgm:cxn modelId="{7AD9AA9A-B8C2-4441-8744-EF657538203E}" type="presParOf" srcId="{3606A579-BEC7-4E8C-80BF-1407CEC666F6}" destId="{A032D239-DBDF-4728-B261-BDD19A5484DB}" srcOrd="1" destOrd="0" presId="urn:microsoft.com/office/officeart/2005/8/layout/list1"/>
    <dgm:cxn modelId="{DD6366BD-0ADD-4A14-A04F-C1F9F381E638}" type="presParOf" srcId="{B80E2DAC-87F4-4C64-96A3-7C563282482E}" destId="{F54C8079-75C5-4017-81E6-F5D9811B1D03}" srcOrd="5" destOrd="0" presId="urn:microsoft.com/office/officeart/2005/8/layout/list1"/>
    <dgm:cxn modelId="{30F2D43C-C5E5-427B-AC84-74B13B14D746}" type="presParOf" srcId="{B80E2DAC-87F4-4C64-96A3-7C563282482E}" destId="{9ECA2CED-03BF-45D8-8FEE-50167E5DCD0D}" srcOrd="6" destOrd="0" presId="urn:microsoft.com/office/officeart/2005/8/layout/list1"/>
    <dgm:cxn modelId="{249AB5E3-D249-4B65-B9BF-6E1CC1D2F7FC}" type="presParOf" srcId="{B80E2DAC-87F4-4C64-96A3-7C563282482E}" destId="{8005335D-1FFB-4492-9123-55D7CAAE17BE}" srcOrd="7" destOrd="0" presId="urn:microsoft.com/office/officeart/2005/8/layout/list1"/>
    <dgm:cxn modelId="{EAF103B4-A1CB-4433-A197-3FE33BF015FC}" type="presParOf" srcId="{B80E2DAC-87F4-4C64-96A3-7C563282482E}" destId="{9A6FFCB5-E07F-43E7-AB3B-164A32328406}" srcOrd="8" destOrd="0" presId="urn:microsoft.com/office/officeart/2005/8/layout/list1"/>
    <dgm:cxn modelId="{B75DE9BC-252D-47FC-93A8-CC867B90F896}" type="presParOf" srcId="{9A6FFCB5-E07F-43E7-AB3B-164A32328406}" destId="{463CE25A-CCD9-49C5-94AF-B45F53081391}" srcOrd="0" destOrd="0" presId="urn:microsoft.com/office/officeart/2005/8/layout/list1"/>
    <dgm:cxn modelId="{093E1777-9A3F-49FE-A2DE-50607D8FA948}" type="presParOf" srcId="{9A6FFCB5-E07F-43E7-AB3B-164A32328406}" destId="{AD54F2A3-4B5D-4442-971C-5D1331BE0F71}" srcOrd="1" destOrd="0" presId="urn:microsoft.com/office/officeart/2005/8/layout/list1"/>
    <dgm:cxn modelId="{8C7F6638-2C30-4334-930C-C29FDBB6FF20}" type="presParOf" srcId="{B80E2DAC-87F4-4C64-96A3-7C563282482E}" destId="{60BDCD64-0A60-4CB8-921D-CAADA5DFB917}" srcOrd="9" destOrd="0" presId="urn:microsoft.com/office/officeart/2005/8/layout/list1"/>
    <dgm:cxn modelId="{42D45FC0-12D1-4250-9E23-B57226A21F8D}" type="presParOf" srcId="{B80E2DAC-87F4-4C64-96A3-7C563282482E}" destId="{83F4ED9B-26C3-4CE8-865F-1A53AD94250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DC1AD6-5DDB-4B29-81CB-84772D2BB00C}">
      <dsp:nvSpPr>
        <dsp:cNvPr id="0" name=""/>
        <dsp:cNvSpPr/>
      </dsp:nvSpPr>
      <dsp:spPr>
        <a:xfrm>
          <a:off x="0" y="499445"/>
          <a:ext cx="7592447" cy="1074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258" tIns="645668" rIns="58925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/>
            <a:t>Formalidade na expressão </a:t>
          </a:r>
        </a:p>
      </dsp:txBody>
      <dsp:txXfrm>
        <a:off x="0" y="499445"/>
        <a:ext cx="7592447" cy="1074150"/>
      </dsp:txXfrm>
    </dsp:sp>
    <dsp:sp modelId="{5E26F55A-82B6-435B-99AA-88376308361F}">
      <dsp:nvSpPr>
        <dsp:cNvPr id="0" name=""/>
        <dsp:cNvSpPr/>
      </dsp:nvSpPr>
      <dsp:spPr>
        <a:xfrm>
          <a:off x="379622" y="41885"/>
          <a:ext cx="5314712" cy="91512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83" tIns="0" rIns="20088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>
              <a:solidFill>
                <a:schemeClr val="tx1"/>
              </a:solidFill>
            </a:rPr>
            <a:t>ESCRITA</a:t>
          </a:r>
        </a:p>
      </dsp:txBody>
      <dsp:txXfrm>
        <a:off x="424294" y="86557"/>
        <a:ext cx="5225368" cy="825776"/>
      </dsp:txXfrm>
    </dsp:sp>
    <dsp:sp modelId="{9ECA2CED-03BF-45D8-8FEE-50167E5DCD0D}">
      <dsp:nvSpPr>
        <dsp:cNvPr id="0" name=""/>
        <dsp:cNvSpPr/>
      </dsp:nvSpPr>
      <dsp:spPr>
        <a:xfrm>
          <a:off x="0" y="2198555"/>
          <a:ext cx="7592447" cy="1074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222839"/>
              <a:satOff val="5970"/>
              <a:lumOff val="263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258" tIns="645668" rIns="58925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/>
            <a:t>Estrutura própria padronizada</a:t>
          </a:r>
        </a:p>
      </dsp:txBody>
      <dsp:txXfrm>
        <a:off x="0" y="2198555"/>
        <a:ext cx="7592447" cy="1074150"/>
      </dsp:txXfrm>
    </dsp:sp>
    <dsp:sp modelId="{A032D239-DBDF-4728-B261-BDD19A5484DB}">
      <dsp:nvSpPr>
        <dsp:cNvPr id="0" name=""/>
        <dsp:cNvSpPr/>
      </dsp:nvSpPr>
      <dsp:spPr>
        <a:xfrm>
          <a:off x="519106" y="1733409"/>
          <a:ext cx="5314712" cy="91512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83" tIns="0" rIns="20088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>
              <a:solidFill>
                <a:schemeClr val="tx1"/>
              </a:solidFill>
            </a:rPr>
            <a:t>ESTRUTURA</a:t>
          </a:r>
        </a:p>
      </dsp:txBody>
      <dsp:txXfrm>
        <a:off x="563778" y="1778081"/>
        <a:ext cx="5225368" cy="825776"/>
      </dsp:txXfrm>
    </dsp:sp>
    <dsp:sp modelId="{83F4ED9B-26C3-4CE8-865F-1A53AD94250E}">
      <dsp:nvSpPr>
        <dsp:cNvPr id="0" name=""/>
        <dsp:cNvSpPr/>
      </dsp:nvSpPr>
      <dsp:spPr>
        <a:xfrm>
          <a:off x="0" y="3897666"/>
          <a:ext cx="7592447" cy="1074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50000"/>
              <a:hueOff val="222839"/>
              <a:satOff val="5970"/>
              <a:lumOff val="263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258" tIns="645668" rIns="58925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/>
            <a:t>Normas ABNT ou outra</a:t>
          </a:r>
        </a:p>
      </dsp:txBody>
      <dsp:txXfrm>
        <a:off x="0" y="3897666"/>
        <a:ext cx="7592447" cy="1074150"/>
      </dsp:txXfrm>
    </dsp:sp>
    <dsp:sp modelId="{AD54F2A3-4B5D-4442-971C-5D1331BE0F71}">
      <dsp:nvSpPr>
        <dsp:cNvPr id="0" name=""/>
        <dsp:cNvSpPr/>
      </dsp:nvSpPr>
      <dsp:spPr>
        <a:xfrm>
          <a:off x="379622" y="3440106"/>
          <a:ext cx="5314712" cy="915120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883" tIns="0" rIns="20088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>
              <a:solidFill>
                <a:schemeClr val="tx1"/>
              </a:solidFill>
            </a:rPr>
            <a:t>FORMATAÇÃO</a:t>
          </a:r>
        </a:p>
      </dsp:txBody>
      <dsp:txXfrm>
        <a:off x="424294" y="3484778"/>
        <a:ext cx="5225368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B72AA-6BAC-4447-AD05-A4B2FC93759D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29CC0-3902-4BB1-89B8-28C5019AACD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754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29CC0-3902-4BB1-89B8-28C5019AACD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368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F40A9-DC1D-41B4-9E25-FE0E9A605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8EB0EB-5EFD-4539-90DA-E201D4CF1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96532B-FAA6-4534-91A5-30038131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203A21-3297-4C66-97FC-1AFB9D94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C8CEA5-4372-4F25-B34C-BE00236A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7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E3950-0430-4BAC-B820-BAE2EFA0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071D07-AAE0-44CE-89D9-CED31038B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1103FB-638C-47DA-A88B-6EB52B52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EE807B-10CC-4E87-9587-F3AF5B76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9A2401-01D2-49DB-ACBB-4A057A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53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91EC1-94AF-4372-9012-A847B9D1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EB0621-B1D1-4350-BEFA-8917CC8E6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DE36A7-ABF5-47E1-90A5-B512EAFE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8F08A8-CC27-45BD-A261-8A9F99D1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8E367E-0F3B-400C-B12B-FB6657DE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39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2F8EC-B5A8-4465-AFBB-DD60621E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322901-AA55-4F19-B6B2-6DE8F9213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734C40-ED22-4E05-B3EF-68AA68F51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474105-B8F0-48BE-B7BB-08E235AA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0C2F36-E285-4DD6-A1F2-DA63823A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0D29F5-DFB1-42C4-8869-E300790E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76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A9E2E-D511-4442-873C-372205F3A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FF0E8C-FC27-4FE2-9A85-64ED6450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618AA0-7715-400E-9DCA-1AF682A4E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C1BC82-D42A-4242-BB12-1E9541C67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8CB536-9958-4786-9E06-C14670B14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95F2EF-4158-440F-BF4F-7C44F3BE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EDF5B3-EA8B-49FD-B6E5-369F1912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773A2D-C98D-4C5D-BF34-80832326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51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1F31F-454A-4052-B48C-D2438FF2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E8919B-352E-4E6E-95E4-4A8BEB99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CF5889-CD30-4EDE-8BCE-EF90E97E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8E45C8-DC11-42DB-AB88-7F782808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292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B0C715-3D79-47FE-B85B-CFE1C7D5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ACBB09-A73C-4518-8D37-4227A52C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AD9ADE-485E-4A6C-8DB4-556B02B0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94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7083F-1AC5-4122-915D-5AC4474F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B98FB-0E29-4593-A71A-EF8DF1D16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2E5B5F-7B9A-41BA-9BB2-062D31E97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A058CA-C41A-4BBD-A104-EA031D5E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B108AC-C2A6-4034-87ED-C5B9B897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00D3A1-7741-43F8-823B-4F89902C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59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044DA-B186-4811-8668-9925B712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AEB77A-B922-49F7-8929-497F37438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FE2977-F556-4B1B-B514-BB1717473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3234BB-DF0A-43EE-8BCF-D57ADEAE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7F91B7-8292-499E-92EA-CF28B1FB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6FD0F0-1FEA-4B37-9164-B6118570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25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59B6A-5E7D-4411-AD2C-C186B92B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8EF371-5126-46BD-9F10-B24AF3CA1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C6F2F3-E5E9-4AEC-908E-AC6D198D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4EE5EA-734A-443D-A98A-2CBBDD35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4592C4-504B-43D0-8DA1-415AFB97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17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0138D0-E75E-45C9-9E2A-B9CC12FC6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A0E3AA-1F61-4DFF-9A0B-F12433ADC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7C5B1C-C552-4883-9098-C83CDD7B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D6C10E-D074-4046-BF59-32DBDDF0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0D8B8-154D-426A-A2A7-6A4933017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63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1CD3C0E-1C5A-4881-928C-3DE14D64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3DE1E0-B329-457E-8781-B7482C9AC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D22AB6-5670-48D5-9A92-1C3635286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0770-8529-4061-AE12-2D71BC1452BE}" type="datetimeFigureOut">
              <a:rPr lang="pt-BR" smtClean="0"/>
              <a:t>17/03/2023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E6B2FC-C1FD-45F5-96F2-AFAD6EABE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6E57A-9971-4890-89DD-18D55C560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00342-7F18-4198-87CF-A058EC6FDA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59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9F9BE0-70EA-4F9E-9812-A8908CE42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153" y="4518923"/>
            <a:ext cx="4285676" cy="1141851"/>
          </a:xfrm>
          <a:noFill/>
        </p:spPr>
        <p:txBody>
          <a:bodyPr>
            <a:normAutofit/>
          </a:bodyPr>
          <a:lstStyle/>
          <a:p>
            <a:r>
              <a:rPr lang="pt-BR" sz="2000" dirty="0">
                <a:solidFill>
                  <a:srgbClr val="080808"/>
                </a:solidFill>
              </a:rPr>
              <a:t>Prof. Dra Sabrina Martins dos Santos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764B17-8BAF-432D-99FC-ED76FED29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pt-BR" sz="3800" dirty="0">
                <a:solidFill>
                  <a:srgbClr val="080808"/>
                </a:solidFill>
              </a:rPr>
              <a:t>Tipos de trabalhos </a:t>
            </a:r>
            <a:br>
              <a:rPr lang="pt-BR" sz="3800" dirty="0">
                <a:solidFill>
                  <a:srgbClr val="080808"/>
                </a:solidFill>
              </a:rPr>
            </a:br>
            <a:r>
              <a:rPr lang="pt-BR" sz="3800" dirty="0">
                <a:solidFill>
                  <a:srgbClr val="080808"/>
                </a:solidFill>
              </a:rPr>
              <a:t>acadêmico-científicos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8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494CB-6BC1-FCDF-67D1-5F9C502B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739"/>
          </a:xfrm>
        </p:spPr>
        <p:txBody>
          <a:bodyPr/>
          <a:lstStyle/>
          <a:p>
            <a:pPr algn="ctr"/>
            <a:r>
              <a:rPr lang="pt-BR" dirty="0"/>
              <a:t>O trabalho científico-acadêmico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5212D0F-4E0E-7E17-D73D-8A30A385DF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50521"/>
              </p:ext>
            </p:extLst>
          </p:nvPr>
        </p:nvGraphicFramePr>
        <p:xfrm>
          <a:off x="4000284" y="1644193"/>
          <a:ext cx="7592447" cy="5013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Nuvem 4">
            <a:extLst>
              <a:ext uri="{FF2B5EF4-FFF2-40B4-BE49-F238E27FC236}">
                <a16:creationId xmlns:a16="http://schemas.microsoft.com/office/drawing/2014/main" id="{E5DF8ADE-81D5-F624-A51C-7C551864AAB3}"/>
              </a:ext>
            </a:extLst>
          </p:cNvPr>
          <p:cNvSpPr/>
          <p:nvPr/>
        </p:nvSpPr>
        <p:spPr>
          <a:xfrm rot="19238401">
            <a:off x="-77489" y="3076026"/>
            <a:ext cx="3688596" cy="1875295"/>
          </a:xfrm>
          <a:prstGeom prst="cloud">
            <a:avLst/>
          </a:prstGeom>
          <a:solidFill>
            <a:srgbClr val="F4AD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Segue</a:t>
            </a:r>
            <a:r>
              <a:rPr lang="pt-BR" dirty="0"/>
              <a:t> </a:t>
            </a:r>
            <a:r>
              <a:rPr lang="pt-BR" sz="2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PADRÕES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173985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6BABB8-3344-4C20-90D1-C00AABAC3516}"/>
              </a:ext>
            </a:extLst>
          </p:cNvPr>
          <p:cNvSpPr txBox="1"/>
          <p:nvPr/>
        </p:nvSpPr>
        <p:spPr>
          <a:xfrm>
            <a:off x="542952" y="680842"/>
            <a:ext cx="9328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400" b="1" dirty="0"/>
              <a:t>Ensino Fundamental;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400" b="1" dirty="0"/>
          </a:p>
          <a:p>
            <a:r>
              <a:rPr lang="pt-BR" sz="2400" b="1" dirty="0"/>
              <a:t>=&gt; Ensino Médio e Técnico;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784F66-18CD-42A2-9957-6B389AE813FE}"/>
              </a:ext>
            </a:extLst>
          </p:cNvPr>
          <p:cNvSpPr txBox="1"/>
          <p:nvPr/>
        </p:nvSpPr>
        <p:spPr>
          <a:xfrm>
            <a:off x="4044142" y="257038"/>
            <a:ext cx="3520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Níveis Educacionais - Brasil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594DF2-6B8B-4D11-BF1E-7DD82BBD6906}"/>
              </a:ext>
            </a:extLst>
          </p:cNvPr>
          <p:cNvSpPr txBox="1"/>
          <p:nvPr/>
        </p:nvSpPr>
        <p:spPr>
          <a:xfrm>
            <a:off x="542952" y="2031570"/>
            <a:ext cx="113297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=&gt; Ensino Superior: </a:t>
            </a:r>
          </a:p>
          <a:p>
            <a:r>
              <a:rPr lang="pt-BR" sz="2400" b="1" dirty="0">
                <a:highlight>
                  <a:srgbClr val="FFFF00"/>
                </a:highlight>
              </a:rPr>
              <a:t>GRADUAÇÃO</a:t>
            </a:r>
            <a:r>
              <a:rPr lang="pt-BR" sz="2400" dirty="0"/>
              <a:t> =&gt; nível Superior (Brasil) =&gt; Tecnólogo, Licenciado, Bacharel.</a:t>
            </a:r>
          </a:p>
          <a:p>
            <a:pPr marL="625475">
              <a:buFont typeface="Symbol" panose="05050102010706020507" pitchFamily="18" charset="2"/>
              <a:buChar char="Þ"/>
            </a:pPr>
            <a:r>
              <a:rPr lang="pt-BR" sz="2400" u="sng" dirty="0"/>
              <a:t>Desenvolver trabalhos acadêmicos-científicos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400" dirty="0"/>
          </a:p>
          <a:p>
            <a:r>
              <a:rPr lang="pt-BR" sz="2400" b="1" dirty="0">
                <a:highlight>
                  <a:srgbClr val="FFFF00"/>
                </a:highlight>
              </a:rPr>
              <a:t>PÓS-GRADUAÇÃO</a:t>
            </a:r>
            <a:r>
              <a:rPr lang="pt-BR" sz="2400" b="1" dirty="0"/>
              <a:t> =&gt;</a:t>
            </a:r>
          </a:p>
          <a:p>
            <a:r>
              <a:rPr lang="pt-BR" sz="2400" b="1" dirty="0"/>
              <a:t>	</a:t>
            </a:r>
            <a:r>
              <a:rPr lang="pt-BR" sz="2400" dirty="0"/>
              <a:t>- Especialização</a:t>
            </a:r>
          </a:p>
          <a:p>
            <a:r>
              <a:rPr lang="pt-BR" sz="2400" dirty="0"/>
              <a:t>	- MBA</a:t>
            </a:r>
          </a:p>
          <a:p>
            <a:r>
              <a:rPr lang="pt-BR" sz="2400" dirty="0"/>
              <a:t>	- Mestrado</a:t>
            </a:r>
          </a:p>
          <a:p>
            <a:r>
              <a:rPr lang="pt-BR" sz="2400" dirty="0"/>
              <a:t>	- Doutorado</a:t>
            </a:r>
          </a:p>
          <a:p>
            <a:pPr marL="1427163">
              <a:buFont typeface="Symbol" panose="05050102010706020507" pitchFamily="18" charset="2"/>
              <a:buChar char="Þ"/>
            </a:pPr>
            <a:r>
              <a:rPr lang="pt-BR" sz="2400" u="sng" dirty="0"/>
              <a:t>Desenvolver e apresentar trabalhos acadêmicos-científicos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pt-BR" sz="2400" dirty="0"/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pt-BR" sz="2400" dirty="0"/>
              <a:t>Portanto, é necessário que se conheça a </a:t>
            </a:r>
            <a:r>
              <a:rPr lang="pt-BR" sz="2400" b="1" u="sng" dirty="0">
                <a:solidFill>
                  <a:srgbClr val="FF0000"/>
                </a:solidFill>
              </a:rPr>
              <a:t>metodologia</a:t>
            </a:r>
            <a:r>
              <a:rPr lang="pt-BR" sz="2400" b="1" u="sng" dirty="0"/>
              <a:t> científica e as principais regras/normas de </a:t>
            </a:r>
            <a:r>
              <a:rPr lang="pt-BR" sz="2400" b="1" u="sng" dirty="0">
                <a:solidFill>
                  <a:srgbClr val="FF0000"/>
                </a:solidFill>
              </a:rPr>
              <a:t>escrita</a:t>
            </a:r>
            <a:r>
              <a:rPr lang="pt-BR" sz="2400" b="1" u="sng" dirty="0"/>
              <a:t> científica e de </a:t>
            </a:r>
            <a:r>
              <a:rPr lang="pt-BR" sz="2400" b="1" u="sng" dirty="0">
                <a:solidFill>
                  <a:srgbClr val="FF0000"/>
                </a:solidFill>
              </a:rPr>
              <a:t>Formatação</a:t>
            </a:r>
            <a:r>
              <a:rPr lang="pt-BR" sz="2400" b="1" u="sng" dirty="0"/>
              <a:t>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9993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A8DF3-4917-459A-8647-EC2914A5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Monografia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C30054-889A-4FE0-950E-F401DE718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4" y="1632787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pt-BR" dirty="0"/>
              <a:t>MONO = 1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Monografia = pesquisa sobre UM tema em específico, de forma aprofundada.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quantidade de autores de uma monografia depende da regra da instituição de ensino.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É um trabalho com formatação específica (tem capa, contracapa, folha de rosto, sumário, dedicatória, lista de figuras... ), devido a isso acaba tendo várias páginas geralmente mais de 15.</a:t>
            </a:r>
          </a:p>
        </p:txBody>
      </p:sp>
    </p:spTree>
    <p:extLst>
      <p:ext uri="{BB962C8B-B14F-4D97-AF65-F5344CB8AC3E}">
        <p14:creationId xmlns:p14="http://schemas.microsoft.com/office/powerpoint/2010/main" val="351711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9D2AD4E-44EC-4A0F-A4D8-7D49F4A62130}"/>
              </a:ext>
            </a:extLst>
          </p:cNvPr>
          <p:cNvSpPr txBox="1"/>
          <p:nvPr/>
        </p:nvSpPr>
        <p:spPr>
          <a:xfrm>
            <a:off x="112295" y="2265355"/>
            <a:ext cx="28953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200" dirty="0"/>
              <a:t>Partes </a:t>
            </a:r>
          </a:p>
          <a:p>
            <a:pPr algn="ctr"/>
            <a:r>
              <a:rPr lang="pt-BR" sz="2200" dirty="0"/>
              <a:t>da </a:t>
            </a:r>
          </a:p>
          <a:p>
            <a:pPr algn="ctr"/>
            <a:r>
              <a:rPr lang="pt-BR" sz="3600" dirty="0"/>
              <a:t>MONOGRAFIA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928050-F7E4-4194-B6C3-F4DEE2AC1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2007" y="0"/>
            <a:ext cx="7765382" cy="680097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665FE3A-A0EA-4BDA-AFE5-0988574D8C33}"/>
              </a:ext>
            </a:extLst>
          </p:cNvPr>
          <p:cNvSpPr txBox="1"/>
          <p:nvPr/>
        </p:nvSpPr>
        <p:spPr>
          <a:xfrm>
            <a:off x="69422" y="6488668"/>
            <a:ext cx="185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uninove.br</a:t>
            </a:r>
          </a:p>
        </p:txBody>
      </p:sp>
    </p:spTree>
    <p:extLst>
      <p:ext uri="{BB962C8B-B14F-4D97-AF65-F5344CB8AC3E}">
        <p14:creationId xmlns:p14="http://schemas.microsoft.com/office/powerpoint/2010/main" val="143928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639FA-DB6B-4A1F-B3BD-821F611F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Artigo acadêmico-científico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72D0DB-808A-432C-B421-CE64136F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352" y="1690688"/>
            <a:ext cx="11161295" cy="4350586"/>
          </a:xfrm>
        </p:spPr>
        <p:txBody>
          <a:bodyPr>
            <a:noAutofit/>
          </a:bodyPr>
          <a:lstStyle/>
          <a:p>
            <a:r>
              <a:rPr lang="pt-BR" sz="3000" dirty="0"/>
              <a:t>É mais enxuto, porém não superficial.</a:t>
            </a:r>
          </a:p>
          <a:p>
            <a:endParaRPr lang="pt-BR" sz="3000" dirty="0"/>
          </a:p>
          <a:p>
            <a:r>
              <a:rPr lang="pt-BR" sz="3000" dirty="0"/>
              <a:t>Envolve uma pesquisa e leituras anteriores.</a:t>
            </a:r>
          </a:p>
          <a:p>
            <a:endParaRPr lang="pt-BR" sz="3000" dirty="0"/>
          </a:p>
          <a:p>
            <a:r>
              <a:rPr lang="pt-BR" sz="3000" dirty="0"/>
              <a:t>A quantidade de páginas é reduzida, geralmente é a revista ou o congresso/simpósio, dita essa quantidade. Ex. mínimo de 6 pág., máximo de 12 pág.</a:t>
            </a:r>
          </a:p>
          <a:p>
            <a:endParaRPr lang="pt-BR" sz="3000" dirty="0"/>
          </a:p>
          <a:p>
            <a:r>
              <a:rPr lang="pt-BR" sz="3000" dirty="0"/>
              <a:t>Normas de formatação de acordo com a revista/simpósio/instituição. Em geral, solicita-se formatação norma ABNT, mas há exceções. 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89130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769436-21A7-4FBF-9588-2F9A4EA30264}"/>
              </a:ext>
            </a:extLst>
          </p:cNvPr>
          <p:cNvSpPr txBox="1"/>
          <p:nvPr/>
        </p:nvSpPr>
        <p:spPr>
          <a:xfrm>
            <a:off x="0" y="6488668"/>
            <a:ext cx="264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miro.medium.com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734FBAD-7E7D-46A2-8318-B768CEB5A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271" y="224590"/>
            <a:ext cx="9374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2DF6B3B-D300-441F-9F9F-896489F2CC07}"/>
              </a:ext>
            </a:extLst>
          </p:cNvPr>
          <p:cNvSpPr txBox="1"/>
          <p:nvPr/>
        </p:nvSpPr>
        <p:spPr>
          <a:xfrm>
            <a:off x="741313" y="2265355"/>
            <a:ext cx="16373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200" dirty="0"/>
              <a:t>Partes </a:t>
            </a:r>
          </a:p>
          <a:p>
            <a:pPr algn="ctr"/>
            <a:r>
              <a:rPr lang="pt-BR" sz="2200" dirty="0"/>
              <a:t>do</a:t>
            </a:r>
          </a:p>
          <a:p>
            <a:pPr algn="ctr"/>
            <a:r>
              <a:rPr lang="pt-BR" sz="3600" dirty="0"/>
              <a:t>ARTIGO</a:t>
            </a:r>
          </a:p>
        </p:txBody>
      </p:sp>
    </p:spTree>
    <p:extLst>
      <p:ext uri="{BB962C8B-B14F-4D97-AF65-F5344CB8AC3E}">
        <p14:creationId xmlns:p14="http://schemas.microsoft.com/office/powerpoint/2010/main" val="139455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BD3B-45A2-41BD-9D42-ECFC45BD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Plano de Negócios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683CF3-BA43-4D68-9D3D-EA0BA10B8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42" y="1690688"/>
            <a:ext cx="11016916" cy="4351338"/>
          </a:xfrm>
        </p:spPr>
        <p:txBody>
          <a:bodyPr>
            <a:normAutofit/>
          </a:bodyPr>
          <a:lstStyle/>
          <a:p>
            <a:r>
              <a:rPr lang="pt-BR" dirty="0"/>
              <a:t>Projetar um negócio (produto ou serviço)</a:t>
            </a:r>
          </a:p>
          <a:p>
            <a:r>
              <a:rPr lang="pt-BR" dirty="0"/>
              <a:t>Estudar a viabilidade do mesmo</a:t>
            </a:r>
          </a:p>
          <a:p>
            <a:r>
              <a:rPr lang="pt-BR" dirty="0"/>
              <a:t>Levantar o perfil do consumidor/cliente</a:t>
            </a:r>
          </a:p>
          <a:p>
            <a:r>
              <a:rPr lang="pt-BR" dirty="0"/>
              <a:t>Entender o mercado (concorrentes, ameaças e oportunidades)</a:t>
            </a:r>
          </a:p>
          <a:p>
            <a:r>
              <a:rPr lang="pt-BR" dirty="0"/>
              <a:t>Desenvolver o plano financeiro do negócio</a:t>
            </a:r>
          </a:p>
          <a:p>
            <a:r>
              <a:rPr lang="pt-BR" dirty="0"/>
              <a:t>Também deve ser escrito e formatado segundo as normas ABNT, ou da instituição.</a:t>
            </a:r>
          </a:p>
          <a:p>
            <a:r>
              <a:rPr lang="pt-BR" dirty="0"/>
              <a:t>O número de páginas varia também.</a:t>
            </a:r>
          </a:p>
        </p:txBody>
      </p:sp>
    </p:spTree>
    <p:extLst>
      <p:ext uri="{BB962C8B-B14F-4D97-AF65-F5344CB8AC3E}">
        <p14:creationId xmlns:p14="http://schemas.microsoft.com/office/powerpoint/2010/main" val="285457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8CA47B-EBE6-4A5D-9C01-5B545BEF72B0}"/>
              </a:ext>
            </a:extLst>
          </p:cNvPr>
          <p:cNvSpPr txBox="1"/>
          <p:nvPr/>
        </p:nvSpPr>
        <p:spPr>
          <a:xfrm>
            <a:off x="69422" y="6488668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sebrae.com.br</a:t>
            </a:r>
          </a:p>
        </p:txBody>
      </p:sp>
      <p:pic>
        <p:nvPicPr>
          <p:cNvPr id="2050" name="Picture 2" descr="Plano de Negócio - Planejamento Estratégico">
            <a:extLst>
              <a:ext uri="{FF2B5EF4-FFF2-40B4-BE49-F238E27FC236}">
                <a16:creationId xmlns:a16="http://schemas.microsoft.com/office/drawing/2014/main" id="{81846DA0-892F-4924-9846-F2B3222AE3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9" t="7276" r="9832" b="6024"/>
          <a:stretch/>
        </p:blipFill>
        <p:spPr bwMode="auto">
          <a:xfrm>
            <a:off x="69423" y="412721"/>
            <a:ext cx="4862960" cy="406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anvas - Conheça esse modelo de negócio">
            <a:extLst>
              <a:ext uri="{FF2B5EF4-FFF2-40B4-BE49-F238E27FC236}">
                <a16:creationId xmlns:a16="http://schemas.microsoft.com/office/drawing/2014/main" id="{BEEBEA6B-E829-4A5B-BBA0-946038C00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349" y="1909011"/>
            <a:ext cx="6827229" cy="476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AF927EF-96AF-4076-9277-13E9C6833709}"/>
              </a:ext>
            </a:extLst>
          </p:cNvPr>
          <p:cNvSpPr txBox="1"/>
          <p:nvPr/>
        </p:nvSpPr>
        <p:spPr>
          <a:xfrm>
            <a:off x="6684669" y="893348"/>
            <a:ext cx="47550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dirty="0"/>
              <a:t>Modelo de Negócios CANVAS</a:t>
            </a:r>
          </a:p>
          <a:p>
            <a:pPr algn="ctr"/>
            <a:r>
              <a:rPr lang="pt-BR" sz="3000" dirty="0"/>
              <a:t>(Business Model </a:t>
            </a:r>
            <a:r>
              <a:rPr lang="pt-BR" sz="3000" dirty="0" err="1"/>
              <a:t>Canvas</a:t>
            </a:r>
            <a:r>
              <a:rPr lang="pt-BR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62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BD3B-45A2-41BD-9D42-ECFC45BD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Relatório Técnico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683CF3-BA43-4D68-9D3D-EA0BA10B8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7337" cy="4351338"/>
          </a:xfrm>
        </p:spPr>
        <p:txBody>
          <a:bodyPr/>
          <a:lstStyle/>
          <a:p>
            <a:r>
              <a:rPr lang="pt-BR" dirty="0"/>
              <a:t>RELATAR um procedimento/experimento</a:t>
            </a:r>
          </a:p>
          <a:p>
            <a:endParaRPr lang="pt-BR" dirty="0"/>
          </a:p>
          <a:p>
            <a:r>
              <a:rPr lang="pt-BR" dirty="0"/>
              <a:t>Onde, quando e como foi executado, o que foi testado, e os resultados obtidos. Bem como a </a:t>
            </a:r>
            <a:r>
              <a:rPr lang="pt-BR" b="1" dirty="0"/>
              <a:t>conclusão</a:t>
            </a:r>
            <a:r>
              <a:rPr lang="pt-BR" dirty="0"/>
              <a:t> do procedimento/experimento.</a:t>
            </a:r>
          </a:p>
          <a:p>
            <a:endParaRPr lang="pt-BR" dirty="0"/>
          </a:p>
          <a:p>
            <a:r>
              <a:rPr lang="pt-BR" dirty="0"/>
              <a:t>Também deve ser escrito e formatado segundo as normas ABNT ou da instituição. </a:t>
            </a:r>
          </a:p>
          <a:p>
            <a:endParaRPr lang="pt-BR" dirty="0"/>
          </a:p>
          <a:p>
            <a:r>
              <a:rPr lang="pt-BR" dirty="0"/>
              <a:t>O número de páginas varia também.</a:t>
            </a:r>
          </a:p>
        </p:txBody>
      </p:sp>
    </p:spTree>
    <p:extLst>
      <p:ext uri="{BB962C8B-B14F-4D97-AF65-F5344CB8AC3E}">
        <p14:creationId xmlns:p14="http://schemas.microsoft.com/office/powerpoint/2010/main" val="373552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BNT NBR 10719: Relatório técnico e/ou científico">
            <a:extLst>
              <a:ext uri="{FF2B5EF4-FFF2-40B4-BE49-F238E27FC236}">
                <a16:creationId xmlns:a16="http://schemas.microsoft.com/office/drawing/2014/main" id="{D58FB92D-AFCC-47B1-9DA0-7ECB0A302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92" b="7614"/>
          <a:stretch/>
        </p:blipFill>
        <p:spPr bwMode="auto">
          <a:xfrm>
            <a:off x="3037342" y="595437"/>
            <a:ext cx="8593184" cy="607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3C07CF3-9100-4DF8-8526-FE3A56F0BF83}"/>
              </a:ext>
            </a:extLst>
          </p:cNvPr>
          <p:cNvSpPr txBox="1"/>
          <p:nvPr/>
        </p:nvSpPr>
        <p:spPr>
          <a:xfrm>
            <a:off x="369324" y="2265355"/>
            <a:ext cx="2381293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200" dirty="0"/>
              <a:t>Partes </a:t>
            </a:r>
          </a:p>
          <a:p>
            <a:pPr algn="ctr"/>
            <a:r>
              <a:rPr lang="pt-BR" sz="2200" dirty="0"/>
              <a:t>do </a:t>
            </a:r>
          </a:p>
          <a:p>
            <a:pPr algn="ctr"/>
            <a:r>
              <a:rPr lang="pt-BR" sz="3600" dirty="0"/>
              <a:t>RELATÓRIO </a:t>
            </a:r>
          </a:p>
          <a:p>
            <a:pPr algn="ctr"/>
            <a:r>
              <a:rPr lang="pt-BR" sz="3600" dirty="0"/>
              <a:t>TÉCNICO</a:t>
            </a:r>
          </a:p>
        </p:txBody>
      </p:sp>
    </p:spTree>
    <p:extLst>
      <p:ext uri="{BB962C8B-B14F-4D97-AF65-F5344CB8AC3E}">
        <p14:creationId xmlns:p14="http://schemas.microsoft.com/office/powerpoint/2010/main" val="32433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2708C-A7CE-DA0A-1C22-56F9547F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científico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FBC7042-0740-3587-7128-1B64C2CA6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573"/>
            <a:ext cx="11177337" cy="435133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pt-BR" sz="2400" dirty="0"/>
              <a:t>RELATAR um procedimento/experimento/pesquisa bibliográfica/estudo de caso ou relato de experiência;</a:t>
            </a:r>
          </a:p>
          <a:p>
            <a:pPr>
              <a:spcBef>
                <a:spcPts val="600"/>
              </a:spcBef>
            </a:pPr>
            <a:endParaRPr lang="pt-BR" sz="2400" dirty="0"/>
          </a:p>
          <a:p>
            <a:pPr>
              <a:spcBef>
                <a:spcPts val="600"/>
              </a:spcBef>
            </a:pPr>
            <a:r>
              <a:rPr lang="pt-BR" sz="2400" b="1" dirty="0"/>
              <a:t>Título</a:t>
            </a:r>
            <a:r>
              <a:rPr lang="pt-BR" sz="2400" dirty="0"/>
              <a:t> do resumo; Uma frase de </a:t>
            </a:r>
            <a:r>
              <a:rPr lang="pt-BR" sz="2400" b="1" dirty="0"/>
              <a:t>Introdução</a:t>
            </a:r>
            <a:r>
              <a:rPr lang="pt-BR" sz="2400" dirty="0"/>
              <a:t>; O </a:t>
            </a:r>
            <a:r>
              <a:rPr lang="pt-BR" sz="2400" b="1" dirty="0"/>
              <a:t>objetivo</a:t>
            </a:r>
            <a:r>
              <a:rPr lang="pt-BR" sz="2400" dirty="0"/>
              <a:t> do trabalho; </a:t>
            </a:r>
            <a:r>
              <a:rPr lang="pt-BR" sz="2400" b="1" dirty="0"/>
              <a:t>Metodologia</a:t>
            </a:r>
            <a:r>
              <a:rPr lang="pt-BR" sz="2400" dirty="0"/>
              <a:t>: Onde, quando e como foi executado, o que foi testado; </a:t>
            </a:r>
            <a:r>
              <a:rPr lang="pt-BR" sz="2400" b="1" dirty="0"/>
              <a:t>Resultados</a:t>
            </a:r>
            <a:r>
              <a:rPr lang="pt-BR" sz="2400" dirty="0"/>
              <a:t> obtidos; e a </a:t>
            </a:r>
            <a:r>
              <a:rPr lang="pt-BR" sz="2400" b="1" dirty="0"/>
              <a:t>conclusão</a:t>
            </a:r>
            <a:r>
              <a:rPr lang="pt-BR" sz="2400" dirty="0"/>
              <a:t> do estudo.</a:t>
            </a:r>
          </a:p>
          <a:p>
            <a:pPr>
              <a:spcBef>
                <a:spcPts val="600"/>
              </a:spcBef>
            </a:pPr>
            <a:endParaRPr lang="pt-BR" sz="2400" dirty="0"/>
          </a:p>
          <a:p>
            <a:pPr>
              <a:spcBef>
                <a:spcPts val="600"/>
              </a:spcBef>
            </a:pPr>
            <a:r>
              <a:rPr lang="pt-BR" sz="2400" dirty="0"/>
              <a:t>Também deve ser escrito e formatado segundo as normas (em geral, ABNT)</a:t>
            </a:r>
          </a:p>
          <a:p>
            <a:pPr lvl="1">
              <a:spcBef>
                <a:spcPts val="600"/>
              </a:spcBef>
            </a:pPr>
            <a:r>
              <a:rPr lang="pt-BR" dirty="0"/>
              <a:t>Entre 150 e 250 palavras; fonte Times ou Arial 12, margens 3,3,2,2.</a:t>
            </a:r>
          </a:p>
          <a:p>
            <a:pPr>
              <a:spcBef>
                <a:spcPts val="600"/>
              </a:spcBef>
            </a:pPr>
            <a:endParaRPr lang="pt-BR" sz="2400" dirty="0"/>
          </a:p>
          <a:p>
            <a:pPr>
              <a:spcBef>
                <a:spcPts val="600"/>
              </a:spcBef>
            </a:pPr>
            <a:r>
              <a:rPr lang="pt-BR" sz="2400" dirty="0"/>
              <a:t>Ao final, tem as </a:t>
            </a:r>
            <a:r>
              <a:rPr lang="pt-BR" sz="2400" dirty="0" err="1"/>
              <a:t>palavra-chaves</a:t>
            </a:r>
            <a:r>
              <a:rPr lang="pt-BR" sz="2400" dirty="0"/>
              <a:t>. Mínimo 3 e máximo 5.</a:t>
            </a:r>
          </a:p>
          <a:p>
            <a:pPr marL="0" indent="0">
              <a:spcBef>
                <a:spcPts val="600"/>
              </a:spcBef>
              <a:buNone/>
            </a:pPr>
            <a:endParaRPr lang="pt-BR" sz="2400" dirty="0"/>
          </a:p>
          <a:p>
            <a:pPr>
              <a:spcBef>
                <a:spcPts val="600"/>
              </a:spcBef>
            </a:pPr>
            <a:r>
              <a:rPr lang="pt-BR" sz="2400" dirty="0"/>
              <a:t>Apenas 1 página.</a:t>
            </a:r>
          </a:p>
        </p:txBody>
      </p:sp>
    </p:spTree>
    <p:extLst>
      <p:ext uri="{BB962C8B-B14F-4D97-AF65-F5344CB8AC3E}">
        <p14:creationId xmlns:p14="http://schemas.microsoft.com/office/powerpoint/2010/main" val="2811541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2637A-75F1-247F-F6FC-A2F21F22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206"/>
            <a:ext cx="5129939" cy="515331"/>
          </a:xfrm>
        </p:spPr>
        <p:txBody>
          <a:bodyPr>
            <a:noAutofit/>
          </a:bodyPr>
          <a:lstStyle/>
          <a:p>
            <a:r>
              <a:rPr lang="pt-BR" sz="3200" b="1" dirty="0"/>
              <a:t>Resumo: exemplo</a:t>
            </a:r>
          </a:p>
        </p:txBody>
      </p:sp>
      <p:pic>
        <p:nvPicPr>
          <p:cNvPr id="1026" name="Picture 2" descr="Normatização de Trabalhos Acadêmicos - RESUMO NA LÍNGUA VERNÁCULA  (obrigatório)">
            <a:extLst>
              <a:ext uri="{FF2B5EF4-FFF2-40B4-BE49-F238E27FC236}">
                <a16:creationId xmlns:a16="http://schemas.microsoft.com/office/drawing/2014/main" id="{AD78638B-04E1-C69A-BA93-3AF38E140C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1"/>
          <a:stretch/>
        </p:blipFill>
        <p:spPr bwMode="auto">
          <a:xfrm>
            <a:off x="1356763" y="1115878"/>
            <a:ext cx="9478473" cy="574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2BEF16F-C0C2-5723-25AF-0C9043D28750}"/>
              </a:ext>
            </a:extLst>
          </p:cNvPr>
          <p:cNvSpPr txBox="1">
            <a:spLocks/>
          </p:cNvSpPr>
          <p:nvPr/>
        </p:nvSpPr>
        <p:spPr>
          <a:xfrm>
            <a:off x="2428382" y="730249"/>
            <a:ext cx="7815997" cy="515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/>
              <a:t>Uso da calculadora científica em um curso de extensão à distância</a:t>
            </a:r>
          </a:p>
        </p:txBody>
      </p:sp>
    </p:spTree>
    <p:extLst>
      <p:ext uri="{BB962C8B-B14F-4D97-AF65-F5344CB8AC3E}">
        <p14:creationId xmlns:p14="http://schemas.microsoft.com/office/powerpoint/2010/main" val="90781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0C5B0-510D-4E27-96A4-9771C92B8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“TCC” -&gt; trabalho de conclusão de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AF3914-85CF-4A8C-8A06-AF66D3512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6705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3200" dirty="0"/>
              <a:t>Um TCC pode ser desenvolvido desde o nível de ensino médio/técnico até a pós-graduação.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Pode ser uma monografia, ou um relatório técnico, ou artigo científico. </a:t>
            </a:r>
          </a:p>
          <a:p>
            <a:pPr lvl="1" algn="just"/>
            <a:r>
              <a:rPr lang="pt-BR" sz="2800" b="1" dirty="0"/>
              <a:t>=&gt;</a:t>
            </a:r>
            <a:r>
              <a:rPr lang="pt-BR" sz="2800" b="1" dirty="0">
                <a:solidFill>
                  <a:srgbClr val="FF0000"/>
                </a:solidFill>
              </a:rPr>
              <a:t>Atentar</a:t>
            </a:r>
            <a:r>
              <a:rPr lang="pt-BR" sz="2800" b="1" dirty="0"/>
              <a:t> à regra da Instituição de Ensino na qual você está vinculado, e vai entregar/apresentar seu TCC</a:t>
            </a:r>
            <a:r>
              <a:rPr lang="pt-BR" sz="2800" dirty="0"/>
              <a:t>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Na </a:t>
            </a:r>
            <a:r>
              <a:rPr lang="pt-BR" sz="3200" dirty="0" err="1"/>
              <a:t>FatecPG</a:t>
            </a:r>
            <a:r>
              <a:rPr lang="pt-BR" sz="3200" dirty="0"/>
              <a:t> o TCC também pode ser um </a:t>
            </a:r>
            <a:r>
              <a:rPr lang="pt-BR" sz="3200" b="1" dirty="0"/>
              <a:t>Plano de Negócios </a:t>
            </a:r>
          </a:p>
          <a:p>
            <a:pPr algn="just"/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40033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F25501-6A30-4186-AF11-79BA1839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747" y="1692357"/>
            <a:ext cx="10515600" cy="4940917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0000"/>
                </a:solidFill>
              </a:rPr>
              <a:t>Dissertação</a:t>
            </a:r>
            <a:r>
              <a:rPr lang="pt-BR" sz="4000" dirty="0"/>
              <a:t> (no </a:t>
            </a:r>
            <a:r>
              <a:rPr lang="pt-BR" sz="4000" dirty="0">
                <a:solidFill>
                  <a:srgbClr val="FF0000"/>
                </a:solidFill>
              </a:rPr>
              <a:t>MESTRADO</a:t>
            </a:r>
            <a:r>
              <a:rPr lang="pt-BR" sz="4000" dirty="0"/>
              <a:t>) =&gt; monografia de pesquisa científica; Individual. Pesquisa um tema específico a fundo, geralmente em 2 anos.</a:t>
            </a:r>
          </a:p>
          <a:p>
            <a:endParaRPr lang="pt-BR" sz="4000" dirty="0"/>
          </a:p>
          <a:p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Tese</a:t>
            </a:r>
            <a:r>
              <a:rPr lang="pt-BR" sz="4000" dirty="0"/>
              <a:t> (no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DOUTORADO</a:t>
            </a:r>
            <a:r>
              <a:rPr lang="pt-BR" sz="4000" dirty="0"/>
              <a:t>) =&gt; monografia de pesquisa científica; Individual. Pesquisa um tema específico a fundo, geralmente em 3 a 4 anos.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9D19991-886F-465E-BD4E-C8513A759951}"/>
              </a:ext>
            </a:extLst>
          </p:cNvPr>
          <p:cNvSpPr txBox="1">
            <a:spLocks/>
          </p:cNvSpPr>
          <p:nvPr/>
        </p:nvSpPr>
        <p:spPr>
          <a:xfrm>
            <a:off x="1776663" y="574007"/>
            <a:ext cx="9388642" cy="843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3400" dirty="0"/>
              <a:t>Os </a:t>
            </a:r>
            <a:r>
              <a:rPr lang="pt-BR" sz="3400" dirty="0" err="1"/>
              <a:t>TCC’s</a:t>
            </a:r>
            <a:r>
              <a:rPr lang="pt-BR" sz="3400" dirty="0"/>
              <a:t> da pós-graduação tem nomes específicos:</a:t>
            </a:r>
          </a:p>
        </p:txBody>
      </p:sp>
    </p:spTree>
    <p:extLst>
      <p:ext uri="{BB962C8B-B14F-4D97-AF65-F5344CB8AC3E}">
        <p14:creationId xmlns:p14="http://schemas.microsoft.com/office/powerpoint/2010/main" val="104803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F5377-FF95-4054-ADDC-39A08B2E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i="0" dirty="0">
                <a:solidFill>
                  <a:srgbClr val="142D94"/>
                </a:solidFill>
                <a:effectLst/>
                <a:latin typeface="Source Sans Pro" panose="020B0503030403020204" pitchFamily="34" charset="0"/>
              </a:rPr>
              <a:t>Quais são as principais normas da ABNT para trabalhos acadêmicos?</a:t>
            </a:r>
            <a:br>
              <a:rPr lang="pt-BR" b="0" i="0" dirty="0">
                <a:solidFill>
                  <a:srgbClr val="142D94"/>
                </a:solidFill>
                <a:effectLst/>
                <a:latin typeface="Source Sans Pro" panose="020B0503030403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F28467-3940-4191-B2E7-AD09704C4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NBR 14724 – trabalhos acadêmicos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NBR 10520 – citações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NBR 6023 – referências bibliográficas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dirty="0"/>
              <a:t>NBR 6022 – artigo científico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NBR 6024 – numeração progressiva de seções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NBR 6027 – sumário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NBR 6028 – resumos, resenhas e recensões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NBR 10719 – relatório técnico-científico</a:t>
            </a:r>
          </a:p>
          <a:p>
            <a:r>
              <a:rPr lang="pt-BR" dirty="0"/>
              <a:t>NBR 15287 – projeto de pesquisa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44037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06A6BBFD8F94CA27EC52F1AE6F20B" ma:contentTypeVersion="0" ma:contentTypeDescription="Crie um novo documento." ma:contentTypeScope="" ma:versionID="009204c953e4c078fd4847655011986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BE5785-106D-443B-ACA9-F8360C27AA55}"/>
</file>

<file path=customXml/itemProps2.xml><?xml version="1.0" encoding="utf-8"?>
<ds:datastoreItem xmlns:ds="http://schemas.openxmlformats.org/officeDocument/2006/customXml" ds:itemID="{B6108F2A-6892-43BE-BB3C-01853AE99AD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E65C80E-6C26-4E96-810B-82B02089CB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717</Words>
  <Application>Microsoft Office PowerPoint</Application>
  <PresentationFormat>Widescreen</PresentationFormat>
  <Paragraphs>109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Source Sans Pro</vt:lpstr>
      <vt:lpstr>Symbol</vt:lpstr>
      <vt:lpstr>Tema do Office</vt:lpstr>
      <vt:lpstr>Tipos de trabalhos  acadêmico-científicos</vt:lpstr>
      <vt:lpstr>O trabalho científico-acadêmico</vt:lpstr>
      <vt:lpstr>PowerPoint Presentation</vt:lpstr>
      <vt:lpstr>Monografia</vt:lpstr>
      <vt:lpstr>PowerPoint Presentation</vt:lpstr>
      <vt:lpstr>Artigo acadêmico-científico</vt:lpstr>
      <vt:lpstr>PowerPoint Presentation</vt:lpstr>
      <vt:lpstr>Plano de Negócios</vt:lpstr>
      <vt:lpstr>PowerPoint Presentation</vt:lpstr>
      <vt:lpstr>Relatório Técnico</vt:lpstr>
      <vt:lpstr>PowerPoint Presentation</vt:lpstr>
      <vt:lpstr>Resumo científico</vt:lpstr>
      <vt:lpstr>Resumo: exemplo</vt:lpstr>
      <vt:lpstr>“TCC” -&gt; trabalho de conclusão de curso</vt:lpstr>
      <vt:lpstr>PowerPoint Presentation</vt:lpstr>
      <vt:lpstr>Quais são as principais normas da ABNT para trabalhos acadêmicos?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trabalhos acadêmico-científicos</dc:title>
  <dc:creator>JANARA DE CAMARGO MATOS</dc:creator>
  <cp:lastModifiedBy>SABRINA MARTINS DOS SANTOS</cp:lastModifiedBy>
  <cp:revision>10</cp:revision>
  <dcterms:created xsi:type="dcterms:W3CDTF">2022-02-14T12:24:06Z</dcterms:created>
  <dcterms:modified xsi:type="dcterms:W3CDTF">2023-03-17T20:35:26Z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0x010100F8806A6BBFD8F94CA27EC52F1AE6F20B</vt:lpwstr>
  </property>
  <property fmtid="{D5CDD505-2E9C-101B-9397-08002B2CF9AE}" pid="3" name="Order">
    <vt:r8>1000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