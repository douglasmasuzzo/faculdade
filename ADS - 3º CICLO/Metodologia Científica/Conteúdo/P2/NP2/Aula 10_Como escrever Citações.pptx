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9" r:id="rId3"/>
    <p:sldId id="270" r:id="rId4"/>
    <p:sldId id="271" r:id="rId5"/>
    <p:sldId id="272" r:id="rId6"/>
    <p:sldId id="273" r:id="rId7"/>
    <p:sldId id="283" r:id="rId8"/>
    <p:sldId id="274" r:id="rId9"/>
    <p:sldId id="275" r:id="rId10"/>
    <p:sldId id="276" r:id="rId11"/>
    <p:sldId id="277" r:id="rId12"/>
    <p:sldId id="278" r:id="rId13"/>
    <p:sldId id="280" r:id="rId14"/>
    <p:sldId id="282" r:id="rId15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68" autoAdjust="0"/>
    <p:restoredTop sz="94660"/>
  </p:normalViewPr>
  <p:slideViewPr>
    <p:cSldViewPr>
      <p:cViewPr varScale="1">
        <p:scale>
          <a:sx n="63" d="100"/>
          <a:sy n="63" d="100"/>
        </p:scale>
        <p:origin x="153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39CB62-17E4-4E59-ABD4-FE52F88BDF24}" type="doc">
      <dgm:prSet loTypeId="urn:microsoft.com/office/officeart/2008/layout/PictureAccentList" loCatId="picture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pt-BR"/>
        </a:p>
      </dgm:t>
    </dgm:pt>
    <dgm:pt modelId="{229A205B-DDDD-47A7-BF09-0C1E64C8D634}">
      <dgm:prSet phldrT="[Texto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pt-BR" dirty="0"/>
            <a:t>Qual a diferença entre</a:t>
          </a:r>
          <a:br>
            <a:rPr lang="pt-BR" dirty="0"/>
          </a:br>
          <a:r>
            <a:rPr lang="pt-BR" dirty="0"/>
            <a:t>CITAÇÃO e REFERÊNCIA?</a:t>
          </a:r>
        </a:p>
      </dgm:t>
    </dgm:pt>
    <dgm:pt modelId="{4C9BF045-D343-42A4-B940-A823F0ABE703}" type="parTrans" cxnId="{A46991A1-7A4E-4D07-8984-F5B489E387E2}">
      <dgm:prSet/>
      <dgm:spPr/>
      <dgm:t>
        <a:bodyPr/>
        <a:lstStyle/>
        <a:p>
          <a:endParaRPr lang="pt-BR"/>
        </a:p>
      </dgm:t>
    </dgm:pt>
    <dgm:pt modelId="{3CF63163-730F-46AC-9C62-D5389EA9FC0A}" type="sibTrans" cxnId="{A46991A1-7A4E-4D07-8984-F5B489E387E2}">
      <dgm:prSet/>
      <dgm:spPr/>
      <dgm:t>
        <a:bodyPr/>
        <a:lstStyle/>
        <a:p>
          <a:endParaRPr lang="pt-BR"/>
        </a:p>
      </dgm:t>
    </dgm:pt>
    <dgm:pt modelId="{50D82141-3B39-4266-A065-A872E229AF78}">
      <dgm:prSet phldrT="[Texto]"/>
      <dgm:spPr/>
      <dgm:t>
        <a:bodyPr/>
        <a:lstStyle/>
        <a:p>
          <a:r>
            <a:rPr lang="pt-BR" altLang="pt-BR" b="1" i="0" u="none" dirty="0">
              <a:solidFill>
                <a:schemeClr val="bg1"/>
              </a:solidFill>
            </a:rPr>
            <a:t>CITAÇÃO</a:t>
          </a:r>
          <a:r>
            <a:rPr lang="pt-BR" altLang="pt-BR" b="0" i="0" u="none" dirty="0">
              <a:solidFill>
                <a:schemeClr val="bg1"/>
              </a:solidFill>
            </a:rPr>
            <a:t> é feita ao longo do texto quando se utilizam palavras ou ideias já publicadas por outro(s) autor(es).</a:t>
          </a:r>
          <a:endParaRPr lang="pt-BR" b="0" i="0" u="none" dirty="0">
            <a:solidFill>
              <a:schemeClr val="bg1"/>
            </a:solidFill>
          </a:endParaRPr>
        </a:p>
      </dgm:t>
    </dgm:pt>
    <dgm:pt modelId="{5C3274BD-4E28-4CB2-B5D9-35A7C98439BB}" type="parTrans" cxnId="{000EA735-F133-4C56-9897-F22B8237E6F1}">
      <dgm:prSet/>
      <dgm:spPr/>
      <dgm:t>
        <a:bodyPr/>
        <a:lstStyle/>
        <a:p>
          <a:endParaRPr lang="pt-BR"/>
        </a:p>
      </dgm:t>
    </dgm:pt>
    <dgm:pt modelId="{2CBDEE86-A125-4236-85DB-5559BF0157A7}" type="sibTrans" cxnId="{000EA735-F133-4C56-9897-F22B8237E6F1}">
      <dgm:prSet/>
      <dgm:spPr/>
      <dgm:t>
        <a:bodyPr/>
        <a:lstStyle/>
        <a:p>
          <a:endParaRPr lang="pt-BR"/>
        </a:p>
      </dgm:t>
    </dgm:pt>
    <dgm:pt modelId="{EB689A1C-D54B-493C-BA4F-1C35C39121E8}">
      <dgm:prSet phldrT="[Texto]"/>
      <dgm:spPr/>
      <dgm:t>
        <a:bodyPr/>
        <a:lstStyle/>
        <a:p>
          <a:r>
            <a:rPr lang="pt-BR" altLang="pt-BR" b="1" i="0" u="none" dirty="0">
              <a:solidFill>
                <a:schemeClr val="bg1"/>
              </a:solidFill>
            </a:rPr>
            <a:t>REFERÊNCIA</a:t>
          </a:r>
          <a:r>
            <a:rPr lang="pt-BR" altLang="pt-BR" b="0" i="0" u="none" dirty="0">
              <a:solidFill>
                <a:schemeClr val="bg1"/>
              </a:solidFill>
            </a:rPr>
            <a:t> é colocada ao final do trabalho, onde são listadas as obras e autores utilizados nas CITAÇÕES.</a:t>
          </a:r>
          <a:endParaRPr lang="pt-BR" b="0" i="0" u="none" dirty="0">
            <a:solidFill>
              <a:schemeClr val="bg1"/>
            </a:solidFill>
          </a:endParaRPr>
        </a:p>
      </dgm:t>
    </dgm:pt>
    <dgm:pt modelId="{419508A3-ED67-4290-A03F-0C34612BB0B0}" type="parTrans" cxnId="{E7381CAA-0245-4F6C-A2D0-8CCB96389F18}">
      <dgm:prSet/>
      <dgm:spPr/>
      <dgm:t>
        <a:bodyPr/>
        <a:lstStyle/>
        <a:p>
          <a:endParaRPr lang="pt-BR"/>
        </a:p>
      </dgm:t>
    </dgm:pt>
    <dgm:pt modelId="{C6B20248-162C-44E2-AFA2-31534EEB279F}" type="sibTrans" cxnId="{E7381CAA-0245-4F6C-A2D0-8CCB96389F18}">
      <dgm:prSet/>
      <dgm:spPr/>
      <dgm:t>
        <a:bodyPr/>
        <a:lstStyle/>
        <a:p>
          <a:endParaRPr lang="pt-BR"/>
        </a:p>
      </dgm:t>
    </dgm:pt>
    <dgm:pt modelId="{FF22766A-6D06-4D99-B4A3-9D263421A084}" type="pres">
      <dgm:prSet presAssocID="{CF39CB62-17E4-4E59-ABD4-FE52F88BDF24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9E7CC567-5B16-4A26-BF61-716D8E62A6BB}" type="pres">
      <dgm:prSet presAssocID="{229A205B-DDDD-47A7-BF09-0C1E64C8D634}" presName="root" presStyleCnt="0">
        <dgm:presLayoutVars>
          <dgm:chMax/>
          <dgm:chPref val="4"/>
        </dgm:presLayoutVars>
      </dgm:prSet>
      <dgm:spPr/>
    </dgm:pt>
    <dgm:pt modelId="{C086E4F3-8BD6-42B6-9393-28227CD35373}" type="pres">
      <dgm:prSet presAssocID="{229A205B-DDDD-47A7-BF09-0C1E64C8D634}" presName="rootComposite" presStyleCnt="0">
        <dgm:presLayoutVars/>
      </dgm:prSet>
      <dgm:spPr/>
    </dgm:pt>
    <dgm:pt modelId="{A56CCB0C-A2E6-46C2-A80A-8F08BB74500B}" type="pres">
      <dgm:prSet presAssocID="{229A205B-DDDD-47A7-BF09-0C1E64C8D634}" presName="rootText" presStyleLbl="node0" presStyleIdx="0" presStyleCnt="1">
        <dgm:presLayoutVars>
          <dgm:chMax/>
          <dgm:chPref val="4"/>
        </dgm:presLayoutVars>
      </dgm:prSet>
      <dgm:spPr/>
    </dgm:pt>
    <dgm:pt modelId="{A5277B0D-3994-4D36-9306-5FAF245E036B}" type="pres">
      <dgm:prSet presAssocID="{229A205B-DDDD-47A7-BF09-0C1E64C8D634}" presName="childShape" presStyleCnt="0">
        <dgm:presLayoutVars>
          <dgm:chMax val="0"/>
          <dgm:chPref val="0"/>
        </dgm:presLayoutVars>
      </dgm:prSet>
      <dgm:spPr/>
    </dgm:pt>
    <dgm:pt modelId="{273B0BA6-CE85-4803-A17E-4FAF1664CA96}" type="pres">
      <dgm:prSet presAssocID="{50D82141-3B39-4266-A065-A872E229AF78}" presName="childComposite" presStyleCnt="0">
        <dgm:presLayoutVars>
          <dgm:chMax val="0"/>
          <dgm:chPref val="0"/>
        </dgm:presLayoutVars>
      </dgm:prSet>
      <dgm:spPr/>
    </dgm:pt>
    <dgm:pt modelId="{641FA4CA-A126-4AE4-A901-37DF7E0A3230}" type="pres">
      <dgm:prSet presAssocID="{50D82141-3B39-4266-A065-A872E229AF78}" presName="Image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ápis"/>
        </a:ext>
      </dgm:extLst>
    </dgm:pt>
    <dgm:pt modelId="{175209EF-BC3D-4043-AC43-AB27C9118441}" type="pres">
      <dgm:prSet presAssocID="{50D82141-3B39-4266-A065-A872E229AF78}" presName="childText" presStyleLbl="lnNode1" presStyleIdx="0" presStyleCnt="2">
        <dgm:presLayoutVars>
          <dgm:chMax val="0"/>
          <dgm:chPref val="0"/>
          <dgm:bulletEnabled val="1"/>
        </dgm:presLayoutVars>
      </dgm:prSet>
      <dgm:spPr/>
    </dgm:pt>
    <dgm:pt modelId="{A6C0AF39-D4D2-47D6-9DD7-2BAE9392AFDA}" type="pres">
      <dgm:prSet presAssocID="{EB689A1C-D54B-493C-BA4F-1C35C39121E8}" presName="childComposite" presStyleCnt="0">
        <dgm:presLayoutVars>
          <dgm:chMax val="0"/>
          <dgm:chPref val="0"/>
        </dgm:presLayoutVars>
      </dgm:prSet>
      <dgm:spPr/>
    </dgm:pt>
    <dgm:pt modelId="{963C1ECC-BDBD-406A-BD88-6969FC79EF8C}" type="pres">
      <dgm:prSet presAssocID="{EB689A1C-D54B-493C-BA4F-1C35C39121E8}" presName="Image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vros na prateleira"/>
        </a:ext>
      </dgm:extLst>
    </dgm:pt>
    <dgm:pt modelId="{13D47D1B-1CBF-433A-ADC6-F9826947E69F}" type="pres">
      <dgm:prSet presAssocID="{EB689A1C-D54B-493C-BA4F-1C35C39121E8}" presName="childText" presStyleLbl="ln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4E40C0E-098D-421F-933E-9E7349E8CB01}" type="presOf" srcId="{EB689A1C-D54B-493C-BA4F-1C35C39121E8}" destId="{13D47D1B-1CBF-433A-ADC6-F9826947E69F}" srcOrd="0" destOrd="0" presId="urn:microsoft.com/office/officeart/2008/layout/PictureAccentList"/>
    <dgm:cxn modelId="{000EA735-F133-4C56-9897-F22B8237E6F1}" srcId="{229A205B-DDDD-47A7-BF09-0C1E64C8D634}" destId="{50D82141-3B39-4266-A065-A872E229AF78}" srcOrd="0" destOrd="0" parTransId="{5C3274BD-4E28-4CB2-B5D9-35A7C98439BB}" sibTransId="{2CBDEE86-A125-4236-85DB-5559BF0157A7}"/>
    <dgm:cxn modelId="{3E2CD342-0B53-49F2-93DA-80334E455843}" type="presOf" srcId="{CF39CB62-17E4-4E59-ABD4-FE52F88BDF24}" destId="{FF22766A-6D06-4D99-B4A3-9D263421A084}" srcOrd="0" destOrd="0" presId="urn:microsoft.com/office/officeart/2008/layout/PictureAccentList"/>
    <dgm:cxn modelId="{A46991A1-7A4E-4D07-8984-F5B489E387E2}" srcId="{CF39CB62-17E4-4E59-ABD4-FE52F88BDF24}" destId="{229A205B-DDDD-47A7-BF09-0C1E64C8D634}" srcOrd="0" destOrd="0" parTransId="{4C9BF045-D343-42A4-B940-A823F0ABE703}" sibTransId="{3CF63163-730F-46AC-9C62-D5389EA9FC0A}"/>
    <dgm:cxn modelId="{E7381CAA-0245-4F6C-A2D0-8CCB96389F18}" srcId="{229A205B-DDDD-47A7-BF09-0C1E64C8D634}" destId="{EB689A1C-D54B-493C-BA4F-1C35C39121E8}" srcOrd="1" destOrd="0" parTransId="{419508A3-ED67-4290-A03F-0C34612BB0B0}" sibTransId="{C6B20248-162C-44E2-AFA2-31534EEB279F}"/>
    <dgm:cxn modelId="{D3D725CB-6BE2-4976-84F9-C01C5E98C14E}" type="presOf" srcId="{50D82141-3B39-4266-A065-A872E229AF78}" destId="{175209EF-BC3D-4043-AC43-AB27C9118441}" srcOrd="0" destOrd="0" presId="urn:microsoft.com/office/officeart/2008/layout/PictureAccentList"/>
    <dgm:cxn modelId="{2B5383DA-254E-4826-AACC-3242EFCD4620}" type="presOf" srcId="{229A205B-DDDD-47A7-BF09-0C1E64C8D634}" destId="{A56CCB0C-A2E6-46C2-A80A-8F08BB74500B}" srcOrd="0" destOrd="0" presId="urn:microsoft.com/office/officeart/2008/layout/PictureAccentList"/>
    <dgm:cxn modelId="{032FCD3D-1DAF-46F8-A03B-ABB9F466197B}" type="presParOf" srcId="{FF22766A-6D06-4D99-B4A3-9D263421A084}" destId="{9E7CC567-5B16-4A26-BF61-716D8E62A6BB}" srcOrd="0" destOrd="0" presId="urn:microsoft.com/office/officeart/2008/layout/PictureAccentList"/>
    <dgm:cxn modelId="{DF45A2C4-4CCE-4481-B7DB-72B206D8F088}" type="presParOf" srcId="{9E7CC567-5B16-4A26-BF61-716D8E62A6BB}" destId="{C086E4F3-8BD6-42B6-9393-28227CD35373}" srcOrd="0" destOrd="0" presId="urn:microsoft.com/office/officeart/2008/layout/PictureAccentList"/>
    <dgm:cxn modelId="{52E34CCA-4497-4A06-A007-EEF2DF47FFA7}" type="presParOf" srcId="{C086E4F3-8BD6-42B6-9393-28227CD35373}" destId="{A56CCB0C-A2E6-46C2-A80A-8F08BB74500B}" srcOrd="0" destOrd="0" presId="urn:microsoft.com/office/officeart/2008/layout/PictureAccentList"/>
    <dgm:cxn modelId="{F41CEF7F-54C8-4B26-B125-A418EC5B7773}" type="presParOf" srcId="{9E7CC567-5B16-4A26-BF61-716D8E62A6BB}" destId="{A5277B0D-3994-4D36-9306-5FAF245E036B}" srcOrd="1" destOrd="0" presId="urn:microsoft.com/office/officeart/2008/layout/PictureAccentList"/>
    <dgm:cxn modelId="{458824F9-BDCC-4FBD-9B0D-0B5EFDD66A86}" type="presParOf" srcId="{A5277B0D-3994-4D36-9306-5FAF245E036B}" destId="{273B0BA6-CE85-4803-A17E-4FAF1664CA96}" srcOrd="0" destOrd="0" presId="urn:microsoft.com/office/officeart/2008/layout/PictureAccentList"/>
    <dgm:cxn modelId="{1297CB6B-31F4-4C1A-AACC-D94648D6D2F9}" type="presParOf" srcId="{273B0BA6-CE85-4803-A17E-4FAF1664CA96}" destId="{641FA4CA-A126-4AE4-A901-37DF7E0A3230}" srcOrd="0" destOrd="0" presId="urn:microsoft.com/office/officeart/2008/layout/PictureAccentList"/>
    <dgm:cxn modelId="{DE7E6FBD-E852-4BE8-A3DA-2D5E0D7112D1}" type="presParOf" srcId="{273B0BA6-CE85-4803-A17E-4FAF1664CA96}" destId="{175209EF-BC3D-4043-AC43-AB27C9118441}" srcOrd="1" destOrd="0" presId="urn:microsoft.com/office/officeart/2008/layout/PictureAccentList"/>
    <dgm:cxn modelId="{466E5516-0365-41AF-B52F-E8C16E30B63B}" type="presParOf" srcId="{A5277B0D-3994-4D36-9306-5FAF245E036B}" destId="{A6C0AF39-D4D2-47D6-9DD7-2BAE9392AFDA}" srcOrd="1" destOrd="0" presId="urn:microsoft.com/office/officeart/2008/layout/PictureAccentList"/>
    <dgm:cxn modelId="{2087D196-DAEB-4A17-8F2B-0F2B47C87CC0}" type="presParOf" srcId="{A6C0AF39-D4D2-47D6-9DD7-2BAE9392AFDA}" destId="{963C1ECC-BDBD-406A-BD88-6969FC79EF8C}" srcOrd="0" destOrd="0" presId="urn:microsoft.com/office/officeart/2008/layout/PictureAccentList"/>
    <dgm:cxn modelId="{C7A1AE21-F48B-45B9-B8F4-A1F2736CE94B}" type="presParOf" srcId="{A6C0AF39-D4D2-47D6-9DD7-2BAE9392AFDA}" destId="{13D47D1B-1CBF-433A-ADC6-F9826947E69F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CCB0C-A2E6-46C2-A80A-8F08BB74500B}">
      <dsp:nvSpPr>
        <dsp:cNvPr id="0" name=""/>
        <dsp:cNvSpPr/>
      </dsp:nvSpPr>
      <dsp:spPr>
        <a:xfrm>
          <a:off x="0" y="491454"/>
          <a:ext cx="9036495" cy="1404156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915" tIns="54610" rIns="81915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300" kern="1200" dirty="0"/>
            <a:t>Qual a diferença entre</a:t>
          </a:r>
          <a:br>
            <a:rPr lang="pt-BR" sz="4300" kern="1200" dirty="0"/>
          </a:br>
          <a:r>
            <a:rPr lang="pt-BR" sz="4300" kern="1200" dirty="0"/>
            <a:t>CITAÇÃO e REFERÊNCIA?</a:t>
          </a:r>
        </a:p>
      </dsp:txBody>
      <dsp:txXfrm>
        <a:off x="41126" y="532580"/>
        <a:ext cx="8954243" cy="1321904"/>
      </dsp:txXfrm>
    </dsp:sp>
    <dsp:sp modelId="{641FA4CA-A126-4AE4-A901-37DF7E0A3230}">
      <dsp:nvSpPr>
        <dsp:cNvPr id="0" name=""/>
        <dsp:cNvSpPr/>
      </dsp:nvSpPr>
      <dsp:spPr>
        <a:xfrm>
          <a:off x="0" y="2148358"/>
          <a:ext cx="1404156" cy="1404156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5209EF-BC3D-4043-AC43-AB27C9118441}">
      <dsp:nvSpPr>
        <dsp:cNvPr id="0" name=""/>
        <dsp:cNvSpPr/>
      </dsp:nvSpPr>
      <dsp:spPr>
        <a:xfrm>
          <a:off x="1488405" y="2148358"/>
          <a:ext cx="7548090" cy="1404156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altLang="pt-BR" sz="2500" b="1" i="0" u="none" kern="1200" dirty="0">
              <a:solidFill>
                <a:schemeClr val="bg1"/>
              </a:solidFill>
            </a:rPr>
            <a:t>CITAÇÃO</a:t>
          </a:r>
          <a:r>
            <a:rPr lang="pt-BR" altLang="pt-BR" sz="2500" b="0" i="0" u="none" kern="1200" dirty="0">
              <a:solidFill>
                <a:schemeClr val="bg1"/>
              </a:solidFill>
            </a:rPr>
            <a:t> é feita ao longo do texto quando se utilizam palavras ou ideias já publicadas por outro(s) autor(es).</a:t>
          </a:r>
          <a:endParaRPr lang="pt-BR" sz="2500" b="0" i="0" u="none" kern="1200" dirty="0">
            <a:solidFill>
              <a:schemeClr val="bg1"/>
            </a:solidFill>
          </a:endParaRPr>
        </a:p>
      </dsp:txBody>
      <dsp:txXfrm>
        <a:off x="1556963" y="2216916"/>
        <a:ext cx="7410974" cy="1267040"/>
      </dsp:txXfrm>
    </dsp:sp>
    <dsp:sp modelId="{963C1ECC-BDBD-406A-BD88-6969FC79EF8C}">
      <dsp:nvSpPr>
        <dsp:cNvPr id="0" name=""/>
        <dsp:cNvSpPr/>
      </dsp:nvSpPr>
      <dsp:spPr>
        <a:xfrm>
          <a:off x="0" y="3721013"/>
          <a:ext cx="1404156" cy="1404156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47D1B-1CBF-433A-ADC6-F9826947E69F}">
      <dsp:nvSpPr>
        <dsp:cNvPr id="0" name=""/>
        <dsp:cNvSpPr/>
      </dsp:nvSpPr>
      <dsp:spPr>
        <a:xfrm>
          <a:off x="1488405" y="3721013"/>
          <a:ext cx="7548090" cy="1404156"/>
        </a:xfrm>
        <a:prstGeom prst="roundRect">
          <a:avLst>
            <a:gd name="adj" fmla="val 1667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altLang="pt-BR" sz="2500" b="1" i="0" u="none" kern="1200" dirty="0">
              <a:solidFill>
                <a:schemeClr val="bg1"/>
              </a:solidFill>
            </a:rPr>
            <a:t>REFERÊNCIA</a:t>
          </a:r>
          <a:r>
            <a:rPr lang="pt-BR" altLang="pt-BR" sz="2500" b="0" i="0" u="none" kern="1200" dirty="0">
              <a:solidFill>
                <a:schemeClr val="bg1"/>
              </a:solidFill>
            </a:rPr>
            <a:t> é colocada ao final do trabalho, onde são listadas as obras e autores utilizados nas CITAÇÕES.</a:t>
          </a:r>
          <a:endParaRPr lang="pt-BR" sz="2500" b="0" i="0" u="none" kern="1200" dirty="0">
            <a:solidFill>
              <a:schemeClr val="bg1"/>
            </a:solidFill>
          </a:endParaRPr>
        </a:p>
      </dsp:txBody>
      <dsp:txXfrm>
        <a:off x="1556963" y="3789571"/>
        <a:ext cx="7410974" cy="1267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D803E85-45D0-46E3-A1EC-67DEF023F4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D722FF-E801-4600-8AD7-F610E1EE5D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0B43C86-53E5-4D74-9F48-0098FD2EFAEC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DA878E-75D9-48A1-896C-839AF9F05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D5EEBB-CEB6-4FEE-88A2-C837C2E355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0AEB238-6F36-4F43-B1A8-C34BA0BB3608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66CBCEF-89E7-4B29-A978-E52CE0400F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3E5C00-23D5-40AE-A1A6-E15A18B7DB8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B713752-E3B4-48CB-B4FB-9CFEB26DD890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2D4A584E-0617-4F10-BA94-17E38E2F4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6512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AD22256A-43AE-4B2C-B429-22ADA81CC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6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F27C2F-7C0F-44F0-83F9-C67EC8E5D7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C0F22D-1607-484E-B01D-5B4C5B497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C0AA323-BA98-46F3-884E-2C8F49A6C473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Imagem de Slide 1">
            <a:extLst>
              <a:ext uri="{FF2B5EF4-FFF2-40B4-BE49-F238E27FC236}">
                <a16:creationId xmlns:a16="http://schemas.microsoft.com/office/drawing/2014/main" id="{27383DE9-EC89-48A7-A7F1-441D1E1B74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Espaço Reservado para Anotações 2">
            <a:extLst>
              <a:ext uri="{FF2B5EF4-FFF2-40B4-BE49-F238E27FC236}">
                <a16:creationId xmlns:a16="http://schemas.microsoft.com/office/drawing/2014/main" id="{C80CACA9-61E6-4F4A-BAA5-F3ABD2B2651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3316" name="Espaço Reservado para Número de Slide 3">
            <a:extLst>
              <a:ext uri="{FF2B5EF4-FFF2-40B4-BE49-F238E27FC236}">
                <a16:creationId xmlns:a16="http://schemas.microsoft.com/office/drawing/2014/main" id="{4B6EAA5C-AD92-4850-A5FF-EE34FFB98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A2E707-4BB5-4467-A183-0C581983FEE1}" type="slidenum">
              <a:rPr lang="pt-BR" altLang="pt-BR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2F2F7C-AA72-470E-A478-DAC83B7B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C9D5A9-3A22-44C3-9DA2-3586051B29E3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02D3ED-2C92-4184-929E-8B44E506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27989-654A-4B40-A37C-29402314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A8CD6-4F68-4D25-9969-ED05C8994C70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76698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636B9B-6DEA-4675-8E62-F3175FEF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2DE05-0850-44CC-B5E8-A9B65C898C6E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7372C5-BC16-40A1-9002-04FF9157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641A5F-009E-489E-99DE-1087A9AC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6E9DF-5832-4450-BFA1-4819A8B30622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6793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74D929-EDA0-434F-AFE1-7C696FBD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6370B8-7127-47A6-9A75-1E4BD6467CF8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C36D69-F7E0-4E2A-BFB9-57C0527C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616785-1213-4669-8431-78BF14943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306BF-7318-431C-8ED6-E1217BF6341E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1992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B62AC650-7ECB-4832-A793-1938A0A2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11172-A474-4935-ACF0-B08FB80094D0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1D184695-2945-4F0B-87F5-91914BD8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CCE06E-639E-4055-BED0-446634AB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89A8C1-964A-4176-A1A8-4CD1AD2AE721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93896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137A0597-1130-4595-A35B-69FB6483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8438E-D034-4591-BEFF-865BFB651F45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A785DE5E-C2EC-46B8-9376-FBD2E8C7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6C8B903A-51CC-452D-98E3-B74A89E93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A3B5B4-2BBD-4DFD-AAC9-A274EFC4ABBE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54954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2486043D-9621-4379-9554-A07518A2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1BE6E-58E7-4AFD-B1D6-23BD6D9FE340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2797AF43-811B-4591-B910-DD8AF832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C23B8D7A-14BA-49B9-BB6F-316EFD70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755BB-9B05-4600-90E5-DD0F3DEED855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62740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84A8D529-393A-4A69-AACD-AE02B6CE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71E5-F534-400D-A615-F9E8D052EFE9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AAEB3FC1-06BD-4DD0-8E5D-E85783DB3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033212FE-CBAC-4DD3-BCB7-E3F517D7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A8ABC-7680-4931-9371-D0E429DECE2F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5635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0A47FA7D-19CF-4417-846C-5D0DBF89B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2E78A-FB1D-421E-85BC-5D68FC2112A8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B77B3B-AF5D-4507-8A90-B5DEA245A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975D7E2B-B97F-4E63-82D8-A7AB8262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89103-CCC9-4CD5-A30A-4943CB613548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3313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381B51F-DE50-41A5-990C-E0CAEDB5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909D9-6BBA-4819-B7EC-040AD387E64F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273A50FB-A1B5-4223-8C94-DA045A76B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94114FF9-85F2-42DF-9A08-2BBE2A77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23963-60EB-4887-ACDC-AFE855B0E094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92891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59EE5-03F0-42C2-A8EB-09933062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7B250-6D73-4E57-AB81-EA64056F8B5F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0BB5FD-DC0A-489F-AB69-A161263A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D4C0AA-991E-4044-88D2-C32A28AE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62F8A-2F30-444B-BF93-11725DCBEBFD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800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EF8E2D-EBB0-4027-B06A-3A6BA11CD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91DDA-2788-48C5-8A5E-8D9FEC88F582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88A5AC-6A40-4959-B1D4-7914B4433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590F37-91EB-4D20-A077-F008087F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8D08F8-2470-48D3-B5DC-121E85292C33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2532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FD2307FB-8CB7-4D0B-B050-33DFA284B49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AB3A1E49-2461-41A8-9AD9-ECFE025C60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BD082D-473A-48E9-9E1B-F27D8E1F1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1B440D-EE87-4A5A-89FB-790D741F39E0}" type="datetimeFigureOut">
              <a:rPr lang="pt-BR"/>
              <a:pPr>
                <a:defRPr/>
              </a:pPr>
              <a:t>19/05/2023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6D870B-76ED-405E-9DDC-015EBA0DC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4E3A60-C073-4E05-ABF8-BB5CE2A67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B002327-3377-48C1-BBBF-F1CC3F461899}" type="slidenum">
              <a:rPr lang="pt-BR" altLang="pt-BR"/>
              <a:pPr>
                <a:defRPr/>
              </a:pPr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ago.com.br/academy/como-escrever-uma-critica-de-livro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l="-35000" r="-3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66A52C39-029B-4884-BB2E-6E30F005A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3306" y="2788592"/>
            <a:ext cx="3884613" cy="1614413"/>
          </a:xfrm>
        </p:spPr>
        <p:txBody>
          <a:bodyPr/>
          <a:lstStyle/>
          <a:p>
            <a:pPr eaLnBrk="1" hangingPunct="1"/>
            <a:r>
              <a:rPr lang="pt-BR" altLang="pt-BR" dirty="0"/>
              <a:t>Como escrever:</a:t>
            </a:r>
            <a:br>
              <a:rPr lang="pt-BR" altLang="pt-BR" dirty="0"/>
            </a:br>
            <a:r>
              <a:rPr lang="pt-BR" altLang="pt-BR" dirty="0"/>
              <a:t> Citações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03627B-CED4-4B91-BC13-B73273500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8220" y="5661248"/>
            <a:ext cx="3528392" cy="865231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>
                <a:latin typeface="Countryside" pitchFamily="2" charset="0"/>
              </a:rPr>
              <a:t>Prof. Sabrina</a:t>
            </a:r>
          </a:p>
        </p:txBody>
      </p:sp>
      <p:pic>
        <p:nvPicPr>
          <p:cNvPr id="4100" name="Imagem 2">
            <a:extLst>
              <a:ext uri="{FF2B5EF4-FFF2-40B4-BE49-F238E27FC236}">
                <a16:creationId xmlns:a16="http://schemas.microsoft.com/office/drawing/2014/main" id="{451A02DB-CED0-4E9F-B7ED-A15CB532026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929" y="476672"/>
            <a:ext cx="3460990" cy="83757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B5D16DE3-9DA8-4693-A693-918C97BF3E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377787"/>
              </p:ext>
            </p:extLst>
          </p:nvPr>
        </p:nvGraphicFramePr>
        <p:xfrm>
          <a:off x="0" y="260648"/>
          <a:ext cx="9036496" cy="5616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AE3FA-01CD-4C84-8232-E9AFB7141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0"/>
            <a:ext cx="8229600" cy="504825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Citação</a:t>
            </a:r>
          </a:p>
        </p:txBody>
      </p:sp>
      <p:sp>
        <p:nvSpPr>
          <p:cNvPr id="6147" name="Espaço Reservado para Conteúdo 2">
            <a:extLst>
              <a:ext uri="{FF2B5EF4-FFF2-40B4-BE49-F238E27FC236}">
                <a16:creationId xmlns:a16="http://schemas.microsoft.com/office/drawing/2014/main" id="{1AD9DEDC-BE50-458D-A33F-656EABDBF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620713"/>
            <a:ext cx="8964612" cy="4525962"/>
          </a:xfrm>
        </p:spPr>
        <p:txBody>
          <a:bodyPr/>
          <a:lstStyle/>
          <a:p>
            <a:pPr marL="0" indent="0" algn="ctr">
              <a:buNone/>
            </a:pPr>
            <a:r>
              <a:rPr lang="pt-BR" altLang="pt-BR" dirty="0"/>
              <a:t>São informações pertinentes ao tema de estudo, encontradas nas diferentes referências de pesquisa, utilizadas para enriquecer o texto, fundamentando-o, esclarecendo-o ou complementando-o, além de possibilitar análises, sínteses e discussões sobre o tema de pesquisa. </a:t>
            </a:r>
          </a:p>
          <a:p>
            <a:pPr algn="just"/>
            <a:endParaRPr lang="pt-BR" altLang="pt-BR" dirty="0"/>
          </a:p>
          <a:p>
            <a:r>
              <a:rPr lang="pt-BR" altLang="pt-BR" sz="2400" b="1" dirty="0"/>
              <a:t>Em trabalhos acadêmicos, a </a:t>
            </a:r>
            <a:r>
              <a:rPr lang="pt-BR" altLang="pt-BR" sz="2400" b="1" dirty="0">
                <a:solidFill>
                  <a:srgbClr val="FF0000"/>
                </a:solidFill>
              </a:rPr>
              <a:t>citação é um elemento OBRIGATÓRIO</a:t>
            </a:r>
            <a:r>
              <a:rPr lang="pt-BR" altLang="pt-BR" sz="2400" b="1" dirty="0"/>
              <a:t>;</a:t>
            </a:r>
          </a:p>
          <a:p>
            <a:endParaRPr lang="pt-BR" altLang="pt-BR" sz="2400" b="1" dirty="0"/>
          </a:p>
          <a:p>
            <a:r>
              <a:rPr lang="pt-BR" altLang="pt-BR" sz="2400" b="1" dirty="0"/>
              <a:t>Não apenas no </a:t>
            </a:r>
            <a:r>
              <a:rPr lang="pt-BR" altLang="pt-BR" sz="2400" b="1" dirty="0">
                <a:solidFill>
                  <a:srgbClr val="FF0000"/>
                </a:solidFill>
              </a:rPr>
              <a:t>Referencial Teórico</a:t>
            </a:r>
            <a:r>
              <a:rPr lang="pt-BR" altLang="pt-BR" sz="2400" b="1" dirty="0"/>
              <a:t>, mas </a:t>
            </a:r>
            <a:r>
              <a:rPr lang="pt-BR" altLang="pt-BR" sz="2400" b="1" dirty="0">
                <a:solidFill>
                  <a:srgbClr val="FF0000"/>
                </a:solidFill>
              </a:rPr>
              <a:t>em qualquer parte do trabalho (Introdução, Metodologia, Discussão, e menos comum, Conclusão) </a:t>
            </a:r>
            <a:r>
              <a:rPr lang="pt-BR" altLang="pt-BR" sz="2400" b="1" dirty="0"/>
              <a:t>onde se utilizou dados/informações/ideias de terceiros (não ‘descobertas’ por você).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3FEB770E-AD44-472E-B081-5A134E4C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Citação</a:t>
            </a:r>
          </a:p>
        </p:txBody>
      </p:sp>
      <p:sp>
        <p:nvSpPr>
          <p:cNvPr id="7171" name="Espaço Reservado para Conteúdo 2">
            <a:extLst>
              <a:ext uri="{FF2B5EF4-FFF2-40B4-BE49-F238E27FC236}">
                <a16:creationId xmlns:a16="http://schemas.microsoft.com/office/drawing/2014/main" id="{D2F0F394-F6CD-41FF-A3EE-21828CF53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pt-BR" altLang="pt-BR" dirty="0">
                <a:solidFill>
                  <a:srgbClr val="FF0000"/>
                </a:solidFill>
              </a:rPr>
              <a:t>DIRETA</a:t>
            </a:r>
            <a:r>
              <a:rPr lang="pt-BR" altLang="pt-BR" dirty="0"/>
              <a:t>:  quando se copia </a:t>
            </a:r>
            <a:r>
              <a:rPr lang="pt-BR" altLang="pt-BR" u="sng" dirty="0"/>
              <a:t>exatamente</a:t>
            </a:r>
            <a:r>
              <a:rPr lang="pt-BR" altLang="pt-BR" dirty="0"/>
              <a:t> as palavras do autor da obra usada como bibliografia (estudada/consultada)</a:t>
            </a:r>
          </a:p>
          <a:p>
            <a:pPr algn="just" eaLnBrk="1" hangingPunct="1"/>
            <a:endParaRPr lang="pt-BR" altLang="pt-BR" dirty="0"/>
          </a:p>
          <a:p>
            <a:pPr algn="just" eaLnBrk="1" hangingPunct="1"/>
            <a:r>
              <a:rPr lang="pt-BR" altLang="pt-BR" dirty="0">
                <a:solidFill>
                  <a:srgbClr val="FF0000"/>
                </a:solidFill>
              </a:rPr>
              <a:t>INDIRETA</a:t>
            </a:r>
            <a:r>
              <a:rPr lang="pt-BR" altLang="pt-BR" dirty="0"/>
              <a:t>: quando se expressa a ideia do autor da obra usada como bibliografia (estudada/consultada) com </a:t>
            </a:r>
            <a:r>
              <a:rPr lang="pt-BR" altLang="pt-BR" u="sng" dirty="0"/>
              <a:t>suas próprias palavras</a:t>
            </a:r>
            <a:r>
              <a:rPr lang="pt-BR" altLang="pt-BR" dirty="0"/>
              <a:t> (observe que ‘falar de outra maneira’ a mesma ideia NÃO isenta você de CITAR).</a:t>
            </a:r>
          </a:p>
          <a:p>
            <a:pPr lvl="1" eaLnBrk="1" hangingPunct="1"/>
            <a:endParaRPr lang="pt-BR" alt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ítulo 1">
            <a:extLst>
              <a:ext uri="{FF2B5EF4-FFF2-40B4-BE49-F238E27FC236}">
                <a16:creationId xmlns:a16="http://schemas.microsoft.com/office/drawing/2014/main" id="{72E228F6-37E5-431F-A233-CA76FD9B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Citação Direta</a:t>
            </a:r>
            <a:br>
              <a:rPr lang="pt-BR" altLang="pt-BR" dirty="0"/>
            </a:br>
            <a:r>
              <a:rPr lang="pt-BR" altLang="pt-BR" sz="3300" dirty="0"/>
              <a:t>Regras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CB2EC0-2E2A-433B-9C89-450257BC0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45" y="2057399"/>
            <a:ext cx="8229600" cy="4525963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400" b="1" dirty="0"/>
              <a:t>Quando a citação for </a:t>
            </a:r>
            <a:r>
              <a:rPr lang="pt-BR" sz="2400" b="1" u="sng" dirty="0"/>
              <a:t>de até 3 linhas:  (CURTA)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400" dirty="0"/>
              <a:t>devem estar contidas entre aspas duplas e podem ser digitadas no mesmo parágrafo do texto do autor do trabalho.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pt-BR" sz="2400" dirty="0"/>
          </a:p>
          <a:p>
            <a:pPr marL="354013" lvl="1" indent="-35401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400" b="1" dirty="0"/>
              <a:t>Quando a citação for </a:t>
            </a:r>
            <a:r>
              <a:rPr lang="pt-BR" sz="2400" b="1" u="sng" dirty="0"/>
              <a:t>maior que 3 linhas</a:t>
            </a:r>
            <a:r>
              <a:rPr lang="pt-BR" sz="2400" b="1" dirty="0"/>
              <a:t>: (LONGA)</a:t>
            </a:r>
          </a:p>
          <a:p>
            <a:pPr marL="754063" lvl="2" indent="-354013" eaLnBrk="1" fontAlgn="auto" hangingPunct="1">
              <a:spcAft>
                <a:spcPts val="0"/>
              </a:spcAft>
              <a:defRPr/>
            </a:pPr>
            <a:r>
              <a:rPr lang="pt-BR" dirty="0"/>
              <a:t>será necessário retirar as aspas e realizar um recuo da margem esquerda de 4 cm, apresenta-se com letra menor que a do texto utilizado (tamanho 10) e o espaçamento entre linhas passa a ser simples. Apresentar o sobrenome do autor, o ano de publicação e a página de onde retirou o parágrafo.</a:t>
            </a:r>
          </a:p>
          <a:p>
            <a:pPr marL="754063" lvl="2" indent="-354013" eaLnBrk="1" fontAlgn="auto" hangingPunct="1">
              <a:spcAft>
                <a:spcPts val="0"/>
              </a:spcAft>
              <a:defRPr/>
            </a:pPr>
            <a:endParaRPr lang="pt-BR" dirty="0"/>
          </a:p>
          <a:p>
            <a:pPr marL="754063" lvl="2" indent="-354013" algn="ctr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pt-BR" i="1" dirty="0">
                <a:solidFill>
                  <a:srgbClr val="FF0000"/>
                </a:solidFill>
              </a:rPr>
              <a:t>Na citação direta é </a:t>
            </a:r>
            <a:r>
              <a:rPr lang="pt-BR" i="1" u="sng" dirty="0">
                <a:solidFill>
                  <a:srgbClr val="FF0000"/>
                </a:solidFill>
              </a:rPr>
              <a:t>OBRIGATÓRIO</a:t>
            </a:r>
            <a:r>
              <a:rPr lang="pt-BR" i="1" dirty="0">
                <a:solidFill>
                  <a:srgbClr val="FF0000"/>
                </a:solidFill>
              </a:rPr>
              <a:t> informar o </a:t>
            </a:r>
            <a:r>
              <a:rPr lang="pt-BR" i="1" dirty="0" err="1">
                <a:solidFill>
                  <a:srgbClr val="FF0000"/>
                </a:solidFill>
              </a:rPr>
              <a:t>nr</a:t>
            </a:r>
            <a:r>
              <a:rPr lang="pt-BR" i="1" dirty="0">
                <a:solidFill>
                  <a:srgbClr val="FF0000"/>
                </a:solidFill>
              </a:rPr>
              <a:t>. da página da qual foi retirado o trecho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>
            <a:extLst>
              <a:ext uri="{FF2B5EF4-FFF2-40B4-BE49-F238E27FC236}">
                <a16:creationId xmlns:a16="http://schemas.microsoft.com/office/drawing/2014/main" id="{E3BB6FAE-C176-45D7-8C1C-A7E83D2B7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pPr eaLnBrk="1" hangingPunct="1"/>
            <a:r>
              <a:rPr lang="pt-BR" altLang="pt-BR" dirty="0"/>
              <a:t>Citação Direta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50AECA-0777-4789-B61B-743FCD711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397"/>
            <a:ext cx="8507288" cy="5257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2400" dirty="0"/>
              <a:t>Quando a citação for </a:t>
            </a:r>
            <a:r>
              <a:rPr lang="pt-BR" sz="2400" u="sng" dirty="0"/>
              <a:t>de até 3 linhas: </a:t>
            </a:r>
          </a:p>
          <a:p>
            <a:pPr>
              <a:buFont typeface="Arial" charset="0"/>
              <a:buChar char="•"/>
              <a:defRPr/>
            </a:pPr>
            <a:r>
              <a:rPr lang="pt-BR" sz="2400" dirty="0"/>
              <a:t>Ex.: </a:t>
            </a:r>
          </a:p>
          <a:p>
            <a:pPr algn="just">
              <a:lnSpc>
                <a:spcPct val="170000"/>
              </a:lnSpc>
              <a:buFont typeface="Arial" charset="0"/>
              <a:buNone/>
              <a:defRPr/>
            </a:pPr>
            <a:r>
              <a:rPr lang="pt-BR" sz="2400" dirty="0"/>
              <a:t>		</a:t>
            </a:r>
            <a:endParaRPr lang="pt-BR" sz="27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Arial" charset="0"/>
              <a:buNone/>
              <a:defRPr/>
            </a:pPr>
            <a:endParaRPr lang="pt-BR" sz="2400" dirty="0"/>
          </a:p>
          <a:p>
            <a:pPr>
              <a:buFont typeface="Arial" charset="0"/>
              <a:buNone/>
              <a:defRPr/>
            </a:pPr>
            <a:endParaRPr lang="pt-BR" sz="2400" dirty="0"/>
          </a:p>
          <a:p>
            <a:pPr marL="0" lvl="1" indent="0" eaLnBrk="1" fontAlgn="auto" hangingPunct="1">
              <a:spcAft>
                <a:spcPts val="0"/>
              </a:spcAft>
              <a:buNone/>
              <a:defRPr/>
            </a:pPr>
            <a:r>
              <a:rPr lang="pt-BR" sz="2200" dirty="0">
                <a:solidFill>
                  <a:schemeClr val="accent6">
                    <a:lumMod val="75000"/>
                  </a:schemeClr>
                </a:solidFill>
              </a:rPr>
              <a:t>Ou </a:t>
            </a:r>
          </a:p>
          <a:p>
            <a:pPr marL="0" lvl="1" indent="0" eaLnBrk="1" fontAlgn="auto" hangingPunct="1">
              <a:spcAft>
                <a:spcPts val="0"/>
              </a:spcAft>
              <a:buNone/>
              <a:defRPr/>
            </a:pPr>
            <a:endParaRPr lang="pt-BR" sz="2200" dirty="0">
              <a:solidFill>
                <a:schemeClr val="accent6">
                  <a:lumMod val="75000"/>
                </a:schemeClr>
              </a:solidFill>
            </a:endParaRPr>
          </a:p>
          <a:p>
            <a:pPr marL="0" lvl="1" indent="0" eaLnBrk="1" fontAlgn="auto" hangingPunct="1">
              <a:spcAft>
                <a:spcPts val="0"/>
              </a:spcAft>
              <a:buNone/>
              <a:defRPr/>
            </a:pPr>
            <a:endParaRPr lang="pt-BR"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428F3A2-056E-41DA-9CEB-163D26E27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167676"/>
            <a:ext cx="6696744" cy="162196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109CD0B-DE41-4C79-87A5-1BD01D794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4268949"/>
            <a:ext cx="6912768" cy="190132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78650D7-EEB0-222C-81A9-D41E695F276D}"/>
              </a:ext>
            </a:extLst>
          </p:cNvPr>
          <p:cNvSpPr txBox="1"/>
          <p:nvPr/>
        </p:nvSpPr>
        <p:spPr>
          <a:xfrm>
            <a:off x="6228184" y="1324791"/>
            <a:ext cx="2458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u="sng" dirty="0"/>
              <a:t>CURTA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ítulo 1">
            <a:extLst>
              <a:ext uri="{FF2B5EF4-FFF2-40B4-BE49-F238E27FC236}">
                <a16:creationId xmlns:a16="http://schemas.microsoft.com/office/drawing/2014/main" id="{E3BB6FAE-C176-45D7-8C1C-A7E83D2B7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pPr eaLnBrk="1" hangingPunct="1"/>
            <a:r>
              <a:rPr lang="pt-BR" altLang="pt-BR" dirty="0"/>
              <a:t>Citação Direta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50AECA-0777-4789-B61B-743FCD711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3397"/>
            <a:ext cx="8507288" cy="5257800"/>
          </a:xfrm>
        </p:spPr>
        <p:txBody>
          <a:bodyPr rtlCol="0">
            <a:normAutofit/>
          </a:bodyPr>
          <a:lstStyle/>
          <a:p>
            <a:pPr marL="354013" lvl="1" indent="-354013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400" dirty="0"/>
              <a:t>Quando a citação for </a:t>
            </a:r>
            <a:r>
              <a:rPr lang="pt-BR" sz="2400" u="sng" dirty="0"/>
              <a:t>maior que 3 linhas</a:t>
            </a:r>
            <a:r>
              <a:rPr lang="pt-BR" sz="2400" dirty="0"/>
              <a:t>: </a:t>
            </a:r>
          </a:p>
          <a:p>
            <a:pPr>
              <a:buFont typeface="Arial" charset="0"/>
              <a:buNone/>
              <a:defRPr/>
            </a:pPr>
            <a:r>
              <a:rPr lang="pt-BR" sz="2400" dirty="0"/>
              <a:t>Ex.:  </a:t>
            </a:r>
          </a:p>
          <a:p>
            <a:pPr>
              <a:buFont typeface="Arial" charset="0"/>
              <a:buNone/>
              <a:defRPr/>
            </a:pPr>
            <a:r>
              <a:rPr lang="pt-BR" sz="2400" dirty="0"/>
              <a:t>	</a:t>
            </a:r>
            <a:endParaRPr lang="pt-BR"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0AD11AB-2613-4D3F-A9CC-7D6010CC9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37" y="1952836"/>
            <a:ext cx="7132725" cy="295232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F1C77E5-1950-4EA5-8E64-361C8A1CB2CB}"/>
              </a:ext>
            </a:extLst>
          </p:cNvPr>
          <p:cNvSpPr txBox="1"/>
          <p:nvPr/>
        </p:nvSpPr>
        <p:spPr>
          <a:xfrm>
            <a:off x="977770" y="4920730"/>
            <a:ext cx="77090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Ou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Segundo Alves (2012, p.5) poderia não estar ali, e aparecer ao final da</a:t>
            </a:r>
          </a:p>
          <a:p>
            <a:r>
              <a:rPr lang="pt-BR" dirty="0"/>
              <a:t>Citação: </a:t>
            </a:r>
          </a:p>
          <a:p>
            <a:endParaRPr lang="pt-BR" dirty="0"/>
          </a:p>
          <a:p>
            <a:r>
              <a:rPr lang="pt-BR" dirty="0"/>
              <a:t>[...] links sugeridos (ALVES, 2012, p.5).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244B737-897B-F223-1291-8A235942F730}"/>
              </a:ext>
            </a:extLst>
          </p:cNvPr>
          <p:cNvSpPr txBox="1"/>
          <p:nvPr/>
        </p:nvSpPr>
        <p:spPr>
          <a:xfrm>
            <a:off x="6228184" y="1324791"/>
            <a:ext cx="2458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u="sng" dirty="0"/>
              <a:t>LONGA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5424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DC17D-C0C6-4623-BF71-2B50F2C63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0063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Citação Direta – omissão de trecho</a:t>
            </a:r>
            <a:br>
              <a:rPr lang="pt-BR" dirty="0"/>
            </a:br>
            <a:r>
              <a:rPr lang="pt-BR" dirty="0"/>
              <a:t>[...]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361DD0-CDAC-4E93-8408-03C3952C9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43063"/>
            <a:ext cx="8686800" cy="4614863"/>
          </a:xfrm>
        </p:spPr>
        <p:txBody>
          <a:bodyPr rtlCol="0">
            <a:normAutofit/>
          </a:bodyPr>
          <a:lstStyle/>
          <a:p>
            <a:pPr>
              <a:buFont typeface="Arial" charset="0"/>
              <a:buNone/>
              <a:defRPr/>
            </a:pPr>
            <a:endParaRPr lang="pt-BR" sz="2400" dirty="0"/>
          </a:p>
          <a:p>
            <a:pPr algn="just">
              <a:buFont typeface="Arial" charset="0"/>
              <a:buNone/>
              <a:defRPr/>
            </a:pPr>
            <a:r>
              <a:rPr lang="pt-BR" sz="2400" dirty="0"/>
              <a:t>		</a:t>
            </a:r>
            <a:r>
              <a:rPr lang="pt-BR" sz="2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gestão ambiental empresarial é um elemento que não estava presente no planejamento empresarial de anos atrás</a:t>
            </a:r>
          </a:p>
          <a:p>
            <a:pPr>
              <a:buFont typeface="Arial" charset="0"/>
              <a:buNone/>
              <a:defRPr/>
            </a:pPr>
            <a:r>
              <a:rPr lang="pt-BR" sz="25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marL="1517650" indent="0" algn="just">
              <a:spcBef>
                <a:spcPts val="0"/>
              </a:spcBef>
              <a:buFont typeface="Arial" charset="0"/>
              <a:buNone/>
              <a:defRPr/>
            </a:pPr>
            <a:r>
              <a:rPr lang="pt-BR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A preocupação com o estado do meio ambiente não é recente, mas foi nas últimas três décadas do século XX que ela entrou definitivamente na agenda dos governos de muitos países </a:t>
            </a:r>
            <a:r>
              <a:rPr lang="pt-BR" sz="1800" dirty="0">
                <a:solidFill>
                  <a:srgbClr val="FF0000"/>
                </a:solidFill>
              </a:rPr>
              <a:t>[...].</a:t>
            </a:r>
            <a:r>
              <a:rPr lang="pt-BR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No âmbito empresarial, essa preocupação é ainda mais recente, </a:t>
            </a:r>
            <a:r>
              <a:rPr lang="pt-BR" sz="1800" dirty="0">
                <a:solidFill>
                  <a:srgbClr val="FF0000"/>
                </a:solidFill>
              </a:rPr>
              <a:t>[...]</a:t>
            </a:r>
            <a:r>
              <a:rPr lang="pt-BR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(BARBIERI, 2007, p. 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ítulo 1">
            <a:extLst>
              <a:ext uri="{FF2B5EF4-FFF2-40B4-BE49-F238E27FC236}">
                <a16:creationId xmlns:a16="http://schemas.microsoft.com/office/drawing/2014/main" id="{61028275-BD0D-451D-83F5-8A19C4CA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1438"/>
            <a:ext cx="8229600" cy="1143000"/>
          </a:xfrm>
        </p:spPr>
        <p:txBody>
          <a:bodyPr/>
          <a:lstStyle/>
          <a:p>
            <a:pPr eaLnBrk="1" hangingPunct="1"/>
            <a:r>
              <a:rPr lang="pt-BR" altLang="pt-BR"/>
              <a:t>Citação Indireta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7F18F6-E288-4492-BD44-4E697CF63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21288"/>
            <a:ext cx="8329613" cy="693837"/>
          </a:xfrm>
        </p:spPr>
        <p:txBody>
          <a:bodyPr rtlCol="0">
            <a:normAutofit lnSpcReduction="10000"/>
          </a:bodyPr>
          <a:lstStyle/>
          <a:p>
            <a:pPr marL="342900" lvl="2" indent="-342900" algn="ctr">
              <a:buFont typeface="Arial" charset="0"/>
              <a:buNone/>
              <a:defRPr/>
            </a:pPr>
            <a:r>
              <a:rPr lang="pt-BR" sz="2000" i="1" dirty="0">
                <a:solidFill>
                  <a:srgbClr val="FF0000"/>
                </a:solidFill>
              </a:rPr>
              <a:t>Na citação indireta é </a:t>
            </a:r>
            <a:r>
              <a:rPr lang="pt-BR" sz="2000" i="1" u="sng" dirty="0">
                <a:solidFill>
                  <a:srgbClr val="FF0000"/>
                </a:solidFill>
              </a:rPr>
              <a:t>OPCIONAL</a:t>
            </a:r>
            <a:r>
              <a:rPr lang="pt-BR" sz="2000" i="1" dirty="0">
                <a:solidFill>
                  <a:srgbClr val="FF0000"/>
                </a:solidFill>
              </a:rPr>
              <a:t>  informar o </a:t>
            </a:r>
            <a:r>
              <a:rPr lang="pt-BR" sz="2000" i="1" dirty="0" err="1">
                <a:solidFill>
                  <a:srgbClr val="FF0000"/>
                </a:solidFill>
              </a:rPr>
              <a:t>nr</a:t>
            </a:r>
            <a:r>
              <a:rPr lang="pt-BR" sz="2000" i="1" dirty="0">
                <a:solidFill>
                  <a:srgbClr val="FF0000"/>
                </a:solidFill>
              </a:rPr>
              <a:t>. da página da qual foi retirado o trecho (</a:t>
            </a:r>
            <a:r>
              <a:rPr lang="pt-BR" sz="2000" i="1" u="sng" dirty="0">
                <a:solidFill>
                  <a:srgbClr val="FF0000"/>
                </a:solidFill>
              </a:rPr>
              <a:t>geralmente não é indicado</a:t>
            </a:r>
            <a:r>
              <a:rPr lang="pt-BR" sz="2000" i="1" dirty="0">
                <a:solidFill>
                  <a:srgbClr val="FF0000"/>
                </a:solidFill>
              </a:rPr>
              <a:t>)</a:t>
            </a:r>
          </a:p>
          <a:p>
            <a:pPr algn="just">
              <a:buFont typeface="Arial" charset="0"/>
              <a:buChar char="•"/>
              <a:defRPr/>
            </a:pPr>
            <a:endParaRPr lang="pt-BR"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F879735-0B91-4DEF-82E2-25A46C4DE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002686"/>
            <a:ext cx="7355160" cy="4852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ítulo 1">
            <a:extLst>
              <a:ext uri="{FF2B5EF4-FFF2-40B4-BE49-F238E27FC236}">
                <a16:creationId xmlns:a16="http://schemas.microsoft.com/office/drawing/2014/main" id="{27AE701B-2FE8-4DA6-91E1-C1D3FB10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600"/>
              <a:t>Citação de obra com </a:t>
            </a:r>
            <a:r>
              <a:rPr lang="pt-BR" altLang="pt-BR" sz="3600" u="sng"/>
              <a:t>UM autor </a:t>
            </a:r>
            <a:r>
              <a:rPr lang="pt-BR" altLang="pt-BR" sz="3600"/>
              <a:t>- 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6B979-02DB-4C31-831F-00C3A7A49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29613" cy="5257800"/>
          </a:xfrm>
        </p:spPr>
        <p:txBody>
          <a:bodyPr rtlCol="0">
            <a:normAutofit/>
          </a:bodyPr>
          <a:lstStyle/>
          <a:p>
            <a:pPr algn="just">
              <a:buFont typeface="Arial" charset="0"/>
              <a:buNone/>
              <a:defRPr/>
            </a:pPr>
            <a:r>
              <a:rPr lang="pt-BR" sz="2400" dirty="0"/>
              <a:t>	           Os empreendimentos hidrelétricos inserem-se dentro do interesse coletivo de uma sociedade por elevar, através da oferta de energia, a qualidade de vida da população. No entanto, além dos benefícios energéticos devem ser considerados os efeitos prejudiciais do empreendimento (</a:t>
            </a:r>
            <a:r>
              <a:rPr lang="pt-BR" sz="2400" dirty="0">
                <a:solidFill>
                  <a:srgbClr val="FF0000"/>
                </a:solidFill>
              </a:rPr>
              <a:t>SOUSA, 2000</a:t>
            </a:r>
            <a:r>
              <a:rPr lang="pt-BR" sz="2400" dirty="0"/>
              <a:t>).</a:t>
            </a:r>
          </a:p>
          <a:p>
            <a:pPr algn="just">
              <a:buFont typeface="Arial" charset="0"/>
              <a:buChar char="•"/>
              <a:defRPr/>
            </a:pPr>
            <a:endParaRPr lang="pt-BR" sz="24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buFont typeface="Arial" charset="0"/>
              <a:buChar char="•"/>
              <a:defRPr/>
            </a:pPr>
            <a:endParaRPr lang="pt-BR" sz="24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buFont typeface="Arial" charset="0"/>
              <a:buChar char="•"/>
              <a:defRPr/>
            </a:pPr>
            <a:endParaRPr lang="pt-BR" sz="2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Arial" charset="0"/>
              <a:buNone/>
              <a:defRPr/>
            </a:pPr>
            <a:r>
              <a:rPr lang="pt-BR" sz="2400" dirty="0"/>
              <a:t>	         Quando sedimentadas, estas partículas formam bancos de lodos onde a digestão anaeróbia leva à formação de gás metano e gás carbônico, principalmente, além de nitrogênio gasoso e gás </a:t>
            </a:r>
            <a:r>
              <a:rPr lang="it-IT" sz="2400" dirty="0"/>
              <a:t>sulfídrico (</a:t>
            </a:r>
            <a:r>
              <a:rPr lang="it-IT" sz="2400" dirty="0">
                <a:solidFill>
                  <a:srgbClr val="FF0000"/>
                </a:solidFill>
              </a:rPr>
              <a:t>PIVELI; KATO, 2006</a:t>
            </a:r>
            <a:r>
              <a:rPr lang="it-IT" sz="2400" dirty="0"/>
              <a:t>).</a:t>
            </a:r>
            <a:endParaRPr lang="pt-BR" sz="24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buFont typeface="Arial" charset="0"/>
              <a:buChar char="•"/>
              <a:defRPr/>
            </a:pPr>
            <a:endParaRPr lang="pt-BR"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B2EB87B-E66E-4228-A825-976F651D2D81}"/>
              </a:ext>
            </a:extLst>
          </p:cNvPr>
          <p:cNvSpPr txBox="1">
            <a:spLocks/>
          </p:cNvSpPr>
          <p:nvPr/>
        </p:nvSpPr>
        <p:spPr bwMode="auto">
          <a:xfrm>
            <a:off x="357188" y="392906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pt-BR" sz="3400" dirty="0">
                <a:latin typeface="+mj-lt"/>
                <a:ea typeface="+mj-ea"/>
                <a:cs typeface="+mj-cs"/>
              </a:rPr>
              <a:t>Citação de obra com </a:t>
            </a:r>
            <a:r>
              <a:rPr lang="pt-BR" sz="3400" u="sng" dirty="0">
                <a:latin typeface="+mj-lt"/>
                <a:ea typeface="+mj-ea"/>
                <a:cs typeface="+mj-cs"/>
              </a:rPr>
              <a:t>DOIS autores </a:t>
            </a:r>
            <a:r>
              <a:rPr lang="pt-BR" sz="3400" dirty="0">
                <a:latin typeface="+mj-lt"/>
                <a:ea typeface="+mj-ea"/>
                <a:cs typeface="+mj-cs"/>
              </a:rPr>
              <a:t>- Exemplo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C519A-CACA-4D5B-A448-134C126E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/>
              <a:t>Citação de obra com </a:t>
            </a:r>
            <a:r>
              <a:rPr lang="pt-BR" sz="3600" u="sng" dirty="0"/>
              <a:t>TRÊS autores </a:t>
            </a:r>
            <a:r>
              <a:rPr lang="pt-BR" sz="3600" dirty="0"/>
              <a:t>- 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BA1F7A-E095-430F-97AB-3EBD2B1F3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45527"/>
            <a:ext cx="8329613" cy="5257800"/>
          </a:xfrm>
        </p:spPr>
        <p:txBody>
          <a:bodyPr rtlCol="0">
            <a:normAutofit lnSpcReduction="10000"/>
          </a:bodyPr>
          <a:lstStyle/>
          <a:p>
            <a:pPr algn="just">
              <a:buFont typeface="Arial" charset="0"/>
              <a:buNone/>
              <a:defRPr/>
            </a:pPr>
            <a:r>
              <a:rPr lang="pt-BR" sz="2400" dirty="0"/>
              <a:t>		O manejo integrado das </a:t>
            </a:r>
            <a:r>
              <a:rPr lang="pt-BR" sz="2400" dirty="0" err="1"/>
              <a:t>macrófitas</a:t>
            </a:r>
            <a:r>
              <a:rPr lang="pt-BR" sz="2400" dirty="0"/>
              <a:t> aquáticas, que emprega combinações de métodos físico (remoção mecânica), químico (aplicação de herbicidas) e biológico (controle por animais herbívoros), apresenta-se como a forma mais eficaz de controle (</a:t>
            </a:r>
            <a:r>
              <a:rPr lang="pt-BR" sz="2400" dirty="0">
                <a:solidFill>
                  <a:srgbClr val="FF0000"/>
                </a:solidFill>
              </a:rPr>
              <a:t>MOURA;  FRANCO;  MATALLO, 2009</a:t>
            </a:r>
            <a:r>
              <a:rPr lang="pt-BR" sz="2400" dirty="0"/>
              <a:t>).</a:t>
            </a:r>
            <a:endParaRPr lang="pt-BR" sz="24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buFont typeface="Arial" charset="0"/>
              <a:buChar char="•"/>
              <a:defRPr/>
            </a:pPr>
            <a:endParaRPr lang="pt-BR" sz="22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buFont typeface="Arial" charset="0"/>
              <a:buChar char="•"/>
              <a:defRPr/>
            </a:pPr>
            <a:endParaRPr lang="pt-BR" sz="22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buFont typeface="Arial" charset="0"/>
              <a:buChar char="•"/>
              <a:defRPr/>
            </a:pPr>
            <a:endParaRPr lang="pt-BR" sz="22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buFont typeface="Arial" charset="0"/>
              <a:buNone/>
              <a:defRPr/>
            </a:pPr>
            <a:r>
              <a:rPr lang="pt-BR" sz="2400" dirty="0"/>
              <a:t>		   A </a:t>
            </a:r>
            <a:r>
              <a:rPr lang="pt-BR" sz="2400" dirty="0" err="1"/>
              <a:t>fluoretação</a:t>
            </a:r>
            <a:r>
              <a:rPr lang="pt-BR" sz="2400" dirty="0"/>
              <a:t> da água é um método reconhecido na prevenção da cárie dentária, quando utilizada na concentração ideal para cada região, segundo a temperatura média local. No entanto, é um fator de risco para </a:t>
            </a:r>
            <a:r>
              <a:rPr lang="pt-BR" sz="2400" dirty="0" err="1"/>
              <a:t>fluorose</a:t>
            </a:r>
            <a:r>
              <a:rPr lang="pt-BR" sz="2400" dirty="0"/>
              <a:t> dentária, quando a concentração de flúor ultrapassa os níveis recomendados (</a:t>
            </a:r>
            <a:r>
              <a:rPr lang="pt-BR" sz="2400" dirty="0">
                <a:solidFill>
                  <a:srgbClr val="FF0000"/>
                </a:solidFill>
              </a:rPr>
              <a:t>RAMIRES </a:t>
            </a:r>
            <a:r>
              <a:rPr lang="pt-BR" sz="2400" dirty="0" err="1">
                <a:solidFill>
                  <a:srgbClr val="FF0000"/>
                </a:solidFill>
              </a:rPr>
              <a:t>et</a:t>
            </a:r>
            <a:r>
              <a:rPr lang="pt-BR" sz="2400" dirty="0">
                <a:solidFill>
                  <a:srgbClr val="FF0000"/>
                </a:solidFill>
              </a:rPr>
              <a:t> al., 2004</a:t>
            </a:r>
            <a:r>
              <a:rPr lang="pt-BR" sz="2400" dirty="0"/>
              <a:t>).</a:t>
            </a:r>
            <a:endParaRPr lang="pt-BR"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D762076-11EA-4C28-9A06-3D9D8F4E5489}"/>
              </a:ext>
            </a:extLst>
          </p:cNvPr>
          <p:cNvSpPr txBox="1">
            <a:spLocks/>
          </p:cNvSpPr>
          <p:nvPr/>
        </p:nvSpPr>
        <p:spPr bwMode="auto">
          <a:xfrm>
            <a:off x="914400" y="3348771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normAutofit fontScale="975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pt-BR" sz="2800" dirty="0">
                <a:latin typeface="+mj-lt"/>
                <a:ea typeface="+mj-ea"/>
                <a:cs typeface="+mj-cs"/>
              </a:rPr>
              <a:t>Citação de obra com </a:t>
            </a:r>
            <a:r>
              <a:rPr lang="pt-BR" sz="2800" u="sng" dirty="0">
                <a:latin typeface="+mj-lt"/>
                <a:ea typeface="+mj-ea"/>
                <a:cs typeface="+mj-cs"/>
              </a:rPr>
              <a:t>MAIS DE TRÊS autores </a:t>
            </a:r>
            <a:r>
              <a:rPr lang="pt-BR" sz="2800" dirty="0">
                <a:latin typeface="+mj-lt"/>
                <a:ea typeface="+mj-ea"/>
                <a:cs typeface="+mj-cs"/>
              </a:rPr>
              <a:t>- Exemplo</a:t>
            </a:r>
          </a:p>
        </p:txBody>
      </p:sp>
      <p:sp>
        <p:nvSpPr>
          <p:cNvPr id="5" name="Nuvem 4">
            <a:extLst>
              <a:ext uri="{FF2B5EF4-FFF2-40B4-BE49-F238E27FC236}">
                <a16:creationId xmlns:a16="http://schemas.microsoft.com/office/drawing/2014/main" id="{F6DB80F3-2A06-4B56-8F11-F9294BF53CB2}"/>
              </a:ext>
            </a:extLst>
          </p:cNvPr>
          <p:cNvSpPr/>
          <p:nvPr/>
        </p:nvSpPr>
        <p:spPr>
          <a:xfrm rot="19017196">
            <a:off x="-100608" y="4095727"/>
            <a:ext cx="1115616" cy="79208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et 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ítulo 1">
            <a:extLst>
              <a:ext uri="{FF2B5EF4-FFF2-40B4-BE49-F238E27FC236}">
                <a16:creationId xmlns:a16="http://schemas.microsoft.com/office/drawing/2014/main" id="{76A28C8E-230D-4B1B-9541-2815FDA6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2057"/>
          </a:xfrm>
        </p:spPr>
        <p:txBody>
          <a:bodyPr/>
          <a:lstStyle/>
          <a:p>
            <a:pPr eaLnBrk="1" hangingPunct="1"/>
            <a:r>
              <a:rPr lang="pt-BR" altLang="pt-BR" sz="3600" dirty="0"/>
              <a:t>Citação de citação - 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9043B9-45B2-4558-9C20-350AF056C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931304"/>
            <a:ext cx="8329613" cy="926695"/>
          </a:xfrm>
        </p:spPr>
        <p:txBody>
          <a:bodyPr rtlCol="0">
            <a:normAutofit/>
          </a:bodyPr>
          <a:lstStyle/>
          <a:p>
            <a:pPr algn="just">
              <a:buFont typeface="Arial" charset="0"/>
              <a:buNone/>
              <a:defRPr/>
            </a:pPr>
            <a:r>
              <a:rPr lang="pt-BR" sz="2400" dirty="0">
                <a:solidFill>
                  <a:srgbClr val="FF0000"/>
                </a:solidFill>
              </a:rPr>
              <a:t>		</a:t>
            </a:r>
            <a:endParaRPr lang="pt-BR" sz="2200" dirty="0">
              <a:solidFill>
                <a:srgbClr val="FF0000"/>
              </a:solidFill>
            </a:endParaRPr>
          </a:p>
          <a:p>
            <a:pPr algn="ctr">
              <a:buFont typeface="Arial" charset="0"/>
              <a:buNone/>
              <a:defRPr/>
            </a:pPr>
            <a:r>
              <a:rPr lang="pt-BR" sz="2400" i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pt-BR" sz="2400" i="1" dirty="0">
                <a:solidFill>
                  <a:srgbClr val="FF0000"/>
                </a:solidFill>
              </a:rPr>
              <a:t>autor da idéia original </a:t>
            </a:r>
            <a:r>
              <a:rPr lang="pt-BR" sz="2400" b="1" dirty="0">
                <a:solidFill>
                  <a:srgbClr val="FF0000"/>
                </a:solidFill>
              </a:rPr>
              <a:t>apud</a:t>
            </a:r>
            <a:r>
              <a:rPr lang="pt-BR" sz="2400" i="1" dirty="0">
                <a:solidFill>
                  <a:srgbClr val="FF0000"/>
                </a:solidFill>
              </a:rPr>
              <a:t> autor da obra em mãos</a:t>
            </a:r>
            <a:endParaRPr lang="pt-BR" sz="2200" i="1" dirty="0">
              <a:solidFill>
                <a:srgbClr val="FF0000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9C6CAFC-4EFC-4471-B448-F12111BAD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35" y="926695"/>
            <a:ext cx="7945729" cy="5445797"/>
          </a:xfrm>
          <a:prstGeom prst="rect">
            <a:avLst/>
          </a:prstGeom>
        </p:spPr>
      </p:pic>
      <p:sp>
        <p:nvSpPr>
          <p:cNvPr id="5" name="Nuvem 4">
            <a:extLst>
              <a:ext uri="{FF2B5EF4-FFF2-40B4-BE49-F238E27FC236}">
                <a16:creationId xmlns:a16="http://schemas.microsoft.com/office/drawing/2014/main" id="{730E9694-6E19-4856-8445-1CAA5C2233AB}"/>
              </a:ext>
            </a:extLst>
          </p:cNvPr>
          <p:cNvSpPr/>
          <p:nvPr/>
        </p:nvSpPr>
        <p:spPr>
          <a:xfrm rot="19017196">
            <a:off x="143899" y="390773"/>
            <a:ext cx="1115616" cy="792088"/>
          </a:xfrm>
          <a:prstGeom prst="cloud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apud</a:t>
            </a:r>
          </a:p>
        </p:txBody>
      </p:sp>
      <p:sp>
        <p:nvSpPr>
          <p:cNvPr id="4" name="Nuvem 3">
            <a:extLst>
              <a:ext uri="{FF2B5EF4-FFF2-40B4-BE49-F238E27FC236}">
                <a16:creationId xmlns:a16="http://schemas.microsoft.com/office/drawing/2014/main" id="{44BDF2A3-2AA7-8AFB-0C00-172B9D239AF8}"/>
              </a:ext>
            </a:extLst>
          </p:cNvPr>
          <p:cNvSpPr/>
          <p:nvPr/>
        </p:nvSpPr>
        <p:spPr>
          <a:xfrm rot="19017196">
            <a:off x="7259187" y="398577"/>
            <a:ext cx="1985009" cy="795714"/>
          </a:xfrm>
          <a:prstGeom prst="cloud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use COM moderação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>
            <a:extLst>
              <a:ext uri="{FF2B5EF4-FFF2-40B4-BE49-F238E27FC236}">
                <a16:creationId xmlns:a16="http://schemas.microsoft.com/office/drawing/2014/main" id="{DC5B13C8-ED19-4558-8764-019DCE21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600">
                <a:solidFill>
                  <a:srgbClr val="FF0000"/>
                </a:solidFill>
              </a:rPr>
              <a:t>IMPORTANTÍSSIMO!!!!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ED64AA-87A6-4E9F-B89D-8F6FA04F8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5875"/>
            <a:ext cx="8786813" cy="5257800"/>
          </a:xfrm>
        </p:spPr>
        <p:txBody>
          <a:bodyPr rtlCol="0">
            <a:normAutofit fontScale="85000" lnSpcReduction="20000"/>
          </a:bodyPr>
          <a:lstStyle/>
          <a:p>
            <a:pPr algn="ctr">
              <a:buFont typeface="Arial" charset="0"/>
              <a:buNone/>
              <a:defRPr/>
            </a:pPr>
            <a:r>
              <a:rPr lang="pt-BR" b="1" dirty="0"/>
              <a:t>Utilizar dados/informação/ideias de outros autores (que não são suas) SEM a devida CITAÇÃO constitui crime de PLÁGIO </a:t>
            </a:r>
          </a:p>
          <a:p>
            <a:pPr algn="ctr">
              <a:buFont typeface="Arial" charset="0"/>
              <a:buNone/>
              <a:defRPr/>
            </a:pPr>
            <a:endParaRPr lang="pt-BR" b="1" dirty="0"/>
          </a:p>
          <a:p>
            <a:pPr>
              <a:buFont typeface="Wingdings"/>
              <a:buChar char="à"/>
              <a:defRPr/>
            </a:pPr>
            <a:r>
              <a:rPr lang="pt-BR" b="1" dirty="0"/>
              <a:t>Lei federal 9.610/98 – Lei dos direitos autorais</a:t>
            </a:r>
          </a:p>
          <a:p>
            <a:pPr>
              <a:buFont typeface="Wingdings"/>
              <a:buChar char="à"/>
              <a:defRPr/>
            </a:pPr>
            <a:endParaRPr lang="pt-BR" b="1" dirty="0"/>
          </a:p>
          <a:p>
            <a:pPr>
              <a:buFont typeface="Arial" charset="0"/>
              <a:buNone/>
              <a:defRPr/>
            </a:pPr>
            <a:r>
              <a:rPr lang="pt-BR" dirty="0">
                <a:sym typeface="Wingdings" pitchFamily="2" charset="2"/>
              </a:rPr>
              <a:t> </a:t>
            </a:r>
            <a:r>
              <a:rPr lang="pt-BR" b="1" dirty="0">
                <a:sym typeface="Wingdings" pitchFamily="2" charset="2"/>
              </a:rPr>
              <a:t>Código Penal</a:t>
            </a:r>
            <a:r>
              <a:rPr lang="pt-BR" dirty="0">
                <a:sym typeface="Wingdings" pitchFamily="2" charset="2"/>
              </a:rPr>
              <a:t>: </a:t>
            </a:r>
          </a:p>
          <a:p>
            <a:pPr>
              <a:buFont typeface="Arial" charset="0"/>
              <a:buNone/>
              <a:defRPr/>
            </a:pPr>
            <a:r>
              <a:rPr lang="pt-BR" dirty="0"/>
              <a:t>O </a:t>
            </a:r>
            <a:r>
              <a:rPr lang="pt-BR" b="1" dirty="0"/>
              <a:t>crime</a:t>
            </a:r>
            <a:r>
              <a:rPr lang="pt-BR" dirty="0"/>
              <a:t> de plágio está tipificado no art. 184 do Código Penal: </a:t>
            </a:r>
          </a:p>
          <a:p>
            <a:pPr lvl="1">
              <a:buFont typeface="Arial" charset="0"/>
              <a:buChar char="–"/>
              <a:defRPr/>
            </a:pPr>
            <a:r>
              <a:rPr lang="pt-BR" dirty="0"/>
              <a:t>Art. 184. Violar direitos de autor e os que lhe são conexos:</a:t>
            </a:r>
          </a:p>
          <a:p>
            <a:pPr lvl="1">
              <a:buFont typeface="Arial" charset="0"/>
              <a:buChar char="–"/>
              <a:defRPr/>
            </a:pPr>
            <a:r>
              <a:rPr lang="pt-BR" dirty="0"/>
              <a:t>Pena - detenção, de 3 (três) meses a 1 (um) ano, ou multa.</a:t>
            </a:r>
          </a:p>
          <a:p>
            <a:pPr>
              <a:buFont typeface="Arial" charset="0"/>
              <a:buChar char="•"/>
              <a:defRPr/>
            </a:pPr>
            <a:endParaRPr lang="pt-BR" dirty="0"/>
          </a:p>
          <a:p>
            <a:pPr algn="ctr">
              <a:buFont typeface="Arial" charset="0"/>
              <a:buNone/>
              <a:defRPr/>
            </a:pPr>
            <a:endParaRPr lang="pt-BR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Font typeface="Arial" charset="0"/>
              <a:buNone/>
              <a:defRPr/>
            </a:pPr>
            <a:r>
              <a:rPr lang="pt-BR" b="1" i="1" dirty="0">
                <a:solidFill>
                  <a:srgbClr val="00B050"/>
                </a:solidFill>
              </a:rPr>
              <a:t>          Portanto, CITE!!!</a:t>
            </a:r>
            <a:endParaRPr lang="pt-BR" i="1" dirty="0">
              <a:solidFill>
                <a:srgbClr val="FF0000"/>
              </a:solidFill>
            </a:endParaRPr>
          </a:p>
        </p:txBody>
      </p:sp>
      <p:pic>
        <p:nvPicPr>
          <p:cNvPr id="16388" name="Picture 2">
            <a:extLst>
              <a:ext uri="{FF2B5EF4-FFF2-40B4-BE49-F238E27FC236}">
                <a16:creationId xmlns:a16="http://schemas.microsoft.com/office/drawing/2014/main" id="{32C86DD2-19BA-46A7-B923-607B05CDC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725" y="0"/>
            <a:ext cx="1565275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Nuvem 1">
            <a:extLst>
              <a:ext uri="{FF2B5EF4-FFF2-40B4-BE49-F238E27FC236}">
                <a16:creationId xmlns:a16="http://schemas.microsoft.com/office/drawing/2014/main" id="{3CC6CD54-E0B2-418D-B90A-99B301432883}"/>
              </a:ext>
            </a:extLst>
          </p:cNvPr>
          <p:cNvSpPr/>
          <p:nvPr/>
        </p:nvSpPr>
        <p:spPr>
          <a:xfrm>
            <a:off x="6012160" y="5310336"/>
            <a:ext cx="2774653" cy="11430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Aplicativos de detecção de plágio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>
            <a:extLst>
              <a:ext uri="{FF2B5EF4-FFF2-40B4-BE49-F238E27FC236}">
                <a16:creationId xmlns:a16="http://schemas.microsoft.com/office/drawing/2014/main" id="{28FFF003-A788-45E9-B0A4-421F77AD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600">
                <a:solidFill>
                  <a:srgbClr val="FF0000"/>
                </a:solidFill>
              </a:rPr>
              <a:t>IMPORTANTÍSSIMO!!!!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DA338-969B-4857-84E4-55C83B9E0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15" y="1154113"/>
            <a:ext cx="8786813" cy="3931071"/>
          </a:xfrm>
        </p:spPr>
        <p:txBody>
          <a:bodyPr rtlCol="0">
            <a:noAutofit/>
          </a:bodyPr>
          <a:lstStyle/>
          <a:p>
            <a:pPr algn="ctr">
              <a:buFont typeface="Arial" charset="0"/>
              <a:buNone/>
              <a:defRPr/>
            </a:pPr>
            <a:r>
              <a:rPr lang="pt-BR" sz="2800" b="1" dirty="0"/>
              <a:t>TODAS</a:t>
            </a:r>
            <a:r>
              <a:rPr lang="pt-BR" sz="2800" dirty="0"/>
              <a:t> as citações (inclusive com </a:t>
            </a:r>
            <a:r>
              <a:rPr lang="pt-BR" sz="2800" i="1" dirty="0"/>
              <a:t>apud</a:t>
            </a:r>
            <a:r>
              <a:rPr lang="pt-BR" sz="2800" dirty="0"/>
              <a:t>) </a:t>
            </a:r>
          </a:p>
          <a:p>
            <a:pPr algn="ctr">
              <a:buFont typeface="Arial" charset="0"/>
              <a:buNone/>
              <a:defRPr/>
            </a:pPr>
            <a:r>
              <a:rPr lang="pt-BR" sz="2800" b="1" dirty="0"/>
              <a:t>DEVEM</a:t>
            </a:r>
            <a:r>
              <a:rPr lang="pt-BR" sz="2800" dirty="0"/>
              <a:t> constar nas REFERÊNCIAS</a:t>
            </a:r>
          </a:p>
          <a:p>
            <a:pPr algn="ctr">
              <a:buFont typeface="Arial" charset="0"/>
              <a:buNone/>
              <a:defRPr/>
            </a:pPr>
            <a:endParaRPr lang="pt-BR" sz="2800" i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>
              <a:buFont typeface="Arial" charset="0"/>
              <a:buNone/>
              <a:defRPr/>
            </a:pPr>
            <a:r>
              <a:rPr lang="pt-BR" sz="2800" b="1" i="1" dirty="0">
                <a:solidFill>
                  <a:srgbClr val="00B050"/>
                </a:solidFill>
              </a:rPr>
              <a:t>Portanto, antes de entregar as versões do projeto de graduação, do artigo, do TCC... revise, se TODAS as CITAÇÕES constam nas suas REFERÊNCIAS.</a:t>
            </a:r>
          </a:p>
          <a:p>
            <a:pPr algn="ctr">
              <a:buFont typeface="Arial" charset="0"/>
              <a:buNone/>
              <a:defRPr/>
            </a:pPr>
            <a:endParaRPr lang="pt-BR" sz="2800" i="1" dirty="0">
              <a:solidFill>
                <a:srgbClr val="FF0000"/>
              </a:solidFill>
            </a:endParaRPr>
          </a:p>
          <a:p>
            <a:pPr algn="ctr">
              <a:buFont typeface="Arial" charset="0"/>
              <a:buNone/>
              <a:defRPr/>
            </a:pPr>
            <a:r>
              <a:rPr lang="pt-BR" sz="2800" i="1" dirty="0">
                <a:solidFill>
                  <a:srgbClr val="FF0000"/>
                </a:solidFill>
              </a:rPr>
              <a:t>Esta é uma das falhas que gera descontos em sua nota!!</a:t>
            </a:r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2799936E-B558-4D2C-AA95-88F5F81A2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725" y="0"/>
            <a:ext cx="1565275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1" name="Picture 3">
            <a:extLst>
              <a:ext uri="{FF2B5EF4-FFF2-40B4-BE49-F238E27FC236}">
                <a16:creationId xmlns:a16="http://schemas.microsoft.com/office/drawing/2014/main" id="{F15F1B12-C98B-47D9-8951-686A920A4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7" y="5800725"/>
            <a:ext cx="17811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BBE20A25-11F1-407B-96D8-6060736430AD}"/>
              </a:ext>
            </a:extLst>
          </p:cNvPr>
          <p:cNvSpPr/>
          <p:nvPr/>
        </p:nvSpPr>
        <p:spPr>
          <a:xfrm>
            <a:off x="1805452" y="5260602"/>
            <a:ext cx="7288614" cy="140811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Na FATECPG consultem sempre os documentos, para não errar na formatação:</a:t>
            </a:r>
          </a:p>
          <a:p>
            <a:pPr marL="285750" indent="-285750" algn="ctr">
              <a:buFontTx/>
              <a:buChar char="-"/>
            </a:pPr>
            <a:r>
              <a:rPr lang="pt-BR" b="1" dirty="0"/>
              <a:t>GUIA PARA FORMATAÇÃO DE TRABALHOS ACADÊMICOS e</a:t>
            </a:r>
          </a:p>
          <a:p>
            <a:pPr marL="285750" indent="-285750" algn="ctr">
              <a:buFontTx/>
              <a:buChar char="-"/>
            </a:pPr>
            <a:r>
              <a:rPr lang="pt-BR" b="1" dirty="0"/>
              <a:t>ORIENTAÇÕES BÁSICAS PARA A ELABORAÇÃO DE ARTIGO CIENTÍFICO </a:t>
            </a:r>
            <a:r>
              <a:rPr lang="pt-BR" dirty="0"/>
              <a:t>elaborados pela prof. Adélia Saraiva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10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500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500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806A6BBFD8F94CA27EC52F1AE6F20B" ma:contentTypeVersion="3" ma:contentTypeDescription="Crie um novo documento." ma:contentTypeScope="" ma:versionID="05c099c6e3f057128dc6b716b9de35b2">
  <xsd:schema xmlns:xsd="http://www.w3.org/2001/XMLSchema" xmlns:xs="http://www.w3.org/2001/XMLSchema" xmlns:p="http://schemas.microsoft.com/office/2006/metadata/properties" xmlns:ns2="b4fd5b1b-3f79-45df-9f68-0237794b52ad" targetNamespace="http://schemas.microsoft.com/office/2006/metadata/properties" ma:root="true" ma:fieldsID="66237220fbfe90ee27a0aec2968ad77a" ns2:_="">
    <xsd:import namespace="b4fd5b1b-3f79-45df-9f68-0237794b52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d5b1b-3f79-45df-9f68-0237794b52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88AFAB-0F60-4694-8485-290585D61BA7}"/>
</file>

<file path=customXml/itemProps2.xml><?xml version="1.0" encoding="utf-8"?>
<ds:datastoreItem xmlns:ds="http://schemas.openxmlformats.org/officeDocument/2006/customXml" ds:itemID="{EB45295F-4EF9-4AF1-A2AF-ECD34C0BA744}"/>
</file>

<file path=customXml/itemProps3.xml><?xml version="1.0" encoding="utf-8"?>
<ds:datastoreItem xmlns:ds="http://schemas.openxmlformats.org/officeDocument/2006/customXml" ds:itemID="{81A23EB9-242F-4E91-A472-263FB139FE14}"/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970</Words>
  <Application>Microsoft Office PowerPoint</Application>
  <PresentationFormat>On-screen Show (4:3)</PresentationFormat>
  <Paragraphs>93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Countryside</vt:lpstr>
      <vt:lpstr>Wingdings</vt:lpstr>
      <vt:lpstr>Tema do Office</vt:lpstr>
      <vt:lpstr>Como escrever:  Citações</vt:lpstr>
      <vt:lpstr>PowerPoint Presentation</vt:lpstr>
      <vt:lpstr> Citação</vt:lpstr>
      <vt:lpstr>Citação</vt:lpstr>
      <vt:lpstr>Citação Direta Regras</vt:lpstr>
      <vt:lpstr>Citação Direta - Exemplos</vt:lpstr>
      <vt:lpstr>Citação Direta - Exemplos</vt:lpstr>
      <vt:lpstr>Citação Direta – omissão de trecho [...] </vt:lpstr>
      <vt:lpstr>Citação Indireta - Exemplos</vt:lpstr>
      <vt:lpstr>Citação de obra com UM autor - Exemplo</vt:lpstr>
      <vt:lpstr>Citação de obra com TRÊS autores - Exemplo</vt:lpstr>
      <vt:lpstr>Citação de citação - Exemplos</vt:lpstr>
      <vt:lpstr>IMPORTANTÍSSIMO!!!!</vt:lpstr>
      <vt:lpstr>IMPORTANTÍSSIMO!!!!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Justificativa</dc:title>
  <dc:creator>Janara de Camargo Matos</dc:creator>
  <cp:lastModifiedBy>SABRINA MARTINS DOS SANTOS</cp:lastModifiedBy>
  <cp:revision>42</cp:revision>
  <cp:lastPrinted>2016-10-17T17:43:27Z</cp:lastPrinted>
  <dcterms:created xsi:type="dcterms:W3CDTF">2013-03-09T16:05:52Z</dcterms:created>
  <dcterms:modified xsi:type="dcterms:W3CDTF">2023-05-19T20:12:18Z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0x010100F8806A6BBFD8F94CA27EC52F1AE6F20B</vt:lpwstr>
  </property>
  <property fmtid="{D5CDD505-2E9C-101B-9397-08002B2CF9AE}" pid="3" name="Order">
    <vt:r8>1900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