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5.xml" ContentType="application/vnd.openxmlformats-officedocument.presentationml.notes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588" r:id="rId1"/>
  </p:sldMasterIdLst>
  <p:notesMasterIdLst>
    <p:notesMasterId r:id="rId47"/>
  </p:notesMasterIdLst>
  <p:handoutMasterIdLst>
    <p:handoutMasterId r:id="rId48"/>
  </p:handoutMasterIdLst>
  <p:sldIdLst>
    <p:sldId id="360" r:id="rId2"/>
    <p:sldId id="443" r:id="rId3"/>
    <p:sldId id="485" r:id="rId4"/>
    <p:sldId id="500" r:id="rId5"/>
    <p:sldId id="502" r:id="rId6"/>
    <p:sldId id="280" r:id="rId7"/>
    <p:sldId id="281" r:id="rId8"/>
    <p:sldId id="452" r:id="rId9"/>
    <p:sldId id="498" r:id="rId10"/>
    <p:sldId id="454" r:id="rId11"/>
    <p:sldId id="508" r:id="rId12"/>
    <p:sldId id="494" r:id="rId13"/>
    <p:sldId id="517" r:id="rId14"/>
    <p:sldId id="518" r:id="rId15"/>
    <p:sldId id="512" r:id="rId16"/>
    <p:sldId id="264" r:id="rId17"/>
    <p:sldId id="279" r:id="rId18"/>
    <p:sldId id="455" r:id="rId19"/>
    <p:sldId id="483" r:id="rId20"/>
    <p:sldId id="458" r:id="rId21"/>
    <p:sldId id="265" r:id="rId22"/>
    <p:sldId id="287" r:id="rId23"/>
    <p:sldId id="459" r:id="rId24"/>
    <p:sldId id="519" r:id="rId25"/>
    <p:sldId id="267" r:id="rId26"/>
    <p:sldId id="268" r:id="rId27"/>
    <p:sldId id="269" r:id="rId28"/>
    <p:sldId id="270" r:id="rId29"/>
    <p:sldId id="271" r:id="rId30"/>
    <p:sldId id="460" r:id="rId31"/>
    <p:sldId id="282" r:id="rId32"/>
    <p:sldId id="283" r:id="rId33"/>
    <p:sldId id="284" r:id="rId34"/>
    <p:sldId id="285" r:id="rId35"/>
    <p:sldId id="286" r:id="rId36"/>
    <p:sldId id="262" r:id="rId37"/>
    <p:sldId id="484" r:id="rId38"/>
    <p:sldId id="466" r:id="rId39"/>
    <p:sldId id="503" r:id="rId40"/>
    <p:sldId id="520" r:id="rId41"/>
    <p:sldId id="463" r:id="rId42"/>
    <p:sldId id="474" r:id="rId43"/>
    <p:sldId id="507" r:id="rId44"/>
    <p:sldId id="478" r:id="rId45"/>
    <p:sldId id="480" r:id="rId46"/>
  </p:sldIdLst>
  <p:sldSz cx="9144000" cy="6858000" type="screen4x3"/>
  <p:notesSz cx="6669088" cy="9753600"/>
  <p:defaultTextStyle>
    <a:defPPr>
      <a:defRPr lang="pt-BR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0000"/>
    <a:srgbClr val="FF0000"/>
    <a:srgbClr val="FF6600"/>
    <a:srgbClr val="FF3300"/>
    <a:srgbClr val="FFCCFF"/>
    <a:srgbClr val="00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enhum Estilo, Nenhuma Grad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ABFCF23-3B69-468F-B69F-88F6DE6A72F2}" styleName="Estilo Médio 1 - Ênfase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191" autoAdjust="0"/>
    <p:restoredTop sz="84331" autoAdjust="0"/>
  </p:normalViewPr>
  <p:slideViewPr>
    <p:cSldViewPr>
      <p:cViewPr varScale="1">
        <p:scale>
          <a:sx n="72" d="100"/>
          <a:sy n="72" d="100"/>
        </p:scale>
        <p:origin x="1260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viewProps" Target="viewProps.xml"/><Relationship Id="rId55" Type="http://schemas.openxmlformats.org/officeDocument/2006/relationships/customXml" Target="../customXml/item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customXml" Target="../customXml/item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890838" cy="4873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quarter" idx="1"/>
          </p:nvPr>
        </p:nvSpPr>
        <p:spPr>
          <a:xfrm>
            <a:off x="3776663" y="0"/>
            <a:ext cx="2890837" cy="4873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AC12DB9B-BECA-4F8E-A660-4F425F133C1D}" type="datetimeFigureOut">
              <a:rPr lang="pt-BR"/>
              <a:pPr>
                <a:defRPr/>
              </a:pPr>
              <a:t>19/08/2021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2"/>
          </p:nvPr>
        </p:nvSpPr>
        <p:spPr>
          <a:xfrm>
            <a:off x="0" y="9264650"/>
            <a:ext cx="2890838" cy="4873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3"/>
          </p:nvPr>
        </p:nvSpPr>
        <p:spPr>
          <a:xfrm>
            <a:off x="3776663" y="9264650"/>
            <a:ext cx="2890837" cy="4873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96A8E278-FB6D-4DCD-8894-FC19212B9188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717710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890838" cy="4873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charset="0"/>
                <a:cs typeface="+mn-cs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776663" y="0"/>
            <a:ext cx="2890837" cy="4873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charset="0"/>
                <a:cs typeface="+mn-cs"/>
              </a:defRPr>
            </a:lvl1pPr>
          </a:lstStyle>
          <a:p>
            <a:pPr>
              <a:defRPr/>
            </a:pPr>
            <a:fld id="{72B7A74A-EC60-4E13-9EE3-7F7C89FE3C41}" type="datetimeFigureOut">
              <a:rPr lang="pt-BR"/>
              <a:pPr>
                <a:defRPr/>
              </a:pPr>
              <a:t>19/08/2021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896938" y="731838"/>
            <a:ext cx="4876800" cy="3657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pt-BR" noProof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66750" y="4632325"/>
            <a:ext cx="5335588" cy="43894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noProof="0"/>
              <a:t>Clique para editar os estilos do texto mestre</a:t>
            </a:r>
          </a:p>
          <a:p>
            <a:pPr lvl="1"/>
            <a:r>
              <a:rPr lang="pt-BR" noProof="0"/>
              <a:t>Segundo nível</a:t>
            </a:r>
          </a:p>
          <a:p>
            <a:pPr lvl="2"/>
            <a:r>
              <a:rPr lang="pt-BR" noProof="0"/>
              <a:t>Terceiro nível</a:t>
            </a:r>
          </a:p>
          <a:p>
            <a:pPr lvl="3"/>
            <a:r>
              <a:rPr lang="pt-BR" noProof="0"/>
              <a:t>Quarto nível</a:t>
            </a:r>
          </a:p>
          <a:p>
            <a:pPr lvl="4"/>
            <a:r>
              <a:rPr lang="pt-BR" noProof="0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9264650"/>
            <a:ext cx="2890838" cy="4873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charset="0"/>
                <a:cs typeface="+mn-cs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776663" y="9264650"/>
            <a:ext cx="2890837" cy="4873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 charset="0"/>
                <a:cs typeface="+mn-cs"/>
              </a:defRPr>
            </a:lvl1pPr>
          </a:lstStyle>
          <a:p>
            <a:pPr>
              <a:defRPr/>
            </a:pPr>
            <a:fld id="{8F4D8A6B-DAAE-4D8D-81A5-E50FC317E6C2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8008420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0963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/>
          </a:p>
        </p:txBody>
      </p:sp>
      <p:sp>
        <p:nvSpPr>
          <p:cNvPr id="34820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fld id="{7D04CDCE-5368-4631-8746-FF4FE9FAC60C}" type="slidenum">
              <a:rPr lang="pt-BR" smtClean="0">
                <a:latin typeface="Arial" pitchFamily="34" charset="0"/>
              </a:rPr>
              <a:pPr>
                <a:defRPr/>
              </a:pPr>
              <a:t>1</a:t>
            </a:fld>
            <a:endParaRPr lang="pt-BR">
              <a:latin typeface="Arial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1987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/>
          </a:p>
        </p:txBody>
      </p:sp>
      <p:sp>
        <p:nvSpPr>
          <p:cNvPr id="34820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fld id="{01977E2D-8599-4B3B-8014-0041878F0E49}" type="slidenum">
              <a:rPr lang="pt-BR" smtClean="0">
                <a:latin typeface="Arial" pitchFamily="34" charset="0"/>
              </a:rPr>
              <a:pPr>
                <a:defRPr/>
              </a:pPr>
              <a:t>2</a:t>
            </a:fld>
            <a:endParaRPr lang="pt-BR">
              <a:latin typeface="Arial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6563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/>
          </a:p>
        </p:txBody>
      </p:sp>
      <p:sp>
        <p:nvSpPr>
          <p:cNvPr id="34820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fld id="{A7647E62-44DA-4271-8008-6F31C9E4E3DF}" type="slidenum">
              <a:rPr lang="pt-BR" smtClean="0">
                <a:latin typeface="Arial" pitchFamily="34" charset="0"/>
              </a:rPr>
              <a:pPr>
                <a:defRPr/>
              </a:pPr>
              <a:t>4</a:t>
            </a:fld>
            <a:endParaRPr lang="pt-BR">
              <a:latin typeface="Arial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8371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/>
          </a:p>
        </p:txBody>
      </p:sp>
      <p:sp>
        <p:nvSpPr>
          <p:cNvPr id="34820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fld id="{C353A0A2-0D19-4290-A143-2AF461420CCE}" type="slidenum">
              <a:rPr lang="pt-BR" smtClean="0">
                <a:latin typeface="Arial" pitchFamily="34" charset="0"/>
              </a:rPr>
              <a:pPr>
                <a:defRPr/>
              </a:pPr>
              <a:t>5</a:t>
            </a:fld>
            <a:endParaRPr lang="pt-BR">
              <a:latin typeface="Arial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4035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/>
          </a:p>
        </p:txBody>
      </p:sp>
      <p:sp>
        <p:nvSpPr>
          <p:cNvPr id="34820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fld id="{D1C8161C-1CE4-4638-9062-946D5A6389E3}" type="slidenum">
              <a:rPr lang="pt-BR" smtClean="0">
                <a:latin typeface="Arial" pitchFamily="34" charset="0"/>
              </a:rPr>
              <a:pPr>
                <a:defRPr/>
              </a:pPr>
              <a:t>8</a:t>
            </a:fld>
            <a:endParaRPr lang="pt-BR">
              <a:latin typeface="Arial" pitchFamily="34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5059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/>
          </a:p>
        </p:txBody>
      </p:sp>
      <p:sp>
        <p:nvSpPr>
          <p:cNvPr id="34820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fld id="{80FA1ED4-F96F-4C92-AB0C-6358ACAB2EA6}" type="slidenum">
              <a:rPr lang="pt-BR" smtClean="0">
                <a:latin typeface="Arial" pitchFamily="34" charset="0"/>
              </a:rPr>
              <a:pPr>
                <a:defRPr/>
              </a:pPr>
              <a:t>9</a:t>
            </a:fld>
            <a:endParaRPr lang="pt-BR">
              <a:latin typeface="Arial" pitchFamily="34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5059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/>
          </a:p>
        </p:txBody>
      </p:sp>
      <p:sp>
        <p:nvSpPr>
          <p:cNvPr id="34820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fld id="{80FA1ED4-F96F-4C92-AB0C-6358ACAB2EA6}" type="slidenum">
              <a:rPr lang="pt-BR" smtClean="0">
                <a:latin typeface="Arial" pitchFamily="34" charset="0"/>
              </a:rPr>
              <a:pPr>
                <a:defRPr/>
              </a:pPr>
              <a:t>10</a:t>
            </a:fld>
            <a:endParaRPr lang="pt-BR">
              <a:latin typeface="Arial" pitchFamily="34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6083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/>
          </a:p>
        </p:txBody>
      </p:sp>
      <p:sp>
        <p:nvSpPr>
          <p:cNvPr id="34820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fld id="{F579EC0C-73C8-4135-B89A-9FD6FEA7DC6A}" type="slidenum">
              <a:rPr lang="pt-BR" smtClean="0">
                <a:latin typeface="Arial" pitchFamily="34" charset="0"/>
              </a:rPr>
              <a:pPr>
                <a:defRPr/>
              </a:pPr>
              <a:t>11</a:t>
            </a:fld>
            <a:endParaRPr lang="pt-BR">
              <a:latin typeface="Arial" pitchFamily="34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5843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/>
          </a:p>
        </p:txBody>
      </p:sp>
      <p:sp>
        <p:nvSpPr>
          <p:cNvPr id="40964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fld id="{AB190389-D8FD-41F6-AFD0-694BE81B63BD}" type="slidenum">
              <a:rPr lang="pt-BR" smtClean="0">
                <a:latin typeface="Arial" pitchFamily="34" charset="0"/>
              </a:rPr>
              <a:pPr>
                <a:defRPr/>
              </a:pPr>
              <a:t>12</a:t>
            </a:fld>
            <a:endParaRPr lang="pt-BR">
              <a:latin typeface="Arial" pitchFamily="34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5843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/>
          </a:p>
        </p:txBody>
      </p:sp>
      <p:sp>
        <p:nvSpPr>
          <p:cNvPr id="40964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fld id="{AB190389-D8FD-41F6-AFD0-694BE81B63BD}" type="slidenum">
              <a:rPr lang="pt-BR" smtClean="0">
                <a:latin typeface="Arial" pitchFamily="34" charset="0"/>
              </a:rPr>
              <a:pPr>
                <a:defRPr/>
              </a:pPr>
              <a:t>13</a:t>
            </a:fld>
            <a:endParaRPr lang="pt-BR">
              <a:latin typeface="Arial" pitchFamily="34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5843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/>
          </a:p>
        </p:txBody>
      </p:sp>
      <p:sp>
        <p:nvSpPr>
          <p:cNvPr id="40964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fld id="{AB190389-D8FD-41F6-AFD0-694BE81B63BD}" type="slidenum">
              <a:rPr lang="pt-BR" smtClean="0">
                <a:latin typeface="Arial" pitchFamily="34" charset="0"/>
              </a:rPr>
              <a:pPr>
                <a:defRPr/>
              </a:pPr>
              <a:t>14</a:t>
            </a:fld>
            <a:endParaRPr lang="pt-BR">
              <a:latin typeface="Arial" pitchFamily="34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9155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/>
          </a:p>
        </p:txBody>
      </p:sp>
      <p:sp>
        <p:nvSpPr>
          <p:cNvPr id="34820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fld id="{D934AF62-0C1A-4CED-8CFF-ACBA40586253}" type="slidenum">
              <a:rPr lang="pt-BR" smtClean="0">
                <a:latin typeface="Arial" pitchFamily="34" charset="0"/>
              </a:rPr>
              <a:pPr>
                <a:defRPr/>
              </a:pPr>
              <a:t>15</a:t>
            </a:fld>
            <a:endParaRPr lang="pt-BR">
              <a:latin typeface="Arial" pitchFamily="34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9155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/>
          </a:p>
        </p:txBody>
      </p:sp>
      <p:sp>
        <p:nvSpPr>
          <p:cNvPr id="34820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fld id="{D934AF62-0C1A-4CED-8CFF-ACBA40586253}" type="slidenum">
              <a:rPr lang="pt-BR" smtClean="0">
                <a:latin typeface="Arial" pitchFamily="34" charset="0"/>
              </a:rPr>
              <a:pPr>
                <a:defRPr/>
              </a:pPr>
              <a:t>18</a:t>
            </a:fld>
            <a:endParaRPr lang="pt-BR">
              <a:latin typeface="Arial" pitchFamily="34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9155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/>
          </a:p>
        </p:txBody>
      </p:sp>
      <p:sp>
        <p:nvSpPr>
          <p:cNvPr id="34820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fld id="{D934AF62-0C1A-4CED-8CFF-ACBA40586253}" type="slidenum">
              <a:rPr lang="pt-BR" smtClean="0">
                <a:latin typeface="Arial" pitchFamily="34" charset="0"/>
              </a:rPr>
              <a:pPr>
                <a:defRPr/>
              </a:pPr>
              <a:t>19</a:t>
            </a:fld>
            <a:endParaRPr lang="pt-BR">
              <a:latin typeface="Arial" pitchFamily="34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1203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/>
          </a:p>
        </p:txBody>
      </p:sp>
      <p:sp>
        <p:nvSpPr>
          <p:cNvPr id="34820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fld id="{95E9BDD9-4108-49F8-A703-5695BDE94CAA}" type="slidenum">
              <a:rPr lang="pt-BR" smtClean="0">
                <a:latin typeface="Arial" pitchFamily="34" charset="0"/>
              </a:rPr>
              <a:pPr>
                <a:defRPr/>
              </a:pPr>
              <a:t>20</a:t>
            </a:fld>
            <a:endParaRPr lang="pt-BR">
              <a:latin typeface="Arial" pitchFamily="34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3251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/>
          </a:p>
        </p:txBody>
      </p:sp>
      <p:sp>
        <p:nvSpPr>
          <p:cNvPr id="34820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fld id="{AF82970C-2517-4F5D-BC90-399739210408}" type="slidenum">
              <a:rPr lang="pt-BR" smtClean="0">
                <a:latin typeface="Arial" pitchFamily="34" charset="0"/>
              </a:rPr>
              <a:pPr>
                <a:defRPr/>
              </a:pPr>
              <a:t>23</a:t>
            </a:fld>
            <a:endParaRPr lang="pt-BR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858688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3251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/>
          </a:p>
        </p:txBody>
      </p:sp>
      <p:sp>
        <p:nvSpPr>
          <p:cNvPr id="34820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fld id="{AF82970C-2517-4F5D-BC90-399739210408}" type="slidenum">
              <a:rPr lang="pt-BR" smtClean="0">
                <a:latin typeface="Arial" pitchFamily="34" charset="0"/>
              </a:rPr>
              <a:pPr>
                <a:defRPr/>
              </a:pPr>
              <a:t>24</a:t>
            </a:fld>
            <a:endParaRPr lang="pt-BR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988133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4275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/>
          </a:p>
        </p:txBody>
      </p:sp>
      <p:sp>
        <p:nvSpPr>
          <p:cNvPr id="34820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fld id="{EA4C6DD3-BCE7-4C4C-9F7A-261774749971}" type="slidenum">
              <a:rPr lang="pt-BR" smtClean="0">
                <a:latin typeface="Arial" pitchFamily="34" charset="0"/>
              </a:rPr>
              <a:pPr>
                <a:defRPr/>
              </a:pPr>
              <a:t>30</a:t>
            </a:fld>
            <a:endParaRPr lang="pt-BR">
              <a:latin typeface="Arial" pitchFamily="34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4275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/>
          </a:p>
        </p:txBody>
      </p:sp>
      <p:sp>
        <p:nvSpPr>
          <p:cNvPr id="34820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fld id="{EA4C6DD3-BCE7-4C4C-9F7A-261774749971}" type="slidenum">
              <a:rPr lang="pt-BR" smtClean="0">
                <a:latin typeface="Arial" pitchFamily="34" charset="0"/>
              </a:rPr>
              <a:pPr>
                <a:defRPr/>
              </a:pPr>
              <a:t>37</a:t>
            </a:fld>
            <a:endParaRPr lang="pt-BR">
              <a:latin typeface="Arial" pitchFamily="34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9395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/>
          </a:p>
        </p:txBody>
      </p:sp>
      <p:sp>
        <p:nvSpPr>
          <p:cNvPr id="34820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fld id="{6B47FC07-414E-4D24-92C3-5B3BE983C712}" type="slidenum">
              <a:rPr lang="pt-BR" smtClean="0">
                <a:latin typeface="Arial" pitchFamily="34" charset="0"/>
              </a:rPr>
              <a:pPr>
                <a:defRPr/>
              </a:pPr>
              <a:t>38</a:t>
            </a:fld>
            <a:endParaRPr lang="pt-BR">
              <a:latin typeface="Arial" pitchFamily="34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9395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/>
          </a:p>
        </p:txBody>
      </p:sp>
      <p:sp>
        <p:nvSpPr>
          <p:cNvPr id="34820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fld id="{6B47FC07-414E-4D24-92C3-5B3BE983C712}" type="slidenum">
              <a:rPr lang="pt-BR" smtClean="0">
                <a:latin typeface="Arial" pitchFamily="34" charset="0"/>
              </a:rPr>
              <a:pPr>
                <a:defRPr/>
              </a:pPr>
              <a:t>39</a:t>
            </a:fld>
            <a:endParaRPr lang="pt-BR">
              <a:latin typeface="Arial" pitchFamily="34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9395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/>
          </a:p>
        </p:txBody>
      </p:sp>
      <p:sp>
        <p:nvSpPr>
          <p:cNvPr id="34820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fld id="{6B47FC07-414E-4D24-92C3-5B3BE983C712}" type="slidenum">
              <a:rPr lang="pt-BR" smtClean="0">
                <a:latin typeface="Arial" pitchFamily="34" charset="0"/>
              </a:rPr>
              <a:pPr>
                <a:defRPr/>
              </a:pPr>
              <a:t>40</a:t>
            </a:fld>
            <a:endParaRPr lang="pt-BR">
              <a:latin typeface="Arial" pitchFamily="34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8371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/>
          </a:p>
        </p:txBody>
      </p:sp>
      <p:sp>
        <p:nvSpPr>
          <p:cNvPr id="34820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fld id="{4D57CE1D-E6D4-496D-8571-D256B6EA30FA}" type="slidenum">
              <a:rPr lang="pt-BR" smtClean="0">
                <a:latin typeface="Arial" pitchFamily="34" charset="0"/>
              </a:rPr>
              <a:pPr>
                <a:defRPr/>
              </a:pPr>
              <a:t>41</a:t>
            </a:fld>
            <a:endParaRPr lang="pt-BR">
              <a:latin typeface="Arial" pitchFamily="34" charset="0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9635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/>
          </a:p>
        </p:txBody>
      </p:sp>
      <p:sp>
        <p:nvSpPr>
          <p:cNvPr id="34820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fld id="{E81CEBCA-2CB6-4FF8-81B9-3106553983C9}" type="slidenum">
              <a:rPr lang="pt-BR" smtClean="0">
                <a:latin typeface="Arial" pitchFamily="34" charset="0"/>
              </a:rPr>
              <a:pPr>
                <a:defRPr/>
              </a:pPr>
              <a:t>42</a:t>
            </a:fld>
            <a:endParaRPr lang="pt-BR">
              <a:latin typeface="Arial" pitchFamily="34" charset="0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F4D8A6B-DAAE-4D8D-81A5-E50FC317E6C2}" type="slidenum">
              <a:rPr lang="pt-BR" smtClean="0"/>
              <a:pPr>
                <a:defRPr/>
              </a:pPr>
              <a:t>43</a:t>
            </a:fld>
            <a:endParaRPr lang="pt-B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tângulo 22"/>
          <p:cNvSpPr/>
          <p:nvPr/>
        </p:nvSpPr>
        <p:spPr>
          <a:xfrm flipV="1">
            <a:off x="5410182" y="3810000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4" name="Retângulo 23"/>
          <p:cNvSpPr/>
          <p:nvPr/>
        </p:nvSpPr>
        <p:spPr>
          <a:xfrm flipV="1">
            <a:off x="5410200" y="3897010"/>
            <a:ext cx="3733801" cy="192024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5" name="Retângulo 24"/>
          <p:cNvSpPr/>
          <p:nvPr/>
        </p:nvSpPr>
        <p:spPr>
          <a:xfrm flipV="1">
            <a:off x="5410200" y="4115167"/>
            <a:ext cx="3733801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6" name="Retângulo 25"/>
          <p:cNvSpPr/>
          <p:nvPr/>
        </p:nvSpPr>
        <p:spPr>
          <a:xfrm flipV="1">
            <a:off x="5410200" y="4164403"/>
            <a:ext cx="1965960" cy="18288"/>
          </a:xfrm>
          <a:prstGeom prst="rect">
            <a:avLst/>
          </a:prstGeom>
          <a:solidFill>
            <a:schemeClr val="accent2">
              <a:alpha val="6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Retângulo 26"/>
          <p:cNvSpPr/>
          <p:nvPr/>
        </p:nvSpPr>
        <p:spPr>
          <a:xfrm flipV="1">
            <a:off x="5410200" y="4199572"/>
            <a:ext cx="1965960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0" name="Retângulo de cantos arredondados 29"/>
          <p:cNvSpPr/>
          <p:nvPr/>
        </p:nvSpPr>
        <p:spPr bwMode="white">
          <a:xfrm>
            <a:off x="5410200" y="3962400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1" name="Retângulo de cantos arredondados 30"/>
          <p:cNvSpPr/>
          <p:nvPr/>
        </p:nvSpPr>
        <p:spPr bwMode="white">
          <a:xfrm>
            <a:off x="7376507" y="406098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Retângulo 6"/>
          <p:cNvSpPr/>
          <p:nvPr/>
        </p:nvSpPr>
        <p:spPr>
          <a:xfrm>
            <a:off x="1" y="3649662"/>
            <a:ext cx="9144000" cy="244170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tângulo 9"/>
          <p:cNvSpPr/>
          <p:nvPr/>
        </p:nvSpPr>
        <p:spPr>
          <a:xfrm>
            <a:off x="0" y="3675527"/>
            <a:ext cx="9144001" cy="14067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tângulo 10"/>
          <p:cNvSpPr/>
          <p:nvPr/>
        </p:nvSpPr>
        <p:spPr>
          <a:xfrm flipV="1">
            <a:off x="6414051" y="3643090"/>
            <a:ext cx="2729950" cy="2484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Retângulo 18"/>
          <p:cNvSpPr/>
          <p:nvPr/>
        </p:nvSpPr>
        <p:spPr>
          <a:xfrm>
            <a:off x="0" y="0"/>
            <a:ext cx="9144000" cy="3701700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ítulo 7"/>
          <p:cNvSpPr>
            <a:spLocks noGrp="1"/>
          </p:cNvSpPr>
          <p:nvPr>
            <p:ph type="ctrTitle"/>
          </p:nvPr>
        </p:nvSpPr>
        <p:spPr>
          <a:xfrm>
            <a:off x="457200" y="2401887"/>
            <a:ext cx="8458200" cy="1470025"/>
          </a:xfrm>
        </p:spPr>
        <p:txBody>
          <a:bodyPr anchor="b"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9" name="Subtítulo 8"/>
          <p:cNvSpPr>
            <a:spLocks noGrp="1"/>
          </p:cNvSpPr>
          <p:nvPr>
            <p:ph type="subTitle" idx="1"/>
          </p:nvPr>
        </p:nvSpPr>
        <p:spPr>
          <a:xfrm>
            <a:off x="457200" y="3899938"/>
            <a:ext cx="4953000" cy="1752600"/>
          </a:xfrm>
        </p:spPr>
        <p:txBody>
          <a:bodyPr/>
          <a:lstStyle>
            <a:lvl1pPr marL="64008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pt-BR"/>
              <a:t>Clique para editar o estilo do subtítulo mestre</a:t>
            </a:r>
            <a:endParaRPr kumimoji="0" lang="en-US"/>
          </a:p>
        </p:txBody>
      </p:sp>
      <p:sp>
        <p:nvSpPr>
          <p:cNvPr id="28" name="Espaço Reservado para Data 27"/>
          <p:cNvSpPr>
            <a:spLocks noGrp="1"/>
          </p:cNvSpPr>
          <p:nvPr>
            <p:ph type="dt" sz="half" idx="10"/>
          </p:nvPr>
        </p:nvSpPr>
        <p:spPr>
          <a:xfrm>
            <a:off x="6705600" y="4206240"/>
            <a:ext cx="960120" cy="457200"/>
          </a:xfrm>
        </p:spPr>
        <p:txBody>
          <a:bodyPr/>
          <a:lstStyle/>
          <a:p>
            <a:pPr>
              <a:defRPr/>
            </a:pPr>
            <a:fld id="{85C40D4E-A2F2-42EE-817B-4C7596942799}" type="datetimeFigureOut">
              <a:rPr lang="pt-BR" smtClean="0"/>
              <a:pPr>
                <a:defRPr/>
              </a:pPr>
              <a:t>19/08/2021</a:t>
            </a:fld>
            <a:endParaRPr lang="pt-BR"/>
          </a:p>
        </p:txBody>
      </p:sp>
      <p:sp>
        <p:nvSpPr>
          <p:cNvPr id="17" name="Espaço Reservado para Rodapé 16"/>
          <p:cNvSpPr>
            <a:spLocks noGrp="1"/>
          </p:cNvSpPr>
          <p:nvPr>
            <p:ph type="ftr" sz="quarter" idx="11"/>
          </p:nvPr>
        </p:nvSpPr>
        <p:spPr>
          <a:xfrm>
            <a:off x="5410200" y="4205288"/>
            <a:ext cx="1295400" cy="457200"/>
          </a:xfrm>
        </p:spPr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29" name="Espaço Reservado para Número de Slide 28"/>
          <p:cNvSpPr>
            <a:spLocks noGrp="1"/>
          </p:cNvSpPr>
          <p:nvPr>
            <p:ph type="sldNum" sz="quarter" idx="12"/>
          </p:nvPr>
        </p:nvSpPr>
        <p:spPr>
          <a:xfrm>
            <a:off x="8320088" y="1136"/>
            <a:ext cx="747712" cy="365760"/>
          </a:xfrm>
        </p:spPr>
        <p:txBody>
          <a:bodyPr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90ED4F55-2BB5-4F72-AAF2-3E8BB52B013D}" type="slidenum">
              <a:rPr lang="pt-BR" smtClean="0"/>
              <a:pPr>
                <a:defRPr/>
              </a:pPr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E216EE6-43EF-40F6-BF34-DD79C6A0885C}" type="datetimeFigureOut">
              <a:rPr lang="pt-BR" smtClean="0"/>
              <a:pPr>
                <a:defRPr/>
              </a:pPr>
              <a:t>19/08/2021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C35BF06-9C15-4E56-8CBB-4B99E9F05EF6}" type="slidenum">
              <a:rPr lang="pt-BR" smtClean="0"/>
              <a:pPr>
                <a:defRPr/>
              </a:pPr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1981200"/>
            <a:ext cx="7772400" cy="1362075"/>
          </a:xfrm>
        </p:spPr>
        <p:txBody>
          <a:bodyPr anchor="b">
            <a:noAutofit/>
          </a:bodyPr>
          <a:lstStyle>
            <a:lvl1pPr algn="l">
              <a:buNone/>
              <a:defRPr sz="4300" b="1" cap="none" baseline="0">
                <a:ln w="12700">
                  <a:solidFill>
                    <a:schemeClr val="accent2">
                      <a:shade val="90000"/>
                      <a:satMod val="150000"/>
                    </a:schemeClr>
                  </a:solidFill>
                </a:ln>
                <a:solidFill>
                  <a:srgbClr val="FFFFFF"/>
                </a:solidFill>
                <a:effectLst>
                  <a:outerShdw blurRad="38100" dist="381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3367088"/>
            <a:ext cx="7772400" cy="1509712"/>
          </a:xfrm>
        </p:spPr>
        <p:txBody>
          <a:bodyPr anchor="t"/>
          <a:lstStyle>
            <a:lvl1pPr marL="45720" indent="0">
              <a:buNone/>
              <a:defRPr sz="2100" b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pt-BR"/>
              <a:t>Clique para editar os estilos do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7C2E025-0170-4C88-B061-AA7F03A39195}" type="datetimeFigureOut">
              <a:rPr lang="pt-BR" smtClean="0"/>
              <a:pPr>
                <a:defRPr/>
              </a:pPr>
              <a:t>19/08/2021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E53C78B-5A34-4ACA-86CF-7BC84152437B}" type="slidenum">
              <a:rPr lang="pt-BR" smtClean="0"/>
              <a:pPr>
                <a:defRPr/>
              </a:pPr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1409F49-3120-4EF0-8ED2-11BAE699594A}" type="datetimeFigureOut">
              <a:rPr lang="pt-BR" smtClean="0"/>
              <a:pPr>
                <a:defRPr/>
              </a:pPr>
              <a:t>19/08/2021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C747F43-B9AE-43C0-A35A-E642128A2CD5}" type="slidenum">
              <a:rPr lang="pt-BR" smtClean="0"/>
              <a:pPr>
                <a:defRPr/>
              </a:pPr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81000" y="1143000"/>
            <a:ext cx="8382000" cy="1069848"/>
          </a:xfrm>
        </p:spPr>
        <p:txBody>
          <a:bodyPr anchor="ctr"/>
          <a:lstStyle>
            <a:lvl1pPr>
              <a:defRPr sz="4000" b="0" i="0" cap="none" baseline="0"/>
            </a:lvl1pPr>
          </a:lstStyle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381000" y="2244970"/>
            <a:ext cx="4041648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pt-BR"/>
              <a:t>Clique para editar os estilos do texto mestre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3"/>
          </p:nvPr>
        </p:nvSpPr>
        <p:spPr>
          <a:xfrm>
            <a:off x="4721225" y="2244970"/>
            <a:ext cx="4041775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pt-BR"/>
              <a:t>Clique para editar os estilos do texto mestre</a:t>
            </a:r>
          </a:p>
        </p:txBody>
      </p:sp>
      <p:sp>
        <p:nvSpPr>
          <p:cNvPr id="5" name="Espaço Reservado para Conteúdo 4"/>
          <p:cNvSpPr>
            <a:spLocks noGrp="1"/>
          </p:cNvSpPr>
          <p:nvPr>
            <p:ph sz="quarter" idx="2"/>
          </p:nvPr>
        </p:nvSpPr>
        <p:spPr>
          <a:xfrm>
            <a:off x="381000" y="2708519"/>
            <a:ext cx="4041648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718304" y="2708519"/>
            <a:ext cx="4041775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26" name="Espaço Reservado para Data 2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>
              <a:defRPr/>
            </a:pPr>
            <a:fld id="{A6AB9ACC-D2EB-4E3B-AF2E-0629D332D42B}" type="datetimeFigureOut">
              <a:rPr lang="pt-BR" smtClean="0"/>
              <a:pPr>
                <a:defRPr/>
              </a:pPr>
              <a:t>19/08/2021</a:t>
            </a:fld>
            <a:endParaRPr lang="pt-BR"/>
          </a:p>
        </p:txBody>
      </p:sp>
      <p:sp>
        <p:nvSpPr>
          <p:cNvPr id="27" name="Espaço Reservado para Número de Slide 2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pPr>
              <a:defRPr/>
            </a:pPr>
            <a:fld id="{2209DC35-F811-4669-B401-7F718026D043}" type="slidenum">
              <a:rPr lang="pt-BR" smtClean="0"/>
              <a:pPr>
                <a:defRPr/>
              </a:pPr>
              <a:t>‹nº›</a:t>
            </a:fld>
            <a:endParaRPr lang="pt-BR"/>
          </a:p>
        </p:txBody>
      </p:sp>
      <p:sp>
        <p:nvSpPr>
          <p:cNvPr id="28" name="Espaço Reservado para Rodapé 2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pPr>
              <a:defRPr/>
            </a:pPr>
            <a:endParaRPr lang="pt-B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9848"/>
          </a:xfrm>
        </p:spPr>
        <p:txBody>
          <a:bodyPr anchor="ctr"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>
          <a:xfrm>
            <a:off x="6583680" y="612648"/>
            <a:ext cx="957264" cy="457200"/>
          </a:xfrm>
        </p:spPr>
        <p:txBody>
          <a:bodyPr/>
          <a:lstStyle/>
          <a:p>
            <a:pPr>
              <a:defRPr/>
            </a:pPr>
            <a:fld id="{4C1B45BA-91E1-4253-AD06-386E4E3B661D}" type="datetimeFigureOut">
              <a:rPr lang="pt-BR" smtClean="0"/>
              <a:pPr>
                <a:defRPr/>
              </a:pPr>
              <a:t>19/08/2021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>
          <a:xfrm>
            <a:off x="5257800" y="612648"/>
            <a:ext cx="1325880" cy="457200"/>
          </a:xfrm>
        </p:spPr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>
          <a:xfrm>
            <a:off x="8174736" y="2272"/>
            <a:ext cx="762000" cy="365760"/>
          </a:xfrm>
        </p:spPr>
        <p:txBody>
          <a:bodyPr/>
          <a:lstStyle/>
          <a:p>
            <a:pPr>
              <a:defRPr/>
            </a:pPr>
            <a:fld id="{2DE6253A-FE7A-4D4F-ACFB-1E57500229B3}" type="slidenum">
              <a:rPr lang="pt-BR" smtClean="0"/>
              <a:pPr>
                <a:defRPr/>
              </a:pPr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7FE3A3D-6CDB-4DD8-9E80-A2A93899C136}" type="datetimeFigureOut">
              <a:rPr lang="pt-BR" smtClean="0"/>
              <a:pPr>
                <a:defRPr/>
              </a:pPr>
              <a:t>19/08/2021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97036AC-AF13-4367-934D-1B554260B49F}" type="slidenum">
              <a:rPr lang="pt-BR" smtClean="0"/>
              <a:pPr>
                <a:defRPr/>
              </a:pPr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353496" y="1101970"/>
            <a:ext cx="3383280" cy="877824"/>
          </a:xfrm>
        </p:spPr>
        <p:txBody>
          <a:bodyPr anchor="b"/>
          <a:lstStyle>
            <a:lvl1pPr algn="l">
              <a:buNone/>
              <a:defRPr sz="1800" b="1"/>
            </a:lvl1pPr>
          </a:lstStyle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2"/>
          </p:nvPr>
        </p:nvSpPr>
        <p:spPr>
          <a:xfrm>
            <a:off x="5353496" y="2010727"/>
            <a:ext cx="3383280" cy="4617720"/>
          </a:xfrm>
        </p:spPr>
        <p:txBody>
          <a:bodyPr/>
          <a:lstStyle>
            <a:lvl1pPr marL="9144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pt-BR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1"/>
          </p:nvPr>
        </p:nvSpPr>
        <p:spPr>
          <a:xfrm>
            <a:off x="152400" y="776287"/>
            <a:ext cx="5102352" cy="58521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726A0F2-B8A1-4D42-81A5-7118634A5D88}" type="datetimeFigureOut">
              <a:rPr lang="pt-BR" smtClean="0"/>
              <a:pPr>
                <a:defRPr/>
              </a:pPr>
              <a:t>19/08/2021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9E6242-6613-4040-974C-518F772C67B6}" type="slidenum">
              <a:rPr lang="pt-BR" smtClean="0"/>
              <a:pPr>
                <a:defRPr/>
              </a:pPr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440434" y="1109160"/>
            <a:ext cx="586803" cy="4681637"/>
          </a:xfrm>
        </p:spPr>
        <p:txBody>
          <a:bodyPr vert="vert270" lIns="45720" tIns="0" rIns="45720" anchor="t"/>
          <a:lstStyle>
            <a:lvl1pPr algn="ctr">
              <a:buNone/>
              <a:defRPr sz="2000" b="1"/>
            </a:lvl1pPr>
          </a:lstStyle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403671" y="1143000"/>
            <a:ext cx="4572000" cy="4572000"/>
          </a:xfrm>
          <a:solidFill>
            <a:srgbClr val="EAEAEA"/>
          </a:solidFill>
          <a:ln w="50800">
            <a:solidFill>
              <a:srgbClr val="FFFFFF"/>
            </a:solidFill>
            <a:miter lim="800000"/>
          </a:ln>
          <a:effectLst>
            <a:outerShdw blurRad="57150" dist="31750" dir="4800000" algn="tl" rotWithShape="0">
              <a:srgbClr val="000000">
                <a:alpha val="2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2540">
            <a:bevelT w="25400" h="19050"/>
            <a:contourClr>
              <a:srgbClr val="AEAEAE"/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pt-BR"/>
              <a:t>Clique no ícone para adicionar uma imagem</a:t>
            </a:r>
            <a:endParaRPr kumimoji="0" lang="en-US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6088443" y="3274308"/>
            <a:ext cx="2590800" cy="2516489"/>
          </a:xfrm>
        </p:spPr>
        <p:txBody>
          <a:bodyPr lIns="0" tIns="0" rIns="45720" anchor="t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pt-BR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4EFC6DF-46BE-46B1-A711-861C5BBFED74}" type="datetimeFigureOut">
              <a:rPr lang="pt-BR" smtClean="0"/>
              <a:pPr>
                <a:defRPr/>
              </a:pPr>
              <a:t>19/08/2021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64EA388-2928-4BA1-B1A1-51CC8680AFFA}" type="slidenum">
              <a:rPr lang="pt-BR" smtClean="0"/>
              <a:pPr>
                <a:defRPr/>
              </a:pPr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64BA9FF-386F-46D4-B1CD-3A77C25B9797}" type="datetimeFigureOut">
              <a:rPr lang="pt-BR" smtClean="0"/>
              <a:pPr>
                <a:defRPr/>
              </a:pPr>
              <a:t>19/08/2021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F2FA9B9-6842-49C2-81CE-A2D07DA0B4AE}" type="slidenum">
              <a:rPr lang="pt-BR" smtClean="0"/>
              <a:pPr>
                <a:defRPr/>
              </a:pPr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781800" y="1143000"/>
            <a:ext cx="1905000" cy="5486400"/>
          </a:xfrm>
        </p:spPr>
        <p:txBody>
          <a:bodyPr vert="eaVert"/>
          <a:lstStyle/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1143000"/>
            <a:ext cx="6248400" cy="5486400"/>
          </a:xfrm>
        </p:spPr>
        <p:txBody>
          <a:bodyPr vert="eaVert"/>
          <a:lstStyle/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4930A85-0531-44FD-9FF5-0833AB6BD6B0}" type="datetimeFigureOut">
              <a:rPr lang="pt-BR" smtClean="0"/>
              <a:pPr>
                <a:defRPr/>
              </a:pPr>
              <a:t>19/08/2021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97224B4-E426-4AFD-822D-3AAABED4E2BF}" type="slidenum">
              <a:rPr lang="pt-BR" smtClean="0"/>
              <a:pPr>
                <a:defRPr/>
              </a:pPr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tângulo 27"/>
          <p:cNvSpPr/>
          <p:nvPr/>
        </p:nvSpPr>
        <p:spPr>
          <a:xfrm>
            <a:off x="1" y="366818"/>
            <a:ext cx="9144000" cy="84407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Retângulo 28"/>
          <p:cNvSpPr/>
          <p:nvPr/>
        </p:nvSpPr>
        <p:spPr>
          <a:xfrm>
            <a:off x="0" y="-1"/>
            <a:ext cx="9144000" cy="310663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0" name="Retângulo 29"/>
          <p:cNvSpPr/>
          <p:nvPr/>
        </p:nvSpPr>
        <p:spPr>
          <a:xfrm>
            <a:off x="0" y="308276"/>
            <a:ext cx="9144001" cy="91441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1" name="Retângulo 30"/>
          <p:cNvSpPr/>
          <p:nvPr/>
        </p:nvSpPr>
        <p:spPr>
          <a:xfrm flipV="1">
            <a:off x="5410182" y="360246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Retângulo 31"/>
          <p:cNvSpPr/>
          <p:nvPr/>
        </p:nvSpPr>
        <p:spPr>
          <a:xfrm flipV="1">
            <a:off x="5410200" y="440112"/>
            <a:ext cx="3733801" cy="180035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3" name="Retângulo de cantos arredondados 32"/>
          <p:cNvSpPr/>
          <p:nvPr/>
        </p:nvSpPr>
        <p:spPr bwMode="white">
          <a:xfrm>
            <a:off x="5407339" y="497504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4" name="Retângulo de cantos arredondados 33"/>
          <p:cNvSpPr/>
          <p:nvPr/>
        </p:nvSpPr>
        <p:spPr bwMode="white">
          <a:xfrm>
            <a:off x="7373646" y="58894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5" name="Retângulo 34"/>
          <p:cNvSpPr/>
          <p:nvPr/>
        </p:nvSpPr>
        <p:spPr bwMode="invGray">
          <a:xfrm>
            <a:off x="9084966" y="-2001"/>
            <a:ext cx="57626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6" name="Retângulo 35"/>
          <p:cNvSpPr/>
          <p:nvPr/>
        </p:nvSpPr>
        <p:spPr bwMode="invGray">
          <a:xfrm>
            <a:off x="9044481" y="-2001"/>
            <a:ext cx="27432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7" name="Retângulo 36"/>
          <p:cNvSpPr/>
          <p:nvPr/>
        </p:nvSpPr>
        <p:spPr bwMode="invGray">
          <a:xfrm>
            <a:off x="9025428" y="-2001"/>
            <a:ext cx="9144" cy="621792"/>
          </a:xfrm>
          <a:prstGeom prst="rect">
            <a:avLst/>
          </a:prstGeom>
          <a:solidFill>
            <a:srgbClr val="FFFFFF">
              <a:alpha val="6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8" name="Retângulo 37"/>
          <p:cNvSpPr/>
          <p:nvPr/>
        </p:nvSpPr>
        <p:spPr bwMode="invGray">
          <a:xfrm>
            <a:off x="8975423" y="-2001"/>
            <a:ext cx="27432" cy="621792"/>
          </a:xfrm>
          <a:prstGeom prst="rect">
            <a:avLst/>
          </a:prstGeom>
          <a:solidFill>
            <a:srgbClr val="FFFFFF">
              <a:alpha val="4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9" name="Retângulo 38"/>
          <p:cNvSpPr/>
          <p:nvPr/>
        </p:nvSpPr>
        <p:spPr bwMode="invGray">
          <a:xfrm>
            <a:off x="8915677" y="380"/>
            <a:ext cx="54864" cy="585216"/>
          </a:xfrm>
          <a:prstGeom prst="rect">
            <a:avLst/>
          </a:prstGeom>
          <a:solidFill>
            <a:srgbClr val="FFFFFF">
              <a:alpha val="2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40" name="Retângulo 39"/>
          <p:cNvSpPr/>
          <p:nvPr/>
        </p:nvSpPr>
        <p:spPr bwMode="invGray">
          <a:xfrm>
            <a:off x="8873475" y="380"/>
            <a:ext cx="9144" cy="585216"/>
          </a:xfrm>
          <a:prstGeom prst="rect">
            <a:avLst/>
          </a:prstGeom>
          <a:solidFill>
            <a:srgbClr val="FFFFFF">
              <a:alpha val="30196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Espaço Reservado para Título 2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68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13" name="Espaço Reservado para Texto 12"/>
          <p:cNvSpPr>
            <a:spLocks noGrp="1"/>
          </p:cNvSpPr>
          <p:nvPr>
            <p:ph type="body" idx="1"/>
          </p:nvPr>
        </p:nvSpPr>
        <p:spPr>
          <a:xfrm>
            <a:off x="457200" y="2249424"/>
            <a:ext cx="8229600" cy="432511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pt-BR"/>
              <a:t>Clique para editar os estilos do texto mestre</a:t>
            </a:r>
          </a:p>
          <a:p>
            <a:pPr lvl="1" eaLnBrk="1" latinLnBrk="0" hangingPunct="1"/>
            <a:r>
              <a:rPr kumimoji="0" lang="pt-BR"/>
              <a:t>Segundo nível</a:t>
            </a:r>
          </a:p>
          <a:p>
            <a:pPr lvl="2" eaLnBrk="1" latinLnBrk="0" hangingPunct="1"/>
            <a:r>
              <a:rPr kumimoji="0" lang="pt-BR"/>
              <a:t>Terceiro nível</a:t>
            </a:r>
          </a:p>
          <a:p>
            <a:pPr lvl="3" eaLnBrk="1" latinLnBrk="0" hangingPunct="1"/>
            <a:r>
              <a:rPr kumimoji="0" lang="pt-BR"/>
              <a:t>Quarto nível</a:t>
            </a:r>
          </a:p>
          <a:p>
            <a:pPr lvl="4" eaLnBrk="1" latinLnBrk="0" hangingPunct="1"/>
            <a:r>
              <a:rPr kumimoji="0" lang="pt-BR"/>
              <a:t>Quinto nível</a:t>
            </a:r>
            <a:endParaRPr kumimoji="0" lang="en-US"/>
          </a:p>
        </p:txBody>
      </p:sp>
      <p:sp>
        <p:nvSpPr>
          <p:cNvPr id="14" name="Espaço Reservado para Data 13"/>
          <p:cNvSpPr>
            <a:spLocks noGrp="1"/>
          </p:cNvSpPr>
          <p:nvPr>
            <p:ph type="dt" sz="half" idx="2"/>
          </p:nvPr>
        </p:nvSpPr>
        <p:spPr>
          <a:xfrm>
            <a:off x="6586536" y="612648"/>
            <a:ext cx="957264" cy="45720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pPr>
              <a:defRPr/>
            </a:pPr>
            <a:fld id="{04DBC229-F59D-48E6-8F67-D0A8CCA20E31}" type="datetimeFigureOut">
              <a:rPr lang="pt-BR" smtClean="0"/>
              <a:pPr>
                <a:defRPr/>
              </a:pPr>
              <a:t>19/08/2021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3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23" name="Espaço Reservado para Número de Slide 22"/>
          <p:cNvSpPr>
            <a:spLocks noGrp="1"/>
          </p:cNvSpPr>
          <p:nvPr>
            <p:ph type="sldNum" sz="quarter" idx="4"/>
          </p:nvPr>
        </p:nvSpPr>
        <p:spPr>
          <a:xfrm>
            <a:off x="8174736" y="2272"/>
            <a:ext cx="762000" cy="365760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8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B277A12A-23DA-40B4-9B7C-DF346B304CA0}" type="slidenum">
              <a:rPr lang="pt-BR" smtClean="0"/>
              <a:pPr>
                <a:defRPr/>
              </a:pPr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589" r:id="rId1"/>
    <p:sldLayoutId id="2147484590" r:id="rId2"/>
    <p:sldLayoutId id="2147484591" r:id="rId3"/>
    <p:sldLayoutId id="2147484592" r:id="rId4"/>
    <p:sldLayoutId id="2147484593" r:id="rId5"/>
    <p:sldLayoutId id="2147484594" r:id="rId6"/>
    <p:sldLayoutId id="2147484595" r:id="rId7"/>
    <p:sldLayoutId id="2147484596" r:id="rId8"/>
    <p:sldLayoutId id="2147484597" r:id="rId9"/>
    <p:sldLayoutId id="2147484598" r:id="rId10"/>
    <p:sldLayoutId id="2147484599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65760" indent="-256032" algn="l" rtl="0" eaLnBrk="1" latinLnBrk="0" hangingPunct="1">
        <a:spcBef>
          <a:spcPts val="300"/>
        </a:spcBef>
        <a:buClr>
          <a:schemeClr val="accent3"/>
        </a:buClr>
        <a:buFont typeface="Georgia"/>
        <a:buChar char="•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58368" indent="-246888" algn="l" rtl="0" eaLnBrk="1" latinLnBrk="0" hangingPunct="1">
        <a:spcBef>
          <a:spcPts val="300"/>
        </a:spcBef>
        <a:buClr>
          <a:schemeClr val="accent2"/>
        </a:buClr>
        <a:buFont typeface="Georgia"/>
        <a:buChar char="▫"/>
        <a:defRPr kumimoji="0" sz="26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923544" indent="-219456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4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179576" indent="-201168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2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38988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2000" kern="1200">
          <a:solidFill>
            <a:schemeClr val="accent3"/>
          </a:solidFill>
          <a:latin typeface="+mn-lt"/>
          <a:ea typeface="+mn-ea"/>
          <a:cs typeface="+mn-cs"/>
        </a:defRPr>
      </a:lvl5pPr>
      <a:lvl6pPr marL="1609344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800" kern="1200">
          <a:solidFill>
            <a:schemeClr val="accent3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600" kern="1200">
          <a:solidFill>
            <a:schemeClr val="accent3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500" kern="1200">
          <a:solidFill>
            <a:schemeClr val="accent3"/>
          </a:solidFill>
          <a:latin typeface="+mn-lt"/>
          <a:ea typeface="+mn-ea"/>
          <a:cs typeface="+mn-cs"/>
        </a:defRPr>
      </a:lvl8pPr>
      <a:lvl9pPr marL="224028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400" kern="1200" baseline="0">
          <a:solidFill>
            <a:schemeClr val="accent3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gif"/><Relationship Id="rId4" Type="http://schemas.openxmlformats.org/officeDocument/2006/relationships/image" Target="../media/image7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gi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gif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gif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/>
          <p:cNvSpPr>
            <a:spLocks noGrp="1"/>
          </p:cNvSpPr>
          <p:nvPr>
            <p:ph type="title"/>
          </p:nvPr>
        </p:nvSpPr>
        <p:spPr>
          <a:xfrm>
            <a:off x="0" y="2348880"/>
            <a:ext cx="9144000" cy="4320480"/>
          </a:xfrm>
        </p:spPr>
        <p:txBody>
          <a:bodyPr>
            <a:noAutofit/>
          </a:bodyPr>
          <a:lstStyle/>
          <a:p>
            <a:pPr>
              <a:defRPr/>
            </a:pPr>
            <a:br>
              <a:rPr lang="pt-BR" sz="44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</a:br>
            <a:br>
              <a:rPr lang="pt-BR" sz="44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</a:br>
            <a:br>
              <a:rPr lang="pt-BR" sz="44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</a:br>
            <a:r>
              <a:rPr lang="pt-BR" sz="4400" b="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A confecção do projeto de pesquisa</a:t>
            </a:r>
            <a:br>
              <a:rPr lang="pt-BR" sz="4400" b="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</a:br>
            <a:r>
              <a:rPr lang="pt-BR" sz="4400" b="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</a:t>
            </a:r>
            <a:br>
              <a:rPr lang="pt-BR" sz="44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</a:br>
            <a:r>
              <a:rPr lang="pt-BR" sz="44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            </a:t>
            </a:r>
            <a:r>
              <a:rPr lang="pt-BR" sz="3200" dirty="0" err="1"/>
              <a:t>Profª</a:t>
            </a:r>
            <a:r>
              <a:rPr lang="pt-BR" sz="3200" dirty="0"/>
              <a:t>. </a:t>
            </a:r>
            <a:r>
              <a:rPr lang="pt-BR" sz="3200" dirty="0" err="1"/>
              <a:t>Dr</a:t>
            </a:r>
            <a:r>
              <a:rPr lang="pt-BR" sz="3200" dirty="0"/>
              <a:t>ª. SABRINA BOTO</a:t>
            </a:r>
            <a:br>
              <a:rPr lang="pt-BR" sz="3200" dirty="0"/>
            </a:br>
            <a:br>
              <a:rPr lang="pt-BR" sz="3200" dirty="0">
                <a:latin typeface="Arial" pitchFamily="34" charset="0"/>
                <a:cs typeface="Arial" pitchFamily="34" charset="0"/>
              </a:rPr>
            </a:br>
            <a:r>
              <a:rPr lang="pt-BR" sz="3200" dirty="0">
                <a:latin typeface="Arial" pitchFamily="34" charset="0"/>
                <a:cs typeface="Arial" pitchFamily="34" charset="0"/>
              </a:rPr>
              <a:t>			</a:t>
            </a:r>
            <a:endParaRPr lang="pt-BR" sz="3200" cap="none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Título 5"/>
          <p:cNvSpPr txBox="1">
            <a:spLocks/>
          </p:cNvSpPr>
          <p:nvPr/>
        </p:nvSpPr>
        <p:spPr>
          <a:xfrm>
            <a:off x="2843213" y="4365625"/>
            <a:ext cx="5329237" cy="1889125"/>
          </a:xfrm>
          <a:prstGeom prst="rect">
            <a:avLst/>
          </a:prstGeom>
        </p:spPr>
        <p:txBody>
          <a:bodyPr>
            <a:normAutofit/>
          </a:bodyPr>
          <a:lstStyle/>
          <a:p>
            <a:pPr algn="just">
              <a:defRPr/>
            </a:pPr>
            <a:br>
              <a:rPr lang="pt-BR" sz="2000" b="1" dirty="0">
                <a:solidFill>
                  <a:srgbClr val="572314"/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latin typeface="+mj-lt"/>
                <a:ea typeface="+mj-ea"/>
                <a:cs typeface="+mj-cs"/>
              </a:rPr>
            </a:br>
            <a:br>
              <a:rPr lang="pt-BR" sz="2000" b="1" cap="all" dirty="0">
                <a:solidFill>
                  <a:srgbClr val="572314"/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latin typeface="+mj-lt"/>
                <a:ea typeface="+mj-ea"/>
                <a:cs typeface="+mj-cs"/>
              </a:rPr>
            </a:br>
            <a:br>
              <a:rPr lang="pt-BR" sz="2000" b="1" cap="all" dirty="0">
                <a:solidFill>
                  <a:srgbClr val="572314"/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latin typeface="+mj-lt"/>
                <a:ea typeface="+mj-ea"/>
                <a:cs typeface="+mj-cs"/>
              </a:rPr>
            </a:br>
            <a:endParaRPr lang="pt-BR" sz="2200" b="1" dirty="0">
              <a:solidFill>
                <a:srgbClr val="572314"/>
              </a:solidFill>
              <a:effectLst>
                <a:outerShdw blurRad="50000" dist="30000" dir="5400000" algn="tl" rotWithShape="0">
                  <a:srgbClr val="000000">
                    <a:alpha val="30000"/>
                  </a:srgbClr>
                </a:outerShdw>
              </a:effectLst>
              <a:latin typeface="+mj-lt"/>
              <a:ea typeface="+mj-ea"/>
              <a:cs typeface="+mj-cs"/>
            </a:endParaRPr>
          </a:p>
        </p:txBody>
      </p:sp>
      <p:pic>
        <p:nvPicPr>
          <p:cNvPr id="4" name="Imagem 3" descr="lupa.jpg"/>
          <p:cNvPicPr>
            <a:picLocks noChangeAspect="1"/>
          </p:cNvPicPr>
          <p:nvPr/>
        </p:nvPicPr>
        <p:blipFill>
          <a:blip r:embed="rId3" cstate="print">
            <a:duotone>
              <a:prstClr val="black"/>
              <a:schemeClr val="accent1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5323016" y="692696"/>
            <a:ext cx="3820984" cy="260521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/>
          <p:cNvSpPr>
            <a:spLocks noGrp="1"/>
          </p:cNvSpPr>
          <p:nvPr>
            <p:ph type="title" idx="4294967295"/>
          </p:nvPr>
        </p:nvSpPr>
        <p:spPr>
          <a:xfrm>
            <a:off x="0" y="571500"/>
            <a:ext cx="6337300" cy="619125"/>
          </a:xfrm>
        </p:spPr>
        <p:txBody>
          <a:bodyPr/>
          <a:lstStyle/>
          <a:p>
            <a:pPr eaLnBrk="1" hangingPunct="1">
              <a:defRPr/>
            </a:pPr>
            <a:r>
              <a:rPr lang="pt-BR" sz="28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PROJETO DE PESQUISA</a:t>
            </a:r>
          </a:p>
        </p:txBody>
      </p:sp>
      <p:sp>
        <p:nvSpPr>
          <p:cNvPr id="8" name="Espaço Reservado para Conteúdo 7"/>
          <p:cNvSpPr>
            <a:spLocks noGrp="1"/>
          </p:cNvSpPr>
          <p:nvPr>
            <p:ph sz="half" idx="4294967295"/>
          </p:nvPr>
        </p:nvSpPr>
        <p:spPr>
          <a:xfrm>
            <a:off x="179388" y="1285875"/>
            <a:ext cx="8964612" cy="5311775"/>
          </a:xfrm>
        </p:spPr>
        <p:txBody>
          <a:bodyPr>
            <a:normAutofit fontScale="85000" lnSpcReduction="20000"/>
          </a:bodyPr>
          <a:lstStyle/>
          <a:p>
            <a:pPr>
              <a:buClrTx/>
              <a:defRPr/>
            </a:pPr>
            <a:endParaRPr lang="pt-BR" dirty="0">
              <a:latin typeface="Arial" pitchFamily="34" charset="0"/>
              <a:cs typeface="Arial" pitchFamily="34" charset="0"/>
            </a:endParaRPr>
          </a:p>
          <a:p>
            <a:pPr algn="ctr">
              <a:buClrTx/>
              <a:buNone/>
              <a:defRPr/>
            </a:pPr>
            <a:r>
              <a:rPr lang="pt-BR" dirty="0">
                <a:solidFill>
                  <a:srgbClr val="CC0000"/>
                </a:solidFill>
                <a:latin typeface="Arial" pitchFamily="34" charset="0"/>
                <a:cs typeface="Arial" pitchFamily="34" charset="0"/>
              </a:rPr>
              <a:t>O planejamento detalhado da pesquisa </a:t>
            </a:r>
          </a:p>
          <a:p>
            <a:pPr algn="ctr">
              <a:buClrTx/>
              <a:buNone/>
              <a:defRPr/>
            </a:pPr>
            <a:r>
              <a:rPr lang="pt-BR" dirty="0">
                <a:solidFill>
                  <a:srgbClr val="CC0000"/>
                </a:solidFill>
                <a:latin typeface="Arial" pitchFamily="34" charset="0"/>
                <a:cs typeface="Arial" pitchFamily="34" charset="0"/>
              </a:rPr>
              <a:t>que orienta o pesquisador.</a:t>
            </a:r>
          </a:p>
          <a:p>
            <a:pPr algn="ctr">
              <a:buFont typeface="Wingdings 3" pitchFamily="18" charset="2"/>
              <a:buNone/>
            </a:pPr>
            <a:endParaRPr lang="pt-BR" b="1" dirty="0">
              <a:latin typeface="Tahoma" pitchFamily="34" charset="0"/>
              <a:cs typeface="Tahoma" pitchFamily="34" charset="0"/>
            </a:endParaRPr>
          </a:p>
          <a:p>
            <a:pPr algn="ctr">
              <a:buFont typeface="Wingdings 3" pitchFamily="18" charset="2"/>
              <a:buNone/>
            </a:pPr>
            <a:r>
              <a:rPr lang="pt-BR" b="1" dirty="0">
                <a:latin typeface="Tahoma" pitchFamily="34" charset="0"/>
                <a:cs typeface="Tahoma" pitchFamily="34" charset="0"/>
              </a:rPr>
              <a:t>É O REGISTRO DO PLANEJAMENTO </a:t>
            </a:r>
          </a:p>
          <a:p>
            <a:pPr algn="ctr">
              <a:buFont typeface="Wingdings 3" pitchFamily="18" charset="2"/>
              <a:buNone/>
            </a:pPr>
            <a:r>
              <a:rPr lang="pt-BR" b="1" dirty="0">
                <a:latin typeface="Tahoma" pitchFamily="34" charset="0"/>
                <a:cs typeface="Tahoma" pitchFamily="34" charset="0"/>
              </a:rPr>
              <a:t>QUE ORIENTARÁ A MONOGRAFIA.</a:t>
            </a:r>
            <a:r>
              <a:rPr lang="pt-BR" dirty="0">
                <a:latin typeface="Tahoma" pitchFamily="34" charset="0"/>
                <a:cs typeface="Tahoma" pitchFamily="34" charset="0"/>
              </a:rPr>
              <a:t> </a:t>
            </a:r>
          </a:p>
          <a:p>
            <a:pPr>
              <a:buClrTx/>
              <a:defRPr/>
            </a:pPr>
            <a:endParaRPr lang="pt-BR" dirty="0">
              <a:latin typeface="Arial" pitchFamily="34" charset="0"/>
              <a:cs typeface="Arial" pitchFamily="34" charset="0"/>
            </a:endParaRPr>
          </a:p>
          <a:p>
            <a:pPr>
              <a:buClrTx/>
              <a:defRPr/>
            </a:pPr>
            <a:r>
              <a:rPr lang="pt-BR" dirty="0">
                <a:latin typeface="Arial" pitchFamily="34" charset="0"/>
                <a:cs typeface="Arial" pitchFamily="34" charset="0"/>
              </a:rPr>
              <a:t>É possível fazer modificações no projeto.</a:t>
            </a:r>
          </a:p>
          <a:p>
            <a:pPr>
              <a:buClrTx/>
              <a:defRPr/>
            </a:pPr>
            <a:endParaRPr lang="pt-BR" dirty="0">
              <a:latin typeface="Arial" pitchFamily="34" charset="0"/>
              <a:cs typeface="Arial" pitchFamily="34" charset="0"/>
            </a:endParaRPr>
          </a:p>
          <a:p>
            <a:pPr>
              <a:buClrTx/>
              <a:defRPr/>
            </a:pPr>
            <a:r>
              <a:rPr lang="pt-BR" dirty="0">
                <a:latin typeface="Arial" pitchFamily="34" charset="0"/>
                <a:cs typeface="Arial" pitchFamily="34" charset="0"/>
              </a:rPr>
              <a:t>Mesmo assim, o projeto deve ser redigido de forma realística com o intuito de orientar o pesquisador, possibilitando que o mesmo tenha controle da pesquisa.</a:t>
            </a:r>
          </a:p>
          <a:p>
            <a:pPr>
              <a:buClrTx/>
              <a:buNone/>
              <a:defRPr/>
            </a:pPr>
            <a:endParaRPr lang="pt-BR" dirty="0">
              <a:latin typeface="Arial" pitchFamily="34" charset="0"/>
              <a:cs typeface="Arial" pitchFamily="34" charset="0"/>
            </a:endParaRPr>
          </a:p>
          <a:p>
            <a:pPr marL="365760" lvl="1" indent="-256032">
              <a:buClrTx/>
              <a:buFont typeface="Georgia"/>
              <a:buChar char="•"/>
              <a:defRPr/>
            </a:pPr>
            <a:r>
              <a:rPr lang="pt-BR" sz="2900" dirty="0">
                <a:solidFill>
                  <a:schemeClr val="accent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O projeto comporá parte do relatório final da investigação, geralmente o capítulo introdutório. </a:t>
            </a:r>
          </a:p>
          <a:p>
            <a:pPr marL="365760" indent="-283464" eaLnBrk="1" fontAlgn="auto" hangingPunct="1">
              <a:spcAft>
                <a:spcPts val="0"/>
              </a:spcAft>
              <a:buFont typeface="Wingdings 2" pitchFamily="18" charset="2"/>
              <a:buNone/>
              <a:defRPr/>
            </a:pPr>
            <a:endParaRPr lang="pt-BR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500"/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251520" y="692697"/>
            <a:ext cx="8892480" cy="65587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defRPr/>
            </a:pPr>
            <a:r>
              <a:rPr lang="pt-BR" sz="2200" dirty="0">
                <a:latin typeface="Arial" pitchFamily="34" charset="0"/>
                <a:cs typeface="Arial" pitchFamily="34" charset="0"/>
                <a:sym typeface="Wingdings"/>
              </a:rPr>
              <a:t></a:t>
            </a:r>
            <a:r>
              <a:rPr lang="pt-BR" dirty="0">
                <a:latin typeface="+mn-lt"/>
                <a:cs typeface="Arial" pitchFamily="34" charset="0"/>
              </a:rPr>
              <a:t>Identificação 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defRPr/>
            </a:pPr>
            <a:r>
              <a:rPr lang="pt-BR" dirty="0">
                <a:cs typeface="Arial" pitchFamily="34" charset="0"/>
                <a:sym typeface="Wingdings"/>
              </a:rPr>
              <a:t> </a:t>
            </a:r>
            <a:r>
              <a:rPr lang="pt-BR" dirty="0">
                <a:latin typeface="+mn-lt"/>
                <a:cs typeface="Arial" pitchFamily="34" charset="0"/>
              </a:rPr>
              <a:t>Sumário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defRPr/>
            </a:pPr>
            <a:r>
              <a:rPr lang="pt-BR" dirty="0">
                <a:latin typeface="+mn-lt"/>
                <a:cs typeface="Arial" pitchFamily="34" charset="0"/>
                <a:sym typeface="Wingdings"/>
              </a:rPr>
              <a:t> </a:t>
            </a:r>
            <a:r>
              <a:rPr lang="pt-BR" dirty="0">
                <a:latin typeface="+mn-lt"/>
                <a:cs typeface="Arial" pitchFamily="34" charset="0"/>
              </a:rPr>
              <a:t>Tema  </a:t>
            </a:r>
            <a:r>
              <a:rPr lang="pt-BR" b="1" i="1" dirty="0">
                <a:solidFill>
                  <a:srgbClr val="C00000"/>
                </a:solidFill>
                <a:latin typeface="+mn-lt"/>
                <a:cs typeface="Arial" pitchFamily="34" charset="0"/>
              </a:rPr>
              <a:t>(</a:t>
            </a:r>
            <a:r>
              <a:rPr lang="pt-BR" b="1" dirty="0">
                <a:solidFill>
                  <a:srgbClr val="C00000"/>
                </a:solidFill>
                <a:latin typeface="+mn-lt"/>
                <a:cs typeface="Arial" pitchFamily="34" charset="0"/>
              </a:rPr>
              <a:t>Sobre o que vou pesquisar?)</a:t>
            </a:r>
            <a:r>
              <a:rPr lang="pt-BR" dirty="0">
                <a:latin typeface="+mn-lt"/>
                <a:ea typeface="Times New Roman" pitchFamily="18" charset="0"/>
              </a:rPr>
              <a:t> 	</a:t>
            </a:r>
            <a:endParaRPr lang="pt-BR" b="1" i="1" dirty="0">
              <a:solidFill>
                <a:srgbClr val="C00000"/>
              </a:solidFill>
              <a:latin typeface="+mn-lt"/>
              <a:cs typeface="Arial" pitchFamily="34" charset="0"/>
            </a:endParaRP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defRPr/>
            </a:pPr>
            <a:r>
              <a:rPr lang="pt-BR" dirty="0">
                <a:latin typeface="+mn-lt"/>
                <a:cs typeface="Arial" pitchFamily="34" charset="0"/>
                <a:sym typeface="Wingdings"/>
              </a:rPr>
              <a:t> </a:t>
            </a:r>
            <a:r>
              <a:rPr lang="pt-BR" dirty="0">
                <a:latin typeface="+mn-lt"/>
                <a:cs typeface="Arial" pitchFamily="34" charset="0"/>
              </a:rPr>
              <a:t>Delimitação do tema </a:t>
            </a:r>
            <a:r>
              <a:rPr lang="pt-BR" b="1" dirty="0">
                <a:solidFill>
                  <a:srgbClr val="C00000"/>
                </a:solidFill>
                <a:latin typeface="+mn-lt"/>
                <a:cs typeface="Arial" pitchFamily="34" charset="0"/>
              </a:rPr>
              <a:t>(O que quero saber?)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defRPr/>
            </a:pPr>
            <a:r>
              <a:rPr lang="pt-BR" dirty="0">
                <a:latin typeface="+mn-lt"/>
                <a:cs typeface="Arial" pitchFamily="34" charset="0"/>
                <a:sym typeface="Wingdings"/>
              </a:rPr>
              <a:t> </a:t>
            </a:r>
            <a:r>
              <a:rPr lang="pt-BR" dirty="0">
                <a:latin typeface="+mn-lt"/>
                <a:cs typeface="Arial" pitchFamily="34" charset="0"/>
              </a:rPr>
              <a:t>Problema  </a:t>
            </a:r>
            <a:r>
              <a:rPr lang="pt-BR" b="1" dirty="0">
                <a:solidFill>
                  <a:srgbClr val="C00000"/>
                </a:solidFill>
                <a:latin typeface="+mn-lt"/>
                <a:cs typeface="Arial" pitchFamily="34" charset="0"/>
              </a:rPr>
              <a:t>(O que quero responder com a pesquisa?)</a:t>
            </a:r>
            <a:r>
              <a:rPr lang="pt-BR" dirty="0">
                <a:latin typeface="+mn-lt"/>
                <a:ea typeface="Times New Roman" pitchFamily="18" charset="0"/>
              </a:rPr>
              <a:t> </a:t>
            </a:r>
            <a:endParaRPr lang="pt-BR" b="1" dirty="0">
              <a:solidFill>
                <a:srgbClr val="C00000"/>
              </a:solidFill>
              <a:latin typeface="+mn-lt"/>
              <a:cs typeface="Arial" pitchFamily="34" charset="0"/>
            </a:endParaRP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defRPr/>
            </a:pPr>
            <a:r>
              <a:rPr lang="pt-BR" dirty="0">
                <a:latin typeface="+mn-lt"/>
                <a:cs typeface="Arial" pitchFamily="34" charset="0"/>
                <a:sym typeface="Wingdings"/>
              </a:rPr>
              <a:t> </a:t>
            </a:r>
            <a:r>
              <a:rPr lang="pt-BR" dirty="0">
                <a:latin typeface="+mn-lt"/>
                <a:cs typeface="Arial" pitchFamily="34" charset="0"/>
              </a:rPr>
              <a:t>Hipóteses </a:t>
            </a:r>
            <a:r>
              <a:rPr lang="pt-BR" b="1" dirty="0">
                <a:solidFill>
                  <a:srgbClr val="C00000"/>
                </a:solidFill>
                <a:latin typeface="+mn-lt"/>
                <a:cs typeface="Arial" pitchFamily="34" charset="0"/>
              </a:rPr>
              <a:t> (Quais respostas provisórias para o problema?) 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defRPr/>
            </a:pPr>
            <a:r>
              <a:rPr lang="pt-BR" dirty="0">
                <a:latin typeface="+mn-lt"/>
                <a:cs typeface="Arial" pitchFamily="34" charset="0"/>
                <a:sym typeface="Wingdings"/>
              </a:rPr>
              <a:t> </a:t>
            </a:r>
            <a:r>
              <a:rPr lang="pt-BR" dirty="0">
                <a:latin typeface="+mn-lt"/>
                <a:cs typeface="Arial" pitchFamily="34" charset="0"/>
              </a:rPr>
              <a:t>Objetivos </a:t>
            </a:r>
            <a:r>
              <a:rPr lang="pt-BR" b="1" dirty="0">
                <a:solidFill>
                  <a:srgbClr val="C00000"/>
                </a:solidFill>
                <a:latin typeface="+mn-lt"/>
                <a:cs typeface="Arial" pitchFamily="34" charset="0"/>
              </a:rPr>
              <a:t>(Qual a finalidade da pesquisa?)</a:t>
            </a:r>
            <a:r>
              <a:rPr lang="pt-BR" dirty="0">
                <a:latin typeface="+mn-lt"/>
                <a:ea typeface="Times New Roman" pitchFamily="18" charset="0"/>
              </a:rPr>
              <a:t> </a:t>
            </a:r>
            <a:endParaRPr lang="pt-BR" b="1" dirty="0">
              <a:solidFill>
                <a:srgbClr val="C00000"/>
              </a:solidFill>
              <a:latin typeface="+mn-lt"/>
              <a:cs typeface="Arial" pitchFamily="34" charset="0"/>
            </a:endParaRP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defRPr/>
            </a:pPr>
            <a:r>
              <a:rPr lang="pt-BR" dirty="0">
                <a:latin typeface="+mn-lt"/>
                <a:cs typeface="Arial" pitchFamily="34" charset="0"/>
                <a:sym typeface="Wingdings"/>
              </a:rPr>
              <a:t> </a:t>
            </a:r>
            <a:r>
              <a:rPr lang="pt-BR" dirty="0">
                <a:latin typeface="+mn-lt"/>
                <a:cs typeface="Arial" pitchFamily="34" charset="0"/>
              </a:rPr>
              <a:t>Justificativa  </a:t>
            </a:r>
            <a:r>
              <a:rPr lang="pt-BR" b="1" dirty="0">
                <a:solidFill>
                  <a:srgbClr val="C00000"/>
                </a:solidFill>
                <a:latin typeface="+mn-lt"/>
                <a:cs typeface="Arial" pitchFamily="34" charset="0"/>
              </a:rPr>
              <a:t>(Qual a importância da pesquisa?)</a:t>
            </a:r>
            <a:r>
              <a:rPr lang="pt-BR" dirty="0">
                <a:latin typeface="+mn-lt"/>
                <a:ea typeface="Times New Roman" pitchFamily="18" charset="0"/>
              </a:rPr>
              <a:t> </a:t>
            </a:r>
            <a:endParaRPr lang="pt-BR" b="1" dirty="0">
              <a:solidFill>
                <a:srgbClr val="C00000"/>
              </a:solidFill>
              <a:latin typeface="+mn-lt"/>
              <a:cs typeface="Arial" pitchFamily="34" charset="0"/>
            </a:endParaRP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Wingdings" pitchFamily="2" charset="2"/>
              <a:buChar char="þ"/>
              <a:defRPr/>
            </a:pPr>
            <a:r>
              <a:rPr lang="pt-BR" dirty="0">
                <a:latin typeface="+mn-lt"/>
                <a:cs typeface="Arial" pitchFamily="34" charset="0"/>
              </a:rPr>
              <a:t>Metodologia </a:t>
            </a:r>
            <a:r>
              <a:rPr lang="pt-BR" b="1" dirty="0">
                <a:solidFill>
                  <a:srgbClr val="C00000"/>
                </a:solidFill>
                <a:latin typeface="+mn-lt"/>
                <a:cs typeface="Arial" pitchFamily="34" charset="0"/>
              </a:rPr>
              <a:t>(Como vou fazer a pesquisa?)</a:t>
            </a:r>
            <a:r>
              <a:rPr lang="pt-BR" dirty="0">
                <a:latin typeface="+mn-lt"/>
                <a:ea typeface="Times New Roman" pitchFamily="18" charset="0"/>
              </a:rPr>
              <a:t> 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Wingdings" pitchFamily="2" charset="2"/>
              <a:buChar char="þ"/>
              <a:defRPr/>
            </a:pPr>
            <a:r>
              <a:rPr lang="pt-BR" dirty="0">
                <a:latin typeface="+mn-lt"/>
                <a:cs typeface="Arial" pitchFamily="34" charset="0"/>
                <a:sym typeface="Wingdings"/>
              </a:rPr>
              <a:t> </a:t>
            </a:r>
            <a:r>
              <a:rPr lang="pt-BR" dirty="0">
                <a:latin typeface="+mn-lt"/>
                <a:cs typeface="Arial" pitchFamily="34" charset="0"/>
              </a:rPr>
              <a:t>Revisão bibliográfica </a:t>
            </a:r>
            <a:r>
              <a:rPr lang="pt-BR" b="1" dirty="0">
                <a:solidFill>
                  <a:srgbClr val="C00000"/>
                </a:solidFill>
                <a:latin typeface="+mn-lt"/>
                <a:cs typeface="Arial" pitchFamily="34" charset="0"/>
              </a:rPr>
              <a:t>(O que já se sabe do assunto?)</a:t>
            </a:r>
            <a:r>
              <a:rPr lang="pt-BR" dirty="0">
                <a:latin typeface="+mn-lt"/>
                <a:ea typeface="Times New Roman" pitchFamily="18" charset="0"/>
              </a:rPr>
              <a:t> </a:t>
            </a:r>
          </a:p>
          <a:p>
            <a:pPr indent="174625" eaLnBrk="0" hangingPunct="0">
              <a:spcBef>
                <a:spcPts val="600"/>
              </a:spcBef>
              <a:buFont typeface="Wingdings" pitchFamily="2" charset="2"/>
              <a:buChar char="þ"/>
              <a:defRPr/>
            </a:pPr>
            <a:r>
              <a:rPr lang="pt-BR" dirty="0">
                <a:latin typeface="+mn-lt"/>
                <a:ea typeface="Times New Roman" pitchFamily="18" charset="0"/>
              </a:rPr>
              <a:t>Referências </a:t>
            </a:r>
            <a:r>
              <a:rPr lang="pt-BR" b="1" dirty="0">
                <a:latin typeface="+mn-lt"/>
                <a:ea typeface="Times New Roman" pitchFamily="18" charset="0"/>
              </a:rPr>
              <a:t>(Formatação e conteúdo) </a:t>
            </a:r>
            <a:endParaRPr lang="pt-BR" dirty="0">
              <a:latin typeface="+mn-lt"/>
              <a:ea typeface="Times New Roman" pitchFamily="18" charset="0"/>
            </a:endParaRPr>
          </a:p>
          <a:p>
            <a:pPr indent="174625" eaLnBrk="0" hangingPunct="0">
              <a:spcBef>
                <a:spcPts val="600"/>
              </a:spcBef>
              <a:defRPr/>
            </a:pPr>
            <a:r>
              <a:rPr lang="pt-BR" dirty="0">
                <a:latin typeface="+mn-lt"/>
                <a:ea typeface="Times New Roman" pitchFamily="18" charset="0"/>
              </a:rPr>
              <a:t>Citações ao longo do texto (formatação) 		</a:t>
            </a:r>
            <a:endParaRPr lang="pt-BR" dirty="0">
              <a:latin typeface="+mn-lt"/>
            </a:endParaRPr>
          </a:p>
          <a:p>
            <a:pPr indent="174625" eaLnBrk="0" hangingPunct="0">
              <a:spcBef>
                <a:spcPts val="600"/>
              </a:spcBef>
              <a:defRPr/>
            </a:pPr>
            <a:r>
              <a:rPr lang="pt-BR" dirty="0">
                <a:latin typeface="+mn-lt"/>
                <a:ea typeface="Times New Roman" pitchFamily="18" charset="0"/>
              </a:rPr>
              <a:t>Formatação do trabalho  geral			</a:t>
            </a:r>
          </a:p>
          <a:p>
            <a:pPr eaLnBrk="0" hangingPunct="0">
              <a:tabLst>
                <a:tab pos="180975" algn="l"/>
              </a:tabLst>
              <a:defRPr/>
            </a:pPr>
            <a:endParaRPr lang="pt-BR" b="1" dirty="0">
              <a:latin typeface="+mn-lt"/>
              <a:ea typeface="Times New Roman" pitchFamily="18" charset="0"/>
            </a:endParaRPr>
          </a:p>
          <a:p>
            <a:pPr eaLnBrk="0" hangingPunct="0">
              <a:tabLst>
                <a:tab pos="180975" algn="l"/>
              </a:tabLst>
              <a:defRPr/>
            </a:pPr>
            <a:r>
              <a:rPr lang="pt-BR" b="1" dirty="0">
                <a:latin typeface="+mn-lt"/>
                <a:ea typeface="Times New Roman" pitchFamily="18" charset="0"/>
              </a:rPr>
              <a:t>* Número de páginas</a:t>
            </a:r>
            <a:r>
              <a:rPr lang="pt-BR" dirty="0">
                <a:latin typeface="+mn-lt"/>
                <a:ea typeface="Times New Roman" pitchFamily="18" charset="0"/>
              </a:rPr>
              <a:t> (incluindo Capa, Sumário e Referências Bibliográficas): Mínimo de 07 páginas/ Máximo de 20 páginas.</a:t>
            </a:r>
            <a:endParaRPr lang="pt-BR" dirty="0">
              <a:latin typeface="+mn-lt"/>
            </a:endParaRP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defRPr/>
            </a:pPr>
            <a:endParaRPr lang="pt-BR" sz="22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CaixaDeTexto 2"/>
          <p:cNvSpPr txBox="1"/>
          <p:nvPr/>
        </p:nvSpPr>
        <p:spPr>
          <a:xfrm>
            <a:off x="251520" y="214290"/>
            <a:ext cx="88924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800" b="1" dirty="0">
                <a:solidFill>
                  <a:schemeClr val="accent1">
                    <a:lumMod val="75000"/>
                  </a:schemeClr>
                </a:solidFill>
                <a:latin typeface="+mn-lt"/>
                <a:cs typeface="Arial" pitchFamily="34" charset="0"/>
              </a:rPr>
              <a:t>Itens do projeto e </a:t>
            </a:r>
            <a:r>
              <a:rPr lang="pt-BR" sz="2800" b="1" dirty="0">
                <a:solidFill>
                  <a:schemeClr val="accent1">
                    <a:lumMod val="75000"/>
                  </a:schemeClr>
                </a:solidFill>
                <a:latin typeface="+mn-lt"/>
                <a:cs typeface="Times New Roman" pitchFamily="18" charset="0"/>
              </a:rPr>
              <a:t>c</a:t>
            </a:r>
            <a:r>
              <a:rPr lang="pt-BR" sz="2800" b="1" dirty="0">
                <a:solidFill>
                  <a:schemeClr val="accent1">
                    <a:lumMod val="75000"/>
                  </a:schemeClr>
                </a:solidFill>
                <a:latin typeface="+mn-lt"/>
                <a:ea typeface="Times New Roman" pitchFamily="18" charset="0"/>
                <a:cs typeface="Times New Roman" pitchFamily="18" charset="0"/>
              </a:rPr>
              <a:t>ritérios de avaliação </a:t>
            </a:r>
            <a:r>
              <a:rPr lang="pt-BR" sz="2800" b="1" dirty="0">
                <a:solidFill>
                  <a:schemeClr val="accent1">
                    <a:lumMod val="75000"/>
                  </a:schemeClr>
                </a:solidFill>
                <a:latin typeface="+mn-lt"/>
                <a:cs typeface="Arial" pitchFamily="34" charset="0"/>
              </a:rPr>
              <a:t>:</a:t>
            </a:r>
            <a:endParaRPr lang="pt-BR" sz="2800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Espaço Reservado para Conteúdo 7"/>
          <p:cNvSpPr>
            <a:spLocks noGrp="1"/>
          </p:cNvSpPr>
          <p:nvPr>
            <p:ph sz="half" idx="4294967295"/>
          </p:nvPr>
        </p:nvSpPr>
        <p:spPr>
          <a:xfrm>
            <a:off x="0" y="404664"/>
            <a:ext cx="5286375" cy="5929312"/>
          </a:xfrm>
        </p:spPr>
        <p:txBody>
          <a:bodyPr>
            <a:normAutofit fontScale="85000" lnSpcReduction="20000"/>
          </a:bodyPr>
          <a:lstStyle/>
          <a:p>
            <a:pPr lvl="1"/>
            <a:endParaRPr lang="pt-BR" sz="1400" dirty="0">
              <a:latin typeface="Arial" charset="0"/>
              <a:cs typeface="Arial" charset="0"/>
            </a:endParaRPr>
          </a:p>
          <a:p>
            <a:pPr algn="ctr">
              <a:buNone/>
            </a:pPr>
            <a:r>
              <a:rPr lang="pt-BR" sz="1800" dirty="0">
                <a:latin typeface="Arial" pitchFamily="34" charset="0"/>
                <a:cs typeface="Arial" pitchFamily="34" charset="0"/>
              </a:rPr>
              <a:t>UNIVERSIDADE XXXXXX</a:t>
            </a:r>
          </a:p>
          <a:p>
            <a:pPr algn="ctr">
              <a:buNone/>
            </a:pPr>
            <a:r>
              <a:rPr lang="pt-BR" sz="1700" dirty="0">
                <a:latin typeface="Arial" pitchFamily="34" charset="0"/>
                <a:cs typeface="Arial" pitchFamily="34" charset="0"/>
              </a:rPr>
              <a:t>Nome do curso</a:t>
            </a:r>
          </a:p>
          <a:p>
            <a:pPr algn="ctr">
              <a:buNone/>
            </a:pPr>
            <a:r>
              <a:rPr lang="pt-BR" sz="14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(Centralizado, letra12) </a:t>
            </a:r>
          </a:p>
          <a:p>
            <a:pPr algn="ctr">
              <a:buNone/>
            </a:pPr>
            <a:endParaRPr lang="pt-BR" sz="1800" dirty="0">
              <a:latin typeface="Arial" pitchFamily="34" charset="0"/>
              <a:cs typeface="Arial" pitchFamily="34" charset="0"/>
            </a:endParaRPr>
          </a:p>
          <a:p>
            <a:pPr algn="ctr">
              <a:buNone/>
            </a:pPr>
            <a:endParaRPr lang="pt-BR" sz="1800" dirty="0">
              <a:latin typeface="Arial" pitchFamily="34" charset="0"/>
              <a:cs typeface="Arial" pitchFamily="34" charset="0"/>
            </a:endParaRPr>
          </a:p>
          <a:p>
            <a:pPr algn="ctr">
              <a:buNone/>
            </a:pPr>
            <a:endParaRPr lang="pt-BR" sz="1800" dirty="0">
              <a:latin typeface="Arial" pitchFamily="34" charset="0"/>
              <a:cs typeface="Arial" pitchFamily="34" charset="0"/>
            </a:endParaRPr>
          </a:p>
          <a:p>
            <a:pPr algn="ctr">
              <a:buNone/>
            </a:pPr>
            <a:r>
              <a:rPr lang="pt-BR" sz="1800" dirty="0">
                <a:latin typeface="Arial" pitchFamily="34" charset="0"/>
                <a:cs typeface="Arial" pitchFamily="34" charset="0"/>
              </a:rPr>
              <a:t>Nome Completo do Aluno(a)</a:t>
            </a:r>
          </a:p>
          <a:p>
            <a:pPr algn="ctr">
              <a:buNone/>
            </a:pPr>
            <a:r>
              <a:rPr lang="pt-BR" sz="14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(Centralizado, letra </a:t>
            </a:r>
            <a:r>
              <a:rPr lang="pt-BR" sz="1400" dirty="0" err="1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arial</a:t>
            </a:r>
            <a:r>
              <a:rPr lang="pt-BR" sz="14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 12)</a:t>
            </a:r>
          </a:p>
          <a:p>
            <a:pPr algn="ctr">
              <a:buNone/>
            </a:pPr>
            <a:endParaRPr lang="pt-BR" sz="1800" dirty="0">
              <a:latin typeface="Arial" pitchFamily="34" charset="0"/>
              <a:cs typeface="Arial" pitchFamily="34" charset="0"/>
            </a:endParaRPr>
          </a:p>
          <a:p>
            <a:pPr algn="ctr">
              <a:buNone/>
            </a:pPr>
            <a:endParaRPr lang="pt-BR" sz="1800" dirty="0">
              <a:latin typeface="Arial" pitchFamily="34" charset="0"/>
              <a:cs typeface="Arial" pitchFamily="34" charset="0"/>
            </a:endParaRPr>
          </a:p>
          <a:p>
            <a:pPr algn="ctr">
              <a:buNone/>
            </a:pPr>
            <a:r>
              <a:rPr lang="pt-BR" sz="1800" b="1" dirty="0">
                <a:latin typeface="Arial" pitchFamily="34" charset="0"/>
                <a:cs typeface="Arial" pitchFamily="34" charset="0"/>
              </a:rPr>
              <a:t>Título do Projeto: </a:t>
            </a:r>
          </a:p>
          <a:p>
            <a:pPr algn="ctr">
              <a:buNone/>
            </a:pPr>
            <a:r>
              <a:rPr lang="pt-BR" sz="1800" b="1" dirty="0">
                <a:latin typeface="Arial" pitchFamily="34" charset="0"/>
                <a:cs typeface="Arial" pitchFamily="34" charset="0"/>
              </a:rPr>
              <a:t>subtítulo</a:t>
            </a:r>
            <a:endParaRPr lang="pt-BR" sz="1800" dirty="0">
              <a:latin typeface="Arial" pitchFamily="34" charset="0"/>
              <a:cs typeface="Arial" pitchFamily="34" charset="0"/>
            </a:endParaRPr>
          </a:p>
          <a:p>
            <a:pPr algn="ctr">
              <a:buNone/>
            </a:pPr>
            <a:r>
              <a:rPr lang="pt-BR" sz="14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(Centralizado, letra12)</a:t>
            </a:r>
          </a:p>
          <a:p>
            <a:pPr algn="ctr">
              <a:buNone/>
            </a:pPr>
            <a:endParaRPr lang="pt-BR" sz="1400" dirty="0">
              <a:solidFill>
                <a:srgbClr val="C00000"/>
              </a:solidFill>
              <a:latin typeface="Arial" pitchFamily="34" charset="0"/>
              <a:cs typeface="Arial" pitchFamily="34" charset="0"/>
            </a:endParaRPr>
          </a:p>
          <a:p>
            <a:pPr algn="ctr">
              <a:buNone/>
            </a:pPr>
            <a:endParaRPr lang="pt-BR" sz="1800" dirty="0">
              <a:latin typeface="Arial" pitchFamily="34" charset="0"/>
              <a:cs typeface="Arial" pitchFamily="34" charset="0"/>
            </a:endParaRPr>
          </a:p>
          <a:p>
            <a:pPr marL="2506663" indent="95250">
              <a:buNone/>
              <a:tabLst>
                <a:tab pos="2065338" algn="l"/>
                <a:tab pos="2333625" algn="l"/>
                <a:tab pos="2427288" algn="l"/>
              </a:tabLst>
            </a:pPr>
            <a:r>
              <a:rPr lang="pt-BR" sz="1800" dirty="0">
                <a:latin typeface="Arial" pitchFamily="34" charset="0"/>
                <a:cs typeface="Arial" pitchFamily="34" charset="0"/>
              </a:rPr>
              <a:t>Disciplina: XXXXXXXXXX</a:t>
            </a:r>
          </a:p>
          <a:p>
            <a:pPr marL="2506663" indent="95250">
              <a:buNone/>
              <a:tabLst>
                <a:tab pos="2065338" algn="l"/>
                <a:tab pos="2333625" algn="l"/>
                <a:tab pos="2427288" algn="l"/>
              </a:tabLst>
            </a:pPr>
            <a:r>
              <a:rPr lang="pt-BR" sz="1800" dirty="0">
                <a:latin typeface="Arial" pitchFamily="34" charset="0"/>
                <a:cs typeface="Arial" pitchFamily="34" charset="0"/>
              </a:rPr>
              <a:t>Docente: </a:t>
            </a:r>
            <a:r>
              <a:rPr lang="pt-BR" sz="1800" dirty="0" err="1">
                <a:latin typeface="Arial" pitchFamily="34" charset="0"/>
                <a:cs typeface="Arial" pitchFamily="34" charset="0"/>
              </a:rPr>
              <a:t>Drª</a:t>
            </a:r>
            <a:r>
              <a:rPr lang="pt-BR" sz="1800" dirty="0">
                <a:latin typeface="Arial" pitchFamily="34" charset="0"/>
                <a:cs typeface="Arial" pitchFamily="34" charset="0"/>
              </a:rPr>
              <a:t>. Olívia Perez</a:t>
            </a:r>
          </a:p>
          <a:p>
            <a:pPr marL="2506663" indent="95250">
              <a:buNone/>
              <a:tabLst>
                <a:tab pos="2065338" algn="l"/>
                <a:tab pos="2160588" algn="l"/>
                <a:tab pos="2333625" algn="l"/>
                <a:tab pos="2427288" algn="l"/>
              </a:tabLst>
            </a:pPr>
            <a:r>
              <a:rPr lang="pt-BR" sz="1300" b="1" dirty="0">
                <a:latin typeface="Arial" pitchFamily="34" charset="0"/>
                <a:cs typeface="Arial" pitchFamily="34" charset="0"/>
              </a:rPr>
              <a:t> </a:t>
            </a:r>
            <a:r>
              <a:rPr lang="pt-BR" sz="13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(Recuado, letra12)</a:t>
            </a:r>
          </a:p>
          <a:p>
            <a:pPr marL="2238375" indent="0" algn="just">
              <a:buNone/>
              <a:tabLst>
                <a:tab pos="4476750" algn="l"/>
              </a:tabLst>
            </a:pPr>
            <a:endParaRPr lang="pt-BR" sz="1800" dirty="0">
              <a:latin typeface="Arial" pitchFamily="34" charset="0"/>
              <a:cs typeface="Arial" pitchFamily="34" charset="0"/>
            </a:endParaRPr>
          </a:p>
          <a:p>
            <a:pPr marL="2238375" indent="0" algn="just">
              <a:buNone/>
              <a:tabLst>
                <a:tab pos="4476750" algn="l"/>
              </a:tabLst>
            </a:pPr>
            <a:endParaRPr lang="pt-BR" sz="1800" dirty="0">
              <a:latin typeface="Arial" pitchFamily="34" charset="0"/>
              <a:cs typeface="Arial" pitchFamily="34" charset="0"/>
            </a:endParaRPr>
          </a:p>
          <a:p>
            <a:pPr marL="2238375" indent="0" algn="just">
              <a:buNone/>
              <a:tabLst>
                <a:tab pos="4476750" algn="l"/>
              </a:tabLst>
            </a:pPr>
            <a:endParaRPr lang="pt-BR" sz="1800" dirty="0">
              <a:latin typeface="Arial" pitchFamily="34" charset="0"/>
              <a:cs typeface="Arial" pitchFamily="34" charset="0"/>
            </a:endParaRPr>
          </a:p>
          <a:p>
            <a:pPr algn="ctr">
              <a:buNone/>
            </a:pPr>
            <a:endParaRPr lang="pt-BR" sz="1800" dirty="0">
              <a:latin typeface="Arial" pitchFamily="34" charset="0"/>
              <a:cs typeface="Arial" pitchFamily="34" charset="0"/>
            </a:endParaRPr>
          </a:p>
          <a:p>
            <a:pPr algn="ctr">
              <a:buNone/>
            </a:pPr>
            <a:endParaRPr lang="pt-BR" sz="1800" dirty="0">
              <a:latin typeface="Arial" pitchFamily="34" charset="0"/>
              <a:cs typeface="Arial" pitchFamily="34" charset="0"/>
            </a:endParaRPr>
          </a:p>
          <a:p>
            <a:pPr algn="ctr">
              <a:buNone/>
            </a:pPr>
            <a:r>
              <a:rPr lang="pt-BR" sz="1800" dirty="0">
                <a:latin typeface="Arial" pitchFamily="34" charset="0"/>
                <a:cs typeface="Arial" pitchFamily="34" charset="0"/>
              </a:rPr>
              <a:t>SANTOS </a:t>
            </a:r>
          </a:p>
          <a:p>
            <a:pPr algn="ctr">
              <a:buNone/>
            </a:pPr>
            <a:r>
              <a:rPr lang="pt-BR" sz="1800" dirty="0">
                <a:latin typeface="Arial" pitchFamily="34" charset="0"/>
                <a:cs typeface="Arial" pitchFamily="34" charset="0"/>
              </a:rPr>
              <a:t>ANO</a:t>
            </a:r>
          </a:p>
          <a:p>
            <a:pPr algn="ctr">
              <a:buNone/>
            </a:pPr>
            <a:r>
              <a:rPr lang="pt-BR" sz="14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(Centralizado, letra12)</a:t>
            </a:r>
          </a:p>
        </p:txBody>
      </p:sp>
      <p:sp>
        <p:nvSpPr>
          <p:cNvPr id="5" name="Retângulo 4"/>
          <p:cNvSpPr/>
          <p:nvPr/>
        </p:nvSpPr>
        <p:spPr>
          <a:xfrm>
            <a:off x="323528" y="476672"/>
            <a:ext cx="4929222" cy="59293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CaixaDeTexto 3"/>
          <p:cNvSpPr txBox="1"/>
          <p:nvPr/>
        </p:nvSpPr>
        <p:spPr>
          <a:xfrm rot="20639855">
            <a:off x="5831728" y="1585070"/>
            <a:ext cx="298590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>
                <a:latin typeface="Bookman Old Style" pitchFamily="18" charset="0"/>
              </a:rPr>
              <a:t>Identificação:</a:t>
            </a:r>
          </a:p>
          <a:p>
            <a:endParaRPr lang="pt-BR" sz="2400" b="1" dirty="0">
              <a:latin typeface="Bookman Old Style" pitchFamily="18" charset="0"/>
            </a:endParaRPr>
          </a:p>
          <a:p>
            <a:r>
              <a:rPr lang="pt-BR" sz="2400" b="1" dirty="0">
                <a:latin typeface="Bookman Old Style" pitchFamily="18" charset="0"/>
              </a:rPr>
              <a:t> Capa do trabalho</a:t>
            </a:r>
          </a:p>
        </p:txBody>
      </p:sp>
      <p:pic>
        <p:nvPicPr>
          <p:cNvPr id="6" name="Imagem 5" descr="legal.gif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372200" y="3717032"/>
            <a:ext cx="2492896" cy="249289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348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0" dur="500"/>
                                        <p:tgtEl>
                                          <p:spTgt spid="348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3" dur="500"/>
                                        <p:tgtEl>
                                          <p:spTgt spid="348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6" dur="500"/>
                                        <p:tgtEl>
                                          <p:spTgt spid="3481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500"/>
                                        <p:tgtEl>
                                          <p:spTgt spid="3481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2" dur="500"/>
                                        <p:tgtEl>
                                          <p:spTgt spid="3481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5" dur="500"/>
                                        <p:tgtEl>
                                          <p:spTgt spid="3481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8" dur="500"/>
                                        <p:tgtEl>
                                          <p:spTgt spid="3481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8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1" dur="500"/>
                                        <p:tgtEl>
                                          <p:spTgt spid="34818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8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4" dur="500"/>
                                        <p:tgtEl>
                                          <p:spTgt spid="34818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8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7" dur="500"/>
                                        <p:tgtEl>
                                          <p:spTgt spid="34818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8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0" dur="500"/>
                                        <p:tgtEl>
                                          <p:spTgt spid="34818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8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3" dur="500"/>
                                        <p:tgtEl>
                                          <p:spTgt spid="34818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8">
                                            <p:txEl>
                                              <p:pRg st="26" end="2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6" dur="500"/>
                                        <p:tgtEl>
                                          <p:spTgt spid="34818">
                                            <p:txEl>
                                              <p:pRg st="26" end="2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9" dur="500"/>
                                        <p:tgtEl>
                                          <p:spTgt spid="348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2" dur="500"/>
                                        <p:tgtEl>
                                          <p:spTgt spid="348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5"/>
          <p:cNvSpPr txBox="1">
            <a:spLocks/>
          </p:cNvSpPr>
          <p:nvPr/>
        </p:nvSpPr>
        <p:spPr>
          <a:xfrm>
            <a:off x="2843213" y="4365625"/>
            <a:ext cx="5329237" cy="1889125"/>
          </a:xfrm>
          <a:prstGeom prst="rect">
            <a:avLst/>
          </a:prstGeom>
        </p:spPr>
        <p:txBody>
          <a:bodyPr>
            <a:normAutofit/>
          </a:bodyPr>
          <a:lstStyle/>
          <a:p>
            <a:pPr algn="just">
              <a:defRPr/>
            </a:pPr>
            <a:br>
              <a:rPr lang="pt-BR" sz="2000" b="1" dirty="0">
                <a:solidFill>
                  <a:srgbClr val="572314"/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latin typeface="+mj-lt"/>
                <a:ea typeface="+mj-ea"/>
                <a:cs typeface="+mj-cs"/>
              </a:rPr>
            </a:br>
            <a:br>
              <a:rPr lang="pt-BR" sz="2000" b="1" cap="all" dirty="0">
                <a:solidFill>
                  <a:srgbClr val="572314"/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latin typeface="+mj-lt"/>
                <a:ea typeface="+mj-ea"/>
                <a:cs typeface="+mj-cs"/>
              </a:rPr>
            </a:br>
            <a:br>
              <a:rPr lang="pt-BR" sz="2000" b="1" cap="all" dirty="0">
                <a:solidFill>
                  <a:srgbClr val="572314"/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latin typeface="+mj-lt"/>
                <a:ea typeface="+mj-ea"/>
                <a:cs typeface="+mj-cs"/>
              </a:rPr>
            </a:br>
            <a:endParaRPr lang="pt-BR" sz="2200" b="1" dirty="0">
              <a:solidFill>
                <a:srgbClr val="572314"/>
              </a:solidFill>
              <a:effectLst>
                <a:outerShdw blurRad="50000" dist="30000" dir="5400000" algn="tl" rotWithShape="0">
                  <a:srgbClr val="000000">
                    <a:alpha val="30000"/>
                  </a:srgbClr>
                </a:outerShdw>
              </a:effectLst>
              <a:latin typeface="+mj-lt"/>
              <a:ea typeface="+mj-ea"/>
              <a:cs typeface="+mj-cs"/>
            </a:endParaRPr>
          </a:p>
        </p:txBody>
      </p:sp>
      <p:sp>
        <p:nvSpPr>
          <p:cNvPr id="22561" name="Rectangle 33"/>
          <p:cNvSpPr>
            <a:spLocks noChangeArrowheads="1"/>
          </p:cNvSpPr>
          <p:nvPr/>
        </p:nvSpPr>
        <p:spPr bwMode="auto">
          <a:xfrm>
            <a:off x="0" y="3927475"/>
            <a:ext cx="8820150" cy="800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>
              <a:defRPr/>
            </a:pPr>
            <a:endParaRPr lang="pt-BR" sz="1400" dirty="0">
              <a:latin typeface="Arial" charset="0"/>
              <a:cs typeface="Arial" charset="0"/>
            </a:endParaRPr>
          </a:p>
          <a:p>
            <a:pPr algn="ctr">
              <a:defRPr/>
            </a:pPr>
            <a:endParaRPr lang="pt-BR" sz="1400" b="1" cap="all" dirty="0"/>
          </a:p>
          <a:p>
            <a:pPr algn="ctr" eaLnBrk="0" hangingPunct="0">
              <a:defRPr/>
            </a:pPr>
            <a:endParaRPr lang="pt-BR" dirty="0"/>
          </a:p>
        </p:txBody>
      </p:sp>
      <p:sp>
        <p:nvSpPr>
          <p:cNvPr id="24580" name="CaixaDeTexto 5"/>
          <p:cNvSpPr txBox="1">
            <a:spLocks noChangeArrowheads="1"/>
          </p:cNvSpPr>
          <p:nvPr/>
        </p:nvSpPr>
        <p:spPr bwMode="auto">
          <a:xfrm>
            <a:off x="4499992" y="692696"/>
            <a:ext cx="4644008" cy="4924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buClrTx/>
            </a:pPr>
            <a:r>
              <a:rPr lang="pt-BR" sz="2400" dirty="0"/>
              <a:t> </a:t>
            </a:r>
            <a:r>
              <a:rPr lang="pt-BR" sz="2400" b="1" dirty="0"/>
              <a:t>Sumário</a:t>
            </a:r>
          </a:p>
          <a:p>
            <a:pPr algn="ctr">
              <a:buClrTx/>
            </a:pPr>
            <a:endParaRPr lang="pt-BR" sz="2600" dirty="0">
              <a:latin typeface="Arial" pitchFamily="34" charset="0"/>
              <a:cs typeface="Arial" pitchFamily="34" charset="0"/>
            </a:endParaRPr>
          </a:p>
          <a:p>
            <a:pPr algn="ctr">
              <a:buClrTx/>
              <a:buFont typeface="Wingdings" pitchFamily="2" charset="2"/>
              <a:buChar char="§"/>
            </a:pPr>
            <a:r>
              <a:rPr lang="pt-BR" sz="2800" dirty="0"/>
              <a:t> </a:t>
            </a:r>
            <a:r>
              <a:rPr lang="pt-BR" sz="2400" dirty="0"/>
              <a:t>Enumeração das divisões, seções e outras partes do trabalho, na mesma ordem e </a:t>
            </a:r>
            <a:r>
              <a:rPr lang="pt-BR" sz="2400" dirty="0" err="1"/>
              <a:t>graﬁa</a:t>
            </a:r>
            <a:r>
              <a:rPr lang="pt-BR" sz="2400" dirty="0"/>
              <a:t> em que a matéria nele se sucede. </a:t>
            </a:r>
          </a:p>
          <a:p>
            <a:pPr algn="ctr">
              <a:buClrTx/>
            </a:pPr>
            <a:endParaRPr lang="pt-BR" sz="2400" dirty="0">
              <a:latin typeface="Arial" pitchFamily="34" charset="0"/>
              <a:cs typeface="Arial" pitchFamily="34" charset="0"/>
            </a:endParaRPr>
          </a:p>
          <a:p>
            <a:pPr algn="ctr">
              <a:buClrTx/>
              <a:buFont typeface="Wingdings" pitchFamily="2" charset="2"/>
              <a:buChar char="§"/>
            </a:pPr>
            <a:r>
              <a:rPr lang="pt-BR" sz="2400" dirty="0">
                <a:latin typeface="Arial" pitchFamily="34" charset="0"/>
                <a:cs typeface="Arial" pitchFamily="34" charset="0"/>
              </a:rPr>
              <a:t> Não se deve confundir sumário com índice.</a:t>
            </a:r>
          </a:p>
          <a:p>
            <a:pPr algn="ctr">
              <a:buClrTx/>
            </a:pPr>
            <a:endParaRPr lang="pt-BR" sz="2600" dirty="0">
              <a:latin typeface="Arial" pitchFamily="34" charset="0"/>
              <a:cs typeface="Arial" pitchFamily="34" charset="0"/>
            </a:endParaRPr>
          </a:p>
          <a:p>
            <a:pPr lvl="1">
              <a:buClrTx/>
            </a:pPr>
            <a:endParaRPr lang="pt-BR" i="1" dirty="0"/>
          </a:p>
          <a:p>
            <a:pPr marL="82550" indent="-82550">
              <a:buFont typeface="Arial" pitchFamily="34" charset="0"/>
              <a:buChar char="•"/>
            </a:pPr>
            <a:endParaRPr lang="pt-BR" sz="2400" dirty="0"/>
          </a:p>
        </p:txBody>
      </p:sp>
      <p:sp>
        <p:nvSpPr>
          <p:cNvPr id="24581" name="Text Box 2"/>
          <p:cNvSpPr txBox="1">
            <a:spLocks noChangeArrowheads="1"/>
          </p:cNvSpPr>
          <p:nvPr/>
        </p:nvSpPr>
        <p:spPr bwMode="auto">
          <a:xfrm>
            <a:off x="142875" y="142875"/>
            <a:ext cx="4286250" cy="5518373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lvl="1" algn="ctr"/>
            <a:endParaRPr lang="pt-BR" sz="1300" dirty="0">
              <a:solidFill>
                <a:srgbClr val="000000"/>
              </a:solidFill>
            </a:endParaRPr>
          </a:p>
          <a:p>
            <a:pPr lvl="1" algn="ctr"/>
            <a:r>
              <a:rPr lang="pt-BR" sz="1300" b="1" dirty="0">
                <a:solidFill>
                  <a:srgbClr val="000000"/>
                </a:solidFill>
              </a:rPr>
              <a:t>SUMÁRIO</a:t>
            </a:r>
          </a:p>
          <a:p>
            <a:pPr lvl="1" algn="ctr"/>
            <a:endParaRPr lang="pt-BR" sz="1300" dirty="0">
              <a:solidFill>
                <a:srgbClr val="000000"/>
              </a:solidFill>
            </a:endParaRPr>
          </a:p>
          <a:p>
            <a:pPr marL="173038" lvl="0" indent="-173038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pt-BR" sz="1400" dirty="0"/>
              <a:t>Tema...............................................................02 </a:t>
            </a:r>
          </a:p>
          <a:p>
            <a:pPr marL="173038" indent="-173038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pt-BR" sz="1400" dirty="0"/>
              <a:t> Delimitação do tema......................................02 </a:t>
            </a:r>
          </a:p>
          <a:p>
            <a:pPr marL="173038" indent="-173038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pt-BR" sz="1400" dirty="0"/>
              <a:t> Problema........................................................04 </a:t>
            </a:r>
          </a:p>
          <a:p>
            <a:pPr marL="173038" indent="-173038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pt-BR" sz="1400" dirty="0"/>
              <a:t> Hipótese.........................................................04 </a:t>
            </a:r>
          </a:p>
          <a:p>
            <a:pPr marL="173038" indent="-173038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pt-BR" sz="1400" dirty="0"/>
              <a:t>Objetivos	.........................................................04</a:t>
            </a:r>
          </a:p>
          <a:p>
            <a:pPr marL="173038" indent="-173038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pt-BR" sz="1400" dirty="0"/>
              <a:t>Justificativa.....................................................04</a:t>
            </a:r>
          </a:p>
          <a:p>
            <a:pPr marL="173038" indent="-173038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pt-BR" sz="1400" dirty="0"/>
              <a:t>Metodologia....................................................05 </a:t>
            </a:r>
          </a:p>
          <a:p>
            <a:pPr marL="173038" indent="-173038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pt-BR" sz="1400" dirty="0"/>
              <a:t>Revisão Bibliográfica.....................................06 </a:t>
            </a:r>
          </a:p>
          <a:p>
            <a:pPr marL="173038" indent="-173038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pt-BR" sz="1400" dirty="0"/>
              <a:t>Referências Bibliográficas.............................08</a:t>
            </a:r>
          </a:p>
          <a:p>
            <a:pPr lvl="1">
              <a:buClrTx/>
            </a:pPr>
            <a:endParaRPr lang="pt-BR" sz="1400" i="1" dirty="0">
              <a:solidFill>
                <a:srgbClr val="C00000"/>
              </a:solidFill>
              <a:latin typeface="Arial" pitchFamily="34" charset="0"/>
              <a:cs typeface="Arial" pitchFamily="34" charset="0"/>
            </a:endParaRPr>
          </a:p>
          <a:p>
            <a:pPr lvl="1">
              <a:buClrTx/>
            </a:pPr>
            <a:r>
              <a:rPr lang="pt-BR" sz="1300" dirty="0">
                <a:solidFill>
                  <a:srgbClr val="000000"/>
                </a:solidFill>
              </a:rPr>
              <a:t>	</a:t>
            </a:r>
            <a:endParaRPr lang="pt-BR" sz="1300" dirty="0"/>
          </a:p>
        </p:txBody>
      </p:sp>
      <p:pic>
        <p:nvPicPr>
          <p:cNvPr id="24582" name="Picture 2" descr="E:\TESE DA OLIVIA\UNISANTOS\prova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084168" y="4869160"/>
            <a:ext cx="1265237" cy="1363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4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8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Espaço Reservado para Conteúdo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33796066"/>
              </p:ext>
            </p:extLst>
          </p:nvPr>
        </p:nvGraphicFramePr>
        <p:xfrm>
          <a:off x="899592" y="86268"/>
          <a:ext cx="7200800" cy="672710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1681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326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50177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1200" dirty="0">
                          <a:effectLst/>
                        </a:rPr>
                        <a:t>ELEMENTOS DO Projeto de Graduação </a:t>
                      </a:r>
                      <a:endParaRPr lang="pt-BR" sz="1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0816" marR="50816" marT="25408" marB="25408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1200">
                          <a:effectLst/>
                        </a:rPr>
                        <a:t>CONTEÚDO </a:t>
                      </a:r>
                      <a:endParaRPr lang="pt-BR" sz="12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0816" marR="50816" marT="25408" marB="25408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95471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1200" dirty="0" err="1">
                          <a:effectLst/>
                        </a:rPr>
                        <a:t>Pré</a:t>
                      </a:r>
                      <a:r>
                        <a:rPr lang="pt-BR" sz="1200" dirty="0">
                          <a:effectLst/>
                        </a:rPr>
                        <a:t>-textual </a:t>
                      </a:r>
                      <a:endParaRPr lang="pt-BR" sz="1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0816" marR="50816" marT="25408" marB="25408"/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buFont typeface="Arial" pitchFamily="34" charset="0"/>
                        <a:buNone/>
                      </a:pPr>
                      <a:r>
                        <a:rPr lang="pt-BR" sz="1200" dirty="0">
                          <a:effectLst/>
                        </a:rPr>
                        <a:t>Capa 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buFont typeface="Arial" pitchFamily="34" charset="0"/>
                        <a:buNone/>
                      </a:pPr>
                      <a:r>
                        <a:rPr lang="pt-BR" sz="1200" dirty="0">
                          <a:effectLst/>
                        </a:rPr>
                        <a:t>Folha de rosto (</a:t>
                      </a:r>
                      <a:r>
                        <a:rPr lang="pt-BR" sz="1200" dirty="0" err="1">
                          <a:effectLst/>
                        </a:rPr>
                        <a:t>contra-capa</a:t>
                      </a:r>
                      <a:r>
                        <a:rPr lang="pt-BR" sz="1200" dirty="0">
                          <a:effectLst/>
                        </a:rPr>
                        <a:t>) 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buFont typeface="Arial" pitchFamily="34" charset="0"/>
                        <a:buNone/>
                      </a:pPr>
                      <a:r>
                        <a:rPr lang="pt-BR" sz="1200" dirty="0">
                          <a:effectLst/>
                        </a:rPr>
                        <a:t>Agradecimentos (não obrigatório no projeto)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buFont typeface="Arial" pitchFamily="34" charset="0"/>
                        <a:buNone/>
                      </a:pPr>
                      <a:r>
                        <a:rPr lang="pt-BR" sz="1200" dirty="0">
                          <a:effectLst/>
                        </a:rPr>
                        <a:t>Epígrafe  (não obrigatório no projeto)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buFont typeface="Arial" pitchFamily="34" charset="0"/>
                        <a:buNone/>
                      </a:pPr>
                      <a:r>
                        <a:rPr lang="pt-BR" sz="1200" dirty="0">
                          <a:effectLst/>
                        </a:rPr>
                        <a:t>Lista de Abreviaturas e Siglas (se houver) 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buFont typeface="Arial" pitchFamily="34" charset="0"/>
                        <a:buNone/>
                      </a:pPr>
                      <a:r>
                        <a:rPr lang="pt-BR" sz="1200" dirty="0">
                          <a:effectLst/>
                        </a:rPr>
                        <a:t>Lista de Tabelas (se houver) 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buFont typeface="Arial" pitchFamily="34" charset="0"/>
                        <a:buNone/>
                      </a:pPr>
                      <a:r>
                        <a:rPr lang="pt-BR" sz="1200" dirty="0">
                          <a:effectLst/>
                        </a:rPr>
                        <a:t>Lista de Quadros (se houver) 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buFont typeface="Arial" pitchFamily="34" charset="0"/>
                        <a:buNone/>
                      </a:pPr>
                      <a:r>
                        <a:rPr lang="pt-BR" sz="1200" dirty="0">
                          <a:effectLst/>
                        </a:rPr>
                        <a:t>Lista de Figuras (se houver) 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buFont typeface="Arial" pitchFamily="34" charset="0"/>
                        <a:buNone/>
                      </a:pPr>
                      <a:r>
                        <a:rPr lang="pt-BR" sz="1200" dirty="0">
                          <a:effectLst/>
                        </a:rPr>
                        <a:t>Lista de demais Ilustrações (se houver) 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buFont typeface="Arial" pitchFamily="34" charset="0"/>
                        <a:buNone/>
                      </a:pPr>
                      <a:r>
                        <a:rPr lang="pt-BR" sz="1200" dirty="0">
                          <a:effectLst/>
                        </a:rPr>
                        <a:t>Sumário 	 </a:t>
                      </a:r>
                      <a:endParaRPr lang="pt-BR" sz="1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0816" marR="50816" marT="25408" marB="25408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05228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1200" dirty="0">
                          <a:effectLst/>
                        </a:rPr>
                        <a:t>Textual </a:t>
                      </a:r>
                      <a:endParaRPr lang="pt-BR" sz="1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0816" marR="50816" marT="25408" marB="25408"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1200" b="1" dirty="0">
                          <a:effectLst/>
                        </a:rPr>
                        <a:t>Introdução</a:t>
                      </a:r>
                      <a:r>
                        <a:rPr lang="pt-BR" sz="1200" dirty="0">
                          <a:effectLst/>
                        </a:rPr>
                        <a:t> (Tema, Delimitação do Tema, Definição dos termos de pesquisa (do título do TCC), Cenário de Pesquisa (situação atual, contextualização). </a:t>
                      </a:r>
                    </a:p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1200" dirty="0">
                          <a:effectLst/>
                        </a:rPr>
                        <a:t>1. Arquitetura da Monografia   * </a:t>
                      </a:r>
                    </a:p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1200" dirty="0">
                          <a:effectLst/>
                        </a:rPr>
                        <a:t>   1.1 </a:t>
                      </a:r>
                      <a:r>
                        <a:rPr lang="pt-BR" sz="1200" b="1" dirty="0">
                          <a:effectLst/>
                        </a:rPr>
                        <a:t>Problema de Pesquisa </a:t>
                      </a:r>
                    </a:p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1200" dirty="0">
                          <a:effectLst/>
                        </a:rPr>
                        <a:t>   1.2 </a:t>
                      </a:r>
                      <a:r>
                        <a:rPr lang="pt-BR" sz="1200" b="1" dirty="0">
                          <a:effectLst/>
                        </a:rPr>
                        <a:t>Justificativa do Tema </a:t>
                      </a:r>
                      <a:r>
                        <a:rPr lang="pt-BR" sz="1200" dirty="0">
                          <a:effectLst/>
                        </a:rPr>
                        <a:t>(relevâncias) </a:t>
                      </a:r>
                    </a:p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1200" dirty="0">
                          <a:effectLst/>
                        </a:rPr>
                        <a:t>   1.3 </a:t>
                      </a:r>
                      <a:r>
                        <a:rPr lang="pt-BR" sz="1200" b="1" dirty="0">
                          <a:effectLst/>
                        </a:rPr>
                        <a:t>Objetivos Geral e Específicos </a:t>
                      </a:r>
                    </a:p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1200" dirty="0">
                          <a:effectLst/>
                        </a:rPr>
                        <a:t>   1.4 </a:t>
                      </a:r>
                      <a:r>
                        <a:rPr lang="pt-BR" sz="1200" b="1" dirty="0">
                          <a:effectLst/>
                        </a:rPr>
                        <a:t>Hipóteses ou Suposições </a:t>
                      </a:r>
                    </a:p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1200" dirty="0">
                          <a:effectLst/>
                        </a:rPr>
                        <a:t>   1.5 </a:t>
                      </a:r>
                      <a:r>
                        <a:rPr lang="pt-BR" sz="1200" b="1" dirty="0">
                          <a:effectLst/>
                        </a:rPr>
                        <a:t>Procedimentos Metodológicos </a:t>
                      </a:r>
                      <a:r>
                        <a:rPr lang="pt-BR" sz="1200" dirty="0">
                          <a:effectLst/>
                        </a:rPr>
                        <a:t>(materiais, tipos e métodos de pesquisa...)</a:t>
                      </a:r>
                    </a:p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1200" dirty="0">
                          <a:effectLst/>
                        </a:rPr>
                        <a:t>   1.6 </a:t>
                      </a:r>
                      <a:r>
                        <a:rPr lang="pt-BR" sz="1200" b="1" dirty="0">
                          <a:effectLst/>
                        </a:rPr>
                        <a:t>Organização da Monografia </a:t>
                      </a:r>
                      <a:r>
                        <a:rPr lang="pt-BR" sz="1200" dirty="0">
                          <a:effectLst/>
                        </a:rPr>
                        <a:t>(explicar a provável divisão dos capítulos) </a:t>
                      </a:r>
                    </a:p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1200" dirty="0">
                          <a:effectLst/>
                        </a:rPr>
                        <a:t>2. </a:t>
                      </a:r>
                      <a:r>
                        <a:rPr lang="pt-BR" sz="1200" b="1" dirty="0">
                          <a:effectLst/>
                        </a:rPr>
                        <a:t>Referencial Teórico </a:t>
                      </a:r>
                      <a:r>
                        <a:rPr lang="pt-BR" sz="1200" dirty="0">
                          <a:effectLst/>
                        </a:rPr>
                        <a:t>(revisão da literatura/fundamentação teórica) </a:t>
                      </a:r>
                    </a:p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endParaRPr lang="pt-BR" sz="1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0816" marR="50816" marT="25408" marB="25408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7455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1200">
                          <a:effectLst/>
                        </a:rPr>
                        <a:t>Pós-textual </a:t>
                      </a:r>
                      <a:endParaRPr lang="pt-BR" sz="12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0816" marR="50816" marT="25408" marB="25408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1200" dirty="0">
                          <a:effectLst/>
                        </a:rPr>
                        <a:t>Cronograma, Referências, Glossário (se necessário), Apêndices (se houver) e  Anexos (se houver). </a:t>
                      </a:r>
                      <a:endParaRPr lang="pt-BR" sz="1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0816" marR="50816" marT="25408" marB="25408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412867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AC25D5-95DC-446D-859E-113E8B8FA1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600" b="1" dirty="0">
                <a:solidFill>
                  <a:schemeClr val="accent6">
                    <a:lumMod val="75000"/>
                  </a:schemeClr>
                </a:solidFill>
              </a:rPr>
              <a:t>INTRODUÇÃO</a:t>
            </a:r>
            <a:r>
              <a:rPr lang="en-US" sz="3600" b="1" dirty="0"/>
              <a:t> DO PROJETO DE PESQUISA</a:t>
            </a:r>
            <a:endParaRPr lang="pt-BR" sz="3600" b="1" dirty="0"/>
          </a:p>
        </p:txBody>
      </p:sp>
      <p:sp>
        <p:nvSpPr>
          <p:cNvPr id="5123" name="Espaço Reservado para Conteúdo 2">
            <a:extLst>
              <a:ext uri="{FF2B5EF4-FFF2-40B4-BE49-F238E27FC236}">
                <a16:creationId xmlns:a16="http://schemas.microsoft.com/office/drawing/2014/main" id="{40BA6FAF-7042-479A-B993-6E1C899B49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pt-BR"/>
              <a:t>Apresentar o tema ao leitor</a:t>
            </a:r>
          </a:p>
          <a:p>
            <a:pPr eaLnBrk="1" hangingPunct="1"/>
            <a:r>
              <a:rPr lang="en-US" altLang="pt-BR"/>
              <a:t>Descrever o cenário onde a pesquisa está centralizada</a:t>
            </a:r>
          </a:p>
          <a:p>
            <a:pPr eaLnBrk="1" hangingPunct="1"/>
            <a:r>
              <a:rPr lang="en-US" altLang="pt-BR"/>
              <a:t>Identificar, ao leitor, o problema abordado</a:t>
            </a:r>
          </a:p>
          <a:p>
            <a:pPr eaLnBrk="1" hangingPunct="1"/>
            <a:r>
              <a:rPr lang="en-US" altLang="pt-BR"/>
              <a:t>Dar uma breve justificativa da escolha do tema</a:t>
            </a:r>
          </a:p>
          <a:p>
            <a:pPr eaLnBrk="1" hangingPunct="1"/>
            <a:r>
              <a:rPr lang="en-US" altLang="pt-BR"/>
              <a:t>Esclarecer brevemente os objetivos do estudo</a:t>
            </a:r>
          </a:p>
          <a:p>
            <a:pPr eaLnBrk="1" hangingPunct="1"/>
            <a:endParaRPr lang="pt-BR" altLang="pt-B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/>
          <p:cNvSpPr>
            <a:spLocks noGrp="1"/>
          </p:cNvSpPr>
          <p:nvPr>
            <p:ph type="title" idx="4294967295"/>
          </p:nvPr>
        </p:nvSpPr>
        <p:spPr>
          <a:xfrm>
            <a:off x="0" y="404813"/>
            <a:ext cx="6337300" cy="619125"/>
          </a:xfrm>
        </p:spPr>
        <p:txBody>
          <a:bodyPr vert="horz" anchor="ctr">
            <a:normAutofit/>
          </a:bodyPr>
          <a:lstStyle/>
          <a:p>
            <a:pPr>
              <a:defRPr/>
            </a:pPr>
            <a:r>
              <a:rPr lang="pt-BR" sz="2800" b="1" dirty="0">
                <a:latin typeface="Arial" pitchFamily="34" charset="0"/>
                <a:cs typeface="Arial" pitchFamily="34" charset="0"/>
              </a:rPr>
              <a:t>TEMA</a:t>
            </a:r>
          </a:p>
        </p:txBody>
      </p:sp>
      <p:sp>
        <p:nvSpPr>
          <p:cNvPr id="8" name="Espaço Reservado para Conteúdo 7"/>
          <p:cNvSpPr>
            <a:spLocks noGrp="1"/>
          </p:cNvSpPr>
          <p:nvPr>
            <p:ph sz="half" idx="4294967295"/>
          </p:nvPr>
        </p:nvSpPr>
        <p:spPr>
          <a:xfrm>
            <a:off x="0" y="0"/>
            <a:ext cx="9144000" cy="6858000"/>
          </a:xfrm>
          <a:solidFill>
            <a:schemeClr val="accent4">
              <a:lumMod val="40000"/>
              <a:lumOff val="60000"/>
            </a:schemeClr>
          </a:solidFill>
        </p:spPr>
        <p:txBody>
          <a:bodyPr>
            <a:normAutofit fontScale="92500" lnSpcReduction="10000"/>
          </a:bodyPr>
          <a:lstStyle/>
          <a:p>
            <a:pPr marL="95250" indent="14288" algn="ctr">
              <a:buNone/>
              <a:defRPr/>
            </a:pPr>
            <a:endParaRPr lang="pt-BR" sz="800" b="1" i="1" dirty="0">
              <a:solidFill>
                <a:srgbClr val="C00000"/>
              </a:solidFill>
              <a:latin typeface="Arial" pitchFamily="34" charset="0"/>
              <a:cs typeface="Arial" pitchFamily="34" charset="0"/>
            </a:endParaRPr>
          </a:p>
          <a:p>
            <a:pPr marL="95250" indent="14288" algn="ctr">
              <a:buNone/>
              <a:defRPr/>
            </a:pPr>
            <a:r>
              <a:rPr lang="pt-BR" sz="4000" b="1" dirty="0">
                <a:latin typeface="Arial" pitchFamily="34" charset="0"/>
                <a:cs typeface="Arial" pitchFamily="34" charset="0"/>
              </a:rPr>
              <a:t>TEMA</a:t>
            </a:r>
          </a:p>
          <a:p>
            <a:pPr marL="95250" indent="14288" algn="ctr">
              <a:buNone/>
              <a:defRPr/>
            </a:pPr>
            <a:endParaRPr lang="pt-BR" sz="1400" b="1" i="1" dirty="0">
              <a:solidFill>
                <a:srgbClr val="C00000"/>
              </a:solidFill>
              <a:latin typeface="Arial" pitchFamily="34" charset="0"/>
              <a:cs typeface="Arial" pitchFamily="34" charset="0"/>
            </a:endParaRPr>
          </a:p>
          <a:p>
            <a:pPr marL="95250" indent="14288" algn="ctr">
              <a:buNone/>
              <a:defRPr/>
            </a:pPr>
            <a:r>
              <a:rPr lang="pt-BR" sz="2400" b="1" i="1" dirty="0">
                <a:solidFill>
                  <a:schemeClr val="accent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É a ideia geral, a linha de investigação do trabal</a:t>
            </a:r>
            <a:r>
              <a:rPr lang="pt-BR" sz="2400" b="1" i="1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ho.</a:t>
            </a:r>
          </a:p>
          <a:p>
            <a:pPr>
              <a:buFont typeface="Arial" pitchFamily="34" charset="0"/>
              <a:buChar char="•"/>
              <a:defRPr/>
            </a:pPr>
            <a:endParaRPr lang="pt-BR" sz="900" b="1" dirty="0">
              <a:latin typeface="Arial" pitchFamily="34" charset="0"/>
              <a:cs typeface="Arial" pitchFamily="34" charset="0"/>
            </a:endParaRPr>
          </a:p>
          <a:p>
            <a:pPr>
              <a:buFont typeface="Arial" pitchFamily="34" charset="0"/>
              <a:buChar char="•"/>
              <a:defRPr/>
            </a:pPr>
            <a:endParaRPr lang="pt-BR" sz="900" dirty="0">
              <a:latin typeface="Arial" pitchFamily="34" charset="0"/>
              <a:cs typeface="Arial" pitchFamily="34" charset="0"/>
            </a:endParaRPr>
          </a:p>
          <a:p>
            <a:pPr marL="808038" indent="-450850">
              <a:buClrTx/>
              <a:buFont typeface="Wingdings" pitchFamily="2" charset="2"/>
              <a:buChar char="v"/>
              <a:defRPr/>
            </a:pPr>
            <a:r>
              <a:rPr lang="pt-BR" sz="2400" dirty="0">
                <a:latin typeface="Arial" pitchFamily="34" charset="0"/>
                <a:cs typeface="Arial" pitchFamily="34" charset="0"/>
              </a:rPr>
              <a:t>O tema deve ser da sua área de estudo.</a:t>
            </a:r>
          </a:p>
          <a:p>
            <a:pPr marL="808038" indent="-450850">
              <a:buClrTx/>
              <a:buFont typeface="Wingdings" pitchFamily="2" charset="2"/>
              <a:buChar char="v"/>
              <a:defRPr/>
            </a:pPr>
            <a:endParaRPr lang="pt-BR" sz="800" dirty="0">
              <a:latin typeface="Arial" pitchFamily="34" charset="0"/>
              <a:cs typeface="Arial" pitchFamily="34" charset="0"/>
            </a:endParaRPr>
          </a:p>
          <a:p>
            <a:pPr marL="355600" indent="1588">
              <a:buClrTx/>
              <a:buFont typeface="Wingdings" pitchFamily="2" charset="2"/>
              <a:buChar char="v"/>
              <a:defRPr/>
            </a:pPr>
            <a:r>
              <a:rPr lang="pt-BR" sz="2400" dirty="0">
                <a:latin typeface="Arial" pitchFamily="34" charset="0"/>
                <a:cs typeface="Arial" pitchFamily="34" charset="0"/>
              </a:rPr>
              <a:t>  É imprescindível conhecer sobre a área antes de iniciar uma pesquisa. </a:t>
            </a:r>
          </a:p>
          <a:p>
            <a:pPr marL="808038" indent="-450850">
              <a:buClrTx/>
              <a:defRPr/>
            </a:pPr>
            <a:endParaRPr lang="pt-BR" i="1" dirty="0">
              <a:latin typeface="Arial" pitchFamily="34" charset="0"/>
              <a:cs typeface="Arial" pitchFamily="34" charset="0"/>
            </a:endParaRPr>
          </a:p>
          <a:p>
            <a:pPr marL="808038" indent="-450850">
              <a:buClrTx/>
              <a:buNone/>
              <a:defRPr/>
            </a:pPr>
            <a:r>
              <a:rPr lang="pt-BR" sz="2400" b="1" dirty="0">
                <a:latin typeface="Arial" pitchFamily="34" charset="0"/>
                <a:cs typeface="Arial" pitchFamily="34" charset="0"/>
              </a:rPr>
              <a:t>Dicas práticas para orientar a escolhe do seu tema: </a:t>
            </a:r>
          </a:p>
          <a:p>
            <a:pPr marL="628650" indent="-271463">
              <a:buClrTx/>
              <a:defRPr/>
            </a:pPr>
            <a:r>
              <a:rPr lang="pt-BR" sz="2400" dirty="0">
                <a:latin typeface="Arial" pitchFamily="34" charset="0"/>
                <a:cs typeface="Arial" pitchFamily="34" charset="0"/>
              </a:rPr>
              <a:t>Envolvimento com a área</a:t>
            </a:r>
          </a:p>
          <a:p>
            <a:pPr marL="628650" indent="-271463">
              <a:buClrTx/>
              <a:defRPr/>
            </a:pPr>
            <a:r>
              <a:rPr lang="pt-BR" sz="2400" dirty="0">
                <a:latin typeface="Arial" pitchFamily="34" charset="0"/>
                <a:cs typeface="Arial" pitchFamily="34" charset="0"/>
              </a:rPr>
              <a:t>Afetividade ou curiosidade em relação ao tema</a:t>
            </a:r>
          </a:p>
          <a:p>
            <a:pPr marL="628650" indent="-271463">
              <a:buClrTx/>
              <a:defRPr/>
            </a:pPr>
            <a:r>
              <a:rPr lang="pt-BR" sz="2400" dirty="0">
                <a:latin typeface="Arial" pitchFamily="34" charset="0"/>
                <a:cs typeface="Arial" pitchFamily="34" charset="0"/>
              </a:rPr>
              <a:t>Tempo disponível</a:t>
            </a:r>
          </a:p>
          <a:p>
            <a:pPr marL="628650" indent="-271463">
              <a:buClrTx/>
              <a:defRPr/>
            </a:pPr>
            <a:r>
              <a:rPr lang="pt-BR" sz="2400" dirty="0">
                <a:latin typeface="Arial" pitchFamily="34" charset="0"/>
                <a:cs typeface="Arial" pitchFamily="34" charset="0"/>
              </a:rPr>
              <a:t>Capacidade pessoal</a:t>
            </a:r>
          </a:p>
          <a:p>
            <a:pPr marL="628650" indent="-271463">
              <a:buClrTx/>
              <a:defRPr/>
            </a:pPr>
            <a:r>
              <a:rPr lang="pt-BR" sz="2400" dirty="0">
                <a:latin typeface="Arial" pitchFamily="34" charset="0"/>
                <a:cs typeface="Arial" pitchFamily="34" charset="0"/>
              </a:rPr>
              <a:t>Viabilidade da pesquisa</a:t>
            </a:r>
          </a:p>
          <a:p>
            <a:pPr marL="628650" indent="-271463">
              <a:buClrTx/>
              <a:defRPr/>
            </a:pPr>
            <a:r>
              <a:rPr lang="pt-BR" sz="2400" dirty="0">
                <a:latin typeface="Arial" pitchFamily="34" charset="0"/>
                <a:cs typeface="Arial" pitchFamily="34" charset="0"/>
              </a:rPr>
              <a:t>Realização de leituras prévias</a:t>
            </a:r>
          </a:p>
          <a:p>
            <a:pPr>
              <a:buClrTx/>
              <a:defRPr/>
            </a:pPr>
            <a:endParaRPr lang="pt-BR" dirty="0">
              <a:latin typeface="Arial" pitchFamily="34" charset="0"/>
              <a:cs typeface="Arial" pitchFamily="34" charset="0"/>
            </a:endParaRPr>
          </a:p>
          <a:p>
            <a:pPr>
              <a:buClrTx/>
              <a:buNone/>
              <a:defRPr/>
            </a:pPr>
            <a:r>
              <a:rPr lang="pt-BR" dirty="0">
                <a:latin typeface="Arial" pitchFamily="34" charset="0"/>
                <a:cs typeface="Arial" pitchFamily="34" charset="0"/>
              </a:rPr>
              <a:t>        Ao redigir o texto, explique e contextualize o tema.</a:t>
            </a:r>
          </a:p>
          <a:p>
            <a:pPr marL="628650" indent="-271463">
              <a:buClrTx/>
              <a:defRPr/>
            </a:pPr>
            <a:endParaRPr lang="pt-BR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4" name="Picture 3" descr="F:\unip\dicas.gif"/>
          <p:cNvPicPr>
            <a:picLocks noChangeAspect="1" noChangeArrowheads="1"/>
          </p:cNvPicPr>
          <p:nvPr/>
        </p:nvPicPr>
        <p:blipFill>
          <a:blip r:embed="rId3" cstate="print">
            <a:lum/>
          </a:blip>
          <a:srcRect/>
          <a:stretch>
            <a:fillRect/>
          </a:stretch>
        </p:blipFill>
        <p:spPr bwMode="auto">
          <a:xfrm>
            <a:off x="0" y="5517232"/>
            <a:ext cx="889510" cy="72008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500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500"/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5" dur="500"/>
                                        <p:tgtEl>
                                          <p:spTgt spid="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8" dur="500"/>
                                        <p:tgtEl>
                                          <p:spTgt spid="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1" dur="500"/>
                                        <p:tgtEl>
                                          <p:spTgt spid="8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4" dur="500"/>
                                        <p:tgtEl>
                                          <p:spTgt spid="8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8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0" dur="500"/>
                                        <p:tgtEl>
                                          <p:spTgt spid="8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 descr="ft_203-bolsa_do_cafe_1925.jpg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929454" y="4857760"/>
            <a:ext cx="1711060" cy="15961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ítulo 6"/>
          <p:cNvSpPr>
            <a:spLocks noGrp="1"/>
          </p:cNvSpPr>
          <p:nvPr>
            <p:ph type="title" idx="4294967295"/>
          </p:nvPr>
        </p:nvSpPr>
        <p:spPr>
          <a:xfrm>
            <a:off x="0" y="404813"/>
            <a:ext cx="5214938" cy="619125"/>
          </a:xfrm>
        </p:spPr>
        <p:txBody>
          <a:bodyPr vert="horz" anchor="ctr">
            <a:normAutofit/>
          </a:bodyPr>
          <a:lstStyle/>
          <a:p>
            <a:pPr>
              <a:defRPr/>
            </a:pPr>
            <a:r>
              <a:rPr lang="pt-BR" sz="3200" b="1" dirty="0">
                <a:latin typeface="Arial" pitchFamily="34" charset="0"/>
                <a:cs typeface="Arial" pitchFamily="34" charset="0"/>
              </a:rPr>
              <a:t>DELIMITAÇÃO DO TEMA</a:t>
            </a:r>
          </a:p>
        </p:txBody>
      </p:sp>
      <p:sp>
        <p:nvSpPr>
          <p:cNvPr id="8" name="Espaço Reservado para Conteúdo 7"/>
          <p:cNvSpPr>
            <a:spLocks noGrp="1"/>
          </p:cNvSpPr>
          <p:nvPr>
            <p:ph sz="half" idx="4294967295"/>
          </p:nvPr>
        </p:nvSpPr>
        <p:spPr>
          <a:xfrm>
            <a:off x="0" y="0"/>
            <a:ext cx="9144000" cy="6858000"/>
          </a:xfrm>
          <a:solidFill>
            <a:schemeClr val="accent4">
              <a:lumMod val="40000"/>
              <a:lumOff val="60000"/>
            </a:schemeClr>
          </a:solidFill>
        </p:spPr>
        <p:txBody>
          <a:bodyPr>
            <a:normAutofit/>
          </a:bodyPr>
          <a:lstStyle/>
          <a:p>
            <a:pPr lvl="1">
              <a:lnSpc>
                <a:spcPct val="120000"/>
              </a:lnSpc>
              <a:buNone/>
              <a:defRPr/>
            </a:pPr>
            <a:r>
              <a:rPr lang="pt-BR" sz="32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DELIMITAÇÃO DO TEMA</a:t>
            </a:r>
          </a:p>
          <a:p>
            <a:pPr lvl="1">
              <a:lnSpc>
                <a:spcPct val="120000"/>
              </a:lnSpc>
              <a:buNone/>
              <a:defRPr/>
            </a:pPr>
            <a:endParaRPr lang="pt-BR" sz="1100" b="1" i="1" dirty="0">
              <a:latin typeface="Arial" pitchFamily="34" charset="0"/>
              <a:cs typeface="Arial" pitchFamily="34" charset="0"/>
            </a:endParaRPr>
          </a:p>
          <a:p>
            <a:pPr marL="95250" lvl="1" indent="77788">
              <a:lnSpc>
                <a:spcPct val="120000"/>
              </a:lnSpc>
              <a:buNone/>
              <a:defRPr/>
            </a:pPr>
            <a:r>
              <a:rPr lang="pt-BR" sz="3200" b="1" i="1" dirty="0">
                <a:solidFill>
                  <a:srgbClr val="CC0000"/>
                </a:solidFill>
                <a:latin typeface="Arial" pitchFamily="34" charset="0"/>
                <a:cs typeface="Arial" pitchFamily="34" charset="0"/>
              </a:rPr>
              <a:t>Delimitar é recortar um tema de </a:t>
            </a:r>
          </a:p>
          <a:p>
            <a:pPr marL="95250" lvl="1" indent="77788">
              <a:lnSpc>
                <a:spcPct val="120000"/>
              </a:lnSpc>
              <a:buNone/>
              <a:defRPr/>
            </a:pPr>
            <a:r>
              <a:rPr lang="pt-BR" sz="3200" b="1" i="1" dirty="0">
                <a:solidFill>
                  <a:srgbClr val="CC0000"/>
                </a:solidFill>
                <a:latin typeface="Arial" pitchFamily="34" charset="0"/>
                <a:cs typeface="Arial" pitchFamily="34" charset="0"/>
              </a:rPr>
              <a:t>pesquisa, restringindo ao máximo </a:t>
            </a:r>
          </a:p>
          <a:p>
            <a:pPr marL="95250" lvl="1" indent="77788">
              <a:lnSpc>
                <a:spcPct val="120000"/>
              </a:lnSpc>
              <a:buNone/>
              <a:defRPr/>
            </a:pPr>
            <a:r>
              <a:rPr lang="pt-BR" sz="3200" b="1" i="1" dirty="0">
                <a:solidFill>
                  <a:srgbClr val="CC0000"/>
                </a:solidFill>
                <a:latin typeface="Arial" pitchFamily="34" charset="0"/>
                <a:cs typeface="Arial" pitchFamily="34" charset="0"/>
              </a:rPr>
              <a:t>o que será investigado.</a:t>
            </a:r>
          </a:p>
          <a:p>
            <a:pPr marL="173038" lvl="1" indent="0">
              <a:lnSpc>
                <a:spcPct val="120000"/>
              </a:lnSpc>
              <a:buNone/>
              <a:defRPr/>
            </a:pPr>
            <a:endParaRPr lang="pt-BR" sz="2800" dirty="0">
              <a:solidFill>
                <a:srgbClr val="CC0000"/>
              </a:solidFill>
              <a:latin typeface="Arial" pitchFamily="34" charset="0"/>
              <a:cs typeface="Arial" pitchFamily="34" charset="0"/>
            </a:endParaRPr>
          </a:p>
          <a:p>
            <a:pPr marL="0" lvl="1" indent="0" algn="ctr">
              <a:lnSpc>
                <a:spcPct val="120000"/>
              </a:lnSpc>
              <a:buNone/>
              <a:defRPr/>
            </a:pPr>
            <a:r>
              <a:rPr lang="pt-BR" sz="28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É importante a redução máxima do assunto,pois:</a:t>
            </a:r>
          </a:p>
          <a:p>
            <a:pPr marL="0" lvl="1" indent="0" algn="ctr">
              <a:lnSpc>
                <a:spcPct val="120000"/>
              </a:lnSpc>
              <a:buNone/>
              <a:defRPr/>
            </a:pPr>
            <a:r>
              <a:rPr lang="pt-BR" sz="8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</a:t>
            </a:r>
            <a:endParaRPr lang="pt-BR" sz="800" b="1" i="1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pPr marL="0" lvl="1" indent="0" algn="ctr">
              <a:lnSpc>
                <a:spcPct val="120000"/>
              </a:lnSpc>
              <a:defRPr/>
            </a:pPr>
            <a:r>
              <a:rPr lang="pt-BR" sz="3000" b="1" i="1" dirty="0">
                <a:solidFill>
                  <a:schemeClr val="tx1"/>
                </a:solidFill>
                <a:latin typeface="Lucida Fax" pitchFamily="18" charset="0"/>
                <a:cs typeface="Arial" pitchFamily="34" charset="0"/>
              </a:rPr>
              <a:t>Torna a pesquisa viável. </a:t>
            </a:r>
          </a:p>
          <a:p>
            <a:pPr marL="0" lvl="1" indent="0" algn="ctr">
              <a:lnSpc>
                <a:spcPct val="120000"/>
              </a:lnSpc>
              <a:defRPr/>
            </a:pPr>
            <a:r>
              <a:rPr lang="pt-BR" sz="3000" b="1" i="1" dirty="0">
                <a:solidFill>
                  <a:schemeClr val="tx1"/>
                </a:solidFill>
                <a:latin typeface="Lucida Fax" pitchFamily="18" charset="0"/>
                <a:cs typeface="Arial" pitchFamily="34" charset="0"/>
              </a:rPr>
              <a:t>Determina os itens do projeto.</a:t>
            </a:r>
          </a:p>
          <a:p>
            <a:pPr lvl="1">
              <a:lnSpc>
                <a:spcPct val="120000"/>
              </a:lnSpc>
              <a:defRPr/>
            </a:pPr>
            <a:endParaRPr lang="pt-BR" sz="5000" b="1" i="1" dirty="0">
              <a:solidFill>
                <a:schemeClr val="tx1">
                  <a:lumMod val="75000"/>
                  <a:lumOff val="2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 lvl="0">
              <a:buNone/>
            </a:pPr>
            <a:endParaRPr lang="pt-BR" sz="5000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10" name="Imagem 9" descr="tesoura 2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6876256" y="1"/>
            <a:ext cx="2267744" cy="17837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0" dur="2000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3" dur="2000"/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 descr="ft_203-bolsa_do_cafe_1925.jpg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929454" y="4857760"/>
            <a:ext cx="1711060" cy="15961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ítulo 6"/>
          <p:cNvSpPr>
            <a:spLocks noGrp="1"/>
          </p:cNvSpPr>
          <p:nvPr>
            <p:ph type="title" idx="4294967295"/>
          </p:nvPr>
        </p:nvSpPr>
        <p:spPr>
          <a:xfrm>
            <a:off x="0" y="404813"/>
            <a:ext cx="5214938" cy="619125"/>
          </a:xfrm>
        </p:spPr>
        <p:txBody>
          <a:bodyPr vert="horz" anchor="ctr">
            <a:normAutofit/>
          </a:bodyPr>
          <a:lstStyle/>
          <a:p>
            <a:pPr>
              <a:defRPr/>
            </a:pPr>
            <a:r>
              <a:rPr lang="pt-BR" sz="3200" b="1" dirty="0">
                <a:latin typeface="Arial" pitchFamily="34" charset="0"/>
                <a:cs typeface="Arial" pitchFamily="34" charset="0"/>
              </a:rPr>
              <a:t>DELIMITAÇÃO DO TEMA</a:t>
            </a:r>
          </a:p>
        </p:txBody>
      </p:sp>
      <p:sp>
        <p:nvSpPr>
          <p:cNvPr id="8" name="Espaço Reservado para Conteúdo 7"/>
          <p:cNvSpPr>
            <a:spLocks noGrp="1"/>
          </p:cNvSpPr>
          <p:nvPr>
            <p:ph sz="half" idx="4294967295"/>
          </p:nvPr>
        </p:nvSpPr>
        <p:spPr>
          <a:xfrm>
            <a:off x="0" y="0"/>
            <a:ext cx="9144000" cy="6858000"/>
          </a:xfrm>
          <a:solidFill>
            <a:schemeClr val="accent4">
              <a:lumMod val="40000"/>
              <a:lumOff val="60000"/>
            </a:schemeClr>
          </a:solidFill>
        </p:spPr>
        <p:txBody>
          <a:bodyPr>
            <a:normAutofit fontScale="47500" lnSpcReduction="20000"/>
          </a:bodyPr>
          <a:lstStyle/>
          <a:p>
            <a:pPr lvl="1">
              <a:lnSpc>
                <a:spcPct val="120000"/>
              </a:lnSpc>
              <a:buNone/>
              <a:defRPr/>
            </a:pPr>
            <a:r>
              <a:rPr lang="pt-BR" sz="58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DELIMITAÇÃO DO TEMA</a:t>
            </a:r>
          </a:p>
          <a:p>
            <a:pPr algn="ctr">
              <a:buNone/>
            </a:pPr>
            <a:endParaRPr lang="pt-BR" sz="6000" b="1" dirty="0">
              <a:solidFill>
                <a:schemeClr val="accent4">
                  <a:lumMod val="75000"/>
                </a:schemeClr>
              </a:solidFill>
              <a:latin typeface="Tahoma" pitchFamily="34" charset="0"/>
              <a:cs typeface="Tahoma" pitchFamily="34" charset="0"/>
            </a:endParaRPr>
          </a:p>
          <a:p>
            <a:pPr algn="ctr">
              <a:buNone/>
            </a:pPr>
            <a:endParaRPr lang="pt-BR" sz="6000" b="1" dirty="0">
              <a:solidFill>
                <a:schemeClr val="accent4">
                  <a:lumMod val="75000"/>
                </a:schemeClr>
              </a:solidFill>
              <a:latin typeface="Tahoma" pitchFamily="34" charset="0"/>
              <a:cs typeface="Tahoma" pitchFamily="34" charset="0"/>
            </a:endParaRPr>
          </a:p>
          <a:p>
            <a:pPr algn="ctr">
              <a:buNone/>
            </a:pPr>
            <a:endParaRPr lang="pt-BR" sz="6000" b="1" dirty="0">
              <a:solidFill>
                <a:schemeClr val="accent4">
                  <a:lumMod val="75000"/>
                </a:schemeClr>
              </a:solidFill>
              <a:latin typeface="Tahoma" pitchFamily="34" charset="0"/>
              <a:cs typeface="Tahoma" pitchFamily="34" charset="0"/>
            </a:endParaRPr>
          </a:p>
          <a:p>
            <a:pPr algn="ctr">
              <a:buNone/>
            </a:pPr>
            <a:r>
              <a:rPr lang="pt-BR" sz="6000" b="1" dirty="0">
                <a:solidFill>
                  <a:schemeClr val="accent4">
                    <a:lumMod val="75000"/>
                  </a:schemeClr>
                </a:solidFill>
                <a:latin typeface="Tahoma" pitchFamily="34" charset="0"/>
                <a:cs typeface="Tahoma" pitchFamily="34" charset="0"/>
              </a:rPr>
              <a:t>1ª REGRA: </a:t>
            </a:r>
          </a:p>
          <a:p>
            <a:pPr algn="ctr">
              <a:buNone/>
            </a:pPr>
            <a:r>
              <a:rPr lang="pt-BR" sz="5900" dirty="0">
                <a:latin typeface="Tahoma" pitchFamily="34" charset="0"/>
                <a:cs typeface="Tahoma" pitchFamily="34" charset="0"/>
              </a:rPr>
              <a:t>O tema deve ser sobre a área de estudo.</a:t>
            </a:r>
          </a:p>
          <a:p>
            <a:pPr lvl="0">
              <a:buNone/>
            </a:pPr>
            <a:endParaRPr lang="pt-BR" sz="5000" dirty="0">
              <a:latin typeface="Arial" pitchFamily="34" charset="0"/>
              <a:cs typeface="Arial" pitchFamily="34" charset="0"/>
            </a:endParaRPr>
          </a:p>
          <a:p>
            <a:pPr lvl="0">
              <a:buNone/>
            </a:pPr>
            <a:endParaRPr lang="pt-BR" sz="6000" b="1" dirty="0">
              <a:latin typeface="Arial" pitchFamily="34" charset="0"/>
              <a:cs typeface="Arial" pitchFamily="34" charset="0"/>
            </a:endParaRPr>
          </a:p>
          <a:p>
            <a:pPr lvl="0" algn="ctr">
              <a:buNone/>
            </a:pPr>
            <a:r>
              <a:rPr lang="pt-BR" sz="6000" b="1" dirty="0">
                <a:latin typeface="Arial" pitchFamily="34" charset="0"/>
                <a:cs typeface="Arial" pitchFamily="34" charset="0"/>
              </a:rPr>
              <a:t> Tente responder as perguntas abaixo:</a:t>
            </a:r>
          </a:p>
          <a:p>
            <a:pPr lvl="0">
              <a:buNone/>
            </a:pPr>
            <a:endParaRPr lang="pt-BR" sz="6000" b="1" dirty="0">
              <a:latin typeface="Arial" pitchFamily="34" charset="0"/>
              <a:cs typeface="Arial" pitchFamily="34" charset="0"/>
            </a:endParaRPr>
          </a:p>
          <a:p>
            <a:pPr lvl="0">
              <a:lnSpc>
                <a:spcPct val="120000"/>
              </a:lnSpc>
              <a:spcBef>
                <a:spcPts val="600"/>
              </a:spcBef>
              <a:buClrTx/>
            </a:pPr>
            <a:r>
              <a:rPr lang="pt-BR" sz="6000" b="1" dirty="0">
                <a:latin typeface="Arial" pitchFamily="34" charset="0"/>
                <a:cs typeface="Arial" pitchFamily="34" charset="0"/>
              </a:rPr>
              <a:t>O QUÊ PESQUISAR? </a:t>
            </a:r>
            <a:r>
              <a:rPr lang="pt-BR" sz="6000" b="1" i="1" dirty="0">
                <a:latin typeface="Arial" pitchFamily="34" charset="0"/>
                <a:cs typeface="Arial" pitchFamily="34" charset="0"/>
              </a:rPr>
              <a:t>(TEMA) </a:t>
            </a:r>
          </a:p>
          <a:p>
            <a:pPr lvl="0">
              <a:lnSpc>
                <a:spcPct val="120000"/>
              </a:lnSpc>
              <a:spcBef>
                <a:spcPts val="600"/>
              </a:spcBef>
              <a:buClrTx/>
            </a:pPr>
            <a:r>
              <a:rPr lang="pt-BR" sz="6000" b="1" dirty="0">
                <a:latin typeface="Arial" pitchFamily="34" charset="0"/>
                <a:cs typeface="Arial" pitchFamily="34" charset="0"/>
              </a:rPr>
              <a:t>O QUÊ SE QUER SABER? (QUESTÃO)</a:t>
            </a:r>
          </a:p>
          <a:p>
            <a:pPr lvl="0">
              <a:lnSpc>
                <a:spcPct val="120000"/>
              </a:lnSpc>
              <a:spcBef>
                <a:spcPts val="600"/>
              </a:spcBef>
              <a:buClrTx/>
            </a:pPr>
            <a:r>
              <a:rPr lang="pt-BR" sz="6000" b="1" dirty="0">
                <a:latin typeface="Arial" pitchFamily="34" charset="0"/>
                <a:cs typeface="Arial" pitchFamily="34" charset="0"/>
              </a:rPr>
              <a:t>QUANDO? </a:t>
            </a:r>
            <a:r>
              <a:rPr lang="pt-BR" sz="6000" b="1" i="1" dirty="0">
                <a:latin typeface="Arial" pitchFamily="34" charset="0"/>
                <a:cs typeface="Arial" pitchFamily="34" charset="0"/>
              </a:rPr>
              <a:t>(PERÍODO)</a:t>
            </a:r>
          </a:p>
          <a:p>
            <a:pPr lvl="0">
              <a:lnSpc>
                <a:spcPct val="120000"/>
              </a:lnSpc>
              <a:spcBef>
                <a:spcPts val="600"/>
              </a:spcBef>
              <a:buClrTx/>
            </a:pPr>
            <a:r>
              <a:rPr lang="pt-BR" sz="6000" b="1" dirty="0">
                <a:latin typeface="Arial" pitchFamily="34" charset="0"/>
                <a:cs typeface="Arial" pitchFamily="34" charset="0"/>
              </a:rPr>
              <a:t>ONDE? </a:t>
            </a:r>
            <a:r>
              <a:rPr lang="pt-BR" sz="6000" b="1" i="1" dirty="0">
                <a:latin typeface="Arial" pitchFamily="34" charset="0"/>
                <a:cs typeface="Arial" pitchFamily="34" charset="0"/>
              </a:rPr>
              <a:t>(ABRANGÊNCIA/LUGAR)</a:t>
            </a:r>
          </a:p>
          <a:p>
            <a:pPr lvl="0">
              <a:lnSpc>
                <a:spcPct val="120000"/>
              </a:lnSpc>
              <a:spcBef>
                <a:spcPts val="600"/>
              </a:spcBef>
              <a:buClrTx/>
            </a:pPr>
            <a:r>
              <a:rPr lang="pt-BR" sz="6000" b="1" dirty="0">
                <a:latin typeface="Arial" pitchFamily="34" charset="0"/>
                <a:cs typeface="Arial" pitchFamily="34" charset="0"/>
              </a:rPr>
              <a:t>QUEM? </a:t>
            </a:r>
            <a:r>
              <a:rPr lang="pt-BR" sz="6000" b="1" i="1" dirty="0">
                <a:latin typeface="Arial" pitchFamily="34" charset="0"/>
                <a:cs typeface="Arial" pitchFamily="34" charset="0"/>
              </a:rPr>
              <a:t>(OBJETOS DE ESTUDO)</a:t>
            </a:r>
          </a:p>
        </p:txBody>
      </p:sp>
      <p:pic>
        <p:nvPicPr>
          <p:cNvPr id="10" name="Imagem 9" descr="tesoura 2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7020272" y="1"/>
            <a:ext cx="2123728" cy="1670443"/>
          </a:xfrm>
          <a:prstGeom prst="rect">
            <a:avLst/>
          </a:prstGeom>
        </p:spPr>
      </p:pic>
      <p:pic>
        <p:nvPicPr>
          <p:cNvPr id="9" name="Picture 3" descr="F:\unip\dicas.gif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39552" y="2996952"/>
            <a:ext cx="766732" cy="620688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0" dur="500"/>
                                        <p:tgtEl>
                                          <p:spTgt spid="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5" dur="500"/>
                                        <p:tgtEl>
                                          <p:spTgt spid="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0" dur="500"/>
                                        <p:tgtEl>
                                          <p:spTgt spid="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5" dur="500"/>
                                        <p:tgtEl>
                                          <p:spTgt spid="8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ço Reservado para Conteúdo 7"/>
          <p:cNvSpPr>
            <a:spLocks noGrp="1"/>
          </p:cNvSpPr>
          <p:nvPr>
            <p:ph sz="half" idx="4294967295"/>
          </p:nvPr>
        </p:nvSpPr>
        <p:spPr>
          <a:xfrm>
            <a:off x="0" y="0"/>
            <a:ext cx="9144000" cy="5229200"/>
          </a:xfrm>
          <a:solidFill>
            <a:schemeClr val="accent4">
              <a:lumMod val="40000"/>
              <a:lumOff val="60000"/>
            </a:schemeClr>
          </a:solidFill>
        </p:spPr>
        <p:txBody>
          <a:bodyPr>
            <a:normAutofit fontScale="70000" lnSpcReduction="20000"/>
          </a:bodyPr>
          <a:lstStyle/>
          <a:p>
            <a:pPr algn="ctr" eaLnBrk="1" fontAlgn="auto" hangingPunct="1">
              <a:spcBef>
                <a:spcPct val="0"/>
              </a:spcBef>
              <a:spcAft>
                <a:spcPts val="0"/>
              </a:spcAft>
              <a:buFont typeface="Wingdings 2" pitchFamily="18" charset="2"/>
              <a:buNone/>
              <a:defRPr/>
            </a:pPr>
            <a:r>
              <a:rPr lang="pt-BR" sz="4600" b="1" dirty="0"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latin typeface="Arial" pitchFamily="34" charset="0"/>
                <a:ea typeface="+mj-ea"/>
                <a:cs typeface="Arial" pitchFamily="34" charset="0"/>
              </a:rPr>
              <a:t>Exemplo:  </a:t>
            </a:r>
          </a:p>
          <a:p>
            <a:pPr>
              <a:buNone/>
              <a:defRPr/>
            </a:pPr>
            <a:endParaRPr lang="pt-BR" sz="1100" b="1" dirty="0">
              <a:latin typeface="Arial" pitchFamily="34" charset="0"/>
              <a:cs typeface="Arial" pitchFamily="34" charset="0"/>
            </a:endParaRPr>
          </a:p>
          <a:p>
            <a:pPr>
              <a:buNone/>
              <a:defRPr/>
            </a:pPr>
            <a:r>
              <a:rPr lang="pt-BR" sz="2600" b="1" dirty="0">
                <a:latin typeface="Arial" pitchFamily="34" charset="0"/>
                <a:cs typeface="Arial" pitchFamily="34" charset="0"/>
              </a:rPr>
              <a:t>O quê</a:t>
            </a:r>
            <a:r>
              <a:rPr lang="pt-BR" sz="2600" dirty="0">
                <a:latin typeface="Arial" pitchFamily="34" charset="0"/>
                <a:cs typeface="Arial" pitchFamily="34" charset="0"/>
              </a:rPr>
              <a:t> pesquisar? (tema da pesquisa)</a:t>
            </a:r>
          </a:p>
          <a:p>
            <a:pPr>
              <a:buNone/>
              <a:defRPr/>
            </a:pPr>
            <a:r>
              <a:rPr lang="pt-BR" sz="2600" dirty="0">
                <a:solidFill>
                  <a:schemeClr val="accent4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A parceria entre organizações não-governamentais (ONGs) e poder público </a:t>
            </a:r>
          </a:p>
          <a:p>
            <a:pPr>
              <a:defRPr/>
            </a:pPr>
            <a:endParaRPr lang="pt-BR" sz="2600" dirty="0">
              <a:latin typeface="Arial" pitchFamily="34" charset="0"/>
              <a:cs typeface="Arial" pitchFamily="34" charset="0"/>
            </a:endParaRPr>
          </a:p>
          <a:p>
            <a:pPr>
              <a:buNone/>
              <a:defRPr/>
            </a:pPr>
            <a:r>
              <a:rPr lang="pt-BR" sz="2600" dirty="0">
                <a:latin typeface="Arial" pitchFamily="34" charset="0"/>
                <a:cs typeface="Arial" pitchFamily="34" charset="0"/>
              </a:rPr>
              <a:t>Mas, </a:t>
            </a:r>
            <a:r>
              <a:rPr lang="pt-BR" sz="2600" b="1" dirty="0">
                <a:latin typeface="Arial" pitchFamily="34" charset="0"/>
                <a:cs typeface="Arial" pitchFamily="34" charset="0"/>
              </a:rPr>
              <a:t>o que se quer saber</a:t>
            </a:r>
            <a:r>
              <a:rPr lang="pt-BR" sz="2600" dirty="0">
                <a:latin typeface="Arial" pitchFamily="34" charset="0"/>
                <a:cs typeface="Arial" pitchFamily="34" charset="0"/>
              </a:rPr>
              <a:t> sobre o tema? (questão)</a:t>
            </a:r>
          </a:p>
          <a:p>
            <a:pPr>
              <a:buNone/>
              <a:defRPr/>
            </a:pPr>
            <a:r>
              <a:rPr lang="pt-BR" sz="2600" dirty="0">
                <a:solidFill>
                  <a:schemeClr val="accent4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Vantagens e desvantagens da parceria entre ONGs e poder público</a:t>
            </a:r>
          </a:p>
          <a:p>
            <a:pPr>
              <a:buNone/>
              <a:defRPr/>
            </a:pPr>
            <a:r>
              <a:rPr lang="pt-BR" sz="2600" dirty="0">
                <a:solidFill>
                  <a:schemeClr val="accent4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</a:p>
          <a:p>
            <a:pPr>
              <a:buNone/>
              <a:defRPr/>
            </a:pPr>
            <a:r>
              <a:rPr lang="pt-BR" sz="2600" dirty="0">
                <a:latin typeface="Arial" pitchFamily="34" charset="0"/>
                <a:cs typeface="Arial" pitchFamily="34" charset="0"/>
              </a:rPr>
              <a:t>Mas, </a:t>
            </a:r>
            <a:r>
              <a:rPr lang="pt-BR" sz="2600" b="1" dirty="0">
                <a:latin typeface="Arial" pitchFamily="34" charset="0"/>
                <a:cs typeface="Arial" pitchFamily="34" charset="0"/>
              </a:rPr>
              <a:t>quando</a:t>
            </a:r>
            <a:r>
              <a:rPr lang="pt-BR" sz="2600" dirty="0">
                <a:latin typeface="Arial" pitchFamily="34" charset="0"/>
                <a:cs typeface="Arial" pitchFamily="34" charset="0"/>
              </a:rPr>
              <a:t>? (o período que ser quer pesquisar)</a:t>
            </a:r>
          </a:p>
          <a:p>
            <a:pPr marL="95250" indent="14288">
              <a:buNone/>
              <a:defRPr/>
            </a:pPr>
            <a:r>
              <a:rPr lang="pt-BR" sz="2600" dirty="0">
                <a:solidFill>
                  <a:schemeClr val="accent4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Vantagens e desvantagens das parcerias entre ONGs e poder público estabelecidas recentemente (desde 2010)</a:t>
            </a:r>
          </a:p>
          <a:p>
            <a:pPr>
              <a:buNone/>
              <a:defRPr/>
            </a:pPr>
            <a:endParaRPr lang="pt-BR" sz="2600" dirty="0">
              <a:latin typeface="Arial" pitchFamily="34" charset="0"/>
              <a:cs typeface="Arial" pitchFamily="34" charset="0"/>
            </a:endParaRPr>
          </a:p>
          <a:p>
            <a:pPr>
              <a:buNone/>
              <a:defRPr/>
            </a:pPr>
            <a:r>
              <a:rPr lang="pt-BR" sz="2600" dirty="0">
                <a:latin typeface="Arial" pitchFamily="34" charset="0"/>
                <a:cs typeface="Arial" pitchFamily="34" charset="0"/>
              </a:rPr>
              <a:t>Mas, </a:t>
            </a:r>
            <a:r>
              <a:rPr lang="pt-BR" sz="2600" b="1" dirty="0">
                <a:latin typeface="Arial" pitchFamily="34" charset="0"/>
                <a:cs typeface="Arial" pitchFamily="34" charset="0"/>
              </a:rPr>
              <a:t>onde</a:t>
            </a:r>
            <a:r>
              <a:rPr lang="pt-BR" sz="2600" dirty="0">
                <a:latin typeface="Arial" pitchFamily="34" charset="0"/>
                <a:cs typeface="Arial" pitchFamily="34" charset="0"/>
              </a:rPr>
              <a:t>? (o lugar que se quer pesquisar)</a:t>
            </a:r>
          </a:p>
          <a:p>
            <a:pPr marL="95250" indent="14288">
              <a:buNone/>
              <a:defRPr/>
            </a:pPr>
            <a:r>
              <a:rPr lang="pt-BR" sz="2600" dirty="0">
                <a:solidFill>
                  <a:schemeClr val="accent4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Vantagens e desvantagens das parcerias entre ONGs e poder público estabelecidas recentemente no município de São Paulo </a:t>
            </a:r>
          </a:p>
          <a:p>
            <a:pPr>
              <a:buNone/>
              <a:defRPr/>
            </a:pPr>
            <a:endParaRPr lang="pt-BR" sz="2600" dirty="0">
              <a:latin typeface="Arial" pitchFamily="34" charset="0"/>
              <a:cs typeface="Arial" pitchFamily="34" charset="0"/>
            </a:endParaRPr>
          </a:p>
          <a:p>
            <a:pPr>
              <a:buNone/>
              <a:defRPr/>
            </a:pPr>
            <a:r>
              <a:rPr lang="pt-BR" sz="2600" dirty="0">
                <a:latin typeface="Arial" pitchFamily="34" charset="0"/>
                <a:cs typeface="Arial" pitchFamily="34" charset="0"/>
              </a:rPr>
              <a:t>Mas, </a:t>
            </a:r>
            <a:r>
              <a:rPr lang="pt-BR" sz="2600" b="1" dirty="0">
                <a:latin typeface="Arial" pitchFamily="34" charset="0"/>
                <a:cs typeface="Arial" pitchFamily="34" charset="0"/>
              </a:rPr>
              <a:t>quem </a:t>
            </a:r>
            <a:r>
              <a:rPr lang="pt-BR" sz="2600" dirty="0">
                <a:latin typeface="Arial" pitchFamily="34" charset="0"/>
                <a:cs typeface="Arial" pitchFamily="34" charset="0"/>
              </a:rPr>
              <a:t>será pesquisado? (os objetos de investigação)</a:t>
            </a:r>
          </a:p>
          <a:p>
            <a:pPr marL="95250" indent="14288">
              <a:buNone/>
              <a:defRPr/>
            </a:pPr>
            <a:r>
              <a:rPr lang="pt-BR" sz="2600" dirty="0">
                <a:solidFill>
                  <a:schemeClr val="accent4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Vantagens e desvantagens das parcerias entre ONGs e poder público estabelecidas recentemente no município de São Paulo: estudo com as ONGs da área da assistência social que têm parceria com o poder público. 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0" y="5373216"/>
            <a:ext cx="9144001" cy="1323439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pt-BR" sz="2000" b="1" dirty="0">
                <a:latin typeface="Arial" pitchFamily="34" charset="0"/>
                <a:cs typeface="Arial" pitchFamily="34" charset="0"/>
              </a:rPr>
              <a:t>Tema delimitado:</a:t>
            </a:r>
            <a:r>
              <a:rPr lang="pt-BR" sz="2000" dirty="0">
                <a:latin typeface="Arial" pitchFamily="34" charset="0"/>
                <a:cs typeface="Arial" pitchFamily="34" charset="0"/>
              </a:rPr>
              <a:t> Vantagens e desvantagens das parcerias entre ONGs e poder público estabelecidas recentemente no município de São Paulo.</a:t>
            </a:r>
          </a:p>
          <a:p>
            <a:pPr>
              <a:defRPr/>
            </a:pPr>
            <a:r>
              <a:rPr lang="pt-BR" sz="2000" b="1" dirty="0">
                <a:latin typeface="Arial" pitchFamily="34" charset="0"/>
                <a:cs typeface="Arial" pitchFamily="34" charset="0"/>
              </a:rPr>
              <a:t>Objetos de investigação</a:t>
            </a:r>
            <a:r>
              <a:rPr lang="pt-BR" sz="2000" dirty="0">
                <a:latin typeface="Arial" pitchFamily="34" charset="0"/>
                <a:cs typeface="Arial" pitchFamily="34" charset="0"/>
              </a:rPr>
              <a:t>: ONGs da área da assistência social que</a:t>
            </a:r>
          </a:p>
          <a:p>
            <a:pPr>
              <a:defRPr/>
            </a:pPr>
            <a:r>
              <a:rPr lang="pt-BR" sz="2000" dirty="0">
                <a:latin typeface="Arial" pitchFamily="34" charset="0"/>
                <a:cs typeface="Arial" pitchFamily="34" charset="0"/>
              </a:rPr>
              <a:t> têm parceria com o poder público.</a:t>
            </a:r>
            <a:endParaRPr lang="pt-BR" dirty="0"/>
          </a:p>
        </p:txBody>
      </p:sp>
      <p:pic>
        <p:nvPicPr>
          <p:cNvPr id="4" name="Imagem 3" descr="legal.gif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8028384" y="5805264"/>
            <a:ext cx="1115616" cy="1052736"/>
          </a:xfrm>
          <a:prstGeom prst="rect">
            <a:avLst/>
          </a:prstGeom>
        </p:spPr>
      </p:pic>
      <p:pic>
        <p:nvPicPr>
          <p:cNvPr id="5" name="Imagem 4" descr="tesoura 2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7308304" y="1124744"/>
            <a:ext cx="1440160" cy="10801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1" dur="5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6" dur="500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9" dur="500"/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4" dur="500"/>
                                        <p:tgtEl>
                                          <p:spTgt spid="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500"/>
                                        <p:tgtEl>
                                          <p:spTgt spid="8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5" dur="500"/>
                                        <p:tgtEl>
                                          <p:spTgt spid="8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3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Imagem 3" descr="ft_203-bolsa_do_cafe_1925.jpg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857875" y="285750"/>
            <a:ext cx="3143250" cy="2573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412" name="Título 1"/>
          <p:cNvSpPr>
            <a:spLocks noGrp="1"/>
          </p:cNvSpPr>
          <p:nvPr>
            <p:ph type="title"/>
          </p:nvPr>
        </p:nvSpPr>
        <p:spPr>
          <a:xfrm>
            <a:off x="714375" y="142875"/>
            <a:ext cx="6572250" cy="714375"/>
          </a:xfrm>
        </p:spPr>
        <p:txBody>
          <a:bodyPr>
            <a:normAutofit fontScale="90000"/>
          </a:bodyPr>
          <a:lstStyle/>
          <a:p>
            <a:pPr algn="ctr" eaLnBrk="1" hangingPunct="1"/>
            <a:r>
              <a:rPr lang="pt-BR" b="1">
                <a:solidFill>
                  <a:srgbClr val="0066FF"/>
                </a:solidFill>
                <a:latin typeface="Book Antiqua" pitchFamily="18" charset="0"/>
              </a:rPr>
              <a:t>DELIMITAÇÃO DO TEMA</a:t>
            </a:r>
            <a:endParaRPr lang="pt-BR" b="1" dirty="0">
              <a:solidFill>
                <a:srgbClr val="0066FF"/>
              </a:solidFill>
              <a:latin typeface="Book Antiqua" pitchFamily="18" charset="0"/>
            </a:endParaRPr>
          </a:p>
        </p:txBody>
      </p:sp>
      <p:sp>
        <p:nvSpPr>
          <p:cNvPr id="17411" name="Espaço Reservado para Conteúdo 2"/>
          <p:cNvSpPr>
            <a:spLocks noGrp="1"/>
          </p:cNvSpPr>
          <p:nvPr>
            <p:ph idx="1"/>
          </p:nvPr>
        </p:nvSpPr>
        <p:spPr>
          <a:xfrm>
            <a:off x="428625" y="1643063"/>
            <a:ext cx="5000625" cy="642937"/>
          </a:xfrm>
        </p:spPr>
        <p:txBody>
          <a:bodyPr/>
          <a:lstStyle/>
          <a:p>
            <a:pPr>
              <a:buFont typeface="Wingdings 3" pitchFamily="18" charset="2"/>
              <a:buNone/>
            </a:pPr>
            <a:endParaRPr lang="pt-BR" sz="2800" b="1" dirty="0">
              <a:latin typeface="Tahoma" pitchFamily="34" charset="0"/>
              <a:cs typeface="Tahoma" pitchFamily="34" charset="0"/>
            </a:endParaRPr>
          </a:p>
        </p:txBody>
      </p:sp>
      <p:sp>
        <p:nvSpPr>
          <p:cNvPr id="17413" name="CaixaDeTexto 6"/>
          <p:cNvSpPr txBox="1">
            <a:spLocks noChangeArrowheads="1"/>
          </p:cNvSpPr>
          <p:nvPr/>
        </p:nvSpPr>
        <p:spPr bwMode="auto">
          <a:xfrm>
            <a:off x="0" y="0"/>
            <a:ext cx="9144000" cy="686341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pt-BR" sz="3200" b="1" dirty="0">
                <a:latin typeface="Britannic Bold" pitchFamily="34" charset="0"/>
              </a:rPr>
              <a:t>                           Exemplos:</a:t>
            </a:r>
          </a:p>
          <a:p>
            <a:endParaRPr lang="pt-BR" sz="800" dirty="0">
              <a:latin typeface="Tahoma" pitchFamily="34" charset="0"/>
              <a:cs typeface="Tahoma" pitchFamily="34" charset="0"/>
            </a:endParaRPr>
          </a:p>
          <a:p>
            <a:pPr marL="173038">
              <a:spcBef>
                <a:spcPts val="600"/>
              </a:spcBef>
            </a:pPr>
            <a:r>
              <a:rPr lang="pt-BR" sz="2000" b="1" dirty="0">
                <a:latin typeface="Arial" pitchFamily="34" charset="0"/>
                <a:cs typeface="Arial" pitchFamily="34" charset="0"/>
              </a:rPr>
              <a:t>1- </a:t>
            </a:r>
            <a:r>
              <a:rPr lang="pt-BR" sz="2000" dirty="0">
                <a:latin typeface="Arial" pitchFamily="34" charset="0"/>
                <a:cs typeface="Arial" pitchFamily="34" charset="0"/>
              </a:rPr>
              <a:t>Estoque</a:t>
            </a:r>
          </a:p>
          <a:p>
            <a:pPr marL="173038">
              <a:spcBef>
                <a:spcPts val="600"/>
              </a:spcBef>
            </a:pPr>
            <a:r>
              <a:rPr lang="pt-BR" sz="2000" i="1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(amplo demais)</a:t>
            </a:r>
          </a:p>
          <a:p>
            <a:pPr marL="173038">
              <a:spcBef>
                <a:spcPts val="600"/>
              </a:spcBef>
            </a:pPr>
            <a:endParaRPr lang="pt-BR" sz="2000" dirty="0">
              <a:latin typeface="Arial" pitchFamily="34" charset="0"/>
              <a:cs typeface="Arial" pitchFamily="34" charset="0"/>
            </a:endParaRPr>
          </a:p>
          <a:p>
            <a:pPr marL="173038">
              <a:spcBef>
                <a:spcPts val="600"/>
              </a:spcBef>
            </a:pPr>
            <a:r>
              <a:rPr lang="pt-BR" sz="2000" dirty="0">
                <a:latin typeface="Arial" pitchFamily="34" charset="0"/>
                <a:cs typeface="Arial" pitchFamily="34" charset="0"/>
              </a:rPr>
              <a:t>Modelos de Estoque </a:t>
            </a:r>
          </a:p>
          <a:p>
            <a:pPr marL="173038">
              <a:spcBef>
                <a:spcPts val="600"/>
              </a:spcBef>
            </a:pPr>
            <a:r>
              <a:rPr lang="pt-BR" sz="2000" i="1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(ainda está amplo)</a:t>
            </a:r>
          </a:p>
          <a:p>
            <a:pPr marL="173038"/>
            <a:endParaRPr lang="pt-BR" sz="2000" dirty="0">
              <a:latin typeface="Arial" pitchFamily="34" charset="0"/>
              <a:cs typeface="Arial" pitchFamily="34" charset="0"/>
            </a:endParaRPr>
          </a:p>
          <a:p>
            <a:pPr marL="173038"/>
            <a:r>
              <a:rPr lang="pt-BR" sz="2000" dirty="0">
                <a:latin typeface="Arial" pitchFamily="34" charset="0"/>
                <a:cs typeface="Arial" pitchFamily="34" charset="0"/>
              </a:rPr>
              <a:t> Modelo de centralização de estoques para a logística de suprimento da exploração e produção da Petrobras</a:t>
            </a:r>
          </a:p>
          <a:p>
            <a:pPr marL="173038"/>
            <a:endParaRPr lang="pt-BR" sz="2000" dirty="0">
              <a:latin typeface="Arial" pitchFamily="34" charset="0"/>
              <a:cs typeface="Arial" pitchFamily="34" charset="0"/>
            </a:endParaRPr>
          </a:p>
          <a:p>
            <a:pPr marL="173038">
              <a:spcBef>
                <a:spcPts val="600"/>
              </a:spcBef>
            </a:pPr>
            <a:r>
              <a:rPr lang="pt-BR" sz="2000" b="1" dirty="0">
                <a:latin typeface="Arial" pitchFamily="34" charset="0"/>
                <a:cs typeface="Arial" pitchFamily="34" charset="0"/>
              </a:rPr>
              <a:t>2-</a:t>
            </a:r>
            <a:r>
              <a:rPr lang="pt-BR" sz="2000" dirty="0">
                <a:latin typeface="Arial" pitchFamily="34" charset="0"/>
                <a:cs typeface="Arial" pitchFamily="34" charset="0"/>
              </a:rPr>
              <a:t> Logística</a:t>
            </a:r>
          </a:p>
          <a:p>
            <a:pPr marL="173038">
              <a:spcBef>
                <a:spcPts val="600"/>
              </a:spcBef>
            </a:pPr>
            <a:r>
              <a:rPr lang="pt-BR" sz="2000" i="1" dirty="0">
                <a:solidFill>
                  <a:srgbClr val="0066FF"/>
                </a:solidFill>
                <a:latin typeface="Arial" pitchFamily="34" charset="0"/>
                <a:cs typeface="Arial" pitchFamily="34" charset="0"/>
              </a:rPr>
              <a:t>(amplo demais)</a:t>
            </a:r>
            <a:endParaRPr lang="pt-BR" sz="2000" dirty="0">
              <a:latin typeface="Arial" pitchFamily="34" charset="0"/>
              <a:cs typeface="Arial" pitchFamily="34" charset="0"/>
            </a:endParaRPr>
          </a:p>
          <a:p>
            <a:pPr marL="173038">
              <a:spcBef>
                <a:spcPts val="600"/>
              </a:spcBef>
            </a:pPr>
            <a:endParaRPr lang="pt-BR" sz="2000" i="1" dirty="0">
              <a:solidFill>
                <a:srgbClr val="0066FF"/>
              </a:solidFill>
              <a:latin typeface="Arial" pitchFamily="34" charset="0"/>
              <a:cs typeface="Arial" pitchFamily="34" charset="0"/>
            </a:endParaRPr>
          </a:p>
          <a:p>
            <a:pPr marL="173038">
              <a:spcBef>
                <a:spcPts val="600"/>
              </a:spcBef>
            </a:pPr>
            <a:r>
              <a:rPr lang="pt-BR" sz="2000" dirty="0">
                <a:latin typeface="Arial" pitchFamily="34" charset="0"/>
                <a:cs typeface="Arial" pitchFamily="34" charset="0"/>
              </a:rPr>
              <a:t>Argumentos sobre melhores formas de transporte</a:t>
            </a:r>
          </a:p>
          <a:p>
            <a:pPr marL="173038">
              <a:spcBef>
                <a:spcPts val="600"/>
              </a:spcBef>
            </a:pPr>
            <a:r>
              <a:rPr lang="pt-BR" sz="2000" i="1" dirty="0">
                <a:solidFill>
                  <a:srgbClr val="0066FF"/>
                </a:solidFill>
                <a:latin typeface="Arial" pitchFamily="34" charset="0"/>
                <a:cs typeface="Arial" pitchFamily="34" charset="0"/>
              </a:rPr>
              <a:t>( de quem?)</a:t>
            </a:r>
          </a:p>
          <a:p>
            <a:pPr marL="173038">
              <a:spcBef>
                <a:spcPts val="600"/>
              </a:spcBef>
            </a:pPr>
            <a:endParaRPr lang="pt-BR" sz="2000" i="1" dirty="0">
              <a:solidFill>
                <a:srgbClr val="0066FF"/>
              </a:solidFill>
              <a:latin typeface="Arial" pitchFamily="34" charset="0"/>
              <a:cs typeface="Arial" pitchFamily="34" charset="0"/>
            </a:endParaRPr>
          </a:p>
          <a:p>
            <a:pPr marL="173038">
              <a:spcBef>
                <a:spcPts val="600"/>
              </a:spcBef>
            </a:pPr>
            <a:r>
              <a:rPr lang="pt-BR" sz="2000" dirty="0">
                <a:latin typeface="Arial" pitchFamily="34" charset="0"/>
                <a:cs typeface="Arial" pitchFamily="34" charset="0"/>
              </a:rPr>
              <a:t>Argumentos sobre melhores formas de transporte na literatura recente sobre o tema</a:t>
            </a:r>
            <a:endParaRPr lang="pt-BR" sz="2000" i="1" dirty="0">
              <a:solidFill>
                <a:srgbClr val="0066FF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7" name="Imagem 6" descr="tesoura 2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5796136" y="188640"/>
            <a:ext cx="2979431" cy="234350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174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0" dur="2000"/>
                                        <p:tgtEl>
                                          <p:spTgt spid="174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3" dur="2000"/>
                                        <p:tgtEl>
                                          <p:spTgt spid="174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6" dur="2000"/>
                                        <p:tgtEl>
                                          <p:spTgt spid="174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9" dur="2000"/>
                                        <p:tgtEl>
                                          <p:spTgt spid="1741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4" dur="2000"/>
                                        <p:tgtEl>
                                          <p:spTgt spid="1741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7" dur="2000"/>
                                        <p:tgtEl>
                                          <p:spTgt spid="1741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0" dur="2000"/>
                                        <p:tgtEl>
                                          <p:spTgt spid="1741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3" dur="2000"/>
                                        <p:tgtEl>
                                          <p:spTgt spid="1741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6" dur="2000"/>
                                        <p:tgtEl>
                                          <p:spTgt spid="1741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Imagem 3" descr="ft_203-bolsa_do_cafe_1925.jpg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857875" y="285750"/>
            <a:ext cx="3143250" cy="2573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412" name="Título 1"/>
          <p:cNvSpPr>
            <a:spLocks noGrp="1"/>
          </p:cNvSpPr>
          <p:nvPr>
            <p:ph type="title"/>
          </p:nvPr>
        </p:nvSpPr>
        <p:spPr>
          <a:xfrm>
            <a:off x="714375" y="142875"/>
            <a:ext cx="6572250" cy="714375"/>
          </a:xfrm>
        </p:spPr>
        <p:txBody>
          <a:bodyPr>
            <a:normAutofit fontScale="90000"/>
          </a:bodyPr>
          <a:lstStyle/>
          <a:p>
            <a:pPr algn="ctr" eaLnBrk="1" hangingPunct="1"/>
            <a:r>
              <a:rPr lang="pt-BR" b="1">
                <a:solidFill>
                  <a:srgbClr val="0066FF"/>
                </a:solidFill>
                <a:latin typeface="Book Antiqua" pitchFamily="18" charset="0"/>
              </a:rPr>
              <a:t>DELIMITAÇÃO DO TEMA</a:t>
            </a:r>
            <a:endParaRPr lang="pt-BR" b="1" dirty="0">
              <a:solidFill>
                <a:srgbClr val="0066FF"/>
              </a:solidFill>
              <a:latin typeface="Book Antiqua" pitchFamily="18" charset="0"/>
            </a:endParaRPr>
          </a:p>
        </p:txBody>
      </p:sp>
      <p:sp>
        <p:nvSpPr>
          <p:cNvPr id="17411" name="Espaço Reservado para Conteúdo 2"/>
          <p:cNvSpPr>
            <a:spLocks noGrp="1"/>
          </p:cNvSpPr>
          <p:nvPr>
            <p:ph idx="1"/>
          </p:nvPr>
        </p:nvSpPr>
        <p:spPr>
          <a:xfrm>
            <a:off x="428625" y="1643063"/>
            <a:ext cx="5000625" cy="642937"/>
          </a:xfrm>
        </p:spPr>
        <p:txBody>
          <a:bodyPr/>
          <a:lstStyle/>
          <a:p>
            <a:pPr>
              <a:buFont typeface="Wingdings 3" pitchFamily="18" charset="2"/>
              <a:buNone/>
            </a:pPr>
            <a:endParaRPr lang="pt-BR" sz="2800" b="1" dirty="0">
              <a:latin typeface="Tahoma" pitchFamily="34" charset="0"/>
              <a:cs typeface="Tahoma" pitchFamily="34" charset="0"/>
            </a:endParaRPr>
          </a:p>
        </p:txBody>
      </p:sp>
      <p:sp>
        <p:nvSpPr>
          <p:cNvPr id="17413" name="CaixaDeTexto 6"/>
          <p:cNvSpPr txBox="1">
            <a:spLocks noChangeArrowheads="1"/>
          </p:cNvSpPr>
          <p:nvPr/>
        </p:nvSpPr>
        <p:spPr bwMode="auto">
          <a:xfrm>
            <a:off x="0" y="1"/>
            <a:ext cx="9144000" cy="704808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pt-BR" sz="3200" b="1" dirty="0">
                <a:latin typeface="Britannic Bold" pitchFamily="34" charset="0"/>
              </a:rPr>
              <a:t>                           Exemplos:</a:t>
            </a:r>
          </a:p>
          <a:p>
            <a:endParaRPr lang="pt-BR" sz="3200" b="1" dirty="0">
              <a:latin typeface="Britannic Bold" pitchFamily="34" charset="0"/>
            </a:endParaRPr>
          </a:p>
          <a:p>
            <a:endParaRPr lang="pt-BR" sz="800" dirty="0">
              <a:latin typeface="Tahoma" pitchFamily="34" charset="0"/>
              <a:cs typeface="Tahoma" pitchFamily="34" charset="0"/>
            </a:endParaRPr>
          </a:p>
          <a:p>
            <a:pPr marL="173038"/>
            <a:r>
              <a:rPr lang="pt-BR" sz="2000" b="1" dirty="0">
                <a:latin typeface="Arial" pitchFamily="34" charset="0"/>
                <a:cs typeface="Arial" pitchFamily="34" charset="0"/>
              </a:rPr>
              <a:t>1- </a:t>
            </a:r>
            <a:r>
              <a:rPr lang="pt-BR" sz="2000" dirty="0">
                <a:latin typeface="Arial" pitchFamily="34" charset="0"/>
                <a:cs typeface="Arial" pitchFamily="34" charset="0"/>
              </a:rPr>
              <a:t>O direito do consumidor </a:t>
            </a:r>
          </a:p>
          <a:p>
            <a:pPr marL="173038"/>
            <a:r>
              <a:rPr lang="pt-BR" sz="2000" i="1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(amplo demais)</a:t>
            </a:r>
          </a:p>
          <a:p>
            <a:pPr marL="173038"/>
            <a:endParaRPr lang="pt-BR" sz="2000" dirty="0">
              <a:latin typeface="Arial" pitchFamily="34" charset="0"/>
              <a:cs typeface="Arial" pitchFamily="34" charset="0"/>
            </a:endParaRPr>
          </a:p>
          <a:p>
            <a:pPr marL="173038"/>
            <a:r>
              <a:rPr lang="pt-BR" sz="2000" dirty="0">
                <a:latin typeface="Arial" pitchFamily="34" charset="0"/>
                <a:cs typeface="Arial" pitchFamily="34" charset="0"/>
              </a:rPr>
              <a:t>A publicidade no direito do consumidor </a:t>
            </a:r>
          </a:p>
          <a:p>
            <a:pPr marL="173038"/>
            <a:r>
              <a:rPr lang="pt-BR" sz="2000" i="1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(ainda está amplo)</a:t>
            </a:r>
          </a:p>
          <a:p>
            <a:pPr marL="173038"/>
            <a:endParaRPr lang="pt-BR" sz="2000" dirty="0">
              <a:latin typeface="Arial" pitchFamily="34" charset="0"/>
              <a:cs typeface="Arial" pitchFamily="34" charset="0"/>
            </a:endParaRPr>
          </a:p>
          <a:p>
            <a:pPr marL="173038"/>
            <a:r>
              <a:rPr lang="pt-BR" sz="2000" dirty="0">
                <a:latin typeface="Arial" pitchFamily="34" charset="0"/>
                <a:cs typeface="Arial" pitchFamily="34" charset="0"/>
              </a:rPr>
              <a:t>A publicidade no direito do consumidor a partir da edição da lei n. 8.078/90</a:t>
            </a:r>
          </a:p>
          <a:p>
            <a:pPr marL="173038"/>
            <a:r>
              <a:rPr lang="pt-BR" sz="2000" dirty="0">
                <a:latin typeface="Arial" pitchFamily="34" charset="0"/>
                <a:cs typeface="Arial" pitchFamily="34" charset="0"/>
              </a:rPr>
              <a:t> </a:t>
            </a:r>
          </a:p>
          <a:p>
            <a:pPr marL="173038"/>
            <a:endParaRPr lang="pt-BR" sz="2000" dirty="0">
              <a:latin typeface="Arial" pitchFamily="34" charset="0"/>
              <a:cs typeface="Arial" pitchFamily="34" charset="0"/>
            </a:endParaRPr>
          </a:p>
          <a:p>
            <a:pPr marL="173038"/>
            <a:r>
              <a:rPr lang="pt-BR" sz="2000" b="1" dirty="0">
                <a:latin typeface="Arial" pitchFamily="34" charset="0"/>
                <a:cs typeface="Arial" pitchFamily="34" charset="0"/>
              </a:rPr>
              <a:t>2- </a:t>
            </a:r>
            <a:r>
              <a:rPr lang="pt-BR" sz="2000" dirty="0">
                <a:latin typeface="Arial" pitchFamily="34" charset="0"/>
                <a:cs typeface="Arial" pitchFamily="34" charset="0"/>
              </a:rPr>
              <a:t>A liberdade </a:t>
            </a:r>
          </a:p>
          <a:p>
            <a:pPr marL="173038"/>
            <a:r>
              <a:rPr lang="pt-BR" sz="2000" i="1" dirty="0">
                <a:solidFill>
                  <a:srgbClr val="0066FF"/>
                </a:solidFill>
                <a:latin typeface="Arial" pitchFamily="34" charset="0"/>
                <a:cs typeface="Arial" pitchFamily="34" charset="0"/>
              </a:rPr>
              <a:t>(amplo demais)</a:t>
            </a:r>
          </a:p>
          <a:p>
            <a:pPr marL="173038"/>
            <a:endParaRPr lang="pt-BR" sz="2000" dirty="0">
              <a:latin typeface="Arial" pitchFamily="34" charset="0"/>
              <a:cs typeface="Arial" pitchFamily="34" charset="0"/>
            </a:endParaRPr>
          </a:p>
          <a:p>
            <a:pPr marL="173038"/>
            <a:r>
              <a:rPr lang="pt-BR" sz="2000" dirty="0">
                <a:latin typeface="Arial" pitchFamily="34" charset="0"/>
                <a:cs typeface="Arial" pitchFamily="34" charset="0"/>
              </a:rPr>
              <a:t>A liberdade de agir</a:t>
            </a:r>
          </a:p>
          <a:p>
            <a:pPr marL="173038"/>
            <a:r>
              <a:rPr lang="pt-BR" sz="2000" i="1" dirty="0">
                <a:solidFill>
                  <a:srgbClr val="0066FF"/>
                </a:solidFill>
                <a:latin typeface="Arial" pitchFamily="34" charset="0"/>
                <a:cs typeface="Arial" pitchFamily="34" charset="0"/>
              </a:rPr>
              <a:t>(de quem?)</a:t>
            </a:r>
          </a:p>
          <a:p>
            <a:pPr marL="173038"/>
            <a:endParaRPr lang="pt-BR" sz="2000" dirty="0">
              <a:latin typeface="Arial" pitchFamily="34" charset="0"/>
              <a:cs typeface="Arial" pitchFamily="34" charset="0"/>
            </a:endParaRPr>
          </a:p>
          <a:p>
            <a:pPr marL="173038"/>
            <a:r>
              <a:rPr lang="pt-BR" sz="2000" dirty="0">
                <a:latin typeface="Arial" pitchFamily="34" charset="0"/>
                <a:cs typeface="Arial" pitchFamily="34" charset="0"/>
              </a:rPr>
              <a:t>A liberdade de agir do cidadão</a:t>
            </a:r>
          </a:p>
          <a:p>
            <a:pPr marL="173038"/>
            <a:r>
              <a:rPr lang="pt-BR" sz="2000" i="1" dirty="0">
                <a:solidFill>
                  <a:srgbClr val="0066FF"/>
                </a:solidFill>
                <a:latin typeface="Arial" pitchFamily="34" charset="0"/>
                <a:cs typeface="Arial" pitchFamily="34" charset="0"/>
              </a:rPr>
              <a:t>(de onde? sob qual sistema? quando?)</a:t>
            </a:r>
          </a:p>
          <a:p>
            <a:pPr marL="173038"/>
            <a:endParaRPr lang="pt-BR" sz="2000" dirty="0">
              <a:latin typeface="Arial" pitchFamily="34" charset="0"/>
              <a:cs typeface="Arial" pitchFamily="34" charset="0"/>
            </a:endParaRPr>
          </a:p>
          <a:p>
            <a:pPr marL="173038"/>
            <a:r>
              <a:rPr lang="pt-BR" sz="2000" dirty="0">
                <a:latin typeface="Arial" pitchFamily="34" charset="0"/>
                <a:cs typeface="Arial" pitchFamily="34" charset="0"/>
              </a:rPr>
              <a:t>A liberdade de agir do cidadão na constituição brasileira de 1988.</a:t>
            </a:r>
            <a:endParaRPr lang="pt-BR" sz="2000" i="1" dirty="0">
              <a:solidFill>
                <a:srgbClr val="0066FF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7" name="Imagem 6" descr="tesoura 2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5796136" y="188640"/>
            <a:ext cx="2979431" cy="234350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174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0" dur="2000"/>
                                        <p:tgtEl>
                                          <p:spTgt spid="174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3" dur="2000"/>
                                        <p:tgtEl>
                                          <p:spTgt spid="174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6" dur="2000"/>
                                        <p:tgtEl>
                                          <p:spTgt spid="174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9" dur="2000"/>
                                        <p:tgtEl>
                                          <p:spTgt spid="1741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4" dur="2000"/>
                                        <p:tgtEl>
                                          <p:spTgt spid="1741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7" dur="2000"/>
                                        <p:tgtEl>
                                          <p:spTgt spid="1741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0" dur="2000"/>
                                        <p:tgtEl>
                                          <p:spTgt spid="1741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3" dur="2000"/>
                                        <p:tgtEl>
                                          <p:spTgt spid="1741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6" dur="2000"/>
                                        <p:tgtEl>
                                          <p:spTgt spid="1741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9" dur="2000"/>
                                        <p:tgtEl>
                                          <p:spTgt spid="1741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3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2" dur="2000"/>
                                        <p:tgtEl>
                                          <p:spTgt spid="17413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Imagem 3" descr="ft_203-bolsa_do_cafe_1925.jpg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857875" y="285750"/>
            <a:ext cx="3143250" cy="2573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412" name="Título 1"/>
          <p:cNvSpPr>
            <a:spLocks noGrp="1"/>
          </p:cNvSpPr>
          <p:nvPr>
            <p:ph type="title"/>
          </p:nvPr>
        </p:nvSpPr>
        <p:spPr>
          <a:xfrm>
            <a:off x="714375" y="142875"/>
            <a:ext cx="6572250" cy="714375"/>
          </a:xfrm>
        </p:spPr>
        <p:txBody>
          <a:bodyPr>
            <a:normAutofit fontScale="90000"/>
          </a:bodyPr>
          <a:lstStyle/>
          <a:p>
            <a:pPr algn="ctr" eaLnBrk="1" hangingPunct="1"/>
            <a:r>
              <a:rPr lang="pt-BR" b="1">
                <a:solidFill>
                  <a:srgbClr val="0066FF"/>
                </a:solidFill>
                <a:latin typeface="Book Antiqua" pitchFamily="18" charset="0"/>
              </a:rPr>
              <a:t>DELIMITAÇÃO DO TEMA</a:t>
            </a:r>
            <a:endParaRPr lang="pt-BR" b="1" dirty="0">
              <a:solidFill>
                <a:srgbClr val="0066FF"/>
              </a:solidFill>
              <a:latin typeface="Book Antiqua" pitchFamily="18" charset="0"/>
            </a:endParaRPr>
          </a:p>
        </p:txBody>
      </p:sp>
      <p:sp>
        <p:nvSpPr>
          <p:cNvPr id="17411" name="Espaço Reservado para Conteúdo 2"/>
          <p:cNvSpPr>
            <a:spLocks noGrp="1"/>
          </p:cNvSpPr>
          <p:nvPr>
            <p:ph idx="1"/>
          </p:nvPr>
        </p:nvSpPr>
        <p:spPr>
          <a:xfrm>
            <a:off x="428625" y="1643063"/>
            <a:ext cx="5000625" cy="642937"/>
          </a:xfrm>
        </p:spPr>
        <p:txBody>
          <a:bodyPr/>
          <a:lstStyle/>
          <a:p>
            <a:pPr>
              <a:buFont typeface="Wingdings 3" pitchFamily="18" charset="2"/>
              <a:buNone/>
            </a:pPr>
            <a:endParaRPr lang="pt-BR" sz="2800" b="1" dirty="0">
              <a:latin typeface="Tahoma" pitchFamily="34" charset="0"/>
              <a:cs typeface="Tahoma" pitchFamily="34" charset="0"/>
            </a:endParaRPr>
          </a:p>
        </p:txBody>
      </p:sp>
      <p:sp>
        <p:nvSpPr>
          <p:cNvPr id="17413" name="CaixaDeTexto 6"/>
          <p:cNvSpPr txBox="1">
            <a:spLocks noChangeArrowheads="1"/>
          </p:cNvSpPr>
          <p:nvPr/>
        </p:nvSpPr>
        <p:spPr bwMode="auto">
          <a:xfrm>
            <a:off x="0" y="117693"/>
            <a:ext cx="9144000" cy="674030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pt-BR" sz="3200" b="1" dirty="0">
                <a:latin typeface="Britannic Bold" pitchFamily="34" charset="0"/>
              </a:rPr>
              <a:t>                           Exemplos:</a:t>
            </a:r>
          </a:p>
          <a:p>
            <a:endParaRPr lang="pt-BR" sz="3200" b="1" dirty="0">
              <a:latin typeface="Britannic Bold" pitchFamily="34" charset="0"/>
            </a:endParaRPr>
          </a:p>
          <a:p>
            <a:endParaRPr lang="pt-BR" sz="800" dirty="0">
              <a:latin typeface="Tahoma" pitchFamily="34" charset="0"/>
              <a:cs typeface="Tahoma" pitchFamily="34" charset="0"/>
            </a:endParaRPr>
          </a:p>
          <a:p>
            <a:pPr marL="173038"/>
            <a:r>
              <a:rPr lang="pt-BR" sz="2000" b="1" dirty="0">
                <a:latin typeface="Arial" pitchFamily="34" charset="0"/>
                <a:cs typeface="Arial" pitchFamily="34" charset="0"/>
              </a:rPr>
              <a:t>1-</a:t>
            </a:r>
            <a:r>
              <a:rPr lang="pt-BR" sz="2000" b="1" dirty="0"/>
              <a:t> </a:t>
            </a:r>
            <a:r>
              <a:rPr lang="pt-BR" sz="2000" dirty="0"/>
              <a:t>Decisão de compras </a:t>
            </a:r>
            <a:endParaRPr lang="pt-BR" sz="2000" dirty="0">
              <a:latin typeface="Arial" pitchFamily="34" charset="0"/>
              <a:cs typeface="Arial" pitchFamily="34" charset="0"/>
            </a:endParaRPr>
          </a:p>
          <a:p>
            <a:pPr marL="173038"/>
            <a:r>
              <a:rPr lang="pt-BR" sz="2000" i="1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(amplo demais)</a:t>
            </a:r>
          </a:p>
          <a:p>
            <a:pPr marL="173038"/>
            <a:endParaRPr lang="pt-BR" sz="2000" dirty="0">
              <a:latin typeface="Arial" pitchFamily="34" charset="0"/>
              <a:cs typeface="Arial" pitchFamily="34" charset="0"/>
            </a:endParaRPr>
          </a:p>
          <a:p>
            <a:pPr marL="173038"/>
            <a:r>
              <a:rPr lang="pt-BR" sz="2000" dirty="0">
                <a:latin typeface="Arial" pitchFamily="34" charset="0"/>
                <a:cs typeface="Arial" pitchFamily="34" charset="0"/>
              </a:rPr>
              <a:t>Decisão de compras no comércio</a:t>
            </a:r>
          </a:p>
          <a:p>
            <a:pPr marL="173038"/>
            <a:r>
              <a:rPr lang="pt-BR" sz="2000" i="1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(ainda está amplo)</a:t>
            </a:r>
          </a:p>
          <a:p>
            <a:pPr marL="173038"/>
            <a:endParaRPr lang="pt-BR" sz="2000" dirty="0">
              <a:latin typeface="Arial" pitchFamily="34" charset="0"/>
              <a:cs typeface="Arial" pitchFamily="34" charset="0"/>
            </a:endParaRPr>
          </a:p>
          <a:p>
            <a:pPr marL="173038"/>
            <a:r>
              <a:rPr lang="pt-BR" sz="2000" dirty="0"/>
              <a:t>Estudo das variáveis utilizadas na decisão de compras no comércio varejista de alimentos de </a:t>
            </a:r>
            <a:r>
              <a:rPr lang="pt-BR" sz="2000" dirty="0" err="1"/>
              <a:t>auto-serviço</a:t>
            </a:r>
            <a:r>
              <a:rPr lang="pt-BR" sz="2000" dirty="0"/>
              <a:t> supermercados</a:t>
            </a:r>
            <a:r>
              <a:rPr lang="pt-BR" sz="2000" dirty="0">
                <a:latin typeface="Arial" pitchFamily="34" charset="0"/>
                <a:cs typeface="Arial" pitchFamily="34" charset="0"/>
              </a:rPr>
              <a:t> </a:t>
            </a:r>
          </a:p>
          <a:p>
            <a:pPr marL="173038"/>
            <a:endParaRPr lang="pt-BR" sz="2000" dirty="0">
              <a:latin typeface="Arial" pitchFamily="34" charset="0"/>
              <a:cs typeface="Arial" pitchFamily="34" charset="0"/>
            </a:endParaRPr>
          </a:p>
          <a:p>
            <a:pPr marL="173038"/>
            <a:endParaRPr lang="pt-BR" sz="2000" dirty="0">
              <a:latin typeface="Arial" pitchFamily="34" charset="0"/>
              <a:cs typeface="Arial" pitchFamily="34" charset="0"/>
            </a:endParaRPr>
          </a:p>
          <a:p>
            <a:pPr marL="173038"/>
            <a:r>
              <a:rPr lang="pt-BR" sz="2000" b="1" dirty="0">
                <a:latin typeface="Arial" pitchFamily="34" charset="0"/>
                <a:cs typeface="Arial" pitchFamily="34" charset="0"/>
              </a:rPr>
              <a:t>2-</a:t>
            </a:r>
            <a:r>
              <a:rPr lang="pt-BR" sz="2000" dirty="0">
                <a:latin typeface="Arial" pitchFamily="34" charset="0"/>
                <a:cs typeface="Arial" pitchFamily="34" charset="0"/>
              </a:rPr>
              <a:t> Informação contábil</a:t>
            </a:r>
          </a:p>
          <a:p>
            <a:pPr marL="173038"/>
            <a:r>
              <a:rPr lang="pt-BR" sz="2000" i="1" dirty="0">
                <a:solidFill>
                  <a:srgbClr val="0066FF"/>
                </a:solidFill>
                <a:latin typeface="Arial" pitchFamily="34" charset="0"/>
                <a:cs typeface="Arial" pitchFamily="34" charset="0"/>
              </a:rPr>
              <a:t>(amplo demais)</a:t>
            </a:r>
          </a:p>
          <a:p>
            <a:pPr marL="173038"/>
            <a:endParaRPr lang="pt-BR" sz="2000" dirty="0">
              <a:latin typeface="Arial" pitchFamily="34" charset="0"/>
              <a:cs typeface="Arial" pitchFamily="34" charset="0"/>
            </a:endParaRPr>
          </a:p>
          <a:p>
            <a:pPr marL="173038"/>
            <a:r>
              <a:rPr lang="pt-BR" sz="2000" dirty="0"/>
              <a:t>A relevância da informação contábil</a:t>
            </a:r>
            <a:endParaRPr lang="pt-BR" sz="2000" dirty="0">
              <a:latin typeface="Arial" pitchFamily="34" charset="0"/>
              <a:cs typeface="Arial" pitchFamily="34" charset="0"/>
            </a:endParaRPr>
          </a:p>
          <a:p>
            <a:pPr marL="173038"/>
            <a:r>
              <a:rPr lang="pt-BR" sz="2000" i="1" dirty="0">
                <a:solidFill>
                  <a:srgbClr val="0066FF"/>
                </a:solidFill>
                <a:latin typeface="Arial" pitchFamily="34" charset="0"/>
                <a:cs typeface="Arial" pitchFamily="34" charset="0"/>
              </a:rPr>
              <a:t>(para quem?)</a:t>
            </a:r>
          </a:p>
          <a:p>
            <a:pPr marL="173038"/>
            <a:endParaRPr lang="pt-BR" sz="2000" dirty="0">
              <a:latin typeface="Arial" pitchFamily="34" charset="0"/>
              <a:cs typeface="Arial" pitchFamily="34" charset="0"/>
            </a:endParaRPr>
          </a:p>
          <a:p>
            <a:pPr marL="173038"/>
            <a:r>
              <a:rPr lang="pt-BR" sz="2000" dirty="0"/>
              <a:t>A relevância da informação contábil para os investidores sociais privados de entidades do terceiro setor no Brasil: uma investigação empírica</a:t>
            </a:r>
            <a:endParaRPr lang="pt-BR" sz="2000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7" name="Imagem 6" descr="tesoura 2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5796136" y="188640"/>
            <a:ext cx="2979431" cy="234350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174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0" dur="2000"/>
                                        <p:tgtEl>
                                          <p:spTgt spid="174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3" dur="2000"/>
                                        <p:tgtEl>
                                          <p:spTgt spid="174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6" dur="2000"/>
                                        <p:tgtEl>
                                          <p:spTgt spid="174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9" dur="2000"/>
                                        <p:tgtEl>
                                          <p:spTgt spid="1741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4" dur="2000"/>
                                        <p:tgtEl>
                                          <p:spTgt spid="1741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7" dur="2000"/>
                                        <p:tgtEl>
                                          <p:spTgt spid="1741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0" dur="2000"/>
                                        <p:tgtEl>
                                          <p:spTgt spid="1741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3" dur="2000"/>
                                        <p:tgtEl>
                                          <p:spTgt spid="1741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6" dur="2000"/>
                                        <p:tgtEl>
                                          <p:spTgt spid="1741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ço Reservado para Conteúdo 7"/>
          <p:cNvSpPr>
            <a:spLocks noGrp="1"/>
          </p:cNvSpPr>
          <p:nvPr>
            <p:ph sz="half" idx="4294967295"/>
          </p:nvPr>
        </p:nvSpPr>
        <p:spPr>
          <a:xfrm>
            <a:off x="0" y="0"/>
            <a:ext cx="914400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pPr marL="95250" indent="14288" algn="ctr">
              <a:buNone/>
              <a:defRPr/>
            </a:pPr>
            <a:endParaRPr lang="pt-BR" sz="800" b="1" dirty="0">
              <a:solidFill>
                <a:schemeClr val="tx2"/>
              </a:solidFill>
              <a:latin typeface="Arial" pitchFamily="34" charset="0"/>
              <a:ea typeface="+mj-ea"/>
              <a:cs typeface="Arial" pitchFamily="34" charset="0"/>
            </a:endParaRPr>
          </a:p>
          <a:p>
            <a:pPr marL="95250" indent="14288" algn="ctr">
              <a:buNone/>
              <a:defRPr/>
            </a:pPr>
            <a:r>
              <a:rPr lang="pt-BR" sz="4000" b="1" dirty="0">
                <a:latin typeface="Arial" pitchFamily="34" charset="0"/>
                <a:ea typeface="+mj-ea"/>
                <a:cs typeface="Arial" pitchFamily="34" charset="0"/>
              </a:rPr>
              <a:t>PROBLEMA  </a:t>
            </a:r>
            <a:r>
              <a:rPr lang="pt-BR" sz="4000" b="1" dirty="0">
                <a:solidFill>
                  <a:srgbClr val="C00000"/>
                </a:solidFill>
                <a:latin typeface="Viner Hand ITC"/>
                <a:cs typeface="Arial" pitchFamily="34" charset="0"/>
              </a:rPr>
              <a:t>?</a:t>
            </a:r>
            <a:endParaRPr lang="pt-BR" sz="4000" b="1" dirty="0">
              <a:solidFill>
                <a:srgbClr val="C00000"/>
              </a:solidFill>
              <a:latin typeface="Arial" pitchFamily="34" charset="0"/>
              <a:ea typeface="+mj-ea"/>
              <a:cs typeface="Arial" pitchFamily="34" charset="0"/>
            </a:endParaRPr>
          </a:p>
          <a:p>
            <a:pPr marL="95250" indent="14288" algn="ctr">
              <a:buNone/>
              <a:defRPr/>
            </a:pPr>
            <a:r>
              <a:rPr lang="pt-BR" sz="2400" b="1" i="1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Consiste na(s) pergunta(s) que o pesquisador </a:t>
            </a:r>
          </a:p>
          <a:p>
            <a:pPr marL="95250" indent="14288" algn="ctr">
              <a:buNone/>
              <a:defRPr/>
            </a:pPr>
            <a:r>
              <a:rPr lang="pt-BR" sz="2400" b="1" i="1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deseja responder por meio da investigação.</a:t>
            </a:r>
          </a:p>
          <a:p>
            <a:pPr>
              <a:buClrTx/>
              <a:buNone/>
              <a:defRPr/>
            </a:pPr>
            <a:r>
              <a:rPr lang="pt-BR" sz="800" dirty="0">
                <a:latin typeface="Arial" pitchFamily="34" charset="0"/>
                <a:cs typeface="Arial" pitchFamily="34" charset="0"/>
              </a:rPr>
              <a:t> </a:t>
            </a:r>
          </a:p>
          <a:p>
            <a:pPr marL="95250" indent="14288">
              <a:lnSpc>
                <a:spcPct val="200000"/>
              </a:lnSpc>
              <a:buClrTx/>
              <a:buNone/>
              <a:defRPr/>
            </a:pPr>
            <a:r>
              <a:rPr lang="pt-BR" sz="2400" b="1" dirty="0">
                <a:latin typeface="Arial" pitchFamily="34" charset="0"/>
                <a:cs typeface="Arial" pitchFamily="34" charset="0"/>
              </a:rPr>
              <a:t>                 Tente responder as seguintes questões: </a:t>
            </a:r>
          </a:p>
          <a:p>
            <a:pPr>
              <a:lnSpc>
                <a:spcPct val="200000"/>
              </a:lnSpc>
              <a:buClrTx/>
              <a:defRPr/>
            </a:pPr>
            <a:r>
              <a:rPr lang="pt-BR" sz="2400" dirty="0">
                <a:latin typeface="Arial" pitchFamily="34" charset="0"/>
                <a:cs typeface="Arial" pitchFamily="34" charset="0"/>
              </a:rPr>
              <a:t>O que quero responder com minha pesquisa? </a:t>
            </a:r>
          </a:p>
          <a:p>
            <a:pPr>
              <a:lnSpc>
                <a:spcPct val="200000"/>
              </a:lnSpc>
              <a:buClrTx/>
              <a:defRPr/>
            </a:pPr>
            <a:r>
              <a:rPr lang="pt-BR" sz="2400" dirty="0">
                <a:latin typeface="Arial" pitchFamily="34" charset="0"/>
                <a:cs typeface="Arial" pitchFamily="34" charset="0"/>
              </a:rPr>
              <a:t>O que quero descobrir por meio da minha investigação? </a:t>
            </a:r>
          </a:p>
          <a:p>
            <a:pPr>
              <a:lnSpc>
                <a:spcPct val="200000"/>
              </a:lnSpc>
              <a:buClrTx/>
              <a:defRPr/>
            </a:pPr>
            <a:r>
              <a:rPr lang="pt-BR" sz="2400" dirty="0">
                <a:latin typeface="Arial" pitchFamily="34" charset="0"/>
                <a:cs typeface="Arial" pitchFamily="34" charset="0"/>
              </a:rPr>
              <a:t>Qual a minha dúvida em relação a esse tema?</a:t>
            </a:r>
          </a:p>
          <a:p>
            <a:pPr algn="just">
              <a:buNone/>
            </a:pPr>
            <a:endParaRPr lang="pt-BR" b="1" dirty="0"/>
          </a:p>
          <a:p>
            <a:pPr algn="just">
              <a:buNone/>
            </a:pPr>
            <a:r>
              <a:rPr lang="pt-BR" b="1" dirty="0"/>
              <a:t>Obs.: </a:t>
            </a:r>
            <a:r>
              <a:rPr lang="pt-BR" dirty="0"/>
              <a:t>Considerar o grau de dificuldade de encontrar material sobre o assunto ou dados para a pesquisa.</a:t>
            </a:r>
            <a:endParaRPr lang="pt-BR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3" name="Picture 3" descr="F:\unip\dicas.gi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95536" y="2060848"/>
            <a:ext cx="766732" cy="620688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476672"/>
            <a:ext cx="8229600" cy="1066800"/>
          </a:xfrm>
        </p:spPr>
        <p:txBody>
          <a:bodyPr>
            <a:normAutofit fontScale="90000"/>
          </a:bodyPr>
          <a:lstStyle/>
          <a:p>
            <a:br>
              <a:rPr lang="pt-BR" dirty="0">
                <a:solidFill>
                  <a:schemeClr val="accent6"/>
                </a:solidFill>
              </a:rPr>
            </a:br>
            <a:r>
              <a:rPr lang="pt-BR" b="1" dirty="0">
                <a:solidFill>
                  <a:schemeClr val="accent6"/>
                </a:solidFill>
              </a:rPr>
              <a:t>PROBLEMA DE PESQUISA:</a:t>
            </a:r>
            <a:endParaRPr lang="pt-BR" dirty="0">
              <a:solidFill>
                <a:schemeClr val="accent6"/>
              </a:solidFill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583096"/>
            <a:ext cx="8229600" cy="432511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dirty="0"/>
              <a:t>Um problema de pesquisa </a:t>
            </a:r>
            <a:r>
              <a:rPr lang="pt-BR" u="sng" dirty="0"/>
              <a:t>deve</a:t>
            </a:r>
            <a:r>
              <a:rPr lang="pt-BR" dirty="0"/>
              <a:t>: </a:t>
            </a:r>
          </a:p>
          <a:p>
            <a:pPr marL="0" indent="0">
              <a:buNone/>
            </a:pPr>
            <a:endParaRPr lang="pt-BR" dirty="0"/>
          </a:p>
          <a:p>
            <a:r>
              <a:rPr lang="pt-BR" dirty="0">
                <a:solidFill>
                  <a:srgbClr val="FF0000"/>
                </a:solidFill>
              </a:rPr>
              <a:t>Ser formulado sob a forma de </a:t>
            </a:r>
            <a:r>
              <a:rPr lang="pt-BR" b="1" u="sng" dirty="0">
                <a:solidFill>
                  <a:srgbClr val="FF0000"/>
                </a:solidFill>
              </a:rPr>
              <a:t>pergunta</a:t>
            </a:r>
            <a:r>
              <a:rPr lang="pt-BR" dirty="0">
                <a:solidFill>
                  <a:srgbClr val="FF0000"/>
                </a:solidFill>
              </a:rPr>
              <a:t>; </a:t>
            </a:r>
          </a:p>
          <a:p>
            <a:r>
              <a:rPr lang="pt-BR" dirty="0"/>
              <a:t>Ser claro e conciso; </a:t>
            </a:r>
          </a:p>
          <a:p>
            <a:r>
              <a:rPr lang="pt-BR" dirty="0"/>
              <a:t>Não envolver valores pessoais; </a:t>
            </a:r>
          </a:p>
          <a:p>
            <a:r>
              <a:rPr lang="pt-BR" dirty="0"/>
              <a:t>Ser suscetível de solução (ser possível de encontrar a(s) resposta(s)); </a:t>
            </a:r>
          </a:p>
          <a:p>
            <a:r>
              <a:rPr lang="pt-BR" dirty="0"/>
              <a:t>Ser delimitado e de fácil memorização; </a:t>
            </a:r>
          </a:p>
          <a:p>
            <a:r>
              <a:rPr lang="pt-BR" dirty="0"/>
              <a:t>Ser inquietante. </a:t>
            </a:r>
          </a:p>
          <a:p>
            <a:endParaRPr lang="pt-BR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/>
          <p:cNvSpPr/>
          <p:nvPr/>
        </p:nvSpPr>
        <p:spPr>
          <a:xfrm>
            <a:off x="755576" y="692696"/>
            <a:ext cx="7776864" cy="51706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pt-BR" sz="2200" b="1" dirty="0"/>
              <a:t>As perguntas movem a ciência </a:t>
            </a:r>
          </a:p>
          <a:p>
            <a:pPr algn="just"/>
            <a:r>
              <a:rPr lang="pt-BR" sz="2200" dirty="0"/>
              <a:t>“Não são as respostas que movem o mundo. São as perguntas.”</a:t>
            </a:r>
            <a:br>
              <a:rPr lang="pt-BR" sz="2200" dirty="0"/>
            </a:br>
            <a:endParaRPr lang="pt-BR" sz="2200" dirty="0"/>
          </a:p>
          <a:p>
            <a:pPr algn="just"/>
            <a:r>
              <a:rPr lang="pt-BR" sz="2200" dirty="0"/>
              <a:t>Assim, a campanha publicitária da Futura conseguiu definir muito bem o papel da ciência, em qualquer um de seus ramos: questionar, refletir e indagar.</a:t>
            </a:r>
            <a:br>
              <a:rPr lang="pt-BR" sz="2200" dirty="0"/>
            </a:br>
            <a:r>
              <a:rPr lang="pt-BR" sz="2200" dirty="0"/>
              <a:t>Quem somos e para onde vamos? Quais as causas das crises econômicas? Como o cérebro funciona? Essas são exemplos de algumas perguntas que o homem tem feito desde os primórdios.</a:t>
            </a:r>
            <a:br>
              <a:rPr lang="pt-BR" sz="2200" dirty="0"/>
            </a:br>
            <a:r>
              <a:rPr lang="pt-BR" sz="2200" dirty="0"/>
              <a:t>Em metodologia, damos o nome de </a:t>
            </a:r>
            <a:r>
              <a:rPr lang="pt-BR" sz="2200" dirty="0">
                <a:solidFill>
                  <a:srgbClr val="FF0000"/>
                </a:solidFill>
              </a:rPr>
              <a:t>problema</a:t>
            </a:r>
            <a:r>
              <a:rPr lang="pt-BR" sz="2200" dirty="0"/>
              <a:t> à pergunta ou conjunto de perguntas que um pesquisador ou mesmo uma ciência se propõem a responder. Uma ciência só existe em função dos problemas que são por ela colocados.</a:t>
            </a:r>
            <a:br>
              <a:rPr lang="pt-BR" sz="2200" dirty="0"/>
            </a:br>
            <a:r>
              <a:rPr lang="pt-BR" sz="2200" dirty="0"/>
              <a:t>Desta forma, parafraseando o canal Futura, são as perguntas que movem a ciência.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ço Reservado para Conteúdo 7"/>
          <p:cNvSpPr>
            <a:spLocks noGrp="1"/>
          </p:cNvSpPr>
          <p:nvPr>
            <p:ph sz="half" idx="4294967295"/>
          </p:nvPr>
        </p:nvSpPr>
        <p:spPr>
          <a:xfrm>
            <a:off x="0" y="0"/>
            <a:ext cx="914400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pPr marL="95250" indent="14288" algn="ctr">
              <a:buNone/>
              <a:defRPr/>
            </a:pPr>
            <a:endParaRPr lang="pt-BR" sz="800" b="1" dirty="0">
              <a:solidFill>
                <a:schemeClr val="tx2"/>
              </a:solidFill>
              <a:latin typeface="Arial" pitchFamily="34" charset="0"/>
              <a:ea typeface="+mj-ea"/>
              <a:cs typeface="Arial" pitchFamily="34" charset="0"/>
            </a:endParaRPr>
          </a:p>
          <a:p>
            <a:pPr marL="95250" indent="14288" algn="ctr">
              <a:buNone/>
              <a:defRPr/>
            </a:pPr>
            <a:r>
              <a:rPr lang="pt-BR" sz="4000" b="1" dirty="0">
                <a:latin typeface="Arial" pitchFamily="34" charset="0"/>
                <a:ea typeface="+mj-ea"/>
                <a:cs typeface="Arial" pitchFamily="34" charset="0"/>
              </a:rPr>
              <a:t>PROBLEMA  </a:t>
            </a:r>
            <a:r>
              <a:rPr lang="pt-BR" sz="4000" b="1" dirty="0">
                <a:solidFill>
                  <a:srgbClr val="C00000"/>
                </a:solidFill>
                <a:latin typeface="Viner Hand ITC"/>
                <a:cs typeface="Arial" pitchFamily="34" charset="0"/>
              </a:rPr>
              <a:t>?</a:t>
            </a:r>
            <a:endParaRPr lang="pt-BR" sz="4000" b="1" dirty="0">
              <a:solidFill>
                <a:srgbClr val="C00000"/>
              </a:solidFill>
              <a:latin typeface="Arial" pitchFamily="34" charset="0"/>
              <a:ea typeface="+mj-ea"/>
              <a:cs typeface="Arial" pitchFamily="34" charset="0"/>
            </a:endParaRPr>
          </a:p>
          <a:p>
            <a:pPr>
              <a:buClrTx/>
              <a:buNone/>
              <a:defRPr/>
            </a:pPr>
            <a:r>
              <a:rPr lang="pt-BR" sz="4400" dirty="0">
                <a:latin typeface="Bauhaus 93" pitchFamily="82" charset="0"/>
                <a:cs typeface="Arial" pitchFamily="34" charset="0"/>
              </a:rPr>
              <a:t>Lembre-se:</a:t>
            </a:r>
          </a:p>
          <a:p>
            <a:pPr>
              <a:buClrTx/>
              <a:buNone/>
              <a:defRPr/>
            </a:pPr>
            <a:endParaRPr lang="pt-BR" sz="2400" dirty="0">
              <a:latin typeface="Arial" pitchFamily="34" charset="0"/>
              <a:cs typeface="Arial" pitchFamily="34" charset="0"/>
            </a:endParaRPr>
          </a:p>
          <a:p>
            <a:pPr>
              <a:spcBef>
                <a:spcPts val="1200"/>
              </a:spcBef>
              <a:buClrTx/>
              <a:defRPr/>
            </a:pPr>
            <a:r>
              <a:rPr lang="pt-BR" sz="2400" dirty="0">
                <a:latin typeface="Arial" pitchFamily="34" charset="0"/>
                <a:cs typeface="Arial" pitchFamily="34" charset="0"/>
              </a:rPr>
              <a:t>O problema é criado pelo próprio autor: inquietações pessoais, dúvidas comuns a um grupo social, lacunas sobre a questão ou problemas apontados pela literatura. </a:t>
            </a:r>
          </a:p>
          <a:p>
            <a:pPr>
              <a:spcBef>
                <a:spcPts val="1200"/>
              </a:spcBef>
              <a:buClrTx/>
              <a:defRPr/>
            </a:pPr>
            <a:r>
              <a:rPr lang="pt-BR" sz="2400" dirty="0">
                <a:latin typeface="Arial" pitchFamily="34" charset="0"/>
                <a:cs typeface="Arial" pitchFamily="34" charset="0"/>
              </a:rPr>
              <a:t>Um problema de pesquisa científica trata de como as coisas são, suas causas e conseqüências</a:t>
            </a:r>
          </a:p>
          <a:p>
            <a:pPr>
              <a:spcBef>
                <a:spcPts val="1200"/>
              </a:spcBef>
              <a:buClrTx/>
              <a:defRPr/>
            </a:pPr>
            <a:r>
              <a:rPr lang="pt-BR" sz="2400" dirty="0">
                <a:latin typeface="Arial" pitchFamily="34" charset="0"/>
                <a:cs typeface="Arial" pitchFamily="34" charset="0"/>
              </a:rPr>
              <a:t>Um problema de pesquisa deve ter sua solução alcançada por meio de pesquisas cientificas, e não pelo senso-comum. </a:t>
            </a:r>
          </a:p>
          <a:p>
            <a:pPr>
              <a:spcBef>
                <a:spcPts val="1200"/>
              </a:spcBef>
              <a:buClrTx/>
              <a:defRPr/>
            </a:pPr>
            <a:r>
              <a:rPr lang="pt-BR" sz="2400" dirty="0">
                <a:latin typeface="Arial" pitchFamily="34" charset="0"/>
                <a:cs typeface="Arial" pitchFamily="34" charset="0"/>
              </a:rPr>
              <a:t>Não confunda o problema de pesquisa com problemas práticos encontrados em uma área.</a:t>
            </a:r>
          </a:p>
          <a:p>
            <a:pPr>
              <a:buClrTx/>
              <a:buNone/>
              <a:defRPr/>
            </a:pPr>
            <a:r>
              <a:rPr lang="pt-BR" sz="800" dirty="0">
                <a:latin typeface="Arial" pitchFamily="34" charset="0"/>
                <a:cs typeface="Arial" pitchFamily="34" charset="0"/>
              </a:rPr>
              <a:t> </a:t>
            </a:r>
          </a:p>
          <a:p>
            <a:pPr marL="95250" indent="14288">
              <a:buClrTx/>
              <a:buNone/>
              <a:defRPr/>
            </a:pPr>
            <a:r>
              <a:rPr lang="pt-BR" sz="2400" b="1" dirty="0">
                <a:latin typeface="Arial" pitchFamily="34" charset="0"/>
                <a:cs typeface="Arial" pitchFamily="34" charset="0"/>
              </a:rPr>
              <a:t>       </a:t>
            </a:r>
            <a:endParaRPr lang="pt-BR" sz="3200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ço Reservado para Conteúdo 7"/>
          <p:cNvSpPr>
            <a:spLocks noGrp="1"/>
          </p:cNvSpPr>
          <p:nvPr>
            <p:ph sz="half" idx="4294967295"/>
          </p:nvPr>
        </p:nvSpPr>
        <p:spPr>
          <a:xfrm>
            <a:off x="0" y="476250"/>
            <a:ext cx="9144000" cy="6381750"/>
          </a:xfrm>
          <a:solidFill>
            <a:schemeClr val="tx2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pPr>
              <a:buNone/>
              <a:defRPr/>
            </a:pPr>
            <a:endParaRPr lang="pt-BR" sz="800" b="1" dirty="0">
              <a:solidFill>
                <a:schemeClr val="tx2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>
              <a:buNone/>
              <a:defRPr/>
            </a:pPr>
            <a:r>
              <a:rPr lang="pt-BR" b="1" dirty="0">
                <a:solidFill>
                  <a:schemeClr val="tx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`     Sugestões para a formulação do problema: </a:t>
            </a:r>
            <a:r>
              <a:rPr lang="pt-BR" b="1" dirty="0">
                <a:solidFill>
                  <a:srgbClr val="C00000"/>
                </a:solidFill>
                <a:latin typeface="Viner Hand ITC"/>
                <a:cs typeface="Arial" pitchFamily="34" charset="0"/>
              </a:rPr>
              <a:t>?</a:t>
            </a:r>
            <a:endParaRPr lang="pt-BR" dirty="0">
              <a:latin typeface="Arial" pitchFamily="34" charset="0"/>
              <a:cs typeface="Arial" pitchFamily="34" charset="0"/>
            </a:endParaRPr>
          </a:p>
          <a:p>
            <a:pPr>
              <a:buNone/>
              <a:defRPr/>
            </a:pPr>
            <a:endParaRPr lang="pt-BR" sz="800" b="1" dirty="0">
              <a:solidFill>
                <a:schemeClr val="tx2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>
              <a:buClrTx/>
              <a:defRPr/>
            </a:pPr>
            <a:r>
              <a:rPr lang="pt-BR" sz="2000" dirty="0">
                <a:latin typeface="Bookman Old Style" pitchFamily="18" charset="0"/>
                <a:cs typeface="Arial" pitchFamily="34" charset="0"/>
              </a:rPr>
              <a:t>Existe uma variedade de possibilidades de perguntas sobre o mesmo tema, escolha uma questão central.</a:t>
            </a:r>
          </a:p>
          <a:p>
            <a:pPr>
              <a:buClrTx/>
              <a:defRPr/>
            </a:pPr>
            <a:endParaRPr lang="pt-BR" sz="2000" dirty="0">
              <a:latin typeface="Bookman Old Style" pitchFamily="18" charset="0"/>
              <a:cs typeface="Arial" pitchFamily="34" charset="0"/>
            </a:endParaRPr>
          </a:p>
          <a:p>
            <a:pPr>
              <a:buClrTx/>
              <a:defRPr/>
            </a:pPr>
            <a:r>
              <a:rPr lang="pt-BR" sz="2000" dirty="0">
                <a:latin typeface="Bookman Old Style" pitchFamily="18" charset="0"/>
                <a:cs typeface="Arial" pitchFamily="34" charset="0"/>
              </a:rPr>
              <a:t>Redija  o problema sob a forma de pergunta. </a:t>
            </a:r>
          </a:p>
          <a:p>
            <a:pPr>
              <a:buClrTx/>
              <a:defRPr/>
            </a:pPr>
            <a:endParaRPr lang="pt-BR" sz="2000" dirty="0">
              <a:latin typeface="Bookman Old Style" pitchFamily="18" charset="0"/>
              <a:cs typeface="Arial" pitchFamily="34" charset="0"/>
            </a:endParaRPr>
          </a:p>
          <a:p>
            <a:pPr lvl="0">
              <a:buClrTx/>
              <a:defRPr/>
            </a:pPr>
            <a:r>
              <a:rPr lang="pt-BR" sz="2000" dirty="0">
                <a:latin typeface="Bookman Old Style" pitchFamily="18" charset="0"/>
                <a:cs typeface="Arial" pitchFamily="34" charset="0"/>
              </a:rPr>
              <a:t>Perguntas geralmente começam com pronomes interrogativos, tais como: </a:t>
            </a:r>
            <a:r>
              <a:rPr lang="pt-BR" sz="2000" b="1" dirty="0">
                <a:latin typeface="Bookman Old Style" pitchFamily="18" charset="0"/>
                <a:cs typeface="Arial" pitchFamily="34" charset="0"/>
              </a:rPr>
              <a:t>quem</a:t>
            </a:r>
            <a:r>
              <a:rPr lang="pt-BR" sz="2000" dirty="0">
                <a:latin typeface="Bookman Old Style" pitchFamily="18" charset="0"/>
                <a:cs typeface="Arial" pitchFamily="34" charset="0"/>
              </a:rPr>
              <a:t>, </a:t>
            </a:r>
            <a:r>
              <a:rPr lang="pt-BR" sz="2000" b="1" dirty="0">
                <a:latin typeface="Bookman Old Style" pitchFamily="18" charset="0"/>
                <a:cs typeface="Arial" pitchFamily="34" charset="0"/>
              </a:rPr>
              <a:t>quanto(a)(s), qual(is), o que, por que ou como</a:t>
            </a:r>
            <a:r>
              <a:rPr lang="pt-BR" sz="2000" dirty="0">
                <a:latin typeface="Bookman Old Style" pitchFamily="18" charset="0"/>
                <a:cs typeface="Arial" pitchFamily="34" charset="0"/>
              </a:rPr>
              <a:t>. Use essas palavras-chave.</a:t>
            </a:r>
          </a:p>
          <a:p>
            <a:pPr lvl="0">
              <a:buClrTx/>
              <a:defRPr/>
            </a:pPr>
            <a:endParaRPr lang="pt-BR" sz="2000" dirty="0">
              <a:latin typeface="Bookman Old Style" pitchFamily="18" charset="0"/>
              <a:cs typeface="Arial" pitchFamily="34" charset="0"/>
            </a:endParaRPr>
          </a:p>
          <a:p>
            <a:pPr>
              <a:buClrTx/>
              <a:defRPr/>
            </a:pPr>
            <a:r>
              <a:rPr lang="pt-BR" sz="2000" dirty="0">
                <a:latin typeface="Bookman Old Style" pitchFamily="18" charset="0"/>
                <a:cs typeface="Arial" pitchFamily="34" charset="0"/>
              </a:rPr>
              <a:t>O problema deve conter o tema delimitado e quanto mais específico ele for, mais clara será a seqüência da pesquisa.</a:t>
            </a:r>
          </a:p>
          <a:p>
            <a:pPr>
              <a:buClrTx/>
              <a:defRPr/>
            </a:pPr>
            <a:endParaRPr lang="pt-BR" sz="2000" dirty="0">
              <a:latin typeface="Bookman Old Style" pitchFamily="18" charset="0"/>
              <a:cs typeface="Arial" pitchFamily="34" charset="0"/>
            </a:endParaRPr>
          </a:p>
          <a:p>
            <a:pPr>
              <a:buClrTx/>
              <a:defRPr/>
            </a:pPr>
            <a:r>
              <a:rPr lang="pt-BR" sz="2000" dirty="0">
                <a:latin typeface="Bookman Old Style" pitchFamily="18" charset="0"/>
                <a:cs typeface="Arial" pitchFamily="34" charset="0"/>
              </a:rPr>
              <a:t>É possível formular o problema transformando em pergunta o tema delimitado.</a:t>
            </a:r>
          </a:p>
          <a:p>
            <a:pPr eaLnBrk="1" hangingPunct="1">
              <a:defRPr/>
            </a:pPr>
            <a:endParaRPr lang="pt-BR" sz="2000" dirty="0">
              <a:latin typeface="Bookman Old Style" pitchFamily="18" charset="0"/>
              <a:cs typeface="Arial" pitchFamily="34" charset="0"/>
            </a:endParaRPr>
          </a:p>
          <a:p>
            <a:pPr lvl="0">
              <a:defRPr/>
            </a:pPr>
            <a:r>
              <a:rPr lang="pt-BR" sz="2000" b="1" dirty="0">
                <a:latin typeface="Bookman Old Style" pitchFamily="18" charset="0"/>
              </a:rPr>
              <a:t>Pense no tempo que será gasto para responder seu problema. </a:t>
            </a:r>
            <a:endParaRPr lang="pt-BR" sz="2000" dirty="0">
              <a:latin typeface="Bookman Old Style" pitchFamily="18" charset="0"/>
            </a:endParaRPr>
          </a:p>
          <a:p>
            <a:pPr eaLnBrk="1" hangingPunct="1">
              <a:defRPr/>
            </a:pPr>
            <a:endParaRPr lang="pt-BR" sz="2000" dirty="0">
              <a:latin typeface="Bookman Old Style" pitchFamily="18" charset="0"/>
              <a:cs typeface="Arial" pitchFamily="34" charset="0"/>
            </a:endParaRPr>
          </a:p>
          <a:p>
            <a:pPr eaLnBrk="1" hangingPunct="1">
              <a:defRPr/>
            </a:pPr>
            <a:endParaRPr lang="pt-BR" sz="1050" dirty="0">
              <a:latin typeface="Arial" pitchFamily="34" charset="0"/>
              <a:cs typeface="Arial" pitchFamily="34" charset="0"/>
            </a:endParaRPr>
          </a:p>
          <a:p>
            <a:pPr eaLnBrk="1" hangingPunct="1">
              <a:defRPr/>
            </a:pPr>
            <a:endParaRPr lang="pt-BR" sz="1050" dirty="0">
              <a:latin typeface="Arial" pitchFamily="34" charset="0"/>
              <a:cs typeface="Arial" pitchFamily="34" charset="0"/>
            </a:endParaRPr>
          </a:p>
          <a:p>
            <a:pPr marL="365760" indent="-283464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endParaRPr lang="pt-BR" sz="3200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3" name="Picture 3" descr="F:\unip\dicas.gi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548680"/>
            <a:ext cx="766732" cy="620688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900" decel="1000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900" decel="100000" fill="hold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900" decel="100000" fill="hold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900" decel="100000" fill="hold"/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900" decel="100000" fill="hold"/>
                                        <p:tgtEl>
                                          <p:spTgt spid="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900" decel="100000" fill="hold"/>
                                        <p:tgtEl>
                                          <p:spTgt spid="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ço Reservado para Conteúdo 7"/>
          <p:cNvSpPr>
            <a:spLocks noGrp="1"/>
          </p:cNvSpPr>
          <p:nvPr>
            <p:ph sz="half" idx="4294967295"/>
          </p:nvPr>
        </p:nvSpPr>
        <p:spPr>
          <a:xfrm>
            <a:off x="0" y="0"/>
            <a:ext cx="9144000" cy="6858000"/>
          </a:xfrm>
          <a:solidFill>
            <a:schemeClr val="accent5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pPr marL="95250" indent="14288" algn="ctr">
              <a:buNone/>
              <a:defRPr/>
            </a:pPr>
            <a:endParaRPr lang="pt-BR" sz="800" b="1" dirty="0">
              <a:solidFill>
                <a:schemeClr val="tx2"/>
              </a:solidFill>
              <a:latin typeface="Arial" pitchFamily="34" charset="0"/>
              <a:ea typeface="+mj-ea"/>
              <a:cs typeface="Arial" pitchFamily="34" charset="0"/>
            </a:endParaRPr>
          </a:p>
          <a:p>
            <a:pPr marL="95250" indent="14288" algn="ctr">
              <a:buNone/>
              <a:defRPr/>
            </a:pPr>
            <a:r>
              <a:rPr lang="pt-BR" sz="4000" b="1" dirty="0">
                <a:latin typeface="Arial" pitchFamily="34" charset="0"/>
                <a:ea typeface="+mj-ea"/>
                <a:cs typeface="Arial" pitchFamily="34" charset="0"/>
              </a:rPr>
              <a:t>HIPÓTESE </a:t>
            </a:r>
          </a:p>
          <a:p>
            <a:pPr marL="95250" indent="14288" algn="ctr">
              <a:buNone/>
              <a:defRPr/>
            </a:pPr>
            <a:endParaRPr lang="pt-BR" sz="4000" b="1" dirty="0">
              <a:latin typeface="Arial" pitchFamily="34" charset="0"/>
              <a:ea typeface="+mj-ea"/>
              <a:cs typeface="Arial" pitchFamily="34" charset="0"/>
            </a:endParaRPr>
          </a:p>
          <a:p>
            <a:pPr marL="95250" indent="14288" algn="ctr">
              <a:buNone/>
              <a:defRPr/>
            </a:pPr>
            <a:endParaRPr lang="pt-BR" sz="1400" b="1" dirty="0">
              <a:solidFill>
                <a:schemeClr val="tx2"/>
              </a:solidFill>
              <a:latin typeface="Arial" pitchFamily="34" charset="0"/>
              <a:ea typeface="+mj-ea"/>
              <a:cs typeface="Arial" pitchFamily="34" charset="0"/>
            </a:endParaRPr>
          </a:p>
          <a:p>
            <a:pPr marL="95250" indent="14288" algn="ctr">
              <a:buNone/>
              <a:defRPr/>
            </a:pPr>
            <a:endParaRPr lang="pt-BR" sz="1400" b="1" dirty="0">
              <a:solidFill>
                <a:schemeClr val="tx2"/>
              </a:solidFill>
              <a:latin typeface="Arial" pitchFamily="34" charset="0"/>
              <a:ea typeface="+mj-ea"/>
              <a:cs typeface="Arial" pitchFamily="34" charset="0"/>
            </a:endParaRPr>
          </a:p>
          <a:p>
            <a:pPr marL="95250" indent="14288" algn="ctr">
              <a:buNone/>
              <a:defRPr/>
            </a:pPr>
            <a:r>
              <a:rPr lang="pt-BR" sz="2600" b="1" i="1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É a resposta provisória que o pesquisador considera </a:t>
            </a:r>
          </a:p>
          <a:p>
            <a:pPr marL="95250" indent="14288" algn="ctr">
              <a:buNone/>
              <a:defRPr/>
            </a:pPr>
            <a:r>
              <a:rPr lang="pt-BR" sz="2600" b="1" i="1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que vai responder seu problema de investigação. </a:t>
            </a:r>
            <a:br>
              <a:rPr lang="pt-BR" sz="2200" b="1" i="1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</a:br>
            <a:endParaRPr lang="pt-BR" sz="2200" b="1" i="1" dirty="0">
              <a:solidFill>
                <a:srgbClr val="C00000"/>
              </a:solidFill>
              <a:latin typeface="Arial" pitchFamily="34" charset="0"/>
              <a:cs typeface="Arial" pitchFamily="34" charset="0"/>
            </a:endParaRPr>
          </a:p>
          <a:p>
            <a:pPr marL="95250" indent="14288" algn="ctr">
              <a:buNone/>
              <a:defRPr/>
            </a:pPr>
            <a:endParaRPr lang="pt-BR" sz="2200" b="1" i="1" dirty="0">
              <a:solidFill>
                <a:srgbClr val="C00000"/>
              </a:solidFill>
              <a:latin typeface="Arial" pitchFamily="34" charset="0"/>
              <a:cs typeface="Arial" pitchFamily="34" charset="0"/>
            </a:endParaRPr>
          </a:p>
          <a:p>
            <a:pPr marL="365125" indent="-9525">
              <a:buClrTx/>
              <a:buFont typeface="Wingdings" pitchFamily="2" charset="2"/>
              <a:buChar char="v"/>
              <a:defRPr/>
            </a:pPr>
            <a:r>
              <a:rPr lang="pt-BR" sz="2400" dirty="0">
                <a:latin typeface="Arial" pitchFamily="34" charset="0"/>
                <a:cs typeface="Arial" pitchFamily="34" charset="0"/>
              </a:rPr>
              <a:t>Parte das pesquisas científicas é conduzida no sentido de confirmar ou negar hipóteses sobre um fenômeno.</a:t>
            </a:r>
          </a:p>
          <a:p>
            <a:pPr marL="365125" indent="-9525">
              <a:buClrTx/>
              <a:buNone/>
              <a:defRPr/>
            </a:pPr>
            <a:endParaRPr lang="pt-BR" sz="2400" dirty="0">
              <a:latin typeface="Arial" pitchFamily="34" charset="0"/>
              <a:cs typeface="Arial" pitchFamily="34" charset="0"/>
            </a:endParaRPr>
          </a:p>
          <a:p>
            <a:pPr marL="365125" indent="-9525">
              <a:buClrTx/>
              <a:buFont typeface="Wingdings" pitchFamily="2" charset="2"/>
              <a:buChar char="v"/>
              <a:defRPr/>
            </a:pPr>
            <a:r>
              <a:rPr lang="pt-BR" sz="2400" dirty="0">
                <a:latin typeface="Arial" pitchFamily="34" charset="0"/>
                <a:cs typeface="Arial" pitchFamily="34" charset="0"/>
              </a:rPr>
              <a:t>As hipóteses provem de teorias, de outras pesquisas, de observações empíricas ou da </a:t>
            </a:r>
            <a:r>
              <a:rPr lang="pt-BR" sz="2400">
                <a:latin typeface="Arial" pitchFamily="34" charset="0"/>
                <a:cs typeface="Arial" pitchFamily="34" charset="0"/>
              </a:rPr>
              <a:t>intiuição</a:t>
            </a:r>
            <a:r>
              <a:rPr lang="pt-BR" sz="2400" dirty="0">
                <a:latin typeface="Arial" pitchFamily="34" charset="0"/>
                <a:cs typeface="Arial" pitchFamily="34" charset="0"/>
              </a:rPr>
              <a:t>.</a:t>
            </a:r>
            <a:r>
              <a:rPr lang="pt-BR" sz="2400" i="1" dirty="0">
                <a:latin typeface="Arial" pitchFamily="34" charset="0"/>
                <a:cs typeface="Arial" pitchFamily="34" charset="0"/>
              </a:rPr>
              <a:t> </a:t>
            </a:r>
          </a:p>
          <a:p>
            <a:pPr>
              <a:defRPr/>
            </a:pPr>
            <a:endParaRPr lang="pt-BR" sz="2000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3" name="Imagem 2" descr="lampada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1619672" cy="196256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900" decel="100000" fill="hold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900" decel="100000" fill="hold"/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9295DC-4D44-4EDB-B200-43A44751FA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64704"/>
            <a:ext cx="8229600" cy="1066800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br>
              <a:rPr lang="pt-BR" dirty="0">
                <a:solidFill>
                  <a:schemeClr val="accent6"/>
                </a:solidFill>
              </a:rPr>
            </a:br>
            <a:r>
              <a:rPr lang="pt-BR" b="1" dirty="0">
                <a:solidFill>
                  <a:schemeClr val="accent6"/>
                </a:solidFill>
              </a:rPr>
              <a:t>HIPÓTESES OU SUPOSIÇÕES: </a:t>
            </a:r>
            <a:br>
              <a:rPr lang="pt-BR" b="1" dirty="0">
                <a:solidFill>
                  <a:schemeClr val="accent6"/>
                </a:solidFill>
              </a:rPr>
            </a:br>
            <a:endParaRPr lang="pt-BR" dirty="0">
              <a:solidFill>
                <a:schemeClr val="accent6"/>
              </a:solidFill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12A9CA0-FBCE-4A8A-A454-E9313518A2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4569" y="1759935"/>
            <a:ext cx="8229600" cy="4325112"/>
          </a:xfrm>
        </p:spPr>
        <p:txBody>
          <a:bodyPr rtlCol="0">
            <a:normAutofit fontScale="92500" lnSpcReduction="1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endParaRPr lang="pt-BR" dirty="0"/>
          </a:p>
          <a:p>
            <a:pPr eaLnBrk="1" fontAlgn="auto" hangingPunct="1">
              <a:spcAft>
                <a:spcPts val="0"/>
              </a:spcAft>
              <a:defRPr/>
            </a:pPr>
            <a:r>
              <a:rPr lang="pt-BR" dirty="0"/>
              <a:t>A(s) hipótese(s) devem mostrar aquilo que o pesquisador visualiza </a:t>
            </a:r>
            <a:r>
              <a:rPr lang="pt-BR" b="1" dirty="0">
                <a:solidFill>
                  <a:srgbClr val="FF0000"/>
                </a:solidFill>
              </a:rPr>
              <a:t>antes</a:t>
            </a:r>
            <a:r>
              <a:rPr lang="pt-BR" dirty="0"/>
              <a:t> de realizar a pesquisa como resposta mais adequada aos problemas em estudo. 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pt-BR" u="sng" dirty="0">
                <a:solidFill>
                  <a:srgbClr val="FF0000"/>
                </a:solidFill>
              </a:rPr>
              <a:t>É uma afirmação ou algumas</a:t>
            </a:r>
            <a:r>
              <a:rPr lang="pt-BR" dirty="0"/>
              <a:t>. Uma verdade momentânea que será </a:t>
            </a:r>
            <a:r>
              <a:rPr lang="pt-BR" u="sng" dirty="0"/>
              <a:t>confirmada</a:t>
            </a:r>
            <a:r>
              <a:rPr lang="pt-BR" dirty="0"/>
              <a:t> ou </a:t>
            </a:r>
            <a:r>
              <a:rPr lang="pt-BR" u="sng" dirty="0"/>
              <a:t>refutada/rejeitada</a:t>
            </a:r>
            <a:r>
              <a:rPr lang="pt-BR" dirty="0"/>
              <a:t> ao longo da pesquisa. 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pt-BR" dirty="0"/>
              <a:t>O termo “Hipóteses” é adequado às Pesquisas Quantitativas. Em Pesquisas Qualitativas, o termo adequado é “Suposições”. </a:t>
            </a:r>
          </a:p>
          <a:p>
            <a:pPr eaLnBrk="1" fontAlgn="auto" hangingPunct="1">
              <a:spcAft>
                <a:spcPts val="0"/>
              </a:spcAft>
              <a:defRPr/>
            </a:pPr>
            <a:endParaRPr lang="pt-BR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FD0AC6-FB4E-4A44-AF2B-17851BA56A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908720"/>
            <a:ext cx="8229600" cy="1066800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br>
              <a:rPr lang="pt-BR" dirty="0">
                <a:solidFill>
                  <a:schemeClr val="accent6"/>
                </a:solidFill>
              </a:rPr>
            </a:br>
            <a:r>
              <a:rPr lang="pt-BR" b="1" dirty="0">
                <a:solidFill>
                  <a:schemeClr val="accent6"/>
                </a:solidFill>
              </a:rPr>
              <a:t>HIPÓTESES OU SUPOSIÇÕES: </a:t>
            </a:r>
            <a:br>
              <a:rPr lang="pt-BR" b="1" dirty="0">
                <a:solidFill>
                  <a:schemeClr val="accent6"/>
                </a:solidFill>
              </a:rPr>
            </a:br>
            <a:endParaRPr lang="pt-BR" dirty="0">
              <a:solidFill>
                <a:schemeClr val="accent6"/>
              </a:solidFill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69D895D-2880-4C67-8533-41A83F9B97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143397"/>
            <a:ext cx="8401050" cy="4525963"/>
          </a:xfrm>
        </p:spPr>
        <p:txBody>
          <a:bodyPr rtlCol="0">
            <a:normAutofit fontScale="925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endParaRPr lang="pt-BR" dirty="0"/>
          </a:p>
          <a:p>
            <a:pPr eaLnBrk="1" fontAlgn="auto" hangingPunct="1">
              <a:spcAft>
                <a:spcPts val="0"/>
              </a:spcAft>
              <a:defRPr/>
            </a:pPr>
            <a:r>
              <a:rPr lang="pt-BR" dirty="0"/>
              <a:t>No  Projeto de Graduação </a:t>
            </a:r>
            <a:r>
              <a:rPr lang="pt-BR" b="1" dirty="0">
                <a:solidFill>
                  <a:srgbClr val="FF0000"/>
                </a:solidFill>
              </a:rPr>
              <a:t>ENUMERE</a:t>
            </a:r>
            <a:r>
              <a:rPr lang="pt-BR" dirty="0"/>
              <a:t> suas hipóteses, por exemplo:</a:t>
            </a:r>
          </a:p>
          <a:p>
            <a:pPr marL="0" indent="0" algn="ctr" eaLnBrk="1" hangingPunct="1">
              <a:buFont typeface="Arial" charset="0"/>
              <a:buNone/>
              <a:defRPr/>
            </a:pPr>
            <a:endParaRPr lang="pt-BR" dirty="0"/>
          </a:p>
          <a:p>
            <a:pPr marL="0" indent="0" eaLnBrk="1" hangingPunct="1">
              <a:buFont typeface="Arial" charset="0"/>
              <a:buNone/>
              <a:defRPr/>
            </a:pPr>
            <a:r>
              <a:rPr lang="pt-BR" dirty="0"/>
              <a:t>Hipótese 1 - </a:t>
            </a:r>
            <a:r>
              <a:rPr lang="en-US" altLang="pt-BR" dirty="0"/>
              <a:t>O </a:t>
            </a:r>
            <a:r>
              <a:rPr lang="en-US" altLang="pt-BR" dirty="0" err="1"/>
              <a:t>óleo</a:t>
            </a:r>
            <a:r>
              <a:rPr lang="en-US" altLang="pt-BR" dirty="0"/>
              <a:t> de </a:t>
            </a:r>
            <a:r>
              <a:rPr lang="en-US" altLang="pt-BR" dirty="0" err="1"/>
              <a:t>soja</a:t>
            </a:r>
            <a:r>
              <a:rPr lang="en-US" altLang="pt-BR" dirty="0"/>
              <a:t> tem </a:t>
            </a:r>
            <a:r>
              <a:rPr lang="en-US" altLang="pt-BR" dirty="0" err="1"/>
              <a:t>melhor</a:t>
            </a:r>
            <a:r>
              <a:rPr lang="en-US" altLang="pt-BR" dirty="0"/>
              <a:t> </a:t>
            </a:r>
            <a:r>
              <a:rPr lang="en-US" altLang="pt-BR" dirty="0" err="1"/>
              <a:t>rendimento</a:t>
            </a:r>
            <a:r>
              <a:rPr lang="en-US" altLang="pt-BR" dirty="0"/>
              <a:t> </a:t>
            </a:r>
            <a:r>
              <a:rPr lang="en-US" altLang="pt-BR" dirty="0" err="1"/>
              <a:t>que</a:t>
            </a:r>
            <a:r>
              <a:rPr lang="en-US" altLang="pt-BR" dirty="0"/>
              <a:t> o de </a:t>
            </a:r>
            <a:r>
              <a:rPr lang="en-US" altLang="pt-BR" dirty="0" err="1"/>
              <a:t>girassol</a:t>
            </a:r>
            <a:r>
              <a:rPr lang="en-US" altLang="pt-BR" dirty="0"/>
              <a:t>.</a:t>
            </a:r>
          </a:p>
          <a:p>
            <a:pPr marL="0" indent="0" eaLnBrk="1" hangingPunct="1">
              <a:buFont typeface="Arial" charset="0"/>
              <a:buNone/>
              <a:defRPr/>
            </a:pPr>
            <a:endParaRPr lang="en-US" altLang="pt-BR" dirty="0"/>
          </a:p>
          <a:p>
            <a:pPr marL="0" indent="0" eaLnBrk="1" hangingPunct="1">
              <a:buFont typeface="Arial" charset="0"/>
              <a:buNone/>
              <a:defRPr/>
            </a:pPr>
            <a:r>
              <a:rPr lang="pt-BR" dirty="0"/>
              <a:t>Hipótese 2 -</a:t>
            </a:r>
            <a:r>
              <a:rPr lang="en-US" altLang="pt-BR" dirty="0"/>
              <a:t> </a:t>
            </a:r>
            <a:r>
              <a:rPr lang="en-US" altLang="pt-BR" dirty="0" err="1"/>
              <a:t>Existe</a:t>
            </a:r>
            <a:r>
              <a:rPr lang="en-US" altLang="pt-BR" dirty="0"/>
              <a:t> </a:t>
            </a:r>
            <a:r>
              <a:rPr lang="en-US" altLang="pt-BR" dirty="0" err="1"/>
              <a:t>diferença</a:t>
            </a:r>
            <a:r>
              <a:rPr lang="en-US" altLang="pt-BR" dirty="0"/>
              <a:t> </a:t>
            </a:r>
            <a:r>
              <a:rPr lang="en-US" altLang="pt-BR" dirty="0" err="1"/>
              <a:t>neste</a:t>
            </a:r>
            <a:r>
              <a:rPr lang="en-US" altLang="pt-BR" dirty="0"/>
              <a:t> </a:t>
            </a:r>
            <a:r>
              <a:rPr lang="en-US" altLang="pt-BR" dirty="0" err="1"/>
              <a:t>rendimento</a:t>
            </a:r>
            <a:r>
              <a:rPr lang="en-US" altLang="pt-BR" dirty="0"/>
              <a:t>, se </a:t>
            </a:r>
            <a:r>
              <a:rPr lang="en-US" altLang="pt-BR" dirty="0" err="1"/>
              <a:t>houver</a:t>
            </a:r>
            <a:r>
              <a:rPr lang="en-US" altLang="pt-BR" dirty="0"/>
              <a:t> </a:t>
            </a:r>
            <a:r>
              <a:rPr lang="en-US" altLang="pt-BR" dirty="0" err="1"/>
              <a:t>troca</a:t>
            </a:r>
            <a:r>
              <a:rPr lang="en-US" altLang="pt-BR" dirty="0"/>
              <a:t> de </a:t>
            </a:r>
            <a:r>
              <a:rPr lang="en-US" altLang="pt-BR" dirty="0" err="1"/>
              <a:t>catalisador</a:t>
            </a:r>
            <a:r>
              <a:rPr lang="en-US" altLang="pt-BR" dirty="0"/>
              <a:t>.</a:t>
            </a:r>
          </a:p>
          <a:p>
            <a:pPr marL="0" indent="0" eaLnBrk="1" hangingPunct="1">
              <a:buFont typeface="Arial" charset="0"/>
              <a:buNone/>
              <a:defRPr/>
            </a:pPr>
            <a:endParaRPr lang="en-US" altLang="pt-BR" dirty="0"/>
          </a:p>
          <a:p>
            <a:pPr marL="0" indent="0" eaLnBrk="1" hangingPunct="1">
              <a:buFont typeface="Arial" charset="0"/>
              <a:buNone/>
              <a:defRPr/>
            </a:pPr>
            <a:r>
              <a:rPr lang="pt-BR" dirty="0"/>
              <a:t>Hipótese 3 - </a:t>
            </a:r>
            <a:r>
              <a:rPr lang="en-US" altLang="pt-BR" dirty="0"/>
              <a:t>Com o </a:t>
            </a:r>
            <a:r>
              <a:rPr lang="en-US" altLang="pt-BR" dirty="0" err="1"/>
              <a:t>catalisador</a:t>
            </a:r>
            <a:r>
              <a:rPr lang="en-US" altLang="pt-BR" dirty="0"/>
              <a:t> </a:t>
            </a:r>
            <a:r>
              <a:rPr lang="en-US" altLang="pt-BR" dirty="0" err="1"/>
              <a:t>hidróxido</a:t>
            </a:r>
            <a:r>
              <a:rPr lang="en-US" altLang="pt-BR" dirty="0"/>
              <a:t> de </a:t>
            </a:r>
            <a:r>
              <a:rPr lang="en-US" altLang="pt-BR" dirty="0" err="1"/>
              <a:t>sódio</a:t>
            </a:r>
            <a:r>
              <a:rPr lang="en-US" altLang="pt-BR" dirty="0"/>
              <a:t> o </a:t>
            </a:r>
            <a:r>
              <a:rPr lang="en-US" altLang="pt-BR" dirty="0" err="1"/>
              <a:t>rendimento</a:t>
            </a:r>
            <a:r>
              <a:rPr lang="en-US" altLang="pt-BR" dirty="0"/>
              <a:t> </a:t>
            </a:r>
            <a:r>
              <a:rPr lang="en-US" altLang="pt-BR" dirty="0" err="1"/>
              <a:t>será</a:t>
            </a:r>
            <a:r>
              <a:rPr lang="en-US" altLang="pt-BR" dirty="0"/>
              <a:t> </a:t>
            </a:r>
            <a:r>
              <a:rPr lang="en-US" altLang="pt-BR" dirty="0" err="1"/>
              <a:t>maior</a:t>
            </a:r>
            <a:r>
              <a:rPr lang="en-US" altLang="pt-BR" dirty="0"/>
              <a:t> </a:t>
            </a:r>
            <a:r>
              <a:rPr lang="en-US" altLang="pt-BR" dirty="0" err="1"/>
              <a:t>para</a:t>
            </a:r>
            <a:r>
              <a:rPr lang="en-US" altLang="pt-BR" dirty="0"/>
              <a:t> </a:t>
            </a:r>
            <a:r>
              <a:rPr lang="en-US" altLang="pt-BR" dirty="0" err="1"/>
              <a:t>os</a:t>
            </a:r>
            <a:r>
              <a:rPr lang="en-US" altLang="pt-BR" dirty="0"/>
              <a:t> </a:t>
            </a:r>
            <a:r>
              <a:rPr lang="en-US" altLang="pt-BR" dirty="0" err="1"/>
              <a:t>dois</a:t>
            </a:r>
            <a:r>
              <a:rPr lang="en-US" altLang="pt-BR" dirty="0"/>
              <a:t> </a:t>
            </a:r>
            <a:r>
              <a:rPr lang="en-US" altLang="pt-BR" dirty="0" err="1"/>
              <a:t>óleos</a:t>
            </a:r>
            <a:r>
              <a:rPr lang="en-US" altLang="pt-BR" dirty="0"/>
              <a:t>. </a:t>
            </a:r>
            <a:endParaRPr lang="pt-BR" altLang="pt-BR" dirty="0"/>
          </a:p>
          <a:p>
            <a:pPr eaLnBrk="1" fontAlgn="auto" hangingPunct="1">
              <a:spcAft>
                <a:spcPts val="0"/>
              </a:spcAft>
              <a:defRPr/>
            </a:pPr>
            <a:endParaRPr lang="pt-BR" dirty="0"/>
          </a:p>
          <a:p>
            <a:pPr eaLnBrk="1" fontAlgn="auto" hangingPunct="1">
              <a:spcAft>
                <a:spcPts val="0"/>
              </a:spcAft>
              <a:defRPr/>
            </a:pPr>
            <a:endParaRPr lang="pt-BR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ço Reservado para Conteúdo 7"/>
          <p:cNvSpPr>
            <a:spLocks noGrp="1"/>
          </p:cNvSpPr>
          <p:nvPr>
            <p:ph sz="half" idx="4294967295"/>
          </p:nvPr>
        </p:nvSpPr>
        <p:spPr>
          <a:xfrm>
            <a:off x="0" y="0"/>
            <a:ext cx="9144000" cy="6858000"/>
          </a:xfrm>
          <a:solidFill>
            <a:schemeClr val="accent2">
              <a:lumMod val="60000"/>
              <a:lumOff val="40000"/>
            </a:schemeClr>
          </a:solidFill>
        </p:spPr>
        <p:txBody>
          <a:bodyPr>
            <a:noAutofit/>
          </a:bodyPr>
          <a:lstStyle/>
          <a:p>
            <a:pPr marL="95250" indent="14288" algn="ctr">
              <a:buNone/>
              <a:defRPr/>
            </a:pPr>
            <a:endParaRPr lang="pt-BR" sz="800" b="1" dirty="0">
              <a:solidFill>
                <a:schemeClr val="tx2"/>
              </a:solidFill>
              <a:latin typeface="Arial" pitchFamily="34" charset="0"/>
              <a:ea typeface="+mj-ea"/>
              <a:cs typeface="Arial" pitchFamily="34" charset="0"/>
            </a:endParaRPr>
          </a:p>
          <a:p>
            <a:pPr marL="95250" indent="14288" algn="ctr">
              <a:buNone/>
              <a:defRPr/>
            </a:pPr>
            <a:r>
              <a:rPr lang="pt-BR" sz="3200" b="1" dirty="0">
                <a:latin typeface="Arial" pitchFamily="34" charset="0"/>
                <a:ea typeface="+mj-ea"/>
                <a:cs typeface="Arial" pitchFamily="34" charset="0"/>
              </a:rPr>
              <a:t>OBJETIVOS</a:t>
            </a:r>
          </a:p>
          <a:p>
            <a:pPr marL="95250" indent="14288" algn="ctr">
              <a:buNone/>
              <a:defRPr/>
            </a:pPr>
            <a:endParaRPr lang="pt-BR" sz="800" b="1" dirty="0">
              <a:solidFill>
                <a:schemeClr val="tx2"/>
              </a:solidFill>
              <a:latin typeface="Arial" pitchFamily="34" charset="0"/>
              <a:ea typeface="+mj-ea"/>
              <a:cs typeface="Arial" pitchFamily="34" charset="0"/>
            </a:endParaRPr>
          </a:p>
          <a:p>
            <a:pPr marL="95250" indent="14288" algn="ctr">
              <a:buNone/>
              <a:defRPr/>
            </a:pPr>
            <a:r>
              <a:rPr lang="pt-BR" sz="2000" b="1" i="1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Apresenta o que o pesquisador quer atingir  </a:t>
            </a:r>
          </a:p>
          <a:p>
            <a:pPr marL="95250" indent="14288" algn="ctr">
              <a:buNone/>
              <a:defRPr/>
            </a:pPr>
            <a:r>
              <a:rPr lang="pt-BR" sz="2000" b="1" i="1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com a realização do trabalho de pesquisa.</a:t>
            </a:r>
            <a:r>
              <a:rPr lang="pt-BR" sz="2000" b="1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 </a:t>
            </a:r>
            <a:endParaRPr lang="pt-BR" sz="2400" dirty="0">
              <a:latin typeface="Arial" pitchFamily="34" charset="0"/>
              <a:cs typeface="Arial" pitchFamily="34" charset="0"/>
            </a:endParaRPr>
          </a:p>
          <a:p>
            <a:pPr>
              <a:defRPr/>
            </a:pPr>
            <a:endParaRPr lang="pt-BR" dirty="0">
              <a:cs typeface="Arial" pitchFamily="34" charset="0"/>
            </a:endParaRPr>
          </a:p>
          <a:p>
            <a:pPr>
              <a:buNone/>
              <a:defRPr/>
            </a:pPr>
            <a:r>
              <a:rPr lang="pt-BR" dirty="0">
                <a:cs typeface="Arial" pitchFamily="34" charset="0"/>
              </a:rPr>
              <a:t>	            Responda: </a:t>
            </a:r>
          </a:p>
          <a:p>
            <a:r>
              <a:rPr lang="pt-BR" dirty="0"/>
              <a:t>Para quê a pesquisa?</a:t>
            </a:r>
          </a:p>
          <a:p>
            <a:r>
              <a:rPr lang="pt-BR" dirty="0"/>
              <a:t>Para quem deve ser a pesquisa?</a:t>
            </a:r>
          </a:p>
          <a:p>
            <a:pPr>
              <a:buNone/>
              <a:defRPr/>
            </a:pPr>
            <a:r>
              <a:rPr lang="pt-BR" sz="2000" b="1" dirty="0">
                <a:latin typeface="Arial" pitchFamily="34" charset="0"/>
                <a:cs typeface="Arial" pitchFamily="34" charset="0"/>
              </a:rPr>
              <a:t> </a:t>
            </a:r>
          </a:p>
          <a:p>
            <a:pPr>
              <a:buNone/>
              <a:defRPr/>
            </a:pPr>
            <a:r>
              <a:rPr lang="pt-BR" sz="2000" b="1" dirty="0">
                <a:latin typeface="Arial" pitchFamily="34" charset="0"/>
                <a:cs typeface="Arial" pitchFamily="34" charset="0"/>
              </a:rPr>
              <a:t>Sugestões: </a:t>
            </a:r>
          </a:p>
          <a:p>
            <a:pPr marL="95250" lvl="1" indent="0">
              <a:spcBef>
                <a:spcPts val="1200"/>
              </a:spcBef>
              <a:defRPr/>
            </a:pPr>
            <a:r>
              <a:rPr lang="pt-BR" sz="24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O objetivo da pesquisa deve ter relação com o tema delimitado. </a:t>
            </a:r>
          </a:p>
          <a:p>
            <a:pPr marL="95250" lvl="1" indent="0">
              <a:spcBef>
                <a:spcPts val="1200"/>
              </a:spcBef>
              <a:defRPr/>
            </a:pPr>
            <a:r>
              <a:rPr lang="pt-BR" sz="24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Iniciar a exposição do objetivo com os seguintes verbos no infinito: </a:t>
            </a:r>
            <a:r>
              <a:rPr lang="pt-BR" sz="2400" i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esclarecer, definir, buscar, procurar, permitir, demonstrar, verificar, constatar, analisar, etc. </a:t>
            </a:r>
          </a:p>
          <a:p>
            <a:pPr marL="95250" lvl="1" indent="0">
              <a:spcBef>
                <a:spcPts val="1200"/>
              </a:spcBef>
              <a:defRPr/>
            </a:pPr>
            <a:r>
              <a:rPr lang="pt-BR" sz="24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Aqui é recomendável a exposição por meio de itens. </a:t>
            </a:r>
          </a:p>
        </p:txBody>
      </p:sp>
      <p:pic>
        <p:nvPicPr>
          <p:cNvPr id="3" name="Imagem 2" descr="alvo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0" y="1"/>
            <a:ext cx="1901894" cy="1556792"/>
          </a:xfrm>
          <a:prstGeom prst="rect">
            <a:avLst/>
          </a:prstGeom>
        </p:spPr>
      </p:pic>
      <p:pic>
        <p:nvPicPr>
          <p:cNvPr id="4" name="Picture 3" descr="F:\unip\dicas.gif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483768" y="3717032"/>
            <a:ext cx="720080" cy="58292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1336226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4" dur="500"/>
                                        <p:tgtEl>
                                          <p:spTgt spid="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9" dur="500"/>
                                        <p:tgtEl>
                                          <p:spTgt spid="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4" dur="500"/>
                                        <p:tgtEl>
                                          <p:spTgt spid="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ço Reservado para Conteúdo 7"/>
          <p:cNvSpPr>
            <a:spLocks noGrp="1"/>
          </p:cNvSpPr>
          <p:nvPr>
            <p:ph sz="half" idx="4294967295"/>
          </p:nvPr>
        </p:nvSpPr>
        <p:spPr>
          <a:xfrm>
            <a:off x="0" y="0"/>
            <a:ext cx="9144000" cy="6858000"/>
          </a:xfrm>
          <a:solidFill>
            <a:schemeClr val="accent2">
              <a:lumMod val="60000"/>
              <a:lumOff val="40000"/>
            </a:schemeClr>
          </a:solidFill>
        </p:spPr>
        <p:txBody>
          <a:bodyPr>
            <a:noAutofit/>
          </a:bodyPr>
          <a:lstStyle/>
          <a:p>
            <a:pPr marL="95250" indent="14288" algn="ctr">
              <a:buNone/>
              <a:defRPr/>
            </a:pPr>
            <a:endParaRPr lang="pt-BR" sz="800" b="1" dirty="0">
              <a:solidFill>
                <a:schemeClr val="tx2"/>
              </a:solidFill>
              <a:latin typeface="Arial" pitchFamily="34" charset="0"/>
              <a:ea typeface="+mj-ea"/>
              <a:cs typeface="Arial" pitchFamily="34" charset="0"/>
            </a:endParaRPr>
          </a:p>
          <a:p>
            <a:pPr marL="95250" indent="14288" algn="ctr">
              <a:buNone/>
              <a:defRPr/>
            </a:pPr>
            <a:r>
              <a:rPr lang="pt-BR" sz="3200" b="1" dirty="0">
                <a:latin typeface="Arial" pitchFamily="34" charset="0"/>
                <a:ea typeface="+mj-ea"/>
                <a:cs typeface="Arial" pitchFamily="34" charset="0"/>
              </a:rPr>
              <a:t>OBJETIVOS ESPECÍFICOS</a:t>
            </a:r>
          </a:p>
          <a:p>
            <a:pPr marL="95250" indent="14288" algn="ctr">
              <a:buNone/>
              <a:defRPr/>
            </a:pPr>
            <a:endParaRPr lang="pt-BR" sz="3200" b="1" dirty="0">
              <a:latin typeface="Arial" pitchFamily="34" charset="0"/>
              <a:ea typeface="+mj-ea"/>
              <a:cs typeface="Arial" pitchFamily="34" charset="0"/>
            </a:endParaRPr>
          </a:p>
          <a:p>
            <a:pPr marL="95250" indent="-95250">
              <a:tabLst>
                <a:tab pos="8797925" algn="l"/>
              </a:tabLst>
            </a:pPr>
            <a:endParaRPr lang="pt-BR" sz="2400" b="1" dirty="0"/>
          </a:p>
          <a:p>
            <a:pPr marL="95250" indent="-95250">
              <a:tabLst>
                <a:tab pos="8797925" algn="l"/>
              </a:tabLst>
            </a:pPr>
            <a:endParaRPr lang="pt-BR" sz="2400" b="1" dirty="0"/>
          </a:p>
          <a:p>
            <a:pPr marL="95250" indent="-95250">
              <a:tabLst>
                <a:tab pos="8797925" algn="l"/>
              </a:tabLst>
            </a:pPr>
            <a:endParaRPr lang="pt-BR" sz="2400" b="1" dirty="0"/>
          </a:p>
          <a:p>
            <a:pPr marL="95250" indent="-95250">
              <a:tabLst>
                <a:tab pos="8797925" algn="l"/>
              </a:tabLst>
            </a:pPr>
            <a:r>
              <a:rPr lang="pt-BR" sz="2400" b="1" dirty="0"/>
              <a:t>- São etapas do processo de pesquisa;</a:t>
            </a:r>
          </a:p>
          <a:p>
            <a:pPr marL="95250" indent="-95250">
              <a:tabLst>
                <a:tab pos="8797925" algn="l"/>
              </a:tabLst>
            </a:pPr>
            <a:endParaRPr lang="pt-BR" sz="2400" b="1" dirty="0"/>
          </a:p>
          <a:p>
            <a:pPr marL="95250" indent="-95250">
              <a:tabLst>
                <a:tab pos="8797925" algn="l"/>
              </a:tabLst>
            </a:pPr>
            <a:r>
              <a:rPr lang="pt-BR" sz="2400" b="1" dirty="0"/>
              <a:t>- Ou ainda, as questões mais relevantes do assunto estudado.</a:t>
            </a:r>
          </a:p>
          <a:p>
            <a:pPr marL="95250" indent="-95250">
              <a:tabLst>
                <a:tab pos="8797925" algn="l"/>
              </a:tabLst>
            </a:pPr>
            <a:endParaRPr lang="pt-BR" sz="2400" b="1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pPr marL="95250" indent="-95250">
              <a:tabLst>
                <a:tab pos="8797925" algn="l"/>
              </a:tabLst>
            </a:pPr>
            <a:r>
              <a:rPr lang="pt-BR" sz="2400" b="1" i="1" dirty="0">
                <a:latin typeface="Arial" pitchFamily="34" charset="0"/>
                <a:cs typeface="Arial" pitchFamily="34" charset="0"/>
              </a:rPr>
              <a:t>Sugestão: </a:t>
            </a:r>
          </a:p>
          <a:p>
            <a:pPr marL="95250" indent="-95250">
              <a:tabLst>
                <a:tab pos="8797925" algn="l"/>
              </a:tabLst>
            </a:pPr>
            <a:r>
              <a:rPr lang="pt-BR" sz="2400" b="1" i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      </a:t>
            </a:r>
          </a:p>
          <a:p>
            <a:pPr marL="95250" indent="-95250">
              <a:tabLst>
                <a:tab pos="8797925" algn="l"/>
              </a:tabLst>
            </a:pPr>
            <a:r>
              <a:rPr lang="pt-BR" sz="2400" b="1" i="1" dirty="0">
                <a:latin typeface="Arial" pitchFamily="34" charset="0"/>
                <a:cs typeface="Arial" pitchFamily="34" charset="0"/>
              </a:rPr>
              <a:t>        </a:t>
            </a:r>
            <a:r>
              <a:rPr lang="pt-BR" sz="2400" b="1" i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Relaciona os pontos importantes que serão tradados no seu trabalho</a:t>
            </a:r>
          </a:p>
          <a:p>
            <a:pPr marL="95250" indent="-95250">
              <a:tabLst>
                <a:tab pos="8797925" algn="l"/>
              </a:tabLst>
            </a:pPr>
            <a:endParaRPr lang="pt-BR" sz="24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3" name="Imagem 2" descr="alvo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0" y="1"/>
            <a:ext cx="1901894" cy="1556792"/>
          </a:xfrm>
          <a:prstGeom prst="rect">
            <a:avLst/>
          </a:prstGeom>
        </p:spPr>
      </p:pic>
      <p:pic>
        <p:nvPicPr>
          <p:cNvPr id="5" name="Picture 3" descr="F:\unip\dicas.gif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483768" y="4293096"/>
            <a:ext cx="720080" cy="58292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5834891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 rotWithShape="1">
          <a:blip r:embed="rId2" cstate="print"/>
          <a:srcRect l="1070"/>
          <a:stretch/>
        </p:blipFill>
        <p:spPr bwMode="auto">
          <a:xfrm>
            <a:off x="683568" y="675112"/>
            <a:ext cx="8136904" cy="61382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Retângulo 3"/>
          <p:cNvSpPr/>
          <p:nvPr/>
        </p:nvSpPr>
        <p:spPr>
          <a:xfrm>
            <a:off x="4067944" y="2564904"/>
            <a:ext cx="2304256" cy="43204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CaixaDeTexto 4"/>
          <p:cNvSpPr txBox="1"/>
          <p:nvPr/>
        </p:nvSpPr>
        <p:spPr>
          <a:xfrm>
            <a:off x="6192687" y="3717032"/>
            <a:ext cx="29878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/>
              <a:t>Etapas</a:t>
            </a:r>
            <a:r>
              <a:rPr lang="en-US" sz="1600" dirty="0"/>
              <a:t> </a:t>
            </a:r>
            <a:r>
              <a:rPr lang="en-US" sz="1600" dirty="0" err="1"/>
              <a:t>para</a:t>
            </a:r>
            <a:r>
              <a:rPr lang="en-US" sz="1600" dirty="0"/>
              <a:t> se </a:t>
            </a:r>
          </a:p>
          <a:p>
            <a:r>
              <a:rPr lang="en-US" sz="1600" dirty="0" err="1"/>
              <a:t>alcançar</a:t>
            </a:r>
            <a:r>
              <a:rPr lang="en-US" sz="1600" dirty="0"/>
              <a:t> o </a:t>
            </a:r>
            <a:r>
              <a:rPr lang="en-US" sz="1600" dirty="0" err="1"/>
              <a:t>objetivo</a:t>
            </a:r>
            <a:r>
              <a:rPr lang="en-US" sz="1600" dirty="0"/>
              <a:t> final (</a:t>
            </a:r>
            <a:r>
              <a:rPr lang="en-US" sz="1600" dirty="0" err="1"/>
              <a:t>geral</a:t>
            </a:r>
            <a:r>
              <a:rPr lang="en-US" sz="1600" dirty="0"/>
              <a:t>)</a:t>
            </a:r>
            <a:endParaRPr lang="pt-BR" sz="16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42882" y="1066056"/>
            <a:ext cx="8229600" cy="1066800"/>
          </a:xfrm>
        </p:spPr>
        <p:txBody>
          <a:bodyPr>
            <a:normAutofit fontScale="90000"/>
          </a:bodyPr>
          <a:lstStyle/>
          <a:p>
            <a:br>
              <a:rPr lang="pt-BR" dirty="0"/>
            </a:br>
            <a:r>
              <a:rPr lang="pt-BR" b="1" dirty="0"/>
              <a:t>EXEMPLO DE VERBOS A SEREM USADOS NOS OBJETIVOS: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214282" y="2287413"/>
            <a:ext cx="8686800" cy="4525963"/>
          </a:xfrm>
        </p:spPr>
        <p:txBody>
          <a:bodyPr>
            <a:normAutofit fontScale="92500" lnSpcReduction="10000"/>
          </a:bodyPr>
          <a:lstStyle/>
          <a:p>
            <a:endParaRPr lang="pt-BR" dirty="0"/>
          </a:p>
          <a:p>
            <a:endParaRPr lang="pt-BR" dirty="0"/>
          </a:p>
          <a:p>
            <a:r>
              <a:rPr lang="pt-BR" dirty="0"/>
              <a:t>Objetivos são sempre compostos de duas partes: uma </a:t>
            </a:r>
            <a:r>
              <a:rPr lang="pt-BR" i="1" dirty="0"/>
              <a:t>ação a ser aplicada sobre um conteúdo. </a:t>
            </a:r>
          </a:p>
          <a:p>
            <a:r>
              <a:rPr lang="pt-BR" i="1" u="sng" dirty="0"/>
              <a:t>Por isso, o enunciado de objetivos inicia-se por um verbo no infinitivo </a:t>
            </a:r>
            <a:r>
              <a:rPr lang="pt-BR" i="1" dirty="0"/>
              <a:t>(terminados sempre em </a:t>
            </a:r>
            <a:r>
              <a:rPr lang="pt-BR" i="1" dirty="0">
                <a:solidFill>
                  <a:srgbClr val="FF0000"/>
                </a:solidFill>
              </a:rPr>
              <a:t>-ar, -</a:t>
            </a:r>
            <a:r>
              <a:rPr lang="pt-BR" i="1" dirty="0" err="1">
                <a:solidFill>
                  <a:srgbClr val="FF0000"/>
                </a:solidFill>
              </a:rPr>
              <a:t>er</a:t>
            </a:r>
            <a:r>
              <a:rPr lang="pt-BR" i="1" dirty="0">
                <a:solidFill>
                  <a:srgbClr val="FF0000"/>
                </a:solidFill>
              </a:rPr>
              <a:t>, -ir </a:t>
            </a:r>
            <a:r>
              <a:rPr lang="pt-BR" i="1" dirty="0"/>
              <a:t>e</a:t>
            </a:r>
            <a:r>
              <a:rPr lang="pt-BR" i="1" dirty="0">
                <a:solidFill>
                  <a:srgbClr val="FF0000"/>
                </a:solidFill>
              </a:rPr>
              <a:t> -</a:t>
            </a:r>
            <a:r>
              <a:rPr lang="pt-BR" i="1" dirty="0" err="1">
                <a:solidFill>
                  <a:srgbClr val="FF0000"/>
                </a:solidFill>
              </a:rPr>
              <a:t>or</a:t>
            </a:r>
            <a:r>
              <a:rPr lang="pt-BR" i="1" dirty="0"/>
              <a:t>). No caso da pesquisa científica, que se caracteriza como ação intelectual, </a:t>
            </a:r>
            <a:r>
              <a:rPr lang="pt-BR" b="1" i="1" dirty="0"/>
              <a:t>os verbos que abrem os objetivos devem ser verbos que indiquem atividade intelectual, mensurável, isto é, cujo produto final possa ser verificado. </a:t>
            </a:r>
          </a:p>
          <a:p>
            <a:endParaRPr lang="pt-BR" i="1" dirty="0"/>
          </a:p>
          <a:p>
            <a:endParaRPr lang="pt-BR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3970" y="913187"/>
            <a:ext cx="8204230" cy="59721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CaixaDeTexto 4"/>
          <p:cNvSpPr txBox="1"/>
          <p:nvPr/>
        </p:nvSpPr>
        <p:spPr>
          <a:xfrm>
            <a:off x="928662" y="785794"/>
            <a:ext cx="7136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          </a:t>
            </a:r>
          </a:p>
        </p:txBody>
      </p:sp>
      <p:sp>
        <p:nvSpPr>
          <p:cNvPr id="6" name="Retângulo 5"/>
          <p:cNvSpPr/>
          <p:nvPr/>
        </p:nvSpPr>
        <p:spPr>
          <a:xfrm>
            <a:off x="571472" y="1071546"/>
            <a:ext cx="7572428" cy="10001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Sugestão de Verbos que podem ser usados nos objetivos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pt-BR" dirty="0"/>
            </a:br>
            <a:r>
              <a:rPr lang="pt-BR" b="1" dirty="0"/>
              <a:t>EXEMPLO DE VERBOS A SEREM USADOS NO </a:t>
            </a:r>
            <a:r>
              <a:rPr lang="pt-BR" b="1" u="sng" dirty="0">
                <a:solidFill>
                  <a:srgbClr val="FF0000"/>
                </a:solidFill>
              </a:rPr>
              <a:t>OBJETIVO GERAL:</a:t>
            </a:r>
            <a:endParaRPr lang="pt-BR" u="sng" dirty="0">
              <a:solidFill>
                <a:srgbClr val="FF0000"/>
              </a:solidFill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endParaRPr lang="pt-BR" dirty="0"/>
          </a:p>
          <a:p>
            <a:endParaRPr lang="pt-BR" dirty="0"/>
          </a:p>
          <a:p>
            <a:r>
              <a:rPr lang="pt-BR" dirty="0"/>
              <a:t>Compreender; </a:t>
            </a:r>
          </a:p>
          <a:p>
            <a:r>
              <a:rPr lang="pt-BR" dirty="0"/>
              <a:t>Rediscutir; </a:t>
            </a:r>
          </a:p>
          <a:p>
            <a:r>
              <a:rPr lang="pt-BR" dirty="0"/>
              <a:t>Esclarecer; </a:t>
            </a:r>
          </a:p>
          <a:p>
            <a:r>
              <a:rPr lang="pt-BR" dirty="0"/>
              <a:t>Contribuir; </a:t>
            </a:r>
          </a:p>
          <a:p>
            <a:r>
              <a:rPr lang="pt-BR" dirty="0"/>
              <a:t>Ampliar; </a:t>
            </a:r>
          </a:p>
          <a:p>
            <a:r>
              <a:rPr lang="pt-BR" dirty="0"/>
              <a:t>Refletir; </a:t>
            </a:r>
          </a:p>
          <a:p>
            <a:r>
              <a:rPr lang="pt-BR" dirty="0"/>
              <a:t>Confrontar; </a:t>
            </a:r>
          </a:p>
          <a:p>
            <a:r>
              <a:rPr lang="pt-BR" dirty="0"/>
              <a:t>Discutir; </a:t>
            </a:r>
          </a:p>
          <a:p>
            <a:r>
              <a:rPr lang="pt-BR" dirty="0"/>
              <a:t>Enfocar; </a:t>
            </a:r>
          </a:p>
          <a:p>
            <a:r>
              <a:rPr lang="pt-BR" dirty="0"/>
              <a:t>Possibilitar; </a:t>
            </a:r>
          </a:p>
          <a:p>
            <a:r>
              <a:rPr lang="pt-BR" dirty="0"/>
              <a:t>Reconstruir; </a:t>
            </a:r>
          </a:p>
          <a:p>
            <a:r>
              <a:rPr lang="pt-BR" dirty="0"/>
              <a:t>Avaliar. </a:t>
            </a:r>
          </a:p>
          <a:p>
            <a:endParaRPr lang="pt-BR" dirty="0"/>
          </a:p>
        </p:txBody>
      </p:sp>
      <p:sp>
        <p:nvSpPr>
          <p:cNvPr id="4" name="CaixaDeTexto 3"/>
          <p:cNvSpPr txBox="1"/>
          <p:nvPr/>
        </p:nvSpPr>
        <p:spPr>
          <a:xfrm>
            <a:off x="3131840" y="3571876"/>
            <a:ext cx="51460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Verbos com sentidos e significados mais abrangentes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51453" y="816796"/>
            <a:ext cx="8197011" cy="59245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CaixaDeTexto 4"/>
          <p:cNvSpPr txBox="1"/>
          <p:nvPr/>
        </p:nvSpPr>
        <p:spPr>
          <a:xfrm>
            <a:off x="1714480" y="692696"/>
            <a:ext cx="46702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Verbos com sentidos e significados mais restrito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ço Reservado para Conteúdo 7"/>
          <p:cNvSpPr>
            <a:spLocks noGrp="1"/>
          </p:cNvSpPr>
          <p:nvPr>
            <p:ph sz="half" idx="4294967295"/>
          </p:nvPr>
        </p:nvSpPr>
        <p:spPr>
          <a:xfrm>
            <a:off x="0" y="0"/>
            <a:ext cx="9144000" cy="6858000"/>
          </a:xfrm>
          <a:solidFill>
            <a:schemeClr val="accent2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pPr algn="ctr">
              <a:buNone/>
              <a:defRPr/>
            </a:pPr>
            <a:endParaRPr lang="pt-BR" sz="1200" b="1" dirty="0">
              <a:latin typeface="Arial" pitchFamily="34" charset="0"/>
              <a:ea typeface="+mj-ea"/>
              <a:cs typeface="Arial" pitchFamily="34" charset="0"/>
            </a:endParaRPr>
          </a:p>
          <a:p>
            <a:pPr algn="ctr">
              <a:buNone/>
              <a:defRPr/>
            </a:pPr>
            <a:r>
              <a:rPr lang="pt-BR" sz="3600" b="1" dirty="0">
                <a:latin typeface="Arial" pitchFamily="34" charset="0"/>
                <a:ea typeface="+mj-ea"/>
                <a:cs typeface="Arial" pitchFamily="34" charset="0"/>
              </a:rPr>
              <a:t>JUSTIFICATIVA</a:t>
            </a:r>
          </a:p>
          <a:p>
            <a:pPr marL="95250" indent="-95250">
              <a:buNone/>
              <a:tabLst>
                <a:tab pos="8797925" algn="l"/>
              </a:tabLst>
              <a:defRPr/>
            </a:pPr>
            <a:r>
              <a:rPr lang="pt-BR" sz="2400" i="1" dirty="0">
                <a:solidFill>
                  <a:srgbClr val="CC0000"/>
                </a:solidFill>
                <a:latin typeface="Arial" pitchFamily="34" charset="0"/>
                <a:cs typeface="Arial" pitchFamily="34" charset="0"/>
              </a:rPr>
              <a:t>  </a:t>
            </a:r>
            <a:r>
              <a:rPr lang="pt-BR" sz="3600" i="1" dirty="0">
                <a:solidFill>
                  <a:srgbClr val="CC0000"/>
                </a:solidFill>
                <a:latin typeface="Arial" pitchFamily="34" charset="0"/>
                <a:cs typeface="Arial" pitchFamily="34" charset="0"/>
              </a:rPr>
              <a:t>Na justificativa deve-se discorrer sobre a importância da pesquisa</a:t>
            </a:r>
            <a:r>
              <a:rPr lang="pt-BR" sz="3600" b="1" dirty="0">
                <a:solidFill>
                  <a:srgbClr val="CC0000"/>
                </a:solidFill>
                <a:latin typeface="Arial" pitchFamily="34" charset="0"/>
                <a:cs typeface="Arial" pitchFamily="34" charset="0"/>
              </a:rPr>
              <a:t>. </a:t>
            </a:r>
          </a:p>
          <a:p>
            <a:pPr>
              <a:defRPr/>
            </a:pPr>
            <a:endParaRPr lang="pt-BR" sz="2400" b="1" dirty="0">
              <a:latin typeface="Arial" pitchFamily="34" charset="0"/>
              <a:cs typeface="Arial" pitchFamily="34" charset="0"/>
            </a:endParaRPr>
          </a:p>
          <a:p>
            <a:pPr>
              <a:buClrTx/>
              <a:buFont typeface="Wingdings" pitchFamily="2" charset="2"/>
              <a:buChar char="§"/>
              <a:defRPr/>
            </a:pPr>
            <a:r>
              <a:rPr lang="pt-BR" sz="2400" dirty="0">
                <a:latin typeface="Arial" pitchFamily="34" charset="0"/>
                <a:cs typeface="Arial" pitchFamily="34" charset="0"/>
              </a:rPr>
              <a:t>Quanto maior a capacidade de convencimento do pesquisador nesse item, mais fácil a pesquisa obterá aprovação.</a:t>
            </a:r>
          </a:p>
          <a:p>
            <a:pPr>
              <a:defRPr/>
            </a:pPr>
            <a:endParaRPr lang="pt-BR" sz="2400" dirty="0">
              <a:latin typeface="Arial" pitchFamily="34" charset="0"/>
              <a:cs typeface="Arial" pitchFamily="34" charset="0"/>
            </a:endParaRPr>
          </a:p>
          <a:p>
            <a:pPr>
              <a:spcBef>
                <a:spcPts val="600"/>
              </a:spcBef>
              <a:buNone/>
              <a:defRPr/>
            </a:pPr>
            <a:r>
              <a:rPr lang="pt-BR" sz="2400" dirty="0">
                <a:solidFill>
                  <a:schemeClr val="accent4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	</a:t>
            </a:r>
            <a:r>
              <a:rPr lang="pt-BR" dirty="0">
                <a:solidFill>
                  <a:schemeClr val="accent1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É necessário que uma pesquisa tenha: </a:t>
            </a:r>
            <a:endParaRPr lang="pt-BR" sz="800" dirty="0">
              <a:solidFill>
                <a:schemeClr val="accent1">
                  <a:lumMod val="50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 lvl="1">
              <a:spcBef>
                <a:spcPts val="600"/>
              </a:spcBef>
              <a:defRPr/>
            </a:pPr>
            <a:r>
              <a:rPr lang="pt-BR" sz="2800" b="1" dirty="0">
                <a:solidFill>
                  <a:schemeClr val="accent1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Relevância </a:t>
            </a:r>
          </a:p>
          <a:p>
            <a:pPr lvl="1">
              <a:spcBef>
                <a:spcPts val="600"/>
              </a:spcBef>
              <a:defRPr/>
            </a:pPr>
            <a:r>
              <a:rPr lang="pt-BR" sz="2800" b="1" dirty="0">
                <a:solidFill>
                  <a:schemeClr val="accent1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Originalidade </a:t>
            </a:r>
          </a:p>
          <a:p>
            <a:pPr lvl="1">
              <a:spcBef>
                <a:spcPts val="600"/>
              </a:spcBef>
              <a:defRPr/>
            </a:pPr>
            <a:r>
              <a:rPr lang="pt-BR" sz="2800" b="1" dirty="0">
                <a:solidFill>
                  <a:schemeClr val="accent1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Necessidade </a:t>
            </a:r>
          </a:p>
          <a:p>
            <a:pPr lvl="1">
              <a:spcBef>
                <a:spcPts val="600"/>
              </a:spcBef>
              <a:buNone/>
              <a:defRPr/>
            </a:pPr>
            <a:endParaRPr lang="pt-BR" sz="1600" b="1" dirty="0">
              <a:solidFill>
                <a:schemeClr val="accent1">
                  <a:lumMod val="50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 marL="0" lvl="1" indent="0">
              <a:spcBef>
                <a:spcPts val="600"/>
              </a:spcBef>
              <a:buNone/>
              <a:defRPr/>
            </a:pPr>
            <a:r>
              <a:rPr lang="pt-BR" sz="2800" b="1" dirty="0"/>
              <a:t>Observação:</a:t>
            </a:r>
            <a:r>
              <a:rPr lang="pt-BR" sz="2800" dirty="0"/>
              <a:t> Alguns exigem as razões para a escolha de um tema e a importância do mesmo. </a:t>
            </a:r>
          </a:p>
          <a:p>
            <a:pPr lvl="1">
              <a:spcBef>
                <a:spcPts val="600"/>
              </a:spcBef>
              <a:defRPr/>
            </a:pPr>
            <a:endParaRPr lang="pt-BR" sz="2800" b="1" dirty="0">
              <a:solidFill>
                <a:schemeClr val="accent1">
                  <a:lumMod val="50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>
              <a:defRPr/>
            </a:pPr>
            <a:endParaRPr lang="pt-BR" sz="2400" b="1" dirty="0">
              <a:latin typeface="Arial" pitchFamily="34" charset="0"/>
              <a:cs typeface="Arial" pitchFamily="34" charset="0"/>
            </a:endParaRPr>
          </a:p>
          <a:p>
            <a:pPr>
              <a:buClrTx/>
              <a:buNone/>
              <a:defRPr/>
            </a:pPr>
            <a:r>
              <a:rPr lang="pt-BR" sz="2400" dirty="0">
                <a:latin typeface="Arial" pitchFamily="34" charset="0"/>
                <a:cs typeface="Arial" pitchFamily="34" charset="0"/>
              </a:rPr>
              <a:t> </a:t>
            </a:r>
          </a:p>
        </p:txBody>
      </p:sp>
      <p:sp>
        <p:nvSpPr>
          <p:cNvPr id="3" name="Título 6"/>
          <p:cNvSpPr txBox="1">
            <a:spLocks/>
          </p:cNvSpPr>
          <p:nvPr/>
        </p:nvSpPr>
        <p:spPr>
          <a:xfrm>
            <a:off x="683568" y="476672"/>
            <a:ext cx="6337300" cy="619125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pPr>
              <a:defRPr/>
            </a:pPr>
            <a:endParaRPr lang="pt-BR" sz="2800" b="1" dirty="0">
              <a:solidFill>
                <a:schemeClr val="tx2"/>
              </a:solidFill>
              <a:latin typeface="Arial" pitchFamily="34" charset="0"/>
              <a:ea typeface="+mj-ea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ítulo 1">
            <a:extLst>
              <a:ext uri="{FF2B5EF4-FFF2-40B4-BE49-F238E27FC236}">
                <a16:creationId xmlns:a16="http://schemas.microsoft.com/office/drawing/2014/main" id="{12FCB18C-9F31-40A8-A5A0-651262EE16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0790" y="692696"/>
            <a:ext cx="8229600" cy="1066800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pt-BR" dirty="0">
                <a:solidFill>
                  <a:schemeClr val="accent6">
                    <a:lumMod val="75000"/>
                  </a:schemeClr>
                </a:solidFill>
              </a:rPr>
              <a:t>JUSTIFICATIVA</a:t>
            </a:r>
          </a:p>
        </p:txBody>
      </p:sp>
      <p:sp>
        <p:nvSpPr>
          <p:cNvPr id="9219" name="Espaço Reservado para Conteúdo 2">
            <a:extLst>
              <a:ext uri="{FF2B5EF4-FFF2-40B4-BE49-F238E27FC236}">
                <a16:creationId xmlns:a16="http://schemas.microsoft.com/office/drawing/2014/main" id="{49BF63B9-3F9F-43DC-8D16-8E930B50CD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0790" y="1912200"/>
            <a:ext cx="8229600" cy="4325112"/>
          </a:xfrm>
        </p:spPr>
        <p:txBody>
          <a:bodyPr/>
          <a:lstStyle/>
          <a:p>
            <a:pPr eaLnBrk="1" hangingPunct="1"/>
            <a:r>
              <a:rPr lang="pt-BR" altLang="pt-BR" dirty="0"/>
              <a:t>A justificativa de um trabalho deve procurar responder:</a:t>
            </a:r>
          </a:p>
          <a:p>
            <a:pPr lvl="1" eaLnBrk="1" hangingPunct="1"/>
            <a:r>
              <a:rPr lang="pt-BR" altLang="pt-BR" dirty="0"/>
              <a:t>Qual a relevância do meu trabalho?</a:t>
            </a:r>
          </a:p>
          <a:p>
            <a:pPr lvl="1" eaLnBrk="1" hangingPunct="1"/>
            <a:r>
              <a:rPr lang="pt-BR" altLang="pt-BR" dirty="0"/>
              <a:t>Que contribuições, ou soluções meu trabalho trará?</a:t>
            </a:r>
          </a:p>
          <a:p>
            <a:pPr lvl="1" eaLnBrk="1" hangingPunct="1"/>
            <a:r>
              <a:rPr lang="pt-BR" altLang="pt-BR" b="1" dirty="0"/>
              <a:t>Por que </a:t>
            </a:r>
            <a:r>
              <a:rPr lang="pt-BR" altLang="pt-BR" dirty="0"/>
              <a:t>vou pesquisar isso? Por que é importante/interessante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2034A5C7-834E-42F8-B38A-E0A0457892AD}"/>
              </a:ext>
            </a:extLst>
          </p:cNvPr>
          <p:cNvSpPr txBox="1"/>
          <p:nvPr/>
        </p:nvSpPr>
        <p:spPr>
          <a:xfrm>
            <a:off x="694110" y="5301208"/>
            <a:ext cx="776632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2000" i="1" dirty="0">
                <a:latin typeface="+mn-lt"/>
                <a:cs typeface="+mn-cs"/>
              </a:rPr>
              <a:t>A </a:t>
            </a:r>
            <a:r>
              <a:rPr lang="pt-BR" sz="2000" b="1" i="1" dirty="0">
                <a:latin typeface="+mn-lt"/>
                <a:cs typeface="+mn-cs"/>
              </a:rPr>
              <a:t>justificativa</a:t>
            </a:r>
            <a:r>
              <a:rPr lang="pt-BR" sz="2000" i="1" dirty="0">
                <a:latin typeface="+mn-lt"/>
                <a:cs typeface="+mn-cs"/>
              </a:rPr>
              <a:t> é o ponto onde você, autor, “vende seu peixe” para o leitor, portanto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2000" b="1" i="1" dirty="0">
                <a:solidFill>
                  <a:schemeClr val="accent6">
                    <a:lumMod val="75000"/>
                  </a:schemeClr>
                </a:solidFill>
                <a:latin typeface="+mn-lt"/>
                <a:cs typeface="+mn-cs"/>
              </a:rPr>
              <a:t>Use sua CRIATIVIDADE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ítulo 1">
            <a:extLst>
              <a:ext uri="{FF2B5EF4-FFF2-40B4-BE49-F238E27FC236}">
                <a16:creationId xmlns:a16="http://schemas.microsoft.com/office/drawing/2014/main" id="{4267CB2D-55F6-4EC5-9625-BF33EE94C1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92696"/>
            <a:ext cx="8229600" cy="1066800"/>
          </a:xfrm>
        </p:spPr>
        <p:txBody>
          <a:bodyPr/>
          <a:lstStyle/>
          <a:p>
            <a:pPr eaLnBrk="1" hangingPunct="1"/>
            <a:r>
              <a:rPr lang="pt-BR" altLang="pt-BR" dirty="0"/>
              <a:t>Justificativa do Tema</a:t>
            </a:r>
          </a:p>
        </p:txBody>
      </p:sp>
      <p:sp>
        <p:nvSpPr>
          <p:cNvPr id="10243" name="Espaço Reservado para Conteúdo 2">
            <a:extLst>
              <a:ext uri="{FF2B5EF4-FFF2-40B4-BE49-F238E27FC236}">
                <a16:creationId xmlns:a16="http://schemas.microsoft.com/office/drawing/2014/main" id="{9C242B11-CAC5-41ED-BABB-841BBC096D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pt-BR" altLang="pt-BR"/>
              <a:t>É uma redação onde o autor explica:</a:t>
            </a:r>
          </a:p>
          <a:p>
            <a:pPr eaLnBrk="1" hangingPunct="1"/>
            <a:endParaRPr lang="pt-BR" altLang="pt-BR"/>
          </a:p>
          <a:p>
            <a:pPr lvl="1" eaLnBrk="1" hangingPunct="1"/>
            <a:r>
              <a:rPr lang="pt-BR" altLang="pt-BR"/>
              <a:t>A importância (</a:t>
            </a:r>
            <a:r>
              <a:rPr lang="pt-BR" altLang="pt-BR">
                <a:solidFill>
                  <a:srgbClr val="FF0000"/>
                </a:solidFill>
              </a:rPr>
              <a:t>relevância</a:t>
            </a:r>
            <a:r>
              <a:rPr lang="pt-BR" altLang="pt-BR"/>
              <a:t>) do trabalho para:</a:t>
            </a:r>
          </a:p>
          <a:p>
            <a:pPr lvl="2" eaLnBrk="1" hangingPunct="1"/>
            <a:r>
              <a:rPr lang="pt-BR" altLang="pt-BR"/>
              <a:t>Ele próprio e sua profissão (</a:t>
            </a:r>
            <a:r>
              <a:rPr lang="pt-BR" altLang="pt-BR">
                <a:solidFill>
                  <a:srgbClr val="FF0000"/>
                </a:solidFill>
              </a:rPr>
              <a:t>pessoal e profissional</a:t>
            </a:r>
            <a:r>
              <a:rPr lang="pt-BR" altLang="pt-BR"/>
              <a:t>)</a:t>
            </a:r>
          </a:p>
          <a:p>
            <a:pPr lvl="2" eaLnBrk="1" hangingPunct="1"/>
            <a:r>
              <a:rPr lang="pt-BR" altLang="pt-BR"/>
              <a:t>Seus estudos (</a:t>
            </a:r>
            <a:r>
              <a:rPr lang="pt-BR" altLang="pt-BR">
                <a:solidFill>
                  <a:srgbClr val="FF0000"/>
                </a:solidFill>
              </a:rPr>
              <a:t>acadêmica</a:t>
            </a:r>
            <a:r>
              <a:rPr lang="pt-BR" altLang="pt-BR"/>
              <a:t>)</a:t>
            </a:r>
          </a:p>
          <a:p>
            <a:pPr lvl="2" eaLnBrk="1" hangingPunct="1"/>
            <a:r>
              <a:rPr lang="pt-BR" altLang="pt-BR"/>
              <a:t>A sociedade (</a:t>
            </a:r>
            <a:r>
              <a:rPr lang="pt-BR" altLang="pt-BR">
                <a:solidFill>
                  <a:srgbClr val="FF0000"/>
                </a:solidFill>
              </a:rPr>
              <a:t>social</a:t>
            </a:r>
            <a:r>
              <a:rPr lang="pt-BR" altLang="pt-BR"/>
              <a:t>)</a:t>
            </a:r>
          </a:p>
          <a:p>
            <a:pPr lvl="2" eaLnBrk="1" hangingPunct="1"/>
            <a:r>
              <a:rPr lang="pt-BR" altLang="pt-BR"/>
              <a:t>A ciência (</a:t>
            </a:r>
            <a:r>
              <a:rPr lang="pt-BR" altLang="pt-BR">
                <a:solidFill>
                  <a:srgbClr val="FF0000"/>
                </a:solidFill>
              </a:rPr>
              <a:t>científica</a:t>
            </a:r>
            <a:r>
              <a:rPr lang="pt-BR" altLang="pt-BR"/>
              <a:t>)</a:t>
            </a:r>
          </a:p>
          <a:p>
            <a:pPr lvl="2" eaLnBrk="1" hangingPunct="1"/>
            <a:endParaRPr lang="pt-BR" altLang="pt-BR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A4B17B0-445D-4D25-AEE4-801B57C953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marL="342900" lvl="2" indent="-342900" eaLnBrk="1" fontAlgn="auto" hangingPunct="1">
              <a:spcAft>
                <a:spcPts val="0"/>
              </a:spcAft>
              <a:defRPr/>
            </a:pPr>
            <a:r>
              <a:rPr lang="pt-BR" dirty="0"/>
              <a:t>A importância  para ele próprio e sua profissão (</a:t>
            </a:r>
            <a:r>
              <a:rPr lang="pt-BR" dirty="0">
                <a:solidFill>
                  <a:srgbClr val="FF0000"/>
                </a:solidFill>
              </a:rPr>
              <a:t>pessoal e profissional</a:t>
            </a:r>
            <a:r>
              <a:rPr lang="pt-BR" dirty="0"/>
              <a:t>) </a:t>
            </a:r>
          </a:p>
          <a:p>
            <a:pPr marL="342900" lvl="2" indent="-342900" eaLnBrk="1" fontAlgn="auto" hangingPunct="1">
              <a:spcAft>
                <a:spcPts val="0"/>
              </a:spcAft>
              <a:buFont typeface="Wingdings"/>
              <a:buChar char="à"/>
              <a:defRPr/>
            </a:pPr>
            <a:r>
              <a:rPr lang="pt-BR" dirty="0">
                <a:sym typeface="Wingdings" pitchFamily="2" charset="2"/>
              </a:rPr>
              <a:t>explicar sua relação com o tema, aptidão pessoal e por que ele é importante no mercado de trabalho da sua área</a:t>
            </a:r>
          </a:p>
          <a:p>
            <a:pPr marL="342900" lvl="2" indent="-342900" eaLnBrk="1" fontAlgn="auto" hangingPunct="1">
              <a:spcAft>
                <a:spcPts val="0"/>
              </a:spcAft>
              <a:buFont typeface="Wingdings"/>
              <a:buChar char="à"/>
              <a:defRPr/>
            </a:pPr>
            <a:endParaRPr lang="pt-BR" dirty="0"/>
          </a:p>
          <a:p>
            <a:pPr marL="342900" lvl="2" indent="-342900" eaLnBrk="1" fontAlgn="auto" hangingPunct="1">
              <a:spcAft>
                <a:spcPts val="0"/>
              </a:spcAft>
              <a:defRPr/>
            </a:pPr>
            <a:r>
              <a:rPr lang="pt-BR" dirty="0"/>
              <a:t>A importância  para seus estudos  (</a:t>
            </a:r>
            <a:r>
              <a:rPr lang="pt-BR" dirty="0">
                <a:solidFill>
                  <a:srgbClr val="FF0000"/>
                </a:solidFill>
              </a:rPr>
              <a:t>acadêmica</a:t>
            </a:r>
            <a:r>
              <a:rPr lang="pt-BR" dirty="0"/>
              <a:t>)</a:t>
            </a:r>
            <a:endParaRPr lang="pt-BR" dirty="0">
              <a:solidFill>
                <a:srgbClr val="FF0000"/>
              </a:solidFill>
            </a:endParaRPr>
          </a:p>
          <a:p>
            <a:pPr marL="0" lvl="2" indent="0"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pt-BR" dirty="0">
                <a:sym typeface="Wingdings" pitchFamily="2" charset="2"/>
              </a:rPr>
              <a:t> explicar porque o tema é importante para sua formação acadêmica, listar as disciplinas principais que estiveram relacionadas ao tema escolhido. </a:t>
            </a:r>
            <a:endParaRPr lang="pt-BR" dirty="0"/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5FB6B646-133A-49E8-9BD3-A72D6ED206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92696"/>
            <a:ext cx="8229600" cy="1066800"/>
          </a:xfrm>
        </p:spPr>
        <p:txBody>
          <a:bodyPr/>
          <a:lstStyle/>
          <a:p>
            <a:pPr eaLnBrk="1" hangingPunct="1"/>
            <a:r>
              <a:rPr lang="pt-BR" altLang="pt-BR" dirty="0"/>
              <a:t>Justificativa do Tema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C7A2A96-9D0E-47CE-A2F1-2E6B37A43A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marL="342900" lvl="2" indent="-342900" eaLnBrk="1" fontAlgn="auto" hangingPunct="1">
              <a:spcAft>
                <a:spcPts val="0"/>
              </a:spcAft>
              <a:defRPr/>
            </a:pPr>
            <a:r>
              <a:rPr lang="pt-BR" dirty="0"/>
              <a:t>A importância  para a sociedade (</a:t>
            </a:r>
            <a:r>
              <a:rPr lang="pt-BR" dirty="0">
                <a:solidFill>
                  <a:srgbClr val="FF0000"/>
                </a:solidFill>
              </a:rPr>
              <a:t>social</a:t>
            </a:r>
            <a:r>
              <a:rPr lang="pt-BR" dirty="0"/>
              <a:t>)</a:t>
            </a:r>
          </a:p>
          <a:p>
            <a:pPr marL="342900" lvl="2" indent="-342900" eaLnBrk="1" fontAlgn="auto" hangingPunct="1">
              <a:spcAft>
                <a:spcPts val="0"/>
              </a:spcAft>
              <a:buFont typeface="Wingdings"/>
              <a:buChar char="à"/>
              <a:defRPr/>
            </a:pPr>
            <a:r>
              <a:rPr lang="pt-BR" dirty="0">
                <a:sym typeface="Wingdings" pitchFamily="2" charset="2"/>
              </a:rPr>
              <a:t>explicar porque o tema é importante para a sociedade, para as pessoas, que retorno social trará, se beneficiará alguma porção da sociedade (empresa, governo, educação, idosos, crianças, doentes, estudantes, </a:t>
            </a:r>
            <a:r>
              <a:rPr lang="pt-BR" dirty="0" err="1">
                <a:sym typeface="Wingdings" pitchFamily="2" charset="2"/>
              </a:rPr>
              <a:t>etc</a:t>
            </a:r>
            <a:r>
              <a:rPr lang="pt-BR" dirty="0">
                <a:sym typeface="Wingdings" pitchFamily="2" charset="2"/>
              </a:rPr>
              <a:t>) </a:t>
            </a:r>
          </a:p>
          <a:p>
            <a:pPr marL="342900" lvl="2" indent="-342900" eaLnBrk="1" fontAlgn="auto" hangingPunct="1">
              <a:spcAft>
                <a:spcPts val="0"/>
              </a:spcAft>
              <a:buFont typeface="Wingdings"/>
              <a:buChar char="à"/>
              <a:defRPr/>
            </a:pPr>
            <a:endParaRPr lang="pt-BR" dirty="0"/>
          </a:p>
          <a:p>
            <a:pPr marL="342900" lvl="2" indent="-342900" eaLnBrk="1" fontAlgn="auto" hangingPunct="1">
              <a:spcAft>
                <a:spcPts val="0"/>
              </a:spcAft>
              <a:defRPr/>
            </a:pPr>
            <a:r>
              <a:rPr lang="pt-BR" dirty="0"/>
              <a:t>A importância  para a ciência  (</a:t>
            </a:r>
            <a:r>
              <a:rPr lang="pt-BR" dirty="0">
                <a:solidFill>
                  <a:srgbClr val="FF0000"/>
                </a:solidFill>
              </a:rPr>
              <a:t>científica</a:t>
            </a:r>
            <a:r>
              <a:rPr lang="pt-BR" dirty="0"/>
              <a:t>)</a:t>
            </a:r>
            <a:endParaRPr lang="pt-BR" dirty="0">
              <a:solidFill>
                <a:srgbClr val="FF0000"/>
              </a:solidFill>
            </a:endParaRPr>
          </a:p>
          <a:p>
            <a:pPr marL="0" lvl="2" indent="0"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pt-BR" dirty="0">
                <a:sym typeface="Wingdings" pitchFamily="2" charset="2"/>
              </a:rPr>
              <a:t> explicar porque o tema é importante cientificamente, o que trará de contribuição para o que já existe, se trará alguma solução para a ciência</a:t>
            </a:r>
            <a:endParaRPr lang="pt-BR" dirty="0"/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D4C1D946-453D-41E7-9842-55D0904B74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92696"/>
            <a:ext cx="8229600" cy="1066800"/>
          </a:xfrm>
        </p:spPr>
        <p:txBody>
          <a:bodyPr/>
          <a:lstStyle/>
          <a:p>
            <a:pPr eaLnBrk="1" hangingPunct="1"/>
            <a:r>
              <a:rPr lang="pt-BR" altLang="pt-BR" dirty="0"/>
              <a:t>Justificativa do Tema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CC1F62B-27D3-4899-BC66-3AC8E4566D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>
            <a:normAutofit lnSpcReduction="1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pt-BR" dirty="0"/>
              <a:t>Na justificativa </a:t>
            </a:r>
            <a:r>
              <a:rPr lang="pt-BR" u="sng" dirty="0"/>
              <a:t>Evite usar citações</a:t>
            </a:r>
            <a:r>
              <a:rPr lang="pt-BR" dirty="0"/>
              <a:t>; se utilizar, é apenas para justificar a relevância científica.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pt-BR" dirty="0"/>
              <a:t>Dê ênfase: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pt-BR" dirty="0"/>
              <a:t>Sobre a atualidade do tema (se está sendo muito discutido, se é foco do cenário atual)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pt-BR" dirty="0"/>
              <a:t>Se uma parte do seu trabalho é inédito (ou tem pouca publicação a respeito)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pt-BR" dirty="0"/>
              <a:t>Se trouxer um benefício para uma comunidade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pt-BR" dirty="0"/>
              <a:t>Se o trabalho proporá uma solução para algum problema da sociedade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endParaRPr lang="pt-BR" dirty="0"/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B60543FF-BC2E-433E-930C-8462C0D357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92696"/>
            <a:ext cx="8229600" cy="1066800"/>
          </a:xfrm>
        </p:spPr>
        <p:txBody>
          <a:bodyPr/>
          <a:lstStyle/>
          <a:p>
            <a:pPr eaLnBrk="1" hangingPunct="1"/>
            <a:r>
              <a:rPr lang="pt-BR" altLang="pt-BR" dirty="0"/>
              <a:t>Justificativa do Tema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ítulo 1">
            <a:extLst>
              <a:ext uri="{FF2B5EF4-FFF2-40B4-BE49-F238E27FC236}">
                <a16:creationId xmlns:a16="http://schemas.microsoft.com/office/drawing/2014/main" id="{123388CF-B386-4451-B319-6376868AA2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pt-BR" altLang="pt-BR"/>
          </a:p>
        </p:txBody>
      </p:sp>
      <p:sp>
        <p:nvSpPr>
          <p:cNvPr id="14339" name="Espaço Reservado para Conteúdo 2">
            <a:extLst>
              <a:ext uri="{FF2B5EF4-FFF2-40B4-BE49-F238E27FC236}">
                <a16:creationId xmlns:a16="http://schemas.microsoft.com/office/drawing/2014/main" id="{249567CC-AB63-4A32-82D9-1D34FF880F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endParaRPr lang="pt-BR" altLang="pt-BR"/>
          </a:p>
        </p:txBody>
      </p:sp>
      <p:pic>
        <p:nvPicPr>
          <p:cNvPr id="14340" name="Picture 2">
            <a:extLst>
              <a:ext uri="{FF2B5EF4-FFF2-40B4-BE49-F238E27FC236}">
                <a16:creationId xmlns:a16="http://schemas.microsoft.com/office/drawing/2014/main" id="{1B941DA9-E6BE-4DE7-9436-8CF2CD3605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188" y="692696"/>
            <a:ext cx="8358187" cy="6107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9" name="Picture 3" descr="F:\unip\dicas.gi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588505" y="692696"/>
            <a:ext cx="1555495" cy="1259210"/>
          </a:xfrm>
          <a:prstGeom prst="rect">
            <a:avLst/>
          </a:prstGeom>
          <a:noFill/>
        </p:spPr>
      </p:pic>
      <p:sp>
        <p:nvSpPr>
          <p:cNvPr id="8" name="Espaço Reservado para Conteúdo 7"/>
          <p:cNvSpPr>
            <a:spLocks noGrp="1"/>
          </p:cNvSpPr>
          <p:nvPr>
            <p:ph sz="half" idx="4294967295"/>
          </p:nvPr>
        </p:nvSpPr>
        <p:spPr>
          <a:xfrm>
            <a:off x="0" y="333375"/>
            <a:ext cx="9144000" cy="6524625"/>
          </a:xfrm>
          <a:solidFill>
            <a:schemeClr val="accent2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pPr>
              <a:buNone/>
              <a:defRPr/>
            </a:pPr>
            <a:r>
              <a:rPr lang="pt-BR" sz="3600" b="1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Sugestões  </a:t>
            </a:r>
          </a:p>
          <a:p>
            <a:pPr>
              <a:buNone/>
              <a:defRPr/>
            </a:pPr>
            <a:endParaRPr lang="pt-BR" sz="2400" b="1" dirty="0">
              <a:latin typeface="Arial" pitchFamily="34" charset="0"/>
              <a:cs typeface="Arial" pitchFamily="34" charset="0"/>
            </a:endParaRPr>
          </a:p>
          <a:p>
            <a:pPr>
              <a:buNone/>
              <a:defRPr/>
            </a:pPr>
            <a:r>
              <a:rPr lang="pt-BR" sz="2400" b="1" dirty="0">
                <a:latin typeface="Arial" pitchFamily="34" charset="0"/>
                <a:cs typeface="Arial" pitchFamily="34" charset="0"/>
              </a:rPr>
              <a:t>Aspectos que devem ser destacados na justificativa: </a:t>
            </a:r>
          </a:p>
          <a:p>
            <a:pPr>
              <a:defRPr/>
            </a:pPr>
            <a:endParaRPr lang="pt-BR" sz="800" dirty="0">
              <a:latin typeface="Arial" pitchFamily="34" charset="0"/>
              <a:cs typeface="Arial" pitchFamily="34" charset="0"/>
            </a:endParaRPr>
          </a:p>
          <a:p>
            <a:pPr>
              <a:buClrTx/>
              <a:defRPr/>
            </a:pPr>
            <a:r>
              <a:rPr lang="pt-BR" sz="2400" dirty="0">
                <a:latin typeface="Arial" pitchFamily="34" charset="0"/>
                <a:cs typeface="Arial" pitchFamily="34" charset="0"/>
              </a:rPr>
              <a:t>Ressaltar as contribuições da sua pesquisa.</a:t>
            </a:r>
          </a:p>
          <a:p>
            <a:pPr>
              <a:buClrTx/>
              <a:defRPr/>
            </a:pPr>
            <a:r>
              <a:rPr lang="pt-BR" sz="2400" dirty="0">
                <a:latin typeface="Arial" pitchFamily="34" charset="0"/>
                <a:cs typeface="Arial" pitchFamily="34" charset="0"/>
              </a:rPr>
              <a:t>Retomar palavras-chave que remetam à contribuição (</a:t>
            </a:r>
            <a:r>
              <a:rPr lang="pt-BR" sz="2400" i="1" dirty="0">
                <a:latin typeface="Arial" pitchFamily="34" charset="0"/>
                <a:cs typeface="Arial" pitchFamily="34" charset="0"/>
              </a:rPr>
              <a:t>contribui, acrescenta, soma, fornece subsídios etc</a:t>
            </a:r>
            <a:r>
              <a:rPr lang="pt-BR" sz="2400" dirty="0">
                <a:latin typeface="Arial" pitchFamily="34" charset="0"/>
                <a:cs typeface="Arial" pitchFamily="34" charset="0"/>
              </a:rPr>
              <a:t>.). </a:t>
            </a:r>
          </a:p>
          <a:p>
            <a:pPr>
              <a:buClrTx/>
              <a:defRPr/>
            </a:pPr>
            <a:r>
              <a:rPr lang="pt-BR" sz="2400" dirty="0">
                <a:latin typeface="Arial" pitchFamily="34" charset="0"/>
                <a:cs typeface="Arial" pitchFamily="34" charset="0"/>
              </a:rPr>
              <a:t>Apontar problemas na área.</a:t>
            </a:r>
          </a:p>
          <a:p>
            <a:pPr>
              <a:buClrTx/>
              <a:defRPr/>
            </a:pPr>
            <a:r>
              <a:rPr lang="pt-BR" sz="2400" dirty="0">
                <a:latin typeface="Arial" pitchFamily="34" charset="0"/>
                <a:cs typeface="Arial" pitchFamily="34" charset="0"/>
              </a:rPr>
              <a:t>Identificar lacunas no conhecimento sobre o tema.</a:t>
            </a:r>
          </a:p>
          <a:p>
            <a:pPr>
              <a:buClrTx/>
              <a:defRPr/>
            </a:pPr>
            <a:r>
              <a:rPr lang="pt-BR" sz="2400" dirty="0">
                <a:latin typeface="Arial" pitchFamily="34" charset="0"/>
                <a:cs typeface="Arial" pitchFamily="34" charset="0"/>
              </a:rPr>
              <a:t>Utilizar trechos de livros ou trabalhos acadêmicos que apontem a importância do tema.</a:t>
            </a:r>
          </a:p>
          <a:p>
            <a:pPr>
              <a:buClrTx/>
              <a:defRPr/>
            </a:pPr>
            <a:r>
              <a:rPr lang="pt-BR" sz="2400" dirty="0">
                <a:latin typeface="Arial" pitchFamily="34" charset="0"/>
                <a:cs typeface="Arial" pitchFamily="34" charset="0"/>
              </a:rPr>
              <a:t>Abordar eventual discordância na literatura acerca de uma questão.</a:t>
            </a:r>
          </a:p>
          <a:p>
            <a:pPr>
              <a:buClrTx/>
              <a:defRPr/>
            </a:pPr>
            <a:r>
              <a:rPr lang="pt-BR" sz="2400" dirty="0">
                <a:latin typeface="Arial" pitchFamily="34" charset="0"/>
                <a:cs typeface="Arial" pitchFamily="34" charset="0"/>
              </a:rPr>
              <a:t>Mostrar a relevância da realização da pesquisa, e não somente da escolha do tema ou da elaboração de hipóteses.</a:t>
            </a:r>
          </a:p>
        </p:txBody>
      </p:sp>
      <p:pic>
        <p:nvPicPr>
          <p:cNvPr id="4" name="Picture 3" descr="F:\unip\dicas.gi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627784" y="404664"/>
            <a:ext cx="766732" cy="620688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7" name="Picture 3" descr="F:\unip\metodologia.jpg"/>
          <p:cNvPicPr>
            <a:picLocks noChangeAspect="1" noChangeArrowheads="1"/>
          </p:cNvPicPr>
          <p:nvPr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368135" y="692696"/>
            <a:ext cx="4635913" cy="141084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8" name="Espaço Reservado para Conteúdo 7"/>
          <p:cNvSpPr>
            <a:spLocks noGrp="1"/>
          </p:cNvSpPr>
          <p:nvPr>
            <p:ph sz="half" idx="4294967295"/>
          </p:nvPr>
        </p:nvSpPr>
        <p:spPr>
          <a:xfrm>
            <a:off x="0" y="1412875"/>
            <a:ext cx="8286750" cy="5183188"/>
          </a:xfrm>
        </p:spPr>
        <p:txBody>
          <a:bodyPr>
            <a:normAutofit lnSpcReduction="10000"/>
          </a:bodyPr>
          <a:lstStyle/>
          <a:p>
            <a:pPr algn="ctr">
              <a:buClrTx/>
              <a:buNone/>
              <a:defRPr/>
            </a:pPr>
            <a:r>
              <a:rPr lang="pt-BR" b="1" dirty="0">
                <a:solidFill>
                  <a:srgbClr val="CC0000"/>
                </a:solidFill>
                <a:latin typeface="Arial" pitchFamily="34" charset="0"/>
                <a:cs typeface="Arial" pitchFamily="34" charset="0"/>
              </a:rPr>
              <a:t>O caminho que o pesquisador percorreu</a:t>
            </a:r>
          </a:p>
          <a:p>
            <a:pPr algn="ctr">
              <a:buClrTx/>
              <a:buNone/>
              <a:defRPr/>
            </a:pPr>
            <a:endParaRPr lang="pt-BR" sz="800" dirty="0">
              <a:solidFill>
                <a:srgbClr val="CC0000"/>
              </a:solidFill>
              <a:latin typeface="Arial" pitchFamily="34" charset="0"/>
              <a:cs typeface="Arial" pitchFamily="34" charset="0"/>
            </a:endParaRPr>
          </a:p>
          <a:p>
            <a:pPr>
              <a:buClrTx/>
              <a:defRPr/>
            </a:pPr>
            <a:r>
              <a:rPr lang="pt-BR" dirty="0">
                <a:latin typeface="Arial" pitchFamily="34" charset="0"/>
                <a:cs typeface="Arial" pitchFamily="34" charset="0"/>
              </a:rPr>
              <a:t>O pesquisador deverá relatar </a:t>
            </a:r>
            <a:r>
              <a:rPr lang="pt-BR" i="1" dirty="0">
                <a:latin typeface="Arial" pitchFamily="34" charset="0"/>
                <a:cs typeface="Arial" pitchFamily="34" charset="0"/>
              </a:rPr>
              <a:t>como irá realizar sua pesquisa, ou seja, quais as técnicas que serão utilizadas para a coleta e interpretação dos dados.</a:t>
            </a:r>
            <a:r>
              <a:rPr lang="pt-BR" dirty="0">
                <a:latin typeface="Arial" pitchFamily="34" charset="0"/>
                <a:cs typeface="Arial" pitchFamily="34" charset="0"/>
              </a:rPr>
              <a:t> </a:t>
            </a:r>
          </a:p>
          <a:p>
            <a:pPr>
              <a:buClrTx/>
              <a:buNone/>
              <a:defRPr/>
            </a:pPr>
            <a:endParaRPr lang="pt-BR" sz="800" dirty="0">
              <a:latin typeface="Arial" pitchFamily="34" charset="0"/>
              <a:cs typeface="Arial" pitchFamily="34" charset="0"/>
            </a:endParaRPr>
          </a:p>
          <a:p>
            <a:pPr>
              <a:defRPr/>
            </a:pPr>
            <a:endParaRPr lang="pt-BR" sz="1600" b="1" dirty="0">
              <a:latin typeface="Arial" pitchFamily="34" charset="0"/>
              <a:cs typeface="Arial" pitchFamily="34" charset="0"/>
            </a:endParaRPr>
          </a:p>
          <a:p>
            <a:pPr eaLnBrk="1" hangingPunct="1">
              <a:buNone/>
              <a:defRPr/>
            </a:pPr>
            <a:r>
              <a:rPr lang="pt-BR" sz="3200" dirty="0">
                <a:latin typeface="Arial" pitchFamily="34" charset="0"/>
                <a:cs typeface="Arial" pitchFamily="34" charset="0"/>
              </a:rPr>
              <a:t>                 Regras:</a:t>
            </a:r>
          </a:p>
          <a:p>
            <a:pPr eaLnBrk="1" hangingPunct="1">
              <a:buNone/>
              <a:defRPr/>
            </a:pPr>
            <a:r>
              <a:rPr lang="pt-BR" sz="800" dirty="0">
                <a:latin typeface="Arial" pitchFamily="34" charset="0"/>
                <a:cs typeface="Arial" pitchFamily="34" charset="0"/>
              </a:rPr>
              <a:t> </a:t>
            </a:r>
          </a:p>
          <a:p>
            <a:pPr>
              <a:buClrTx/>
              <a:defRPr/>
            </a:pPr>
            <a:r>
              <a:rPr lang="pt-BR" sz="2400" dirty="0">
                <a:latin typeface="Arial" pitchFamily="34" charset="0"/>
                <a:cs typeface="Arial" pitchFamily="34" charset="0"/>
              </a:rPr>
              <a:t>Adotar técnicas de coleta e interpretação dos dados que respondam ao problema da pesquisa.</a:t>
            </a:r>
          </a:p>
          <a:p>
            <a:pPr>
              <a:buClrTx/>
              <a:defRPr/>
            </a:pPr>
            <a:endParaRPr lang="pt-BR" sz="1050" b="1" dirty="0">
              <a:latin typeface="Arial" pitchFamily="34" charset="0"/>
              <a:cs typeface="Arial" pitchFamily="34" charset="0"/>
            </a:endParaRPr>
          </a:p>
          <a:p>
            <a:pPr>
              <a:buClrTx/>
              <a:defRPr/>
            </a:pPr>
            <a:r>
              <a:rPr lang="pt-BR" sz="2400" dirty="0">
                <a:latin typeface="Arial" pitchFamily="34" charset="0"/>
                <a:cs typeface="Arial" pitchFamily="34" charset="0"/>
              </a:rPr>
              <a:t>Adotar procedimentos que sejam viáveis segundo suas capacidades e tempo disponível. </a:t>
            </a:r>
          </a:p>
          <a:p>
            <a:pPr>
              <a:buClrTx/>
              <a:defRPr/>
            </a:pPr>
            <a:endParaRPr lang="pt-BR" sz="105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7651" name="Título 6"/>
          <p:cNvSpPr txBox="1">
            <a:spLocks/>
          </p:cNvSpPr>
          <p:nvPr/>
        </p:nvSpPr>
        <p:spPr bwMode="auto">
          <a:xfrm>
            <a:off x="2555776" y="620688"/>
            <a:ext cx="3672408" cy="714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lang="pt-BR" sz="4400" b="1" dirty="0"/>
              <a:t>Metodologia</a:t>
            </a:r>
            <a:endParaRPr lang="pt-BR" sz="4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ço Reservado para Conteúdo 7"/>
          <p:cNvSpPr>
            <a:spLocks noGrp="1"/>
          </p:cNvSpPr>
          <p:nvPr>
            <p:ph sz="half" idx="4294967295"/>
          </p:nvPr>
        </p:nvSpPr>
        <p:spPr>
          <a:xfrm>
            <a:off x="179512" y="332656"/>
            <a:ext cx="8786873" cy="6381773"/>
          </a:xfrm>
        </p:spPr>
        <p:txBody>
          <a:bodyPr>
            <a:normAutofit/>
          </a:bodyPr>
          <a:lstStyle/>
          <a:p>
            <a:pPr>
              <a:buNone/>
              <a:defRPr/>
            </a:pPr>
            <a:r>
              <a:rPr lang="pt-BR" sz="3100" b="1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Sugestões</a:t>
            </a:r>
          </a:p>
          <a:p>
            <a:pPr>
              <a:spcBef>
                <a:spcPts val="1200"/>
              </a:spcBef>
              <a:buClrTx/>
              <a:defRPr/>
            </a:pPr>
            <a:r>
              <a:rPr lang="pt-BR" sz="2600" dirty="0">
                <a:latin typeface="Arial" pitchFamily="34" charset="0"/>
                <a:cs typeface="Arial" pitchFamily="34" charset="0"/>
              </a:rPr>
              <a:t>Na prática, o pesquisador precisa relatar:</a:t>
            </a:r>
          </a:p>
          <a:p>
            <a:pPr>
              <a:spcBef>
                <a:spcPts val="1200"/>
              </a:spcBef>
              <a:buClrTx/>
              <a:buNone/>
              <a:defRPr/>
            </a:pPr>
            <a:endParaRPr lang="pt-BR" sz="900" dirty="0">
              <a:latin typeface="Arial" pitchFamily="34" charset="0"/>
              <a:cs typeface="Arial" pitchFamily="34" charset="0"/>
            </a:endParaRPr>
          </a:p>
          <a:p>
            <a:pPr marL="109728" indent="0">
              <a:buNone/>
            </a:pPr>
            <a:r>
              <a:rPr lang="pt-BR" sz="2400" dirty="0"/>
              <a:t>   Qual o tipo da pesquisa?</a:t>
            </a:r>
          </a:p>
          <a:p>
            <a:pPr marL="109728" indent="0">
              <a:buNone/>
            </a:pPr>
            <a:r>
              <a:rPr lang="pt-BR" sz="2400" dirty="0"/>
              <a:t>  Como será feito o estudo? </a:t>
            </a:r>
          </a:p>
          <a:p>
            <a:pPr marL="109728" indent="0">
              <a:buNone/>
            </a:pPr>
            <a:r>
              <a:rPr lang="pt-BR" sz="2400" dirty="0"/>
              <a:t>Descrever quais procedimentos serão utilizados na coleta dos dados (questionários, entrevistas, observações, exame da literatura, etc.)</a:t>
            </a:r>
          </a:p>
          <a:p>
            <a:pPr marL="109728" indent="0">
              <a:buNone/>
            </a:pPr>
            <a:r>
              <a:rPr lang="pt-BR" sz="2400" dirty="0"/>
              <a:t>  Com o quê vai ser feito? Quais os materiais?</a:t>
            </a:r>
          </a:p>
          <a:p>
            <a:pPr marL="109728" indent="0">
              <a:buNone/>
            </a:pPr>
            <a:r>
              <a:rPr lang="pt-BR" sz="2400" dirty="0"/>
              <a:t> Indicar inclusive o tipo de publicação que será consultada (livros, artigos, trabalhos acadêmicos, legislações, jurisprudências), </a:t>
            </a:r>
            <a:r>
              <a:rPr lang="pt-BR" sz="2400" b="1" dirty="0"/>
              <a:t>mas não o local onde os mesmos serão encontrados</a:t>
            </a:r>
            <a:r>
              <a:rPr lang="pt-BR" sz="2400" dirty="0"/>
              <a:t> (livraria, internet, biblioteca etc.). </a:t>
            </a:r>
          </a:p>
          <a:p>
            <a:endParaRPr lang="pt-BR" sz="22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7651" name="Título 6"/>
          <p:cNvSpPr txBox="1">
            <a:spLocks/>
          </p:cNvSpPr>
          <p:nvPr/>
        </p:nvSpPr>
        <p:spPr bwMode="auto">
          <a:xfrm>
            <a:off x="142844" y="357166"/>
            <a:ext cx="6337300" cy="714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endParaRPr lang="pt-BR" sz="2800" dirty="0"/>
          </a:p>
        </p:txBody>
      </p:sp>
      <p:pic>
        <p:nvPicPr>
          <p:cNvPr id="4" name="Picture 3" descr="F:\unip\dicas.gi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699792" y="404664"/>
            <a:ext cx="766732" cy="620688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ço Reservado para Conteúdo 7"/>
          <p:cNvSpPr>
            <a:spLocks noGrp="1"/>
          </p:cNvSpPr>
          <p:nvPr>
            <p:ph sz="half" idx="4294967295"/>
          </p:nvPr>
        </p:nvSpPr>
        <p:spPr>
          <a:xfrm>
            <a:off x="179512" y="332656"/>
            <a:ext cx="8786873" cy="6381773"/>
          </a:xfrm>
        </p:spPr>
        <p:txBody>
          <a:bodyPr>
            <a:normAutofit/>
          </a:bodyPr>
          <a:lstStyle/>
          <a:p>
            <a:pPr>
              <a:buNone/>
              <a:defRPr/>
            </a:pPr>
            <a:r>
              <a:rPr lang="pt-BR" sz="3100" b="1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Sugestões</a:t>
            </a:r>
          </a:p>
          <a:p>
            <a:pPr>
              <a:spcBef>
                <a:spcPts val="1200"/>
              </a:spcBef>
              <a:buClrTx/>
              <a:defRPr/>
            </a:pPr>
            <a:r>
              <a:rPr lang="pt-BR" sz="2600" dirty="0">
                <a:latin typeface="Arial" pitchFamily="34" charset="0"/>
                <a:cs typeface="Arial" pitchFamily="34" charset="0"/>
              </a:rPr>
              <a:t>Na prática, o pesquisador precisa relatar:</a:t>
            </a:r>
          </a:p>
          <a:p>
            <a:pPr>
              <a:spcBef>
                <a:spcPts val="1200"/>
              </a:spcBef>
              <a:buClrTx/>
              <a:buNone/>
              <a:defRPr/>
            </a:pPr>
            <a:endParaRPr lang="pt-BR" sz="900" dirty="0">
              <a:latin typeface="Arial" pitchFamily="34" charset="0"/>
              <a:cs typeface="Arial" pitchFamily="34" charset="0"/>
            </a:endParaRPr>
          </a:p>
          <a:p>
            <a:pPr marL="109728" indent="0">
              <a:buNone/>
            </a:pPr>
            <a:r>
              <a:rPr lang="pt-BR" dirty="0"/>
              <a:t>  Caso haja pesquisa de campo, onde o estudo vai ser feito?</a:t>
            </a:r>
          </a:p>
          <a:p>
            <a:pPr marL="109728" indent="0">
              <a:buNone/>
            </a:pPr>
            <a:r>
              <a:rPr lang="pt-BR" dirty="0"/>
              <a:t>  Quanto tempo para fazer?</a:t>
            </a:r>
          </a:p>
          <a:p>
            <a:pPr marL="109728" indent="0">
              <a:buNone/>
            </a:pPr>
            <a:r>
              <a:rPr lang="pt-BR" dirty="0"/>
              <a:t>  Qual o universo total de sujeitos que compõem o fenômeno que vou pesquisar?</a:t>
            </a:r>
          </a:p>
          <a:p>
            <a:pPr marL="109728" indent="0">
              <a:buNone/>
            </a:pPr>
            <a:r>
              <a:rPr lang="pt-BR" dirty="0"/>
              <a:t>  Quem foi escolhido para a pesquisa (objetos de pesquisa)</a:t>
            </a:r>
          </a:p>
          <a:p>
            <a:pPr marL="109728" indent="0">
              <a:buNone/>
            </a:pPr>
            <a:r>
              <a:rPr lang="pt-BR" dirty="0"/>
              <a:t>  Quais os critérios utilizados para a escolha do objeto de pesquisa </a:t>
            </a:r>
          </a:p>
          <a:p>
            <a:endParaRPr lang="pt-BR" sz="22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7651" name="Título 6"/>
          <p:cNvSpPr txBox="1">
            <a:spLocks/>
          </p:cNvSpPr>
          <p:nvPr/>
        </p:nvSpPr>
        <p:spPr bwMode="auto">
          <a:xfrm>
            <a:off x="142844" y="357166"/>
            <a:ext cx="6337300" cy="714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endParaRPr lang="pt-BR" sz="2800" dirty="0"/>
          </a:p>
        </p:txBody>
      </p:sp>
      <p:pic>
        <p:nvPicPr>
          <p:cNvPr id="4" name="Picture 3" descr="F:\unip\dicas.gi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699792" y="404664"/>
            <a:ext cx="766732" cy="62068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14720661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3" name="Picture 3" descr="F:\unip\livros desenho.bmp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652120" y="1196752"/>
            <a:ext cx="3491880" cy="1803218"/>
          </a:xfrm>
          <a:prstGeom prst="rect">
            <a:avLst/>
          </a:prstGeom>
          <a:noFill/>
        </p:spPr>
      </p:pic>
      <p:sp>
        <p:nvSpPr>
          <p:cNvPr id="8" name="Espaço Reservado para Conteúdo 7"/>
          <p:cNvSpPr>
            <a:spLocks noGrp="1"/>
          </p:cNvSpPr>
          <p:nvPr>
            <p:ph sz="half" idx="4294967295"/>
          </p:nvPr>
        </p:nvSpPr>
        <p:spPr>
          <a:xfrm>
            <a:off x="0" y="908050"/>
            <a:ext cx="9144000" cy="5949950"/>
          </a:xfrm>
        </p:spPr>
        <p:txBody>
          <a:bodyPr>
            <a:normAutofit fontScale="85000" lnSpcReduction="20000"/>
          </a:bodyPr>
          <a:lstStyle/>
          <a:p>
            <a:pPr marL="85725" indent="23813" algn="just">
              <a:buNone/>
              <a:defRPr/>
            </a:pPr>
            <a:r>
              <a:rPr lang="pt-BR" sz="2200" b="1" i="1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O pesquisador deve retomar o que já foi estudado sobre o tema  </a:t>
            </a:r>
          </a:p>
          <a:p>
            <a:pPr marL="85725" indent="23813" algn="just">
              <a:buNone/>
              <a:defRPr/>
            </a:pPr>
            <a:endParaRPr lang="pt-BR" sz="800" b="1" i="1" dirty="0">
              <a:solidFill>
                <a:srgbClr val="C00000"/>
              </a:solidFill>
              <a:latin typeface="Arial" pitchFamily="34" charset="0"/>
              <a:cs typeface="Arial" pitchFamily="34" charset="0"/>
            </a:endParaRPr>
          </a:p>
          <a:p>
            <a:pPr marL="85725" indent="23813" algn="just">
              <a:buNone/>
              <a:defRPr/>
            </a:pPr>
            <a:r>
              <a:rPr lang="pt-BR" sz="2000" b="1" i="1" dirty="0">
                <a:latin typeface="Arial" pitchFamily="34" charset="0"/>
                <a:cs typeface="Arial" pitchFamily="34" charset="0"/>
              </a:rPr>
              <a:t>Sugestões:</a:t>
            </a:r>
          </a:p>
          <a:p>
            <a:pPr marL="85725" indent="23813" algn="just">
              <a:buNone/>
              <a:defRPr/>
            </a:pPr>
            <a:endParaRPr lang="pt-BR" sz="800" b="1" i="1" dirty="0">
              <a:latin typeface="Arial" pitchFamily="34" charset="0"/>
              <a:cs typeface="Arial" pitchFamily="34" charset="0"/>
            </a:endParaRPr>
          </a:p>
          <a:p>
            <a:pPr marL="566928" indent="-457200">
              <a:buClrTx/>
              <a:buNone/>
              <a:defRPr/>
            </a:pPr>
            <a:r>
              <a:rPr lang="pt-BR" sz="2000" b="1" dirty="0">
                <a:latin typeface="Arial" pitchFamily="34" charset="0"/>
                <a:cs typeface="Arial" pitchFamily="34" charset="0"/>
              </a:rPr>
              <a:t>1. Resumir o que foi escrito sobre o assunto</a:t>
            </a:r>
          </a:p>
          <a:p>
            <a:pPr marL="566928" indent="-457200">
              <a:buClrTx/>
              <a:buNone/>
              <a:defRPr/>
            </a:pPr>
            <a:endParaRPr lang="pt-BR" sz="2000" b="1" dirty="0">
              <a:latin typeface="Arial" pitchFamily="34" charset="0"/>
              <a:cs typeface="Arial" pitchFamily="34" charset="0"/>
            </a:endParaRPr>
          </a:p>
          <a:p>
            <a:pPr marL="566928" indent="-457200">
              <a:buClrTx/>
              <a:buNone/>
              <a:defRPr/>
            </a:pPr>
            <a:r>
              <a:rPr lang="pt-BR" sz="2000" b="1" dirty="0">
                <a:latin typeface="Arial" pitchFamily="34" charset="0"/>
                <a:cs typeface="Arial" pitchFamily="34" charset="0"/>
              </a:rPr>
              <a:t>2. Abordar todos os temas envolvidos na pesquisa. </a:t>
            </a:r>
          </a:p>
          <a:p>
            <a:pPr marL="566928" indent="-457200">
              <a:buClrTx/>
              <a:buNone/>
              <a:defRPr/>
            </a:pPr>
            <a:r>
              <a:rPr lang="pt-BR" sz="2000" b="1" dirty="0">
                <a:latin typeface="Arial" pitchFamily="34" charset="0"/>
                <a:cs typeface="Arial" pitchFamily="34" charset="0"/>
              </a:rPr>
              <a:t>Não se deve discorrer sobre assuntos afins que não tem ligação com o tema estudado. </a:t>
            </a:r>
          </a:p>
          <a:p>
            <a:pPr marL="566928" indent="-457200">
              <a:buClrTx/>
              <a:buFont typeface="+mj-lt"/>
              <a:buAutoNum type="arabicPeriod"/>
              <a:defRPr/>
            </a:pPr>
            <a:endParaRPr lang="pt-BR" sz="2000" dirty="0">
              <a:latin typeface="Arial" pitchFamily="34" charset="0"/>
              <a:cs typeface="Arial" pitchFamily="34" charset="0"/>
            </a:endParaRPr>
          </a:p>
          <a:p>
            <a:pPr marL="566928" indent="-457200">
              <a:buClrTx/>
              <a:buNone/>
              <a:defRPr/>
            </a:pPr>
            <a:r>
              <a:rPr lang="pt-BR" sz="2000" b="1" dirty="0">
                <a:latin typeface="Arial" pitchFamily="34" charset="0"/>
                <a:cs typeface="Arial" pitchFamily="34" charset="0"/>
              </a:rPr>
              <a:t>3. Recomenda-se que a exposição dos construtos teóricos mais gerais, para depois, os mais específicos</a:t>
            </a:r>
          </a:p>
          <a:p>
            <a:pPr marL="536575" lvl="1" indent="-441325">
              <a:buClrTx/>
              <a:buNone/>
              <a:defRPr/>
            </a:pPr>
            <a:endParaRPr lang="pt-BR" sz="20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pPr marL="536575" lvl="1" indent="-441325">
              <a:buClrTx/>
              <a:buNone/>
              <a:defRPr/>
            </a:pPr>
            <a:r>
              <a:rPr lang="pt-BR" sz="20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4. Definir os conceitos utilizados segundo autores consagrados</a:t>
            </a:r>
          </a:p>
          <a:p>
            <a:pPr marL="536575" lvl="1" indent="-441325">
              <a:buClrTx/>
              <a:buNone/>
              <a:defRPr/>
            </a:pPr>
            <a:endParaRPr lang="pt-BR" sz="2000" b="1" u="sng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pPr marL="714375" lvl="1" indent="-619125">
              <a:buClrTx/>
              <a:buAutoNum type="arabicPeriod" startAt="3"/>
              <a:defRPr/>
            </a:pPr>
            <a:endParaRPr lang="pt-BR" sz="2000" b="1" u="sng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pPr>
              <a:buClrTx/>
              <a:buNone/>
              <a:defRPr/>
            </a:pPr>
            <a:endParaRPr lang="pt-BR" sz="2000" dirty="0">
              <a:latin typeface="Arial" pitchFamily="34" charset="0"/>
              <a:cs typeface="Arial" pitchFamily="34" charset="0"/>
            </a:endParaRPr>
          </a:p>
          <a:p>
            <a:pPr>
              <a:buClrTx/>
              <a:defRPr/>
            </a:pPr>
            <a:r>
              <a:rPr lang="pt-BR" sz="2000" dirty="0">
                <a:latin typeface="Arial" pitchFamily="34" charset="0"/>
                <a:cs typeface="Arial" pitchFamily="34" charset="0"/>
              </a:rPr>
              <a:t>Não é necessário retomar tudo o que já foi escrito sobre um assunto, mas sim as informações básicas que possibilitem ao leitor compreender o tema e ao pesquisador realizar a pesquisa. </a:t>
            </a:r>
          </a:p>
          <a:p>
            <a:pPr>
              <a:buClrTx/>
              <a:defRPr/>
            </a:pPr>
            <a:endParaRPr lang="pt-BR" sz="2000" dirty="0">
              <a:latin typeface="Arial" pitchFamily="34" charset="0"/>
              <a:cs typeface="Arial" pitchFamily="34" charset="0"/>
            </a:endParaRPr>
          </a:p>
          <a:p>
            <a:pPr>
              <a:buClrTx/>
              <a:defRPr/>
            </a:pPr>
            <a:r>
              <a:rPr lang="pt-BR" sz="2000" dirty="0">
                <a:latin typeface="Arial" pitchFamily="34" charset="0"/>
                <a:cs typeface="Arial" pitchFamily="34" charset="0"/>
              </a:rPr>
              <a:t>Nessa etapa ainda não é preciso a apresentação de 10 fontes de consulta</a:t>
            </a:r>
          </a:p>
          <a:p>
            <a:pPr>
              <a:buClrTx/>
              <a:buNone/>
              <a:defRPr/>
            </a:pPr>
            <a:endParaRPr lang="pt-BR" sz="2000" dirty="0">
              <a:latin typeface="Arial" pitchFamily="34" charset="0"/>
              <a:cs typeface="Arial" pitchFamily="34" charset="0"/>
            </a:endParaRPr>
          </a:p>
          <a:p>
            <a:pPr>
              <a:buClrTx/>
              <a:defRPr/>
            </a:pPr>
            <a:r>
              <a:rPr lang="pt-BR" sz="2000" dirty="0">
                <a:latin typeface="Arial" pitchFamily="34" charset="0"/>
                <a:cs typeface="Arial" pitchFamily="34" charset="0"/>
              </a:rPr>
              <a:t>Não se deve discorrer sobre assuntos afins que não tem ligação com o tema estudado. </a:t>
            </a:r>
          </a:p>
          <a:p>
            <a:pPr marL="365760" indent="-283464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endParaRPr lang="pt-BR" sz="20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6627" name="Título 6"/>
          <p:cNvSpPr txBox="1">
            <a:spLocks/>
          </p:cNvSpPr>
          <p:nvPr/>
        </p:nvSpPr>
        <p:spPr bwMode="auto">
          <a:xfrm>
            <a:off x="357158" y="260648"/>
            <a:ext cx="6337300" cy="7870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lang="pt-BR" sz="2800" b="1" dirty="0"/>
              <a:t>Revisão bibliográfica</a:t>
            </a:r>
            <a:endParaRPr lang="pt-BR" sz="2800" dirty="0"/>
          </a:p>
        </p:txBody>
      </p:sp>
      <p:pic>
        <p:nvPicPr>
          <p:cNvPr id="5" name="Picture 3" descr="F:\unip\dicas.gif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0" y="3861048"/>
            <a:ext cx="766732" cy="620688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5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500"/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8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8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8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Espaço Reservado para Conteúdo 7"/>
          <p:cNvSpPr>
            <a:spLocks noGrp="1"/>
          </p:cNvSpPr>
          <p:nvPr>
            <p:ph sz="half" idx="4294967295"/>
          </p:nvPr>
        </p:nvSpPr>
        <p:spPr>
          <a:xfrm>
            <a:off x="0" y="1268413"/>
            <a:ext cx="8429625" cy="5214937"/>
          </a:xfrm>
        </p:spPr>
        <p:txBody>
          <a:bodyPr>
            <a:normAutofit fontScale="92500"/>
          </a:bodyPr>
          <a:lstStyle/>
          <a:p>
            <a:pPr>
              <a:buClrTx/>
            </a:pPr>
            <a:endParaRPr lang="pt-BR" sz="1800" dirty="0">
              <a:latin typeface="Arial" pitchFamily="34" charset="0"/>
              <a:cs typeface="Arial" pitchFamily="34" charset="0"/>
            </a:endParaRPr>
          </a:p>
          <a:p>
            <a:pPr>
              <a:buClrTx/>
            </a:pPr>
            <a:endParaRPr lang="pt-BR" sz="1800" dirty="0">
              <a:latin typeface="Arial" pitchFamily="34" charset="0"/>
              <a:cs typeface="Arial" pitchFamily="34" charset="0"/>
            </a:endParaRPr>
          </a:p>
          <a:p>
            <a:pPr>
              <a:buClrTx/>
            </a:pPr>
            <a:r>
              <a:rPr lang="pt-BR" sz="1800" dirty="0">
                <a:latin typeface="Arial" pitchFamily="34" charset="0"/>
                <a:cs typeface="Arial" pitchFamily="34" charset="0"/>
              </a:rPr>
              <a:t>Na fase do projeto, ainda não há necessidade de o pesquisador ter acesso físico a todas as obras que versem sobre seu tema, muito menos de adquiri-las. </a:t>
            </a:r>
          </a:p>
          <a:p>
            <a:pPr>
              <a:buClrTx/>
            </a:pPr>
            <a:endParaRPr lang="pt-BR" sz="800" dirty="0">
              <a:latin typeface="Arial" pitchFamily="34" charset="0"/>
              <a:cs typeface="Arial" pitchFamily="34" charset="0"/>
            </a:endParaRPr>
          </a:p>
          <a:p>
            <a:pPr>
              <a:buClrTx/>
            </a:pPr>
            <a:r>
              <a:rPr lang="pt-BR" sz="1800" dirty="0">
                <a:latin typeface="Arial" pitchFamily="34" charset="0"/>
                <a:cs typeface="Arial" pitchFamily="34" charset="0"/>
              </a:rPr>
              <a:t>Contudo, para a redação do projeto o pesquisador deve ter lido textos sobre o assunto que o auxiliaram na confecção do plano de pesquisa. Esses textos consultados devem ser referenciados.</a:t>
            </a:r>
          </a:p>
          <a:p>
            <a:pPr>
              <a:buClrTx/>
            </a:pPr>
            <a:endParaRPr lang="pt-BR" sz="800" dirty="0">
              <a:latin typeface="Arial" pitchFamily="34" charset="0"/>
              <a:cs typeface="Arial" pitchFamily="34" charset="0"/>
            </a:endParaRPr>
          </a:p>
          <a:p>
            <a:pPr>
              <a:buClrTx/>
            </a:pPr>
            <a:r>
              <a:rPr lang="pt-BR" sz="1800" dirty="0">
                <a:latin typeface="Arial" pitchFamily="34" charset="0"/>
                <a:cs typeface="Arial" pitchFamily="34" charset="0"/>
              </a:rPr>
              <a:t>Caso o pesquisador queira, também pode indicar as referências das obras que pretende ler durante a pesquisa. </a:t>
            </a:r>
          </a:p>
          <a:p>
            <a:pPr>
              <a:buClrTx/>
            </a:pPr>
            <a:endParaRPr lang="pt-BR" sz="800" dirty="0">
              <a:latin typeface="Arial" pitchFamily="34" charset="0"/>
              <a:cs typeface="Arial" pitchFamily="34" charset="0"/>
            </a:endParaRPr>
          </a:p>
          <a:p>
            <a:pPr>
              <a:buClrTx/>
            </a:pPr>
            <a:r>
              <a:rPr lang="pt-BR" sz="1800" dirty="0">
                <a:latin typeface="Arial" pitchFamily="34" charset="0"/>
                <a:cs typeface="Arial" pitchFamily="34" charset="0"/>
              </a:rPr>
              <a:t>As referências bibliográficas devem seguir o padrão da ABNT. </a:t>
            </a:r>
          </a:p>
          <a:p>
            <a:pPr>
              <a:buClrTx/>
              <a:buNone/>
            </a:pPr>
            <a:endParaRPr lang="pt-BR" sz="1800" dirty="0">
              <a:latin typeface="Arial" pitchFamily="34" charset="0"/>
              <a:cs typeface="Arial" pitchFamily="34" charset="0"/>
            </a:endParaRPr>
          </a:p>
          <a:p>
            <a:pPr>
              <a:buClrTx/>
            </a:pPr>
            <a:r>
              <a:rPr lang="pt-BR" sz="1800" dirty="0">
                <a:latin typeface="Arial" pitchFamily="34" charset="0"/>
                <a:cs typeface="Arial" pitchFamily="34" charset="0"/>
              </a:rPr>
              <a:t>Regra geral</a:t>
            </a:r>
            <a:r>
              <a:rPr lang="pt-BR" sz="1800" b="1" dirty="0">
                <a:latin typeface="Arial" pitchFamily="34" charset="0"/>
                <a:cs typeface="Arial" pitchFamily="34" charset="0"/>
              </a:rPr>
              <a:t>:</a:t>
            </a:r>
            <a:r>
              <a:rPr lang="pt-BR" sz="1800" dirty="0">
                <a:latin typeface="Arial" pitchFamily="34" charset="0"/>
                <a:cs typeface="Arial" pitchFamily="34" charset="0"/>
              </a:rPr>
              <a:t> </a:t>
            </a:r>
          </a:p>
          <a:p>
            <a:pPr lvl="1">
              <a:buClrTx/>
            </a:pPr>
            <a:r>
              <a:rPr lang="pt-BR" sz="18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SOBRENOME DO AUTOR (ÚLTIMO NOME EM CAIXA ALTA), seguido pelo seu primeiro nome (completo ou abreviado). </a:t>
            </a:r>
            <a:r>
              <a:rPr lang="pt-BR" sz="1800" b="1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Título</a:t>
            </a:r>
            <a:r>
              <a:rPr lang="pt-BR" sz="18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. Cidade: editora, ano.</a:t>
            </a:r>
          </a:p>
          <a:p>
            <a:pPr lvl="1">
              <a:buClrTx/>
              <a:buNone/>
            </a:pPr>
            <a:r>
              <a:rPr lang="pt-BR" sz="1800" i="1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Exemplo: </a:t>
            </a:r>
            <a:r>
              <a:rPr lang="pt-BR" sz="18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MARCONI, M.; LAKATOS, E. </a:t>
            </a:r>
            <a:r>
              <a:rPr lang="pt-BR" sz="1800" b="1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Fundamentos da metodologia científica</a:t>
            </a:r>
            <a:r>
              <a:rPr lang="pt-BR" sz="18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. São Paulo: Atlas, 2010. </a:t>
            </a:r>
          </a:p>
        </p:txBody>
      </p:sp>
      <p:sp>
        <p:nvSpPr>
          <p:cNvPr id="37891" name="Título 6"/>
          <p:cNvSpPr txBox="1">
            <a:spLocks/>
          </p:cNvSpPr>
          <p:nvPr/>
        </p:nvSpPr>
        <p:spPr bwMode="auto">
          <a:xfrm>
            <a:off x="0" y="620688"/>
            <a:ext cx="6337300" cy="642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endParaRPr lang="pt-BR" sz="2800" b="1" i="1" dirty="0"/>
          </a:p>
          <a:p>
            <a:endParaRPr lang="pt-BR" sz="2800" b="1" i="1" dirty="0"/>
          </a:p>
          <a:p>
            <a:r>
              <a:rPr lang="pt-BR" sz="2800" b="1" i="1" dirty="0"/>
              <a:t>REFERÊNCIAS BIBLIOGRÁFICAS</a:t>
            </a:r>
          </a:p>
          <a:p>
            <a:pPr algn="ctr"/>
            <a:endParaRPr lang="pt-BR" sz="2400" b="1" i="1" dirty="0">
              <a:solidFill>
                <a:srgbClr val="C00000"/>
              </a:solidFill>
            </a:endParaRPr>
          </a:p>
          <a:p>
            <a:pPr algn="ctr"/>
            <a:r>
              <a:rPr lang="pt-BR" sz="2400" b="1" i="1" dirty="0">
                <a:solidFill>
                  <a:srgbClr val="C00000"/>
                </a:solidFill>
              </a:rPr>
              <a:t>Registro dos textos utilizados </a:t>
            </a:r>
          </a:p>
          <a:p>
            <a:pPr algn="ctr"/>
            <a:r>
              <a:rPr lang="pt-BR" sz="2400" b="1" i="1" dirty="0">
                <a:solidFill>
                  <a:srgbClr val="C00000"/>
                </a:solidFill>
              </a:rPr>
              <a:t> </a:t>
            </a:r>
            <a:endParaRPr lang="pt-BR" sz="2400" b="1" dirty="0">
              <a:solidFill>
                <a:srgbClr val="C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78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789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789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789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3789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3789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500"/>
                            </p:stCondLst>
                            <p:childTnLst>
                              <p:par>
                                <p:cTn id="32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3789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0" y="1"/>
            <a:ext cx="9144000" cy="6986528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pt-BR" sz="2400" b="1" dirty="0"/>
              <a:t>Título: </a:t>
            </a:r>
            <a:r>
              <a:rPr lang="pt-BR" sz="2400" dirty="0"/>
              <a:t>redação é livre</a:t>
            </a:r>
            <a:endParaRPr lang="pt-BR" sz="2400" b="1" dirty="0"/>
          </a:p>
          <a:p>
            <a:pPr>
              <a:buFont typeface="Wingdings 2" pitchFamily="18" charset="2"/>
              <a:buNone/>
            </a:pPr>
            <a:r>
              <a:rPr lang="pt-BR" sz="2800" b="1" dirty="0">
                <a:solidFill>
                  <a:srgbClr val="C00000"/>
                </a:solidFill>
              </a:rPr>
              <a:t>Dicas:</a:t>
            </a:r>
          </a:p>
          <a:p>
            <a:pPr>
              <a:buFont typeface="Wingdings 2" pitchFamily="18" charset="2"/>
              <a:buNone/>
            </a:pPr>
            <a:endParaRPr lang="pt-BR" sz="2800" b="1" dirty="0"/>
          </a:p>
          <a:p>
            <a:r>
              <a:rPr lang="pt-BR" sz="2000" b="1" dirty="0"/>
              <a:t>1- Objetivo da pesquisa de forma resumida:  </a:t>
            </a:r>
          </a:p>
          <a:p>
            <a:pPr lvl="1"/>
            <a:r>
              <a:rPr lang="pt-BR" u="sng" dirty="0"/>
              <a:t>Objetivo</a:t>
            </a:r>
            <a:r>
              <a:rPr lang="pt-BR" b="1" dirty="0"/>
              <a:t>:</a:t>
            </a:r>
            <a:r>
              <a:rPr lang="pt-BR" dirty="0"/>
              <a:t> “descrever as atividades desenvolvidas pelas ONGs em parceria com o poder público, em especial buscando as vantagens e desvantagens advindas dessas parcerias, permitindo assim a adoção de tal forma de gestão pela administração pública” </a:t>
            </a:r>
          </a:p>
          <a:p>
            <a:pPr lvl="1"/>
            <a:r>
              <a:rPr lang="pt-BR" u="sng" dirty="0"/>
              <a:t>Título</a:t>
            </a:r>
            <a:r>
              <a:rPr lang="pt-BR" b="1" dirty="0"/>
              <a:t>:</a:t>
            </a:r>
            <a:r>
              <a:rPr lang="pt-BR" dirty="0"/>
              <a:t> “estudo sobre as vantagens e desvantagens da parceria entre ONGs e poder público”. </a:t>
            </a:r>
          </a:p>
          <a:p>
            <a:pPr lvl="1"/>
            <a:endParaRPr lang="pt-BR" sz="800" dirty="0"/>
          </a:p>
          <a:p>
            <a:pPr lvl="1"/>
            <a:endParaRPr lang="pt-BR" sz="800" dirty="0"/>
          </a:p>
          <a:p>
            <a:r>
              <a:rPr lang="pt-BR" sz="2000" b="1" dirty="0"/>
              <a:t>2- Tema delimitado da pesquisa  como título:</a:t>
            </a:r>
          </a:p>
          <a:p>
            <a:pPr lvl="1"/>
            <a:r>
              <a:rPr lang="pt-BR" dirty="0"/>
              <a:t>“Vantagens e desvantagens da parceria entre ONGs e poder público”.</a:t>
            </a:r>
          </a:p>
          <a:p>
            <a:pPr lvl="1"/>
            <a:endParaRPr lang="pt-BR" sz="800" dirty="0"/>
          </a:p>
          <a:p>
            <a:r>
              <a:rPr lang="pt-BR" sz="2000" b="1" dirty="0"/>
              <a:t>     Objetos de pesquisa como subtítulo: </a:t>
            </a:r>
          </a:p>
          <a:p>
            <a:pPr lvl="1"/>
            <a:r>
              <a:rPr lang="pt-BR" dirty="0"/>
              <a:t>“Vantagens e desvantagens da parceria entre ONGs e poder público: um estudo sobre as ONGs da área da assistência social que tem parceria com o município de São Paulo”</a:t>
            </a:r>
          </a:p>
          <a:p>
            <a:pPr lvl="1"/>
            <a:endParaRPr lang="pt-BR" dirty="0"/>
          </a:p>
          <a:p>
            <a:r>
              <a:rPr lang="pt-BR" sz="2000" b="1" dirty="0"/>
              <a:t>3- O título também pode ser escrito com a intenção de despertar a atenção do leitor</a:t>
            </a:r>
          </a:p>
          <a:p>
            <a:pPr lvl="1"/>
            <a:r>
              <a:rPr lang="pt-BR" dirty="0"/>
              <a:t>“Parcerias entre ONGs e poder público: </a:t>
            </a:r>
            <a:br>
              <a:rPr lang="pt-BR" dirty="0"/>
            </a:br>
            <a:r>
              <a:rPr lang="pt-BR" dirty="0"/>
              <a:t>Quais as Vantagens e desvantagens dessa nova forma de gestão?”</a:t>
            </a:r>
          </a:p>
        </p:txBody>
      </p:sp>
      <p:sp>
        <p:nvSpPr>
          <p:cNvPr id="3" name="Título 6"/>
          <p:cNvSpPr txBox="1">
            <a:spLocks/>
          </p:cNvSpPr>
          <p:nvPr/>
        </p:nvSpPr>
        <p:spPr bwMode="auto">
          <a:xfrm>
            <a:off x="2411760" y="1"/>
            <a:ext cx="5143536" cy="6429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endParaRPr lang="pt-BR" sz="3200" b="1" dirty="0"/>
          </a:p>
        </p:txBody>
      </p:sp>
      <p:pic>
        <p:nvPicPr>
          <p:cNvPr id="4" name="Imagem 3" descr="legal.gif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884368" y="5598368"/>
            <a:ext cx="1259632" cy="125963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8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2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8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3" name="Rectangle 1"/>
          <p:cNvSpPr>
            <a:spLocks noChangeArrowheads="1"/>
          </p:cNvSpPr>
          <p:nvPr/>
        </p:nvSpPr>
        <p:spPr bwMode="auto">
          <a:xfrm>
            <a:off x="0" y="802836"/>
            <a:ext cx="9144000" cy="58939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180975" algn="l"/>
              </a:tabLst>
            </a:pPr>
            <a:r>
              <a:rPr kumimoji="0" lang="pt-B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Calibri" pitchFamily="34" charset="0"/>
                <a:cs typeface="Arial" pitchFamily="34" charset="0"/>
              </a:rPr>
              <a:t>Assinale a alternativa que contenha os itens de um projeto descritos pelas passagens a seguir: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180975" algn="l"/>
              </a:tabLst>
            </a:pPr>
            <a:endParaRPr lang="pt-BR" b="1" dirty="0">
              <a:latin typeface="Arial" pitchFamily="34" charset="0"/>
              <a:cs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180975" algn="l"/>
              </a:tabLst>
            </a:pPr>
            <a:endParaRPr kumimoji="0" lang="pt-BR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lvl="1" algn="just" eaLnBrk="0" hangingPunct="0">
              <a:spcBef>
                <a:spcPts val="600"/>
              </a:spcBef>
              <a:tabLst>
                <a:tab pos="180975" algn="l"/>
              </a:tabLst>
            </a:pPr>
            <a:r>
              <a:rPr kumimoji="0" 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Calibri" pitchFamily="34" charset="0"/>
                <a:cs typeface="Arial" pitchFamily="34" charset="0"/>
              </a:rPr>
              <a:t>O assunto sobre o qual versará o trabalho </a:t>
            </a:r>
            <a:endParaRPr kumimoji="0" lang="pt-B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lvl="1" algn="just" eaLnBrk="0" hangingPunct="0">
              <a:spcBef>
                <a:spcPts val="600"/>
              </a:spcBef>
              <a:tabLst>
                <a:tab pos="180975" algn="l"/>
              </a:tabLst>
            </a:pPr>
            <a:r>
              <a:rPr kumimoji="0" 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Calibri" pitchFamily="34" charset="0"/>
                <a:cs typeface="Arial" pitchFamily="34" charset="0"/>
              </a:rPr>
              <a:t>O assunto sobre o qual versará o trabalho restringido ao máximo</a:t>
            </a:r>
            <a:endParaRPr kumimoji="0" lang="pt-B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lvl="1" algn="just" eaLnBrk="0" hangingPunct="0">
              <a:spcBef>
                <a:spcPts val="600"/>
              </a:spcBef>
              <a:tabLst>
                <a:tab pos="180975" algn="l"/>
              </a:tabLst>
            </a:pPr>
            <a:r>
              <a:rPr kumimoji="0" 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Calibri" pitchFamily="34" charset="0"/>
                <a:cs typeface="Arial" pitchFamily="34" charset="0"/>
              </a:rPr>
              <a:t>A pergunta que o pesquisador deseja responder por meio da investigação</a:t>
            </a:r>
            <a:endParaRPr kumimoji="0" lang="pt-B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lvl="1" algn="just" eaLnBrk="0" hangingPunct="0">
              <a:spcBef>
                <a:spcPts val="600"/>
              </a:spcBef>
              <a:tabLst>
                <a:tab pos="180975" algn="l"/>
              </a:tabLst>
            </a:pPr>
            <a:r>
              <a:rPr kumimoji="0" 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Calibri" pitchFamily="34" charset="0"/>
                <a:cs typeface="Arial" pitchFamily="34" charset="0"/>
              </a:rPr>
              <a:t>A resposta provisória para a pergunta da pesquisa</a:t>
            </a:r>
            <a:endParaRPr kumimoji="0" lang="pt-B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lvl="1" algn="just" eaLnBrk="0" hangingPunct="0">
              <a:spcBef>
                <a:spcPts val="600"/>
              </a:spcBef>
              <a:tabLst>
                <a:tab pos="180975" algn="l"/>
              </a:tabLst>
            </a:pPr>
            <a:r>
              <a:rPr kumimoji="0" 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Calibri" pitchFamily="34" charset="0"/>
                <a:cs typeface="Arial" pitchFamily="34" charset="0"/>
              </a:rPr>
              <a:t>A descrição sobre a finalidade da pesquisa </a:t>
            </a:r>
            <a:endParaRPr kumimoji="0" lang="pt-B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lvl="1" algn="just" eaLnBrk="0" hangingPunct="0">
              <a:spcBef>
                <a:spcPts val="600"/>
              </a:spcBef>
              <a:tabLst>
                <a:tab pos="180975" algn="l"/>
              </a:tabLst>
            </a:pPr>
            <a:r>
              <a:rPr kumimoji="0" 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Calibri" pitchFamily="34" charset="0"/>
                <a:cs typeface="Arial" pitchFamily="34" charset="0"/>
              </a:rPr>
              <a:t>A descrição sobre a importância da pesquisa</a:t>
            </a:r>
          </a:p>
          <a:p>
            <a:pPr lvl="1" algn="just" eaLnBrk="0" hangingPunct="0">
              <a:tabLst>
                <a:tab pos="180975" algn="l"/>
              </a:tabLst>
            </a:pPr>
            <a:endParaRPr lang="pt-BR" dirty="0">
              <a:latin typeface="Arial" pitchFamily="34" charset="0"/>
              <a:cs typeface="Arial" pitchFamily="34" charset="0"/>
            </a:endParaRPr>
          </a:p>
          <a:p>
            <a:pPr lvl="1" algn="just" eaLnBrk="0" hangingPunct="0">
              <a:tabLst>
                <a:tab pos="180975" algn="l"/>
              </a:tabLst>
            </a:pPr>
            <a:endParaRPr kumimoji="0" lang="pt-BR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>
                <a:tab pos="180975" algn="l"/>
              </a:tabLst>
            </a:pPr>
            <a:r>
              <a:rPr kumimoji="0" lang="pt-B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Calibri" pitchFamily="34" charset="0"/>
                <a:cs typeface="Arial" pitchFamily="34" charset="0"/>
              </a:rPr>
              <a:t>Tema; tema delimitado; hipótese; problema de pesquisa; objetivo e justificativa</a:t>
            </a:r>
            <a:endParaRPr kumimoji="0" lang="pt-BR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>
                <a:tab pos="180975" algn="l"/>
              </a:tabLst>
            </a:pPr>
            <a:r>
              <a:rPr kumimoji="0" lang="pt-B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Calibri" pitchFamily="34" charset="0"/>
                <a:cs typeface="Arial" pitchFamily="34" charset="0"/>
              </a:rPr>
              <a:t>Tema; tema delimitado; problema de pesquisa; hipótese; objetivo e justificativa</a:t>
            </a:r>
            <a:endParaRPr kumimoji="0" lang="pt-BR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>
                <a:tab pos="180975" algn="l"/>
              </a:tabLst>
            </a:pPr>
            <a:r>
              <a:rPr kumimoji="0" lang="pt-B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Calibri" pitchFamily="34" charset="0"/>
                <a:cs typeface="Arial" pitchFamily="34" charset="0"/>
              </a:rPr>
              <a:t>Tema; tema delimitado; problema de pesquisa; hipótese; justificativa e objetivo </a:t>
            </a:r>
            <a:endParaRPr kumimoji="0" lang="pt-BR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>
                <a:tab pos="180975" algn="l"/>
              </a:tabLst>
            </a:pPr>
            <a:r>
              <a:rPr kumimoji="0" lang="pt-B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Calibri" pitchFamily="34" charset="0"/>
                <a:cs typeface="Arial" pitchFamily="34" charset="0"/>
              </a:rPr>
              <a:t>Tema delimitado; tema; problema de pesquisa; hipótese; objetivo e justificativa</a:t>
            </a:r>
            <a:endParaRPr kumimoji="0" lang="pt-BR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>
                <a:tab pos="180975" algn="l"/>
              </a:tabLst>
            </a:pPr>
            <a:r>
              <a:rPr kumimoji="0" lang="pt-B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Calibri" pitchFamily="34" charset="0"/>
                <a:cs typeface="Arial" pitchFamily="34" charset="0"/>
              </a:rPr>
              <a:t>Tema; tema delimitado; objetivo; hipótese; problema de pesquisa; e justificativa</a:t>
            </a:r>
            <a:endParaRPr kumimoji="0" lang="pt-BR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5" name="Rectangle 1"/>
          <p:cNvSpPr>
            <a:spLocks noChangeArrowheads="1"/>
          </p:cNvSpPr>
          <p:nvPr/>
        </p:nvSpPr>
        <p:spPr bwMode="auto">
          <a:xfrm>
            <a:off x="395536" y="904945"/>
            <a:ext cx="8358246" cy="34932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Calibri" pitchFamily="34" charset="0"/>
                <a:cs typeface="Arial" pitchFamily="34" charset="0"/>
              </a:rPr>
              <a:t>A partir do tema XXXX</a:t>
            </a:r>
            <a:r>
              <a:rPr kumimoji="0" lang="pt-BR" sz="2800" b="1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Calibri" pitchFamily="34" charset="0"/>
                <a:cs typeface="Arial" pitchFamily="34" charset="0"/>
              </a:rPr>
              <a:t> </a:t>
            </a:r>
            <a:r>
              <a:rPr kumimoji="0" lang="pt-BR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Calibri" pitchFamily="34" charset="0"/>
                <a:cs typeface="Arial" pitchFamily="34" charset="0"/>
              </a:rPr>
              <a:t>elabore</a:t>
            </a:r>
            <a:r>
              <a:rPr kumimoji="0" lang="pt-BR" sz="2800" b="1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Calibri" pitchFamily="34" charset="0"/>
                <a:cs typeface="Arial" pitchFamily="34" charset="0"/>
              </a:rPr>
              <a:t> de forma breve um tema delimitado, um problema e uma metodologia</a:t>
            </a:r>
            <a:r>
              <a:rPr kumimoji="0" lang="pt-BR" sz="2000" b="1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Calibri" pitchFamily="34" charset="0"/>
                <a:cs typeface="Arial" pitchFamily="34" charset="0"/>
              </a:rPr>
              <a:t>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pt-BR" sz="1100" b="1" baseline="0" dirty="0">
              <a:latin typeface="Calibri" pitchFamily="34" charset="0"/>
              <a:cs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1100" b="1" i="0" u="none" strike="noStrike" cap="none" normalizeH="0" dirty="0">
              <a:ln>
                <a:noFill/>
              </a:ln>
              <a:solidFill>
                <a:schemeClr val="tx1"/>
              </a:solidFill>
              <a:effectLst/>
              <a:latin typeface="Calibri" pitchFamily="34" charset="0"/>
              <a:cs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pt-BR" sz="1100" b="1" baseline="0" dirty="0">
              <a:latin typeface="Calibri" pitchFamily="34" charset="0"/>
              <a:cs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1100" b="1" i="0" u="none" strike="noStrike" cap="none" normalizeH="0" dirty="0">
              <a:ln>
                <a:noFill/>
              </a:ln>
              <a:solidFill>
                <a:schemeClr val="tx1"/>
              </a:solidFill>
              <a:effectLst/>
              <a:latin typeface="Calibri" pitchFamily="34" charset="0"/>
              <a:cs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pt-BR" sz="1100" b="1" baseline="0" dirty="0">
              <a:latin typeface="Calibri" pitchFamily="34" charset="0"/>
              <a:cs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1100" b="1" i="0" u="none" strike="noStrike" cap="none" normalizeH="0" dirty="0">
              <a:ln>
                <a:noFill/>
              </a:ln>
              <a:solidFill>
                <a:schemeClr val="tx1"/>
              </a:solidFill>
              <a:effectLst/>
              <a:latin typeface="Calibri" pitchFamily="34" charset="0"/>
              <a:cs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pt-BR" sz="1100" b="1" baseline="0" dirty="0">
              <a:latin typeface="Calibri" pitchFamily="34" charset="0"/>
              <a:cs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pic>
        <p:nvPicPr>
          <p:cNvPr id="3" name="Picture 3" descr="F:\unip\metodologia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75656" y="4293096"/>
            <a:ext cx="6055589" cy="184288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Urbano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Urbano">
      <a:majorFont>
        <a:latin typeface="Trebuchet MS"/>
        <a:ea typeface=""/>
        <a:cs typeface=""/>
        <a:font script="Jpan" typeface="HGｺﾞｼｯｸM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eorgia"/>
        <a:ea typeface=""/>
        <a:cs typeface=""/>
        <a:font script="Jpan" typeface="HG明朝B"/>
        <a:font script="Hang" typeface="맑은 고딕"/>
        <a:font script="Hans" typeface="宋体"/>
        <a:font script="Hant" typeface="新細明體"/>
        <a:font script="Arab" typeface="Arial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Urbano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255000"/>
              </a:schemeClr>
            </a:gs>
            <a:gs pos="55000">
              <a:schemeClr val="phClr">
                <a:tint val="12000"/>
                <a:satMod val="255000"/>
              </a:schemeClr>
            </a:gs>
            <a:gs pos="100000">
              <a:schemeClr val="phClr">
                <a:tint val="45000"/>
                <a:satMod val="250000"/>
              </a:schemeClr>
            </a:gs>
          </a:gsLst>
          <a:path path="circle">
            <a:fillToRect l="-40000" t="-90000" r="140000" b="190000"/>
          </a:path>
        </a:gradFill>
        <a:gradFill rotWithShape="1">
          <a:gsLst>
            <a:gs pos="0">
              <a:schemeClr val="phClr">
                <a:tint val="43000"/>
                <a:satMod val="165000"/>
              </a:schemeClr>
            </a:gs>
            <a:gs pos="55000">
              <a:schemeClr val="phClr">
                <a:tint val="83000"/>
                <a:satMod val="155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-40000" t="-90000" r="140000" b="19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15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flat" dir="t">
              <a:rot lat="0" lon="0" rev="20040000"/>
            </a:lightRig>
          </a:scene3d>
          <a:sp3d contourW="12700" prstMaterial="dkEdge">
            <a:bevelT w="25400" h="38100" prst="convex"/>
            <a:contourClr>
              <a:schemeClr val="phClr">
                <a:satMod val="115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tint val="80000"/>
                <a:satMod val="250000"/>
              </a:schemeClr>
            </a:gs>
            <a:gs pos="60000">
              <a:schemeClr val="phClr">
                <a:shade val="38000"/>
                <a:satMod val="175000"/>
              </a:schemeClr>
            </a:gs>
            <a:gs pos="0">
              <a:schemeClr val="phClr">
                <a:shade val="30000"/>
                <a:satMod val="175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</a:schemeClr>
              <a:schemeClr val="phClr">
                <a:tint val="96000"/>
                <a:satMod val="15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F8806A6BBFD8F94CA27EC52F1AE6F20B" ma:contentTypeVersion="3" ma:contentTypeDescription="Crie um novo documento." ma:contentTypeScope="" ma:versionID="05c099c6e3f057128dc6b716b9de35b2">
  <xsd:schema xmlns:xsd="http://www.w3.org/2001/XMLSchema" xmlns:xs="http://www.w3.org/2001/XMLSchema" xmlns:p="http://schemas.microsoft.com/office/2006/metadata/properties" xmlns:ns2="b4fd5b1b-3f79-45df-9f68-0237794b52ad" targetNamespace="http://schemas.microsoft.com/office/2006/metadata/properties" ma:root="true" ma:fieldsID="66237220fbfe90ee27a0aec2968ad77a" ns2:_="">
    <xsd:import namespace="b4fd5b1b-3f79-45df-9f68-0237794b52a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4fd5b1b-3f79-45df-9f68-0237794b52a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BC933B01-56E0-46BD-9206-5847D26EEA64}"/>
</file>

<file path=customXml/itemProps2.xml><?xml version="1.0" encoding="utf-8"?>
<ds:datastoreItem xmlns:ds="http://schemas.openxmlformats.org/officeDocument/2006/customXml" ds:itemID="{B52458B0-F481-4DBD-8076-6EFF5227160A}"/>
</file>

<file path=customXml/itemProps3.xml><?xml version="1.0" encoding="utf-8"?>
<ds:datastoreItem xmlns:ds="http://schemas.openxmlformats.org/officeDocument/2006/customXml" ds:itemID="{2835E628-AA7E-402E-8F6C-563C3884370E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6564</TotalTime>
  <Words>3523</Words>
  <Application>Microsoft Office PowerPoint</Application>
  <PresentationFormat>Apresentação na tela (4:3)</PresentationFormat>
  <Paragraphs>559</Paragraphs>
  <Slides>45</Slides>
  <Notes>25</Notes>
  <HiddenSlides>0</HiddenSlides>
  <MMClips>0</MMClips>
  <ScaleCrop>false</ScaleCrop>
  <HeadingPairs>
    <vt:vector size="6" baseType="variant">
      <vt:variant>
        <vt:lpstr>Fontes usadas</vt:lpstr>
      </vt:variant>
      <vt:variant>
        <vt:i4>14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45</vt:i4>
      </vt:variant>
    </vt:vector>
  </HeadingPairs>
  <TitlesOfParts>
    <vt:vector size="60" baseType="lpstr">
      <vt:lpstr>Arial</vt:lpstr>
      <vt:lpstr>Bauhaus 93</vt:lpstr>
      <vt:lpstr>Book Antiqua</vt:lpstr>
      <vt:lpstr>Bookman Old Style</vt:lpstr>
      <vt:lpstr>Britannic Bold</vt:lpstr>
      <vt:lpstr>Calibri</vt:lpstr>
      <vt:lpstr>Georgia</vt:lpstr>
      <vt:lpstr>Lucida Fax</vt:lpstr>
      <vt:lpstr>Tahoma</vt:lpstr>
      <vt:lpstr>Trebuchet MS</vt:lpstr>
      <vt:lpstr>Viner Hand ITC</vt:lpstr>
      <vt:lpstr>Wingdings</vt:lpstr>
      <vt:lpstr>Wingdings 2</vt:lpstr>
      <vt:lpstr>Wingdings 3</vt:lpstr>
      <vt:lpstr>Urbano</vt:lpstr>
      <vt:lpstr>   A confecção do projeto de pesquisa                Profª. Drª. SABRINA BOTO     </vt:lpstr>
      <vt:lpstr>PROJETO DE PESQUISA</vt:lpstr>
      <vt:lpstr>Apresentação do PowerPoint</vt:lpstr>
      <vt:lpstr>Apresentação do PowerPoint</vt:lpstr>
      <vt:lpstr>Apresentação do PowerPoint</vt:lpstr>
      <vt:lpstr>Apresentação do PowerPoint</vt:lpstr>
      <vt:lpstr>INTRODUÇÃO DO PROJETO DE PESQUISA</vt:lpstr>
      <vt:lpstr>TEMA</vt:lpstr>
      <vt:lpstr>DELIMITAÇÃO DO TEMA</vt:lpstr>
      <vt:lpstr>DELIMITAÇÃO DO TEMA</vt:lpstr>
      <vt:lpstr>Apresentação do PowerPoint</vt:lpstr>
      <vt:lpstr>DELIMITAÇÃO DO TEMA</vt:lpstr>
      <vt:lpstr>DELIMITAÇÃO DO TEMA</vt:lpstr>
      <vt:lpstr>DELIMITAÇÃO DO TEMA</vt:lpstr>
      <vt:lpstr>Apresentação do PowerPoint</vt:lpstr>
      <vt:lpstr> PROBLEMA DE PESQUISA:</vt:lpstr>
      <vt:lpstr>Apresentação do PowerPoint</vt:lpstr>
      <vt:lpstr>Apresentação do PowerPoint</vt:lpstr>
      <vt:lpstr>Apresentação do PowerPoint</vt:lpstr>
      <vt:lpstr>Apresentação do PowerPoint</vt:lpstr>
      <vt:lpstr> HIPÓTESES OU SUPOSIÇÕES:  </vt:lpstr>
      <vt:lpstr> HIPÓTESES OU SUPOSIÇÕES:  </vt:lpstr>
      <vt:lpstr>Apresentação do PowerPoint</vt:lpstr>
      <vt:lpstr>Apresentação do PowerPoint</vt:lpstr>
      <vt:lpstr>Apresentação do PowerPoint</vt:lpstr>
      <vt:lpstr> EXEMPLO DE VERBOS A SEREM USADOS NOS OBJETIVOS:</vt:lpstr>
      <vt:lpstr>Apresentação do PowerPoint</vt:lpstr>
      <vt:lpstr> EXEMPLO DE VERBOS A SEREM USADOS NO OBJETIVO GERAL:</vt:lpstr>
      <vt:lpstr>Apresentação do PowerPoint</vt:lpstr>
      <vt:lpstr>Apresentação do PowerPoint</vt:lpstr>
      <vt:lpstr>JUSTIFICATIVA</vt:lpstr>
      <vt:lpstr>Justificativa do Tema</vt:lpstr>
      <vt:lpstr>Justificativa do Tema</vt:lpstr>
      <vt:lpstr>Justificativa do Tema</vt:lpstr>
      <vt:lpstr>Justificativa do Tema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PMS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Rodrigo Hitoshi Yamamoto</dc:creator>
  <cp:lastModifiedBy>Fatec Praia Grande - 129</cp:lastModifiedBy>
  <cp:revision>868</cp:revision>
  <dcterms:created xsi:type="dcterms:W3CDTF">2008-04-22T13:56:35Z</dcterms:created>
  <dcterms:modified xsi:type="dcterms:W3CDTF">2021-08-19T18:20:23Z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0x010100F8806A6BBFD8F94CA27EC52F1AE6F20B</vt:lpwstr>
  </property>
  <property fmtid="{D5CDD505-2E9C-101B-9397-08002B2CF9AE}" pid="3" name="Order">
    <vt:r8>1800</vt:r8>
  </property>
  <property fmtid="{D5CDD505-2E9C-101B-9397-08002B2CF9AE}" pid="4" name="xd_Signature">
    <vt:bool>false</vt:bool>
  </property>
  <property fmtid="{D5CDD505-2E9C-101B-9397-08002B2CF9AE}" pid="5" name="xd_ProgID">
    <vt:lpwstr/>
  </property>
  <property fmtid="{D5CDD505-2E9C-101B-9397-08002B2CF9AE}" pid="6" name="_ExtendedDescription">
    <vt:lpwstr/>
  </property>
  <property fmtid="{D5CDD505-2E9C-101B-9397-08002B2CF9AE}" pid="7" name="TriggerFlowInfo">
    <vt:lpwstr/>
  </property>
  <property fmtid="{D5CDD505-2E9C-101B-9397-08002B2CF9AE}" pid="8" name="_SourceUrl">
    <vt:lpwstr/>
  </property>
  <property fmtid="{D5CDD505-2E9C-101B-9397-08002B2CF9AE}" pid="9" name="_SharedFileIndex">
    <vt:lpwstr/>
  </property>
  <property fmtid="{D5CDD505-2E9C-101B-9397-08002B2CF9AE}" pid="10" name="ComplianceAssetId">
    <vt:lpwstr/>
  </property>
  <property fmtid="{D5CDD505-2E9C-101B-9397-08002B2CF9AE}" pid="11" name="TemplateUrl">
    <vt:lpwstr/>
  </property>
</Properties>
</file>