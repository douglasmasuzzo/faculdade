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27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3.xml" ContentType="application/vnd.openxmlformats-officedocument.presentationml.slide+xml"/>
  <Override PartName="/ppt/slides/slide28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2.xml" ContentType="application/vnd.openxmlformats-officedocument.presentationml.slide+xml"/>
  <Override PartName="/ppt/slides/slide21.xml" ContentType="application/vnd.openxmlformats-officedocument.presentationml.slide+xml"/>
  <Override PartName="/ppt/slides/slide20.xml" ContentType="application/vnd.openxmlformats-officedocument.presentationml.slide+xml"/>
  <Override PartName="/ppt/slides/slide19.xml" ContentType="application/vnd.openxmlformats-officedocument.presentationml.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Masters/slideMaster2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3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49" r:id="rId2"/>
  </p:sldMasterIdLst>
  <p:notesMasterIdLst>
    <p:notesMasterId r:id="rId31"/>
  </p:notesMasterIdLst>
  <p:sldIdLst>
    <p:sldId id="389" r:id="rId3"/>
    <p:sldId id="390" r:id="rId4"/>
    <p:sldId id="391" r:id="rId5"/>
    <p:sldId id="392" r:id="rId6"/>
    <p:sldId id="382" r:id="rId7"/>
    <p:sldId id="394" r:id="rId8"/>
    <p:sldId id="393" r:id="rId9"/>
    <p:sldId id="384" r:id="rId10"/>
    <p:sldId id="385" r:id="rId11"/>
    <p:sldId id="395" r:id="rId12"/>
    <p:sldId id="396" r:id="rId13"/>
    <p:sldId id="397" r:id="rId14"/>
    <p:sldId id="398" r:id="rId15"/>
    <p:sldId id="380" r:id="rId16"/>
    <p:sldId id="383" r:id="rId17"/>
    <p:sldId id="381" r:id="rId18"/>
    <p:sldId id="369" r:id="rId19"/>
    <p:sldId id="370" r:id="rId20"/>
    <p:sldId id="379" r:id="rId21"/>
    <p:sldId id="373" r:id="rId22"/>
    <p:sldId id="374" r:id="rId23"/>
    <p:sldId id="377" r:id="rId24"/>
    <p:sldId id="375" r:id="rId25"/>
    <p:sldId id="376" r:id="rId26"/>
    <p:sldId id="378" r:id="rId27"/>
    <p:sldId id="388" r:id="rId28"/>
    <p:sldId id="386" r:id="rId29"/>
    <p:sldId id="387" r:id="rId30"/>
  </p:sldIdLst>
  <p:sldSz cx="9144000" cy="6858000" type="screen4x3"/>
  <p:notesSz cx="6858000" cy="9144000"/>
  <p:custShowLst>
    <p:custShow name="Custom Show 1" id="0">
      <p:sldLst/>
    </p:custShow>
  </p:custShow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99"/>
    <a:srgbClr val="A50021"/>
    <a:srgbClr val="FF0000"/>
    <a:srgbClr val="003300"/>
    <a:srgbClr val="996633"/>
    <a:srgbClr val="9F0F10"/>
    <a:srgbClr val="FFB060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0A1B5D5-9B99-4C35-A422-299274C87663}" styleName="Estilo Médio 1 - Ênfase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505E3EF-67EA-436B-97B2-0124C06EBD24}" styleName="Estilo Médio 4 - Ênfase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775DCB02-9BB8-47FD-8907-85C794F793BA}" styleName="Estilo com Tema 1 - Ênfase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5619" autoAdjust="0"/>
    <p:restoredTop sz="94709" autoAdjust="0"/>
  </p:normalViewPr>
  <p:slideViewPr>
    <p:cSldViewPr>
      <p:cViewPr varScale="1">
        <p:scale>
          <a:sx n="115" d="100"/>
          <a:sy n="115" d="100"/>
        </p:scale>
        <p:origin x="1794" y="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viewProps" Target="viewProps.xml"/><Relationship Id="rId38" Type="http://schemas.openxmlformats.org/officeDocument/2006/relationships/customXml" Target="../customXml/item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presProps" Target="presProps.xml"/><Relationship Id="rId37" Type="http://schemas.openxmlformats.org/officeDocument/2006/relationships/customXml" Target="../customXml/item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customXml" Target="../customXml/item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tableStyles" Target="tableStyle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41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1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1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0059EB15-0F6F-4C94-9DD7-3514B83EF187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82331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pt-BR"/>
              <a:t>Clique para editar o estilo do subtítulo mestre</a:t>
            </a:r>
          </a:p>
        </p:txBody>
      </p:sp>
    </p:spTree>
  </p:cSld>
  <p:clrMapOvr>
    <a:masterClrMapping/>
  </p:clrMapOvr>
  <p:transition>
    <p:fade thruBlk="1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</p:cSld>
  <p:clrMapOvr>
    <a:masterClrMapping/>
  </p:clrMapOvr>
  <p:transition>
    <p:fade thruBlk="1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</p:spTree>
  </p:cSld>
  <p:clrMapOvr>
    <a:masterClrMapping/>
  </p:clrMapOvr>
  <p:transition>
    <p:fade thruBlk="1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</p:cSld>
  <p:clrMapOvr>
    <a:masterClrMapping/>
  </p:clrMapOvr>
  <p:transition>
    <p:fade thruBlk="1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</p:cSld>
  <p:clrMapOvr>
    <a:masterClrMapping/>
  </p:clrMapOvr>
  <p:transition>
    <p:fade thruBlk="1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</p:spTree>
  </p:cSld>
  <p:clrMapOvr>
    <a:masterClrMapping/>
  </p:clrMapOvr>
  <p:transition>
    <p:fade thruBlk="1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 thruBlk="1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</p:spTree>
  </p:cSld>
  <p:clrMapOvr>
    <a:masterClrMapping/>
  </p:clrMapOvr>
  <p:transition>
    <p:fade thruBlk="1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</p:spTree>
  </p:cSld>
  <p:clrMapOvr>
    <a:masterClrMapping/>
  </p:clrMapOvr>
  <p:transition>
    <p:fade thruBlk="1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</p:cSld>
  <p:clrMapOvr>
    <a:masterClrMapping/>
  </p:clrMapOvr>
  <p:transition>
    <p:fade thruBlk="1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</p:cSld>
  <p:clrMapOvr>
    <a:masterClrMapping/>
  </p:clrMapOvr>
  <p:transition>
    <p:fade thruBlk="1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pt-BR"/>
              <a:t>Clique para editar o estilo do subtítulo mestre</a:t>
            </a:r>
          </a:p>
        </p:txBody>
      </p:sp>
    </p:spTree>
  </p:cSld>
  <p:clrMapOvr>
    <a:masterClrMapping/>
  </p:clrMapOvr>
  <p:transition>
    <p:fade thruBlk="1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</p:cSld>
  <p:clrMapOvr>
    <a:masterClrMapping/>
  </p:clrMapOvr>
  <p:transition>
    <p:fade thruBlk="1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</p:spTree>
  </p:cSld>
  <p:clrMapOvr>
    <a:masterClrMapping/>
  </p:clrMapOvr>
  <p:transition>
    <p:fade thruBlk="1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</p:cSld>
  <p:clrMapOvr>
    <a:masterClrMapping/>
  </p:clrMapOvr>
  <p:transition>
    <p:fade thruBlk="1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</p:cSld>
  <p:clrMapOvr>
    <a:masterClrMapping/>
  </p:clrMapOvr>
  <p:transition>
    <p:fade thruBlk="1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</p:spTree>
  </p:cSld>
  <p:clrMapOvr>
    <a:masterClrMapping/>
  </p:clrMapOvr>
  <p:transition>
    <p:fade thruBlk="1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 thruBlk="1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</p:spTree>
  </p:cSld>
  <p:clrMapOvr>
    <a:masterClrMapping/>
  </p:clrMapOvr>
  <p:transition>
    <p:fade thruBlk="1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</p:spTree>
  </p:cSld>
  <p:clrMapOvr>
    <a:masterClrMapping/>
  </p:clrMapOvr>
  <p:transition>
    <p:fade thruBlk="1"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</p:cSld>
  <p:clrMapOvr>
    <a:masterClrMapping/>
  </p:clrMapOvr>
  <p:transition>
    <p:fade thruBlk="1"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</p:cSld>
  <p:clrMapOvr>
    <a:masterClrMapping/>
  </p:clrMapOvr>
  <p:transition>
    <p:fade thruBlk="1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35" descr="main"/>
          <p:cNvPicPr>
            <a:picLocks noChangeAspect="1" noChangeArrowheads="1"/>
          </p:cNvPicPr>
          <p:nvPr userDrawn="1"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0" y="0"/>
            <a:ext cx="9144000" cy="15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66" name="Rectangle 42"/>
          <p:cNvSpPr>
            <a:spLocks noChangeArrowheads="1"/>
          </p:cNvSpPr>
          <p:nvPr userDrawn="1"/>
        </p:nvSpPr>
        <p:spPr bwMode="auto">
          <a:xfrm>
            <a:off x="0" y="6477000"/>
            <a:ext cx="9144000" cy="381000"/>
          </a:xfrm>
          <a:prstGeom prst="rect">
            <a:avLst/>
          </a:prstGeom>
          <a:solidFill>
            <a:srgbClr val="9F0F1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pt-BR"/>
          </a:p>
        </p:txBody>
      </p:sp>
      <p:sp>
        <p:nvSpPr>
          <p:cNvPr id="1060" name="Text Box 36"/>
          <p:cNvSpPr txBox="1">
            <a:spLocks noChangeArrowheads="1"/>
          </p:cNvSpPr>
          <p:nvPr userDrawn="1"/>
        </p:nvSpPr>
        <p:spPr bwMode="auto">
          <a:xfrm>
            <a:off x="0" y="6508750"/>
            <a:ext cx="6953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 sz="1600" b="1">
                <a:solidFill>
                  <a:srgbClr val="FFB060"/>
                </a:solidFill>
              </a:rPr>
              <a:t>5.</a:t>
            </a:r>
            <a:fld id="{0C526CF7-3F89-4E84-B5BC-1DAAF3D3D4F0}" type="slidenum">
              <a:rPr lang="en-US" sz="1600" b="1">
                <a:solidFill>
                  <a:srgbClr val="FFB060"/>
                </a:solidFill>
              </a:rPr>
              <a:pPr eaLnBrk="0" hangingPunct="0">
                <a:spcBef>
                  <a:spcPct val="50000"/>
                </a:spcBef>
                <a:defRPr/>
              </a:pPr>
              <a:t>‹nº›</a:t>
            </a:fld>
            <a:endParaRPr lang="en-US" sz="1600" b="1">
              <a:solidFill>
                <a:srgbClr val="FFB060"/>
              </a:solidFill>
            </a:endParaRPr>
          </a:p>
        </p:txBody>
      </p:sp>
      <p:sp>
        <p:nvSpPr>
          <p:cNvPr id="1061" name="Text Box 37"/>
          <p:cNvSpPr txBox="1">
            <a:spLocks noChangeArrowheads="1"/>
          </p:cNvSpPr>
          <p:nvPr userDrawn="1"/>
        </p:nvSpPr>
        <p:spPr bwMode="auto">
          <a:xfrm>
            <a:off x="7045325" y="6553200"/>
            <a:ext cx="2355850" cy="304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 sz="1400" b="1">
                <a:solidFill>
                  <a:srgbClr val="FFB060"/>
                </a:solidFill>
              </a:rPr>
              <a:t>©</a:t>
            </a:r>
            <a:r>
              <a:rPr lang="en-US" sz="1400">
                <a:solidFill>
                  <a:srgbClr val="FFB060"/>
                </a:solidFill>
              </a:rPr>
              <a:t> 2007 by Prentice Hall</a:t>
            </a:r>
          </a:p>
        </p:txBody>
      </p:sp>
      <p:sp>
        <p:nvSpPr>
          <p:cNvPr id="1063" name="Text Box 39"/>
          <p:cNvSpPr txBox="1">
            <a:spLocks noChangeArrowheads="1"/>
          </p:cNvSpPr>
          <p:nvPr userDrawn="1"/>
        </p:nvSpPr>
        <p:spPr bwMode="auto">
          <a:xfrm>
            <a:off x="1752600" y="990600"/>
            <a:ext cx="6019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ransition>
    <p:fade thruBlk="1"/>
  </p:transition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main"/>
          <p:cNvPicPr>
            <a:picLocks noChangeAspect="1" noChangeArrowheads="1"/>
          </p:cNvPicPr>
          <p:nvPr userDrawn="1"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0" y="0"/>
            <a:ext cx="9144000" cy="15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6499" name="Rectangle 3"/>
          <p:cNvSpPr>
            <a:spLocks noChangeArrowheads="1"/>
          </p:cNvSpPr>
          <p:nvPr userDrawn="1"/>
        </p:nvSpPr>
        <p:spPr bwMode="auto">
          <a:xfrm>
            <a:off x="0" y="6477000"/>
            <a:ext cx="9144000" cy="381000"/>
          </a:xfrm>
          <a:prstGeom prst="rect">
            <a:avLst/>
          </a:prstGeom>
          <a:solidFill>
            <a:srgbClr val="9F0F1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pt-BR"/>
          </a:p>
        </p:txBody>
      </p:sp>
      <p:sp>
        <p:nvSpPr>
          <p:cNvPr id="106500" name="Text Box 4"/>
          <p:cNvSpPr txBox="1">
            <a:spLocks noChangeArrowheads="1"/>
          </p:cNvSpPr>
          <p:nvPr userDrawn="1"/>
        </p:nvSpPr>
        <p:spPr bwMode="auto">
          <a:xfrm>
            <a:off x="0" y="6508750"/>
            <a:ext cx="6953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 sz="1600" b="1">
                <a:solidFill>
                  <a:srgbClr val="FFB060"/>
                </a:solidFill>
              </a:rPr>
              <a:t>5.</a:t>
            </a:r>
            <a:fld id="{CFB53B7B-76B4-47CB-86EB-14A9D59E3994}" type="slidenum">
              <a:rPr lang="en-US" sz="1600" b="1">
                <a:solidFill>
                  <a:srgbClr val="FFB060"/>
                </a:solidFill>
              </a:rPr>
              <a:pPr eaLnBrk="0" hangingPunct="0">
                <a:spcBef>
                  <a:spcPct val="50000"/>
                </a:spcBef>
                <a:defRPr/>
              </a:pPr>
              <a:t>‹nº›</a:t>
            </a:fld>
            <a:endParaRPr lang="en-US" sz="1600" b="1">
              <a:solidFill>
                <a:srgbClr val="FFB060"/>
              </a:solidFill>
            </a:endParaRPr>
          </a:p>
        </p:txBody>
      </p:sp>
      <p:sp>
        <p:nvSpPr>
          <p:cNvPr id="106501" name="Text Box 5"/>
          <p:cNvSpPr txBox="1">
            <a:spLocks noChangeArrowheads="1"/>
          </p:cNvSpPr>
          <p:nvPr userDrawn="1"/>
        </p:nvSpPr>
        <p:spPr bwMode="auto">
          <a:xfrm>
            <a:off x="7045325" y="6553200"/>
            <a:ext cx="2355850" cy="304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 sz="1400" b="1">
                <a:solidFill>
                  <a:srgbClr val="FFB060"/>
                </a:solidFill>
              </a:rPr>
              <a:t>©</a:t>
            </a:r>
            <a:r>
              <a:rPr lang="en-US" sz="1400">
                <a:solidFill>
                  <a:srgbClr val="FFB060"/>
                </a:solidFill>
              </a:rPr>
              <a:t> 2007 by Prentice Hall</a:t>
            </a:r>
          </a:p>
        </p:txBody>
      </p:sp>
      <p:sp>
        <p:nvSpPr>
          <p:cNvPr id="106502" name="Text Box 6"/>
          <p:cNvSpPr txBox="1">
            <a:spLocks noChangeArrowheads="1"/>
          </p:cNvSpPr>
          <p:nvPr userDrawn="1"/>
        </p:nvSpPr>
        <p:spPr bwMode="auto">
          <a:xfrm>
            <a:off x="1752600" y="990600"/>
            <a:ext cx="6019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endParaRPr lang="pt-BR"/>
          </a:p>
        </p:txBody>
      </p:sp>
      <p:sp>
        <p:nvSpPr>
          <p:cNvPr id="106503" name="Rectangle 7"/>
          <p:cNvSpPr>
            <a:spLocks noChangeArrowheads="1"/>
          </p:cNvSpPr>
          <p:nvPr userDrawn="1"/>
        </p:nvSpPr>
        <p:spPr bwMode="auto">
          <a:xfrm>
            <a:off x="1295400" y="200025"/>
            <a:ext cx="7772400" cy="5238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 anchor="ctr"/>
          <a:lstStyle/>
          <a:p>
            <a:pPr algn="ctr" eaLnBrk="0" hangingPunct="0">
              <a:defRPr/>
            </a:pPr>
            <a:r>
              <a:rPr lang="en-US" sz="2000" b="1">
                <a:effectLst>
                  <a:outerShdw blurRad="38100" dist="38100" dir="2700000" algn="tl">
                    <a:srgbClr val="C0C0C0"/>
                  </a:outerShdw>
                </a:effectLst>
              </a:rPr>
              <a:t>Sistemas de Informação Gerenciais</a:t>
            </a:r>
          </a:p>
          <a:p>
            <a:pPr algn="ctr" eaLnBrk="0" hangingPunct="0">
              <a:defRPr/>
            </a:pPr>
            <a:r>
              <a:rPr lang="en-US" sz="1600" b="1">
                <a:effectLst>
                  <a:outerShdw blurRad="38100" dist="38100" dir="2700000" algn="tl">
                    <a:srgbClr val="C0C0C0"/>
                  </a:outerShdw>
                </a:effectLst>
              </a:rPr>
              <a:t>Capítulo 5 </a:t>
            </a:r>
            <a:r>
              <a:rPr lang="pt-BR" sz="1600" b="1">
                <a:effectLst>
                  <a:outerShdw blurRad="38100" dist="38100" dir="2700000" algn="tl">
                    <a:srgbClr val="C0C0C0"/>
                  </a:outerShdw>
                </a:effectLst>
              </a:rPr>
              <a:t>Fundamentos da Inteligência de Negócios: Gerenciamento da Informação e de Bancos de Dados</a:t>
            </a:r>
            <a:endParaRPr lang="en-US" sz="1600" b="1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>
    <p:fade thruBlk="1"/>
  </p:transition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AutoShape 6" descr="https://encrypted-tbn1.gstatic.com/images?q=tbn:ANd9GcRa9ZZMcDs1ngDNQQg3QHjIJFfOSdDrqRT5_Ob5kS5sPS_741y0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032" name="AutoShape 8" descr="https://encrypted-tbn1.gstatic.com/images?q=tbn:ANd9GcRa9ZZMcDs1ngDNQQg3QHjIJFfOSdDrqRT5_Ob5kS5sPS_741y0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034" name="AutoShape 10" descr="https://epichurus.files.wordpress.com/2012/07/1980_summer_olympics_bronze_medal_transparent.png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42" name="Retângulo 41"/>
          <p:cNvSpPr/>
          <p:nvPr/>
        </p:nvSpPr>
        <p:spPr>
          <a:xfrm>
            <a:off x="0" y="1221463"/>
            <a:ext cx="9144000" cy="18466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1600" b="1" dirty="0">
                <a:solidFill>
                  <a:schemeClr val="accent6"/>
                </a:solidFill>
              </a:rPr>
              <a:t>PROCESSAMENTO ELETRÔNICO  DE DADOS – </a:t>
            </a:r>
            <a:r>
              <a:rPr lang="pt-BR" sz="1600" b="1" dirty="0" err="1">
                <a:solidFill>
                  <a:schemeClr val="accent6"/>
                </a:solidFill>
              </a:rPr>
              <a:t>P.E.</a:t>
            </a:r>
            <a:r>
              <a:rPr lang="pt-BR" sz="1600" b="1" dirty="0">
                <a:solidFill>
                  <a:schemeClr val="accent6"/>
                </a:solidFill>
              </a:rPr>
              <a:t>D</a:t>
            </a:r>
          </a:p>
          <a:p>
            <a:pPr algn="just"/>
            <a:endParaRPr lang="pt-BR" sz="1400" dirty="0"/>
          </a:p>
          <a:p>
            <a:pPr algn="just"/>
            <a:endParaRPr lang="pt-BR" sz="1400" dirty="0"/>
          </a:p>
          <a:p>
            <a:pPr algn="just"/>
            <a:endParaRPr lang="pt-BR" sz="1400" dirty="0"/>
          </a:p>
          <a:p>
            <a:pPr algn="just"/>
            <a:endParaRPr lang="pt-BR" sz="1400" dirty="0"/>
          </a:p>
          <a:p>
            <a:pPr algn="just"/>
            <a:endParaRPr lang="pt-BR" sz="1400" dirty="0"/>
          </a:p>
          <a:p>
            <a:pPr algn="just"/>
            <a:r>
              <a:rPr lang="pt-BR" sz="1400" b="1" dirty="0"/>
              <a:t>Informação </a:t>
            </a:r>
            <a:r>
              <a:rPr lang="pt-BR" sz="1400" b="1" dirty="0">
                <a:sym typeface="Wingdings" pitchFamily="2" charset="2"/>
              </a:rPr>
              <a:t> </a:t>
            </a:r>
            <a:r>
              <a:rPr lang="pt-BR" sz="1400" dirty="0"/>
              <a:t>subentende dados organizados (segundo uma orientação específica) para o atendimento ou emprego de uma pessoa ou grupo que os recebe.</a:t>
            </a:r>
          </a:p>
        </p:txBody>
      </p:sp>
      <p:sp>
        <p:nvSpPr>
          <p:cNvPr id="1036" name="AutoShape 12" descr="https://epichurus.files.wordpress.com/2012/07/1980_summer_olympics_bronze_medal_transparent.png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43" name="Retângulo 42"/>
          <p:cNvSpPr/>
          <p:nvPr/>
        </p:nvSpPr>
        <p:spPr>
          <a:xfrm>
            <a:off x="1447800" y="540603"/>
            <a:ext cx="73152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C00000"/>
                </a:solidFill>
              </a:rPr>
              <a:t>Arquitetura e Organização de Computadores</a:t>
            </a:r>
            <a:endParaRPr lang="pt-BR" dirty="0"/>
          </a:p>
        </p:txBody>
      </p:sp>
      <p:sp>
        <p:nvSpPr>
          <p:cNvPr id="33" name="Fluxograma: Processo 32"/>
          <p:cNvSpPr/>
          <p:nvPr/>
        </p:nvSpPr>
        <p:spPr>
          <a:xfrm>
            <a:off x="3352800" y="1686560"/>
            <a:ext cx="2590800" cy="751840"/>
          </a:xfrm>
          <a:prstGeom prst="flowChartProcess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800" dirty="0">
              <a:solidFill>
                <a:schemeClr val="tx1"/>
              </a:solidFill>
            </a:endParaRPr>
          </a:p>
          <a:p>
            <a:pPr algn="ctr"/>
            <a:endParaRPr lang="pt-BR" sz="1800" dirty="0">
              <a:solidFill>
                <a:schemeClr val="tx1"/>
              </a:solidFill>
            </a:endParaRPr>
          </a:p>
          <a:p>
            <a:pPr algn="ctr"/>
            <a:r>
              <a:rPr lang="pt-BR" sz="1800" dirty="0">
                <a:solidFill>
                  <a:schemeClr val="tx1"/>
                </a:solidFill>
              </a:rPr>
              <a:t>Processamento: Dados</a:t>
            </a:r>
          </a:p>
          <a:p>
            <a:pPr algn="ctr"/>
            <a:r>
              <a:rPr lang="pt-BR" sz="1800" dirty="0">
                <a:solidFill>
                  <a:schemeClr val="tx1"/>
                </a:solidFill>
              </a:rPr>
              <a:t>2ª Etapa</a:t>
            </a:r>
          </a:p>
          <a:p>
            <a:pPr algn="ctr"/>
            <a:endParaRPr lang="pt-BR" sz="1800" dirty="0">
              <a:solidFill>
                <a:schemeClr val="tx1"/>
              </a:solidFill>
            </a:endParaRPr>
          </a:p>
          <a:p>
            <a:pPr algn="ctr"/>
            <a:endParaRPr lang="pt-BR" dirty="0"/>
          </a:p>
        </p:txBody>
      </p:sp>
      <p:sp>
        <p:nvSpPr>
          <p:cNvPr id="40" name="Fluxograma: Processo 39"/>
          <p:cNvSpPr/>
          <p:nvPr/>
        </p:nvSpPr>
        <p:spPr>
          <a:xfrm>
            <a:off x="762000" y="1686560"/>
            <a:ext cx="2590800" cy="751840"/>
          </a:xfrm>
          <a:prstGeom prst="flowChartProcess">
            <a:avLst/>
          </a:prstGeom>
          <a:solidFill>
            <a:srgbClr val="A9A6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800" dirty="0">
                <a:solidFill>
                  <a:schemeClr val="tx1"/>
                </a:solidFill>
              </a:rPr>
              <a:t>Entrada: Dados</a:t>
            </a:r>
          </a:p>
          <a:p>
            <a:pPr algn="ctr"/>
            <a:r>
              <a:rPr lang="pt-BR" sz="1800" dirty="0">
                <a:solidFill>
                  <a:schemeClr val="tx1"/>
                </a:solidFill>
              </a:rPr>
              <a:t>1ª Etapa</a:t>
            </a:r>
          </a:p>
        </p:txBody>
      </p:sp>
      <p:sp>
        <p:nvSpPr>
          <p:cNvPr id="41" name="Fluxograma: Processo 40"/>
          <p:cNvSpPr/>
          <p:nvPr/>
        </p:nvSpPr>
        <p:spPr>
          <a:xfrm>
            <a:off x="5969000" y="1676399"/>
            <a:ext cx="2590800" cy="726779"/>
          </a:xfrm>
          <a:prstGeom prst="flowChartProcess">
            <a:avLst/>
          </a:prstGeom>
          <a:solidFill>
            <a:srgbClr val="CC9900"/>
          </a:solidFill>
          <a:ln>
            <a:solidFill>
              <a:srgbClr val="CC9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800" dirty="0">
              <a:solidFill>
                <a:schemeClr val="tx1"/>
              </a:solidFill>
            </a:endParaRPr>
          </a:p>
          <a:p>
            <a:pPr algn="ctr"/>
            <a:r>
              <a:rPr lang="pt-BR" sz="1800" dirty="0">
                <a:solidFill>
                  <a:schemeClr val="tx1"/>
                </a:solidFill>
              </a:rPr>
              <a:t>Resultado: informação   3ª Etapa</a:t>
            </a:r>
          </a:p>
          <a:p>
            <a:pPr algn="ctr"/>
            <a:endParaRPr lang="pt-BR" sz="1800" dirty="0">
              <a:solidFill>
                <a:schemeClr val="tx1"/>
              </a:solidFill>
            </a:endParaRPr>
          </a:p>
        </p:txBody>
      </p:sp>
      <p:pic>
        <p:nvPicPr>
          <p:cNvPr id="1026" name="Picture 2" descr="http://literatura.uol.com.br/literatura/figuras-linguagem/37/imagens/i284480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8600" y="3276600"/>
            <a:ext cx="1219200" cy="951484"/>
          </a:xfrm>
          <a:prstGeom prst="rect">
            <a:avLst/>
          </a:prstGeom>
          <a:noFill/>
        </p:spPr>
      </p:pic>
      <p:sp>
        <p:nvSpPr>
          <p:cNvPr id="12" name="Retângulo 11"/>
          <p:cNvSpPr/>
          <p:nvPr/>
        </p:nvSpPr>
        <p:spPr>
          <a:xfrm>
            <a:off x="1524000" y="3276600"/>
            <a:ext cx="746760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1400" dirty="0"/>
              <a:t>Como o conhecimento e a tomada de decisão são importantes em várias áreas e em diferentes níveis hierárquicos de uma organização, a </a:t>
            </a:r>
            <a:r>
              <a:rPr lang="pt-BR" sz="1400" b="1" dirty="0"/>
              <a:t>informação</a:t>
            </a:r>
            <a:r>
              <a:rPr lang="pt-BR" sz="1400" dirty="0"/>
              <a:t> para uma determinada pessoa ou grupo pode ser considerado como um dado para outra.</a:t>
            </a:r>
          </a:p>
        </p:txBody>
      </p:sp>
      <p:sp>
        <p:nvSpPr>
          <p:cNvPr id="15" name="Retângulo 14"/>
          <p:cNvSpPr/>
          <p:nvPr/>
        </p:nvSpPr>
        <p:spPr>
          <a:xfrm>
            <a:off x="1524000" y="4445675"/>
            <a:ext cx="7467600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1400" b="1" dirty="0"/>
              <a:t> </a:t>
            </a:r>
            <a:r>
              <a:rPr lang="pt-BR" sz="1400" b="1" dirty="0">
                <a:solidFill>
                  <a:schemeClr val="accent6"/>
                </a:solidFill>
              </a:rPr>
              <a:t>Etapas - </a:t>
            </a:r>
            <a:r>
              <a:rPr lang="pt-BR" sz="1400" b="1" dirty="0" err="1">
                <a:solidFill>
                  <a:schemeClr val="accent6"/>
                </a:solidFill>
              </a:rPr>
              <a:t>P.E.</a:t>
            </a:r>
            <a:r>
              <a:rPr lang="pt-BR" sz="1400" b="1" dirty="0">
                <a:solidFill>
                  <a:schemeClr val="accent6"/>
                </a:solidFill>
              </a:rPr>
              <a:t>D de </a:t>
            </a:r>
            <a:r>
              <a:rPr lang="pt-BR" sz="1400" b="1" dirty="0" err="1">
                <a:solidFill>
                  <a:schemeClr val="accent6"/>
                </a:solidFill>
              </a:rPr>
              <a:t>ítens</a:t>
            </a:r>
            <a:r>
              <a:rPr lang="pt-BR" sz="1400" b="1" dirty="0">
                <a:solidFill>
                  <a:schemeClr val="accent6"/>
                </a:solidFill>
              </a:rPr>
              <a:t> do estoque de uma empresa</a:t>
            </a:r>
          </a:p>
          <a:p>
            <a:pPr algn="just"/>
            <a:r>
              <a:rPr lang="pt-BR" sz="1400" b="1" dirty="0"/>
              <a:t>1ª Etapa </a:t>
            </a:r>
            <a:r>
              <a:rPr lang="pt-BR" sz="1400" b="1" dirty="0">
                <a:sym typeface="Wingdings" pitchFamily="2" charset="2"/>
              </a:rPr>
              <a:t>A</a:t>
            </a:r>
            <a:r>
              <a:rPr lang="pt-BR" sz="1400" b="1" dirty="0"/>
              <a:t>tualização</a:t>
            </a:r>
            <a:r>
              <a:rPr lang="pt-BR" sz="1400" dirty="0"/>
              <a:t> das informações de estoque para uso do almoxarifado e, nesse caso, os dados (de entrada) são </a:t>
            </a:r>
            <a:r>
              <a:rPr lang="pt-BR" sz="1400" dirty="0" err="1"/>
              <a:t>ítens</a:t>
            </a:r>
            <a:r>
              <a:rPr lang="pt-BR" sz="1400" dirty="0"/>
              <a:t> </a:t>
            </a:r>
            <a:r>
              <a:rPr lang="pt-BR" sz="1400" b="1" dirty="0"/>
              <a:t>recebidos</a:t>
            </a:r>
            <a:r>
              <a:rPr lang="pt-BR" sz="1400" dirty="0"/>
              <a:t> e </a:t>
            </a:r>
            <a:r>
              <a:rPr lang="pt-BR" sz="1400" b="1" dirty="0"/>
              <a:t>retirados</a:t>
            </a:r>
            <a:r>
              <a:rPr lang="pt-BR" sz="1400" dirty="0"/>
              <a:t> em um dia, bem como a posição do dia anterior.</a:t>
            </a:r>
            <a:endParaRPr lang="pt-BR" sz="1400" b="1" dirty="0"/>
          </a:p>
          <a:p>
            <a:pPr algn="just"/>
            <a:r>
              <a:rPr lang="pt-BR" sz="1400" b="1" dirty="0"/>
              <a:t>2ª Etapa </a:t>
            </a:r>
            <a:r>
              <a:rPr lang="pt-BR" sz="1400" b="1" dirty="0">
                <a:sym typeface="Wingdings" pitchFamily="2" charset="2"/>
              </a:rPr>
              <a:t> </a:t>
            </a:r>
            <a:r>
              <a:rPr lang="pt-BR" sz="1400" dirty="0">
                <a:sym typeface="Wingdings" pitchFamily="2" charset="2"/>
              </a:rPr>
              <a:t>O</a:t>
            </a:r>
            <a:r>
              <a:rPr lang="pt-BR" sz="1400" dirty="0"/>
              <a:t> </a:t>
            </a:r>
            <a:r>
              <a:rPr lang="pt-BR" sz="1400" b="1" dirty="0"/>
              <a:t>processamento</a:t>
            </a:r>
            <a:r>
              <a:rPr lang="pt-BR" sz="1400" dirty="0"/>
              <a:t> consistirá, basicamente, em operações aritméticas de adição e subtração. produzir informações para um outro nível de </a:t>
            </a:r>
            <a:r>
              <a:rPr lang="pt-BR" sz="1400" b="1" dirty="0"/>
              <a:t>tomada de decisão</a:t>
            </a:r>
            <a:r>
              <a:rPr lang="pt-BR" sz="1400" dirty="0"/>
              <a:t>.</a:t>
            </a:r>
          </a:p>
          <a:p>
            <a:pPr algn="just"/>
            <a:r>
              <a:rPr lang="pt-BR" sz="1400" b="1" dirty="0"/>
              <a:t>3ª Etapa </a:t>
            </a:r>
            <a:r>
              <a:rPr lang="pt-BR" sz="1400" b="1" dirty="0">
                <a:sym typeface="Wingdings" pitchFamily="2" charset="2"/>
              </a:rPr>
              <a:t> </a:t>
            </a:r>
            <a:r>
              <a:rPr lang="pt-BR" sz="1400" dirty="0">
                <a:sym typeface="Wingdings" pitchFamily="2" charset="2"/>
              </a:rPr>
              <a:t>O</a:t>
            </a:r>
            <a:r>
              <a:rPr lang="pt-BR" sz="1400" dirty="0"/>
              <a:t> </a:t>
            </a:r>
            <a:r>
              <a:rPr lang="pt-BR" sz="1400" b="1" dirty="0"/>
              <a:t>resultado </a:t>
            </a:r>
            <a:r>
              <a:rPr lang="pt-BR" sz="1400" dirty="0"/>
              <a:t>(de saída), obtêm-se informações sobre a nova posição do estoque.</a:t>
            </a:r>
            <a:endParaRPr lang="pt-BR" sz="1400" b="1" dirty="0"/>
          </a:p>
        </p:txBody>
      </p:sp>
      <p:pic>
        <p:nvPicPr>
          <p:cNvPr id="2" name="Picture 6" descr="http://veja4.abrilm.com.br/assets/images/2014/11/250824/escritorio-twitter-20141114-87-size-598.jpg?141702940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2400" y="4572000"/>
            <a:ext cx="1295400" cy="140184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394361032"/>
      </p:ext>
    </p:extLst>
  </p:cSld>
  <p:clrMapOvr>
    <a:masterClrMapping/>
  </p:clrMapOvr>
  <p:transition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AutoShape 6" descr="https://encrypted-tbn1.gstatic.com/images?q=tbn:ANd9GcRa9ZZMcDs1ngDNQQg3QHjIJFfOSdDrqRT5_Ob5kS5sPS_741y0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032" name="AutoShape 8" descr="https://encrypted-tbn1.gstatic.com/images?q=tbn:ANd9GcRa9ZZMcDs1ngDNQQg3QHjIJFfOSdDrqRT5_Ob5kS5sPS_741y0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034" name="AutoShape 10" descr="https://epichurus.files.wordpress.com/2012/07/1980_summer_olympics_bronze_medal_transparent.png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42" name="Retângulo 41"/>
          <p:cNvSpPr/>
          <p:nvPr/>
        </p:nvSpPr>
        <p:spPr>
          <a:xfrm>
            <a:off x="0" y="1221463"/>
            <a:ext cx="9144000" cy="14157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1600" b="1" dirty="0">
                <a:solidFill>
                  <a:schemeClr val="accent6"/>
                </a:solidFill>
              </a:rPr>
              <a:t>PROCESSAMENTO ELETRÔNICO  DE DADOS – </a:t>
            </a:r>
            <a:r>
              <a:rPr lang="pt-BR" sz="1600" b="1" dirty="0" err="1">
                <a:solidFill>
                  <a:schemeClr val="accent6"/>
                </a:solidFill>
              </a:rPr>
              <a:t>P.E.</a:t>
            </a:r>
            <a:r>
              <a:rPr lang="pt-BR" sz="1600" b="1" dirty="0">
                <a:solidFill>
                  <a:schemeClr val="accent6"/>
                </a:solidFill>
              </a:rPr>
              <a:t>D</a:t>
            </a:r>
          </a:p>
          <a:p>
            <a:pPr algn="just"/>
            <a:endParaRPr lang="pt-BR" sz="1400" dirty="0"/>
          </a:p>
          <a:p>
            <a:pPr algn="just"/>
            <a:endParaRPr lang="pt-BR" sz="1400" dirty="0"/>
          </a:p>
          <a:p>
            <a:pPr algn="just"/>
            <a:endParaRPr lang="pt-BR" sz="1400" dirty="0"/>
          </a:p>
          <a:p>
            <a:pPr algn="just"/>
            <a:endParaRPr lang="pt-BR" sz="1400" dirty="0"/>
          </a:p>
          <a:p>
            <a:pPr algn="just"/>
            <a:endParaRPr lang="pt-BR" sz="1400" dirty="0"/>
          </a:p>
        </p:txBody>
      </p:sp>
      <p:sp>
        <p:nvSpPr>
          <p:cNvPr id="1036" name="AutoShape 12" descr="https://epichurus.files.wordpress.com/2012/07/1980_summer_olympics_bronze_medal_transparent.png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43" name="Retângulo 42"/>
          <p:cNvSpPr/>
          <p:nvPr/>
        </p:nvSpPr>
        <p:spPr>
          <a:xfrm>
            <a:off x="1447800" y="540603"/>
            <a:ext cx="73152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C00000"/>
                </a:solidFill>
              </a:rPr>
              <a:t>Arquitetura e Organização de Computadores</a:t>
            </a:r>
            <a:endParaRPr lang="pt-BR" dirty="0"/>
          </a:p>
        </p:txBody>
      </p:sp>
      <p:sp>
        <p:nvSpPr>
          <p:cNvPr id="33" name="Fluxograma: Processo 32"/>
          <p:cNvSpPr/>
          <p:nvPr/>
        </p:nvSpPr>
        <p:spPr>
          <a:xfrm>
            <a:off x="3352800" y="1686560"/>
            <a:ext cx="2590800" cy="904240"/>
          </a:xfrm>
          <a:prstGeom prst="flowChartProcess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800" dirty="0">
              <a:solidFill>
                <a:schemeClr val="tx1"/>
              </a:solidFill>
            </a:endParaRPr>
          </a:p>
          <a:p>
            <a:pPr algn="ctr"/>
            <a:endParaRPr lang="pt-BR" sz="1800" dirty="0">
              <a:solidFill>
                <a:schemeClr val="tx1"/>
              </a:solidFill>
            </a:endParaRPr>
          </a:p>
          <a:p>
            <a:pPr algn="ctr"/>
            <a:r>
              <a:rPr lang="pt-BR" sz="1800" dirty="0">
                <a:solidFill>
                  <a:schemeClr val="tx1"/>
                </a:solidFill>
              </a:rPr>
              <a:t>Processamento: Dados</a:t>
            </a:r>
          </a:p>
          <a:p>
            <a:pPr algn="ctr"/>
            <a:r>
              <a:rPr lang="pt-BR" sz="1800" dirty="0">
                <a:solidFill>
                  <a:schemeClr val="tx1"/>
                </a:solidFill>
              </a:rPr>
              <a:t>Cálculo e Testes</a:t>
            </a:r>
          </a:p>
          <a:p>
            <a:pPr algn="ctr"/>
            <a:endParaRPr lang="pt-BR" sz="1800" dirty="0">
              <a:solidFill>
                <a:schemeClr val="tx1"/>
              </a:solidFill>
            </a:endParaRPr>
          </a:p>
          <a:p>
            <a:pPr algn="ctr"/>
            <a:endParaRPr lang="pt-BR" dirty="0"/>
          </a:p>
        </p:txBody>
      </p:sp>
      <p:sp>
        <p:nvSpPr>
          <p:cNvPr id="40" name="Fluxograma: Processo 39"/>
          <p:cNvSpPr/>
          <p:nvPr/>
        </p:nvSpPr>
        <p:spPr>
          <a:xfrm>
            <a:off x="762000" y="1686560"/>
            <a:ext cx="2590800" cy="904240"/>
          </a:xfrm>
          <a:prstGeom prst="flowChartProcess">
            <a:avLst/>
          </a:prstGeom>
          <a:solidFill>
            <a:srgbClr val="A9A6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800" dirty="0">
                <a:solidFill>
                  <a:schemeClr val="tx1"/>
                </a:solidFill>
              </a:rPr>
              <a:t>Entrada: Dados</a:t>
            </a:r>
          </a:p>
          <a:p>
            <a:pPr algn="ctr"/>
            <a:r>
              <a:rPr lang="pt-BR" sz="1800" dirty="0">
                <a:solidFill>
                  <a:schemeClr val="tx1"/>
                </a:solidFill>
              </a:rPr>
              <a:t>Digitação do programa e dos dados</a:t>
            </a:r>
          </a:p>
        </p:txBody>
      </p:sp>
      <p:sp>
        <p:nvSpPr>
          <p:cNvPr id="41" name="Fluxograma: Processo 40"/>
          <p:cNvSpPr/>
          <p:nvPr/>
        </p:nvSpPr>
        <p:spPr>
          <a:xfrm>
            <a:off x="5969000" y="1676399"/>
            <a:ext cx="2590800" cy="874099"/>
          </a:xfrm>
          <a:prstGeom prst="flowChartProcess">
            <a:avLst/>
          </a:prstGeom>
          <a:solidFill>
            <a:srgbClr val="CC9900"/>
          </a:solidFill>
          <a:ln>
            <a:solidFill>
              <a:srgbClr val="CC9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800" dirty="0">
              <a:solidFill>
                <a:schemeClr val="tx1"/>
              </a:solidFill>
            </a:endParaRPr>
          </a:p>
          <a:p>
            <a:pPr algn="ctr"/>
            <a:r>
              <a:rPr lang="pt-BR" sz="1800" dirty="0">
                <a:solidFill>
                  <a:schemeClr val="tx1"/>
                </a:solidFill>
              </a:rPr>
              <a:t>Resultado: informação   Impressão dos Resultados</a:t>
            </a:r>
          </a:p>
          <a:p>
            <a:pPr algn="ctr"/>
            <a:endParaRPr lang="pt-BR" sz="1800" dirty="0">
              <a:solidFill>
                <a:schemeClr val="tx1"/>
              </a:solidFill>
            </a:endParaRPr>
          </a:p>
        </p:txBody>
      </p:sp>
      <p:sp>
        <p:nvSpPr>
          <p:cNvPr id="12" name="Retângulo 11"/>
          <p:cNvSpPr/>
          <p:nvPr/>
        </p:nvSpPr>
        <p:spPr>
          <a:xfrm>
            <a:off x="1524000" y="2743200"/>
            <a:ext cx="7467600" cy="24622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1400" dirty="0"/>
              <a:t>Em geral, um sistema de processamento de dados compreende duas partes: o sistema de computação (o computador e os programas básicos) e os sistemas de aplicação. O primeiro, normalmente fornecido completo pelo fabricante, e os últimos, desenvolvidos pelo usuário ou por terceiros, especificamente dedicados à aplicação de interesse do usuário.</a:t>
            </a:r>
          </a:p>
          <a:p>
            <a:pPr algn="just"/>
            <a:endParaRPr lang="pt-BR" sz="1400" dirty="0"/>
          </a:p>
          <a:p>
            <a:pPr algn="just"/>
            <a:r>
              <a:rPr lang="pt-BR" sz="1400" dirty="0"/>
              <a:t>Qualquer processamento de dados requer a </a:t>
            </a:r>
            <a:r>
              <a:rPr lang="pt-BR" sz="1400" b="1" dirty="0"/>
              <a:t>execução</a:t>
            </a:r>
            <a:r>
              <a:rPr lang="pt-BR" sz="1400" dirty="0"/>
              <a:t> de uma série de etapas, que podem ser realizadas de forma manual ou automática por um </a:t>
            </a:r>
            <a:r>
              <a:rPr lang="pt-BR" sz="1400" b="1" dirty="0"/>
              <a:t>computador</a:t>
            </a:r>
            <a:r>
              <a:rPr lang="pt-BR" sz="1400" dirty="0"/>
              <a:t>. Tais etapas, elaboradas e executadas </a:t>
            </a:r>
            <a:r>
              <a:rPr lang="pt-BR" sz="1400" b="1" dirty="0"/>
              <a:t>passo</a:t>
            </a:r>
            <a:r>
              <a:rPr lang="pt-BR" sz="1400" dirty="0"/>
              <a:t> a </a:t>
            </a:r>
            <a:r>
              <a:rPr lang="pt-BR" sz="1400" b="1" dirty="0"/>
              <a:t>passo</a:t>
            </a:r>
            <a:r>
              <a:rPr lang="pt-BR" sz="1400" dirty="0"/>
              <a:t>, constituem o que se chama programa. Cada um dos passos mencionados é uma diferente </a:t>
            </a:r>
            <a:r>
              <a:rPr lang="pt-BR" sz="1400" b="1" dirty="0"/>
              <a:t>instrução</a:t>
            </a:r>
            <a:r>
              <a:rPr lang="pt-BR" sz="1400" dirty="0"/>
              <a:t>, ou ordem de comando, dada ao hardware, objetivando a realização de uma determinada ação (uma operação aritmética, uma transferência de informação etc.). O programa é o conjunto de instruções.</a:t>
            </a:r>
          </a:p>
        </p:txBody>
      </p:sp>
      <p:sp>
        <p:nvSpPr>
          <p:cNvPr id="15" name="Retângulo 14"/>
          <p:cNvSpPr/>
          <p:nvPr/>
        </p:nvSpPr>
        <p:spPr>
          <a:xfrm>
            <a:off x="990600" y="5178623"/>
            <a:ext cx="74676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1400" b="1" dirty="0">
                <a:solidFill>
                  <a:schemeClr val="accent6"/>
                </a:solidFill>
              </a:rPr>
              <a:t>Algoritmo para soma de 100 números e imprimir o resultado:</a:t>
            </a:r>
          </a:p>
        </p:txBody>
      </p:sp>
      <p:pic>
        <p:nvPicPr>
          <p:cNvPr id="50180" name="Picture 4" descr="http://cdn.grid.fotosearch.com/CSP/CSP151/k1515158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1635" y="3352800"/>
            <a:ext cx="1327541" cy="1447800"/>
          </a:xfrm>
          <a:prstGeom prst="rect">
            <a:avLst/>
          </a:prstGeom>
          <a:noFill/>
        </p:spPr>
      </p:pic>
      <p:sp>
        <p:nvSpPr>
          <p:cNvPr id="17" name="Retângulo 16"/>
          <p:cNvSpPr/>
          <p:nvPr/>
        </p:nvSpPr>
        <p:spPr>
          <a:xfrm>
            <a:off x="76200" y="5461337"/>
            <a:ext cx="38862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200" b="1" dirty="0"/>
              <a:t>l. Escrever e guardar N=0 e SOMA=0 </a:t>
            </a:r>
            <a:br>
              <a:rPr lang="pt-BR" sz="1200" b="1" dirty="0"/>
            </a:br>
            <a:r>
              <a:rPr lang="pt-BR" sz="1200" b="1" dirty="0"/>
              <a:t>2. Ler número da entrada </a:t>
            </a:r>
            <a:br>
              <a:rPr lang="pt-BR" sz="1200" b="1" dirty="0"/>
            </a:br>
            <a:r>
              <a:rPr lang="pt-BR" sz="1200" b="1" dirty="0"/>
              <a:t>3. Somar valor do número ao de SOMA e guardar resultado como SOMA </a:t>
            </a:r>
            <a:br>
              <a:rPr lang="pt-BR" sz="1200" b="1" dirty="0"/>
            </a:br>
            <a:endParaRPr lang="pt-BR" sz="1200" b="1" dirty="0"/>
          </a:p>
        </p:txBody>
      </p:sp>
      <p:sp>
        <p:nvSpPr>
          <p:cNvPr id="18" name="Retângulo 17"/>
          <p:cNvSpPr/>
          <p:nvPr/>
        </p:nvSpPr>
        <p:spPr>
          <a:xfrm>
            <a:off x="4495800" y="5493603"/>
            <a:ext cx="46482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200" b="1" dirty="0"/>
              <a:t>4. Somar 1 ao valor de N e guardar resultado como novo N </a:t>
            </a:r>
            <a:br>
              <a:rPr lang="pt-BR" sz="1200" b="1" dirty="0"/>
            </a:br>
            <a:r>
              <a:rPr lang="pt-BR" sz="1200" b="1" dirty="0"/>
              <a:t>5. Se valor de N for menor que 100, então passar para item 2 </a:t>
            </a:r>
            <a:br>
              <a:rPr lang="pt-BR" sz="1200" b="1" dirty="0"/>
            </a:br>
            <a:r>
              <a:rPr lang="pt-BR" sz="1200" b="1" dirty="0"/>
              <a:t>6. Senão : imprimir valor de SOMA </a:t>
            </a:r>
            <a:br>
              <a:rPr lang="pt-BR" sz="1200" b="1" dirty="0"/>
            </a:br>
            <a:r>
              <a:rPr lang="pt-BR" sz="1200" b="1" dirty="0"/>
              <a:t>7. Parar</a:t>
            </a:r>
          </a:p>
        </p:txBody>
      </p:sp>
      <p:cxnSp>
        <p:nvCxnSpPr>
          <p:cNvPr id="20" name="Conector reto 19"/>
          <p:cNvCxnSpPr/>
          <p:nvPr/>
        </p:nvCxnSpPr>
        <p:spPr>
          <a:xfrm rot="5400000">
            <a:off x="3694906" y="5905500"/>
            <a:ext cx="838200" cy="158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4998437"/>
      </p:ext>
    </p:extLst>
  </p:cSld>
  <p:clrMapOvr>
    <a:masterClrMapping/>
  </p:clrMapOvr>
  <p:transition>
    <p:fade thruBlk="1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AutoShape 6" descr="https://encrypted-tbn1.gstatic.com/images?q=tbn:ANd9GcRa9ZZMcDs1ngDNQQg3QHjIJFfOSdDrqRT5_Ob5kS5sPS_741y0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032" name="AutoShape 8" descr="https://encrypted-tbn1.gstatic.com/images?q=tbn:ANd9GcRa9ZZMcDs1ngDNQQg3QHjIJFfOSdDrqRT5_Ob5kS5sPS_741y0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034" name="AutoShape 10" descr="https://epichurus.files.wordpress.com/2012/07/1980_summer_olympics_bronze_medal_transparent.png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42" name="Retângulo 41"/>
          <p:cNvSpPr/>
          <p:nvPr/>
        </p:nvSpPr>
        <p:spPr>
          <a:xfrm>
            <a:off x="0" y="1221463"/>
            <a:ext cx="9144000" cy="14157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1600" b="1" dirty="0">
                <a:solidFill>
                  <a:schemeClr val="accent6"/>
                </a:solidFill>
              </a:rPr>
              <a:t>PROCESSAMENTO ELETRÔNICO  DE DADOS – </a:t>
            </a:r>
            <a:r>
              <a:rPr lang="pt-BR" sz="1600" b="1" dirty="0" err="1">
                <a:solidFill>
                  <a:schemeClr val="accent6"/>
                </a:solidFill>
              </a:rPr>
              <a:t>P.E.</a:t>
            </a:r>
            <a:r>
              <a:rPr lang="pt-BR" sz="1600" b="1" dirty="0">
                <a:solidFill>
                  <a:schemeClr val="accent6"/>
                </a:solidFill>
              </a:rPr>
              <a:t>D</a:t>
            </a:r>
          </a:p>
          <a:p>
            <a:pPr algn="just"/>
            <a:endParaRPr lang="pt-BR" sz="1400" dirty="0"/>
          </a:p>
          <a:p>
            <a:pPr algn="just"/>
            <a:endParaRPr lang="pt-BR" sz="1400" dirty="0"/>
          </a:p>
          <a:p>
            <a:pPr algn="just"/>
            <a:endParaRPr lang="pt-BR" sz="1400" dirty="0"/>
          </a:p>
          <a:p>
            <a:pPr algn="just"/>
            <a:endParaRPr lang="pt-BR" sz="1400" dirty="0"/>
          </a:p>
          <a:p>
            <a:pPr algn="just"/>
            <a:endParaRPr lang="pt-BR" sz="1400" dirty="0"/>
          </a:p>
        </p:txBody>
      </p:sp>
      <p:sp>
        <p:nvSpPr>
          <p:cNvPr id="1036" name="AutoShape 12" descr="https://epichurus.files.wordpress.com/2012/07/1980_summer_olympics_bronze_medal_transparent.png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43" name="Retângulo 42"/>
          <p:cNvSpPr/>
          <p:nvPr/>
        </p:nvSpPr>
        <p:spPr>
          <a:xfrm>
            <a:off x="1447800" y="540603"/>
            <a:ext cx="73152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C00000"/>
                </a:solidFill>
              </a:rPr>
              <a:t>Arquitetura e Organização de Computadores</a:t>
            </a:r>
            <a:endParaRPr lang="pt-BR" dirty="0"/>
          </a:p>
        </p:txBody>
      </p:sp>
      <p:sp>
        <p:nvSpPr>
          <p:cNvPr id="33" name="Fluxograma: Processo 32"/>
          <p:cNvSpPr/>
          <p:nvPr/>
        </p:nvSpPr>
        <p:spPr>
          <a:xfrm>
            <a:off x="3352800" y="1686560"/>
            <a:ext cx="2590800" cy="904240"/>
          </a:xfrm>
          <a:prstGeom prst="flowChartProcess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800" dirty="0">
              <a:solidFill>
                <a:schemeClr val="tx1"/>
              </a:solidFill>
            </a:endParaRPr>
          </a:p>
          <a:p>
            <a:pPr algn="ctr"/>
            <a:endParaRPr lang="pt-BR" sz="1800" dirty="0">
              <a:solidFill>
                <a:schemeClr val="tx1"/>
              </a:solidFill>
            </a:endParaRPr>
          </a:p>
          <a:p>
            <a:pPr algn="ctr"/>
            <a:r>
              <a:rPr lang="pt-BR" sz="1800" dirty="0">
                <a:solidFill>
                  <a:schemeClr val="tx1"/>
                </a:solidFill>
              </a:rPr>
              <a:t>Processamento: Dados</a:t>
            </a:r>
          </a:p>
          <a:p>
            <a:pPr algn="ctr"/>
            <a:r>
              <a:rPr lang="pt-BR" sz="1800" dirty="0">
                <a:solidFill>
                  <a:schemeClr val="tx1"/>
                </a:solidFill>
              </a:rPr>
              <a:t>Cálculo e Testes</a:t>
            </a:r>
          </a:p>
          <a:p>
            <a:pPr algn="ctr"/>
            <a:endParaRPr lang="pt-BR" sz="1800" dirty="0">
              <a:solidFill>
                <a:schemeClr val="tx1"/>
              </a:solidFill>
            </a:endParaRPr>
          </a:p>
          <a:p>
            <a:pPr algn="ctr"/>
            <a:endParaRPr lang="pt-BR" dirty="0"/>
          </a:p>
        </p:txBody>
      </p:sp>
      <p:sp>
        <p:nvSpPr>
          <p:cNvPr id="40" name="Fluxograma: Processo 39"/>
          <p:cNvSpPr/>
          <p:nvPr/>
        </p:nvSpPr>
        <p:spPr>
          <a:xfrm>
            <a:off x="762000" y="1686560"/>
            <a:ext cx="2590800" cy="904240"/>
          </a:xfrm>
          <a:prstGeom prst="flowChartProcess">
            <a:avLst/>
          </a:prstGeom>
          <a:solidFill>
            <a:srgbClr val="A9A6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800" dirty="0">
                <a:solidFill>
                  <a:schemeClr val="tx1"/>
                </a:solidFill>
              </a:rPr>
              <a:t>Entrada: Dados</a:t>
            </a:r>
          </a:p>
          <a:p>
            <a:pPr algn="ctr"/>
            <a:r>
              <a:rPr lang="pt-BR" sz="1800" dirty="0">
                <a:solidFill>
                  <a:schemeClr val="tx1"/>
                </a:solidFill>
              </a:rPr>
              <a:t>Digitação do programa e dos dados</a:t>
            </a:r>
          </a:p>
        </p:txBody>
      </p:sp>
      <p:sp>
        <p:nvSpPr>
          <p:cNvPr id="41" name="Fluxograma: Processo 40"/>
          <p:cNvSpPr/>
          <p:nvPr/>
        </p:nvSpPr>
        <p:spPr>
          <a:xfrm>
            <a:off x="5969000" y="1676399"/>
            <a:ext cx="2590800" cy="874099"/>
          </a:xfrm>
          <a:prstGeom prst="flowChartProcess">
            <a:avLst/>
          </a:prstGeom>
          <a:solidFill>
            <a:srgbClr val="CC9900"/>
          </a:solidFill>
          <a:ln>
            <a:solidFill>
              <a:srgbClr val="CC9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800" dirty="0">
              <a:solidFill>
                <a:schemeClr val="tx1"/>
              </a:solidFill>
            </a:endParaRPr>
          </a:p>
          <a:p>
            <a:pPr algn="ctr"/>
            <a:r>
              <a:rPr lang="pt-BR" sz="1800" dirty="0">
                <a:solidFill>
                  <a:schemeClr val="tx1"/>
                </a:solidFill>
              </a:rPr>
              <a:t>Resultado: informação   Impressão dos Resultados</a:t>
            </a:r>
          </a:p>
          <a:p>
            <a:pPr algn="ctr"/>
            <a:endParaRPr lang="pt-BR" sz="1800" dirty="0">
              <a:solidFill>
                <a:schemeClr val="tx1"/>
              </a:solidFill>
            </a:endParaRPr>
          </a:p>
        </p:txBody>
      </p:sp>
      <p:sp>
        <p:nvSpPr>
          <p:cNvPr id="12" name="Retângulo 11"/>
          <p:cNvSpPr/>
          <p:nvPr/>
        </p:nvSpPr>
        <p:spPr>
          <a:xfrm>
            <a:off x="1524000" y="2855893"/>
            <a:ext cx="74676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1400" dirty="0"/>
              <a:t>As </a:t>
            </a:r>
            <a:r>
              <a:rPr lang="pt-BR" sz="1400" b="1" dirty="0"/>
              <a:t>etapas</a:t>
            </a:r>
            <a:r>
              <a:rPr lang="pt-BR" sz="1400" dirty="0"/>
              <a:t> de um </a:t>
            </a:r>
            <a:r>
              <a:rPr lang="pt-BR" sz="1400" b="1" dirty="0"/>
              <a:t>algoritmo</a:t>
            </a:r>
            <a:r>
              <a:rPr lang="pt-BR" sz="1400" dirty="0"/>
              <a:t> são as </a:t>
            </a:r>
            <a:r>
              <a:rPr lang="pt-BR" sz="1400" b="1" dirty="0"/>
              <a:t>instruções</a:t>
            </a:r>
            <a:r>
              <a:rPr lang="pt-BR" sz="1400" dirty="0"/>
              <a:t> que deverão ser executadas por uma máquina (quando falamos de computadores); o </a:t>
            </a:r>
            <a:r>
              <a:rPr lang="pt-BR" sz="1400" b="1" dirty="0"/>
              <a:t>conjunto de instruções </a:t>
            </a:r>
            <a:r>
              <a:rPr lang="pt-BR" sz="1400" dirty="0"/>
              <a:t>constitui o que chamamos de </a:t>
            </a:r>
            <a:r>
              <a:rPr lang="pt-BR" sz="1400" b="1" dirty="0"/>
              <a:t>programa</a:t>
            </a:r>
            <a:r>
              <a:rPr lang="pt-BR" sz="1400" dirty="0"/>
              <a:t>. Um </a:t>
            </a:r>
            <a:r>
              <a:rPr lang="pt-BR" sz="1400" b="1" dirty="0"/>
              <a:t>programa</a:t>
            </a:r>
            <a:r>
              <a:rPr lang="pt-BR" sz="1400" dirty="0"/>
              <a:t> de computador é a formalização de um algoritmo em </a:t>
            </a:r>
            <a:r>
              <a:rPr lang="pt-BR" sz="1400" b="1" dirty="0"/>
              <a:t>linguagem inteligível </a:t>
            </a:r>
            <a:r>
              <a:rPr lang="pt-BR" sz="1400" dirty="0"/>
              <a:t>pelo computador.</a:t>
            </a:r>
            <a:endParaRPr lang="pt-BR" sz="1400" b="1" dirty="0"/>
          </a:p>
        </p:txBody>
      </p:sp>
      <p:pic>
        <p:nvPicPr>
          <p:cNvPr id="51202" name="Picture 2" descr="http://static7.depositphotos.com/1020482/755/i/950/depositphotos_7557486-Team-of-construction-workers-working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1" y="2892379"/>
            <a:ext cx="1219200" cy="993821"/>
          </a:xfrm>
          <a:prstGeom prst="rect">
            <a:avLst/>
          </a:prstGeom>
          <a:noFill/>
        </p:spPr>
      </p:pic>
      <p:sp>
        <p:nvSpPr>
          <p:cNvPr id="19" name="Retângulo 18"/>
          <p:cNvSpPr/>
          <p:nvPr/>
        </p:nvSpPr>
        <p:spPr>
          <a:xfrm>
            <a:off x="0" y="3922693"/>
            <a:ext cx="9144000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1400" dirty="0"/>
              <a:t>Todo </a:t>
            </a:r>
            <a:r>
              <a:rPr lang="pt-BR" sz="1400" b="1" dirty="0"/>
              <a:t>dado</a:t>
            </a:r>
            <a:r>
              <a:rPr lang="pt-BR" sz="1400" dirty="0"/>
              <a:t> coletado pelos computadores, as </a:t>
            </a:r>
            <a:r>
              <a:rPr lang="pt-BR" sz="1400" b="1" dirty="0"/>
              <a:t>instruções</a:t>
            </a:r>
            <a:r>
              <a:rPr lang="pt-BR" sz="1400" dirty="0"/>
              <a:t> por ele executadas, bem como os </a:t>
            </a:r>
            <a:r>
              <a:rPr lang="pt-BR" sz="1400" b="1" dirty="0"/>
              <a:t>resultados</a:t>
            </a:r>
            <a:r>
              <a:rPr lang="pt-BR" sz="1400" dirty="0"/>
              <a:t> de um </a:t>
            </a:r>
            <a:r>
              <a:rPr lang="pt-BR" sz="1400" b="1" dirty="0"/>
              <a:t>processamento</a:t>
            </a:r>
            <a:r>
              <a:rPr lang="pt-BR" sz="1400" dirty="0"/>
              <a:t> são sempre constituídos de conjuntos ordenados de </a:t>
            </a:r>
            <a:r>
              <a:rPr lang="pt-BR" sz="1400" b="1" dirty="0"/>
              <a:t>zeros e uns.</a:t>
            </a:r>
          </a:p>
          <a:p>
            <a:pPr algn="just"/>
            <a:endParaRPr lang="pt-BR" sz="1400" b="1" dirty="0"/>
          </a:p>
          <a:p>
            <a:pPr algn="just"/>
            <a:r>
              <a:rPr lang="pt-BR" sz="1400" dirty="0"/>
              <a:t>No entanto, essa linguagem, chamada de </a:t>
            </a:r>
            <a:r>
              <a:rPr lang="pt-BR" sz="1400" b="1" dirty="0"/>
              <a:t>linguagem de máquina</a:t>
            </a:r>
            <a:r>
              <a:rPr lang="pt-BR" sz="1400" dirty="0"/>
              <a:t>, é, para os seres humanos, tediosa de manipular, difícil de compreender e fácil de acarretar erros. Por essa razão, foram desenvolvidas outras linguagens, mais próximas do entendimento dos operadores, genericamente chamadas linguagens de programação. Atualmente, há dezenas dessas linguagens, tais como: </a:t>
            </a:r>
            <a:r>
              <a:rPr lang="pt-BR" sz="1400" dirty="0" err="1"/>
              <a:t>Cobol</a:t>
            </a:r>
            <a:r>
              <a:rPr lang="pt-BR" sz="1400" dirty="0"/>
              <a:t>, PL/I, Pascal, Fortran, </a:t>
            </a:r>
            <a:r>
              <a:rPr lang="pt-BR" sz="1400" dirty="0" err="1"/>
              <a:t>Basic</a:t>
            </a:r>
            <a:r>
              <a:rPr lang="pt-BR" sz="1400" dirty="0"/>
              <a:t>, </a:t>
            </a:r>
            <a:r>
              <a:rPr lang="pt-BR" sz="1400" dirty="0" err="1"/>
              <a:t>Lisp</a:t>
            </a:r>
            <a:r>
              <a:rPr lang="pt-BR" sz="1400" dirty="0"/>
              <a:t>, </a:t>
            </a:r>
            <a:r>
              <a:rPr lang="pt-BR" sz="1400" dirty="0" err="1"/>
              <a:t>Assembly</a:t>
            </a:r>
            <a:r>
              <a:rPr lang="pt-BR" sz="1400" dirty="0"/>
              <a:t>, C, C++, Java e etc.</a:t>
            </a:r>
            <a:endParaRPr lang="pt-BR" sz="1400" b="1" dirty="0"/>
          </a:p>
        </p:txBody>
      </p:sp>
    </p:spTree>
    <p:extLst>
      <p:ext uri="{BB962C8B-B14F-4D97-AF65-F5344CB8AC3E}">
        <p14:creationId xmlns:p14="http://schemas.microsoft.com/office/powerpoint/2010/main" val="3562299139"/>
      </p:ext>
    </p:extLst>
  </p:cSld>
  <p:clrMapOvr>
    <a:masterClrMapping/>
  </p:clrMapOvr>
  <p:transition>
    <p:fade thruBlk="1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AutoShape 6" descr="https://encrypted-tbn1.gstatic.com/images?q=tbn:ANd9GcRa9ZZMcDs1ngDNQQg3QHjIJFfOSdDrqRT5_Ob5kS5sPS_741y0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032" name="AutoShape 8" descr="https://encrypted-tbn1.gstatic.com/images?q=tbn:ANd9GcRa9ZZMcDs1ngDNQQg3QHjIJFfOSdDrqRT5_Ob5kS5sPS_741y0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034" name="AutoShape 10" descr="https://epichurus.files.wordpress.com/2012/07/1980_summer_olympics_bronze_medal_transparent.png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036" name="AutoShape 12" descr="https://epichurus.files.wordpress.com/2012/07/1980_summer_olympics_bronze_medal_transparent.png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43" name="Retângulo 42"/>
          <p:cNvSpPr/>
          <p:nvPr/>
        </p:nvSpPr>
        <p:spPr>
          <a:xfrm>
            <a:off x="1447800" y="540603"/>
            <a:ext cx="73152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C00000"/>
                </a:solidFill>
              </a:rPr>
              <a:t>Arquitetura e Organização de Computadores</a:t>
            </a:r>
            <a:endParaRPr lang="pt-BR" dirty="0"/>
          </a:p>
        </p:txBody>
      </p:sp>
      <p:pic>
        <p:nvPicPr>
          <p:cNvPr id="1026" name="Picture 2" descr="http://www.socialbits.com.br/wp-content/uploads/album_photo/36/12/1224_144d.jpg?c=a69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00200"/>
            <a:ext cx="9144000" cy="4800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78201941"/>
      </p:ext>
    </p:extLst>
  </p:cSld>
  <p:clrMapOvr>
    <a:masterClrMapping/>
  </p:clrMapOvr>
  <p:transition>
    <p:fade thruBlk="1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/>
          <p:cNvSpPr>
            <a:spLocks noGrp="1"/>
          </p:cNvSpPr>
          <p:nvPr>
            <p:ph type="title"/>
          </p:nvPr>
        </p:nvSpPr>
        <p:spPr>
          <a:xfrm>
            <a:off x="498078" y="286931"/>
            <a:ext cx="7010400" cy="1143000"/>
          </a:xfrm>
        </p:spPr>
        <p:txBody>
          <a:bodyPr/>
          <a:lstStyle/>
          <a:p>
            <a:r>
              <a:rPr lang="pt-BR" sz="4000" dirty="0">
                <a:solidFill>
                  <a:srgbClr val="C00000"/>
                </a:solidFill>
              </a:rPr>
              <a:t>Circuito – lei de Ohm</a:t>
            </a:r>
          </a:p>
        </p:txBody>
      </p:sp>
      <p:pic>
        <p:nvPicPr>
          <p:cNvPr id="8" name="Picture 14" descr="https://encrypted-tbn3.gstatic.com/images?q=tbn:ANd9GcSTT9hB4C6uDhPnHuFGStflSkVy-vqD__r9IdfQHez91DYRk1QWOw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919686" y="29028"/>
            <a:ext cx="2209800" cy="1447800"/>
          </a:xfrm>
          <a:prstGeom prst="rect">
            <a:avLst/>
          </a:prstGeom>
          <a:noFill/>
        </p:spPr>
      </p:pic>
      <p:cxnSp>
        <p:nvCxnSpPr>
          <p:cNvPr id="25" name="Conector de seta reta 24"/>
          <p:cNvCxnSpPr/>
          <p:nvPr/>
        </p:nvCxnSpPr>
        <p:spPr>
          <a:xfrm>
            <a:off x="4946093" y="3631293"/>
            <a:ext cx="3852" cy="533400"/>
          </a:xfrm>
          <a:prstGeom prst="straightConnector1">
            <a:avLst/>
          </a:prstGeom>
          <a:ln w="22225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tângulo 21"/>
          <p:cNvSpPr/>
          <p:nvPr/>
        </p:nvSpPr>
        <p:spPr>
          <a:xfrm>
            <a:off x="2291513" y="4235195"/>
            <a:ext cx="4595813" cy="183475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Retângulo 1"/>
          <p:cNvSpPr/>
          <p:nvPr/>
        </p:nvSpPr>
        <p:spPr>
          <a:xfrm>
            <a:off x="2084407" y="4900386"/>
            <a:ext cx="381000" cy="5043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" name="Conector reto 3"/>
          <p:cNvCxnSpPr/>
          <p:nvPr/>
        </p:nvCxnSpPr>
        <p:spPr>
          <a:xfrm>
            <a:off x="1707157" y="5410200"/>
            <a:ext cx="1143045" cy="0"/>
          </a:xfrm>
          <a:prstGeom prst="line">
            <a:avLst/>
          </a:prstGeom>
          <a:ln w="349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/>
          <p:cNvCxnSpPr/>
          <p:nvPr/>
        </p:nvCxnSpPr>
        <p:spPr>
          <a:xfrm>
            <a:off x="2092970" y="4891088"/>
            <a:ext cx="418199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ixaDeTexto 13"/>
          <p:cNvSpPr txBox="1"/>
          <p:nvPr/>
        </p:nvSpPr>
        <p:spPr>
          <a:xfrm>
            <a:off x="1630437" y="4499532"/>
            <a:ext cx="4539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/>
              <a:t>+</a:t>
            </a:r>
          </a:p>
        </p:txBody>
      </p:sp>
      <p:sp>
        <p:nvSpPr>
          <p:cNvPr id="34" name="CaixaDeTexto 33"/>
          <p:cNvSpPr txBox="1"/>
          <p:nvPr/>
        </p:nvSpPr>
        <p:spPr>
          <a:xfrm>
            <a:off x="1689250" y="5029200"/>
            <a:ext cx="4411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/>
              <a:t>_</a:t>
            </a:r>
          </a:p>
        </p:txBody>
      </p:sp>
      <p:sp>
        <p:nvSpPr>
          <p:cNvPr id="19" name="Seta em Curva para a Esquerda 18"/>
          <p:cNvSpPr/>
          <p:nvPr/>
        </p:nvSpPr>
        <p:spPr>
          <a:xfrm rot="10800000">
            <a:off x="1603037" y="4235194"/>
            <a:ext cx="274264" cy="1834751"/>
          </a:xfrm>
          <a:prstGeom prst="curvedLef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39" name="Retângulo 38"/>
          <p:cNvSpPr/>
          <p:nvPr/>
        </p:nvSpPr>
        <p:spPr>
          <a:xfrm>
            <a:off x="3940818" y="4164693"/>
            <a:ext cx="1066800" cy="2767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cxnSp>
        <p:nvCxnSpPr>
          <p:cNvPr id="36" name="Conector de Seta Reta 35"/>
          <p:cNvCxnSpPr/>
          <p:nvPr/>
        </p:nvCxnSpPr>
        <p:spPr>
          <a:xfrm flipV="1">
            <a:off x="3940818" y="3586160"/>
            <a:ext cx="852714" cy="653037"/>
          </a:xfrm>
          <a:prstGeom prst="straightConnector1">
            <a:avLst/>
          </a:prstGeom>
          <a:ln w="317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CaixaDeTexto 43"/>
          <p:cNvSpPr txBox="1"/>
          <p:nvPr/>
        </p:nvSpPr>
        <p:spPr>
          <a:xfrm>
            <a:off x="4680725" y="3214983"/>
            <a:ext cx="562975" cy="4001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sz="2000" b="1" dirty="0"/>
              <a:t>0</a:t>
            </a:r>
            <a:r>
              <a:rPr lang="pt-BR" sz="1200" b="1" dirty="0">
                <a:sym typeface="Wingdings" panose="05000000000000000000" pitchFamily="2" charset="2"/>
              </a:rPr>
              <a:t></a:t>
            </a:r>
            <a:r>
              <a:rPr lang="pt-BR" sz="2000" b="1" dirty="0"/>
              <a:t>f</a:t>
            </a:r>
          </a:p>
        </p:txBody>
      </p:sp>
      <p:cxnSp>
        <p:nvCxnSpPr>
          <p:cNvPr id="49" name="Conector de Seta Reta 48"/>
          <p:cNvCxnSpPr/>
          <p:nvPr/>
        </p:nvCxnSpPr>
        <p:spPr>
          <a:xfrm>
            <a:off x="3955106" y="4233635"/>
            <a:ext cx="1066800" cy="0"/>
          </a:xfrm>
          <a:prstGeom prst="straightConnector1">
            <a:avLst/>
          </a:prstGeom>
          <a:ln w="317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CaixaDeTexto 50"/>
          <p:cNvSpPr txBox="1"/>
          <p:nvPr/>
        </p:nvSpPr>
        <p:spPr>
          <a:xfrm>
            <a:off x="4699750" y="4415135"/>
            <a:ext cx="591829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sz="1800" b="1" dirty="0"/>
              <a:t>1</a:t>
            </a:r>
            <a:r>
              <a:rPr lang="pt-BR" sz="1200" b="1" dirty="0">
                <a:sym typeface="Wingdings" panose="05000000000000000000" pitchFamily="2" charset="2"/>
              </a:rPr>
              <a:t></a:t>
            </a:r>
            <a:r>
              <a:rPr lang="pt-BR" sz="1800" b="1" dirty="0"/>
              <a:t>v</a:t>
            </a:r>
          </a:p>
        </p:txBody>
      </p:sp>
      <p:sp>
        <p:nvSpPr>
          <p:cNvPr id="52" name="Retângulo 51"/>
          <p:cNvSpPr/>
          <p:nvPr/>
        </p:nvSpPr>
        <p:spPr>
          <a:xfrm>
            <a:off x="6713043" y="4938712"/>
            <a:ext cx="381000" cy="4714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Fluxograma: Somador 40"/>
          <p:cNvSpPr/>
          <p:nvPr/>
        </p:nvSpPr>
        <p:spPr>
          <a:xfrm>
            <a:off x="6636394" y="4938712"/>
            <a:ext cx="515190" cy="460248"/>
          </a:xfrm>
          <a:prstGeom prst="flowChartSummingJunction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3" name="CaixaDeTexto 52"/>
          <p:cNvSpPr txBox="1"/>
          <p:nvPr/>
        </p:nvSpPr>
        <p:spPr>
          <a:xfrm>
            <a:off x="7107063" y="5026223"/>
            <a:ext cx="97013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/>
              <a:t>Lâmpada</a:t>
            </a:r>
          </a:p>
        </p:txBody>
      </p:sp>
      <p:sp>
        <p:nvSpPr>
          <p:cNvPr id="55" name="CaixaDeTexto 54"/>
          <p:cNvSpPr txBox="1"/>
          <p:nvPr/>
        </p:nvSpPr>
        <p:spPr>
          <a:xfrm>
            <a:off x="5007618" y="3505200"/>
            <a:ext cx="162409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/>
              <a:t>   Ligado </a:t>
            </a:r>
            <a:r>
              <a:rPr lang="pt-BR" sz="1200" b="1" dirty="0">
                <a:sym typeface="Wingdings" panose="05000000000000000000" pitchFamily="2" charset="2"/>
              </a:rPr>
              <a:t></a:t>
            </a:r>
            <a:r>
              <a:rPr lang="pt-BR" sz="1400" b="1" dirty="0"/>
              <a:t> L </a:t>
            </a:r>
            <a:r>
              <a:rPr lang="pt-BR" sz="1200" b="1" dirty="0">
                <a:sym typeface="Wingdings" panose="05000000000000000000" pitchFamily="2" charset="2"/>
              </a:rPr>
              <a:t></a:t>
            </a:r>
            <a:r>
              <a:rPr lang="pt-BR" sz="1400" b="1" dirty="0"/>
              <a:t> 1</a:t>
            </a:r>
          </a:p>
        </p:txBody>
      </p:sp>
      <p:sp>
        <p:nvSpPr>
          <p:cNvPr id="56" name="CaixaDeTexto 55"/>
          <p:cNvSpPr txBox="1"/>
          <p:nvPr/>
        </p:nvSpPr>
        <p:spPr>
          <a:xfrm>
            <a:off x="5083818" y="3886200"/>
            <a:ext cx="18181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/>
              <a:t>  </a:t>
            </a:r>
            <a:r>
              <a:rPr lang="pt-BR" sz="1400" b="1" dirty="0" err="1"/>
              <a:t>Desigado</a:t>
            </a:r>
            <a:r>
              <a:rPr lang="pt-BR" sz="1400" b="1" i="1" dirty="0"/>
              <a:t> </a:t>
            </a:r>
            <a:r>
              <a:rPr lang="pt-BR" sz="1200" b="1" dirty="0">
                <a:sym typeface="Wingdings" panose="05000000000000000000" pitchFamily="2" charset="2"/>
              </a:rPr>
              <a:t></a:t>
            </a:r>
            <a:r>
              <a:rPr lang="pt-BR" sz="1400" b="1" i="1" dirty="0"/>
              <a:t> D</a:t>
            </a:r>
            <a:r>
              <a:rPr lang="pt-BR" sz="1400" b="1" dirty="0"/>
              <a:t> </a:t>
            </a:r>
            <a:r>
              <a:rPr lang="pt-BR" sz="1200" b="1" dirty="0">
                <a:sym typeface="Wingdings" panose="05000000000000000000" pitchFamily="2" charset="2"/>
              </a:rPr>
              <a:t></a:t>
            </a:r>
            <a:r>
              <a:rPr lang="pt-BR" sz="1400" b="1" dirty="0"/>
              <a:t> 0</a:t>
            </a:r>
          </a:p>
        </p:txBody>
      </p:sp>
      <p:pic>
        <p:nvPicPr>
          <p:cNvPr id="57" name="Imagem 5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01" y="1644140"/>
            <a:ext cx="2932456" cy="2332159"/>
          </a:xfrm>
          <a:prstGeom prst="rect">
            <a:avLst/>
          </a:prstGeom>
        </p:spPr>
      </p:pic>
      <p:pic>
        <p:nvPicPr>
          <p:cNvPr id="58" name="Imagem 5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0045" y="2199086"/>
            <a:ext cx="191331" cy="167415"/>
          </a:xfrm>
          <a:prstGeom prst="rect">
            <a:avLst/>
          </a:prstGeom>
        </p:spPr>
      </p:pic>
      <p:cxnSp>
        <p:nvCxnSpPr>
          <p:cNvPr id="62" name="Conector de Seta Reta 61"/>
          <p:cNvCxnSpPr/>
          <p:nvPr/>
        </p:nvCxnSpPr>
        <p:spPr>
          <a:xfrm>
            <a:off x="6434885" y="2249159"/>
            <a:ext cx="4572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CaixaDeTexto 62"/>
          <p:cNvSpPr txBox="1"/>
          <p:nvPr/>
        </p:nvSpPr>
        <p:spPr>
          <a:xfrm>
            <a:off x="7043402" y="2127646"/>
            <a:ext cx="16433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/>
              <a:t>   - Resistencia</a:t>
            </a:r>
          </a:p>
        </p:txBody>
      </p:sp>
      <p:sp>
        <p:nvSpPr>
          <p:cNvPr id="64" name="CaixaDeTexto 63"/>
          <p:cNvSpPr txBox="1"/>
          <p:nvPr/>
        </p:nvSpPr>
        <p:spPr>
          <a:xfrm>
            <a:off x="5858474" y="2540199"/>
            <a:ext cx="3918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800" b="1" dirty="0"/>
              <a:t>I</a:t>
            </a:r>
          </a:p>
        </p:txBody>
      </p:sp>
      <p:cxnSp>
        <p:nvCxnSpPr>
          <p:cNvPr id="65" name="Conector de Seta Reta 64"/>
          <p:cNvCxnSpPr/>
          <p:nvPr/>
        </p:nvCxnSpPr>
        <p:spPr>
          <a:xfrm>
            <a:off x="6377586" y="2737912"/>
            <a:ext cx="4572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CaixaDeTexto 65"/>
          <p:cNvSpPr txBox="1"/>
          <p:nvPr/>
        </p:nvSpPr>
        <p:spPr>
          <a:xfrm>
            <a:off x="6889223" y="2616399"/>
            <a:ext cx="16433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/>
              <a:t>a - Ampere</a:t>
            </a:r>
          </a:p>
        </p:txBody>
      </p:sp>
      <p:sp>
        <p:nvSpPr>
          <p:cNvPr id="67" name="CaixaDeTexto 66"/>
          <p:cNvSpPr txBox="1"/>
          <p:nvPr/>
        </p:nvSpPr>
        <p:spPr>
          <a:xfrm>
            <a:off x="5791200" y="1557336"/>
            <a:ext cx="5396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800" b="1" dirty="0"/>
              <a:t> U</a:t>
            </a:r>
          </a:p>
          <a:p>
            <a:r>
              <a:rPr lang="pt-BR" sz="1800" b="1" dirty="0"/>
              <a:t> </a:t>
            </a:r>
            <a:r>
              <a:rPr lang="pt-BR" sz="1600" b="1" dirty="0"/>
              <a:t>=</a:t>
            </a:r>
          </a:p>
        </p:txBody>
      </p:sp>
      <p:cxnSp>
        <p:nvCxnSpPr>
          <p:cNvPr id="68" name="Conector de Seta Reta 67"/>
          <p:cNvCxnSpPr/>
          <p:nvPr/>
        </p:nvCxnSpPr>
        <p:spPr>
          <a:xfrm>
            <a:off x="6420450" y="1752600"/>
            <a:ext cx="4572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CaixaDeTexto 68"/>
          <p:cNvSpPr txBox="1"/>
          <p:nvPr/>
        </p:nvSpPr>
        <p:spPr>
          <a:xfrm>
            <a:off x="6967202" y="1600200"/>
            <a:ext cx="16433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/>
              <a:t>V - Volts</a:t>
            </a:r>
          </a:p>
        </p:txBody>
      </p:sp>
      <p:sp>
        <p:nvSpPr>
          <p:cNvPr id="70" name="CaixaDeTexto 69"/>
          <p:cNvSpPr txBox="1"/>
          <p:nvPr/>
        </p:nvSpPr>
        <p:spPr>
          <a:xfrm flipH="1">
            <a:off x="5826315" y="2054423"/>
            <a:ext cx="4220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800" b="1" dirty="0"/>
              <a:t>R</a:t>
            </a:r>
          </a:p>
          <a:p>
            <a:r>
              <a:rPr lang="pt-BR" sz="1400" b="1" dirty="0"/>
              <a:t>x</a:t>
            </a:r>
          </a:p>
        </p:txBody>
      </p:sp>
      <p:sp>
        <p:nvSpPr>
          <p:cNvPr id="71" name="CaixaDeTexto 70"/>
          <p:cNvSpPr txBox="1"/>
          <p:nvPr/>
        </p:nvSpPr>
        <p:spPr>
          <a:xfrm>
            <a:off x="1751481" y="5029200"/>
            <a:ext cx="6126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/>
              <a:t>Pilha</a:t>
            </a:r>
          </a:p>
        </p:txBody>
      </p:sp>
      <p:sp>
        <p:nvSpPr>
          <p:cNvPr id="72" name="CaixaDeTexto 71"/>
          <p:cNvSpPr txBox="1"/>
          <p:nvPr/>
        </p:nvSpPr>
        <p:spPr>
          <a:xfrm>
            <a:off x="740418" y="4417367"/>
            <a:ext cx="9813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400" b="1" dirty="0"/>
              <a:t>Corrente </a:t>
            </a:r>
          </a:p>
          <a:p>
            <a:pPr algn="ctr"/>
            <a:r>
              <a:rPr lang="pt-BR" sz="1400" b="1" dirty="0"/>
              <a:t>elétrica</a:t>
            </a:r>
          </a:p>
        </p:txBody>
      </p:sp>
      <p:pic>
        <p:nvPicPr>
          <p:cNvPr id="73" name="Imagem 7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06918" y="4267200"/>
            <a:ext cx="1200700" cy="182887"/>
          </a:xfrm>
          <a:prstGeom prst="rect">
            <a:avLst/>
          </a:prstGeom>
        </p:spPr>
      </p:pic>
    </p:spTree>
  </p:cSld>
  <p:clrMapOvr>
    <a:masterClrMapping/>
  </p:clrMapOvr>
  <p:transition>
    <p:fade thruBlk="1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/>
          <p:cNvSpPr>
            <a:spLocks noGrp="1"/>
          </p:cNvSpPr>
          <p:nvPr>
            <p:ph type="title"/>
          </p:nvPr>
        </p:nvSpPr>
        <p:spPr>
          <a:xfrm>
            <a:off x="498078" y="286931"/>
            <a:ext cx="7010400" cy="1143000"/>
          </a:xfrm>
        </p:spPr>
        <p:txBody>
          <a:bodyPr/>
          <a:lstStyle/>
          <a:p>
            <a:r>
              <a:rPr lang="pt-BR" sz="4000" dirty="0">
                <a:solidFill>
                  <a:srgbClr val="C00000"/>
                </a:solidFill>
              </a:rPr>
              <a:t>Portas Lógicas - </a:t>
            </a:r>
            <a:r>
              <a:rPr lang="pt-BR" sz="4000" dirty="0" err="1">
                <a:solidFill>
                  <a:srgbClr val="C00000"/>
                </a:solidFill>
              </a:rPr>
              <a:t>And</a:t>
            </a:r>
            <a:endParaRPr lang="pt-BR" sz="4000" dirty="0">
              <a:solidFill>
                <a:srgbClr val="C00000"/>
              </a:solidFill>
            </a:endParaRPr>
          </a:p>
        </p:txBody>
      </p:sp>
      <p:pic>
        <p:nvPicPr>
          <p:cNvPr id="8" name="Picture 14" descr="https://encrypted-tbn3.gstatic.com/images?q=tbn:ANd9GcSTT9hB4C6uDhPnHuFGStflSkVy-vqD__r9IdfQHez91DYRk1QWOw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919686" y="29028"/>
            <a:ext cx="2209800" cy="1447800"/>
          </a:xfrm>
          <a:prstGeom prst="rect">
            <a:avLst/>
          </a:prstGeom>
          <a:noFill/>
        </p:spPr>
      </p:pic>
      <p:sp>
        <p:nvSpPr>
          <p:cNvPr id="22" name="Retângulo 21"/>
          <p:cNvSpPr/>
          <p:nvPr/>
        </p:nvSpPr>
        <p:spPr>
          <a:xfrm>
            <a:off x="771671" y="4489846"/>
            <a:ext cx="3502523" cy="183475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Retângulo 1"/>
          <p:cNvSpPr/>
          <p:nvPr/>
        </p:nvSpPr>
        <p:spPr>
          <a:xfrm>
            <a:off x="564565" y="5155037"/>
            <a:ext cx="381000" cy="5043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" name="Conector reto 3"/>
          <p:cNvCxnSpPr/>
          <p:nvPr/>
        </p:nvCxnSpPr>
        <p:spPr>
          <a:xfrm>
            <a:off x="187315" y="5664851"/>
            <a:ext cx="1143045" cy="0"/>
          </a:xfrm>
          <a:prstGeom prst="line">
            <a:avLst/>
          </a:prstGeom>
          <a:ln w="349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/>
          <p:cNvCxnSpPr/>
          <p:nvPr/>
        </p:nvCxnSpPr>
        <p:spPr>
          <a:xfrm>
            <a:off x="573128" y="5145739"/>
            <a:ext cx="418199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ixaDeTexto 13"/>
          <p:cNvSpPr txBox="1"/>
          <p:nvPr/>
        </p:nvSpPr>
        <p:spPr>
          <a:xfrm>
            <a:off x="110595" y="4754183"/>
            <a:ext cx="4539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/>
              <a:t>+</a:t>
            </a:r>
          </a:p>
        </p:txBody>
      </p:sp>
      <p:sp>
        <p:nvSpPr>
          <p:cNvPr id="34" name="CaixaDeTexto 33"/>
          <p:cNvSpPr txBox="1"/>
          <p:nvPr/>
        </p:nvSpPr>
        <p:spPr>
          <a:xfrm>
            <a:off x="169408" y="5283851"/>
            <a:ext cx="4411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/>
              <a:t>_</a:t>
            </a:r>
          </a:p>
        </p:txBody>
      </p:sp>
      <p:sp>
        <p:nvSpPr>
          <p:cNvPr id="19" name="Seta em Curva para a Esquerda 18"/>
          <p:cNvSpPr/>
          <p:nvPr/>
        </p:nvSpPr>
        <p:spPr>
          <a:xfrm rot="10800000">
            <a:off x="83195" y="4489845"/>
            <a:ext cx="274264" cy="1834751"/>
          </a:xfrm>
          <a:prstGeom prst="curvedLef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39" name="Retângulo 38"/>
          <p:cNvSpPr/>
          <p:nvPr/>
        </p:nvSpPr>
        <p:spPr>
          <a:xfrm>
            <a:off x="1066800" y="4419344"/>
            <a:ext cx="915654" cy="3168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cxnSp>
        <p:nvCxnSpPr>
          <p:cNvPr id="36" name="Conector de Seta Reta 35"/>
          <p:cNvCxnSpPr/>
          <p:nvPr/>
        </p:nvCxnSpPr>
        <p:spPr>
          <a:xfrm flipV="1">
            <a:off x="1066800" y="3993784"/>
            <a:ext cx="691593" cy="500065"/>
          </a:xfrm>
          <a:prstGeom prst="straightConnector1">
            <a:avLst/>
          </a:prstGeom>
          <a:ln w="317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ector de Seta Reta 48"/>
          <p:cNvCxnSpPr/>
          <p:nvPr/>
        </p:nvCxnSpPr>
        <p:spPr>
          <a:xfrm>
            <a:off x="1099628" y="4483526"/>
            <a:ext cx="882826" cy="0"/>
          </a:xfrm>
          <a:prstGeom prst="straightConnector1">
            <a:avLst/>
          </a:prstGeom>
          <a:ln w="317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Retângulo 51"/>
          <p:cNvSpPr/>
          <p:nvPr/>
        </p:nvSpPr>
        <p:spPr>
          <a:xfrm>
            <a:off x="4096201" y="5193363"/>
            <a:ext cx="381000" cy="4714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Fluxograma: Somador 40"/>
          <p:cNvSpPr/>
          <p:nvPr/>
        </p:nvSpPr>
        <p:spPr>
          <a:xfrm>
            <a:off x="4019552" y="5193363"/>
            <a:ext cx="515190" cy="460248"/>
          </a:xfrm>
          <a:prstGeom prst="flowChartSummingJunction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3" name="CaixaDeTexto 52"/>
          <p:cNvSpPr txBox="1"/>
          <p:nvPr/>
        </p:nvSpPr>
        <p:spPr>
          <a:xfrm>
            <a:off x="3733800" y="5788223"/>
            <a:ext cx="97013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/>
              <a:t>Lâmpada</a:t>
            </a:r>
          </a:p>
        </p:txBody>
      </p:sp>
      <p:sp>
        <p:nvSpPr>
          <p:cNvPr id="71" name="CaixaDeTexto 70"/>
          <p:cNvSpPr txBox="1"/>
          <p:nvPr/>
        </p:nvSpPr>
        <p:spPr>
          <a:xfrm>
            <a:off x="231639" y="5283851"/>
            <a:ext cx="6126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/>
              <a:t>Pilha</a:t>
            </a:r>
          </a:p>
        </p:txBody>
      </p:sp>
      <p:sp>
        <p:nvSpPr>
          <p:cNvPr id="72" name="CaixaDeTexto 71"/>
          <p:cNvSpPr txBox="1"/>
          <p:nvPr/>
        </p:nvSpPr>
        <p:spPr>
          <a:xfrm>
            <a:off x="228600" y="1524000"/>
            <a:ext cx="12763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400" b="1" dirty="0" err="1"/>
              <a:t>And</a:t>
            </a:r>
            <a:r>
              <a:rPr lang="pt-BR" sz="1400" b="1" dirty="0"/>
              <a:t> - Lógico</a:t>
            </a:r>
          </a:p>
        </p:txBody>
      </p:sp>
      <p:sp>
        <p:nvSpPr>
          <p:cNvPr id="37" name="Retângulo 36"/>
          <p:cNvSpPr/>
          <p:nvPr/>
        </p:nvSpPr>
        <p:spPr>
          <a:xfrm>
            <a:off x="2667000" y="4414584"/>
            <a:ext cx="828560" cy="20184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cxnSp>
        <p:nvCxnSpPr>
          <p:cNvPr id="38" name="Conector de Seta Reta 37"/>
          <p:cNvCxnSpPr/>
          <p:nvPr/>
        </p:nvCxnSpPr>
        <p:spPr>
          <a:xfrm flipV="1">
            <a:off x="2667000" y="4032645"/>
            <a:ext cx="718628" cy="456445"/>
          </a:xfrm>
          <a:prstGeom prst="straightConnector1">
            <a:avLst/>
          </a:prstGeom>
          <a:ln w="317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 de Seta Reta 39"/>
          <p:cNvCxnSpPr/>
          <p:nvPr/>
        </p:nvCxnSpPr>
        <p:spPr>
          <a:xfrm>
            <a:off x="2681288" y="4483526"/>
            <a:ext cx="806639" cy="0"/>
          </a:xfrm>
          <a:prstGeom prst="straightConnector1">
            <a:avLst/>
          </a:prstGeom>
          <a:ln w="317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CaixaDeTexto 41"/>
          <p:cNvSpPr txBox="1"/>
          <p:nvPr/>
        </p:nvSpPr>
        <p:spPr>
          <a:xfrm>
            <a:off x="1295400" y="4583668"/>
            <a:ext cx="53969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1" dirty="0">
                <a:solidFill>
                  <a:srgbClr val="C00000"/>
                </a:solidFill>
              </a:rPr>
              <a:t> A</a:t>
            </a:r>
          </a:p>
        </p:txBody>
      </p:sp>
      <p:sp>
        <p:nvSpPr>
          <p:cNvPr id="43" name="CaixaDeTexto 42"/>
          <p:cNvSpPr txBox="1"/>
          <p:nvPr/>
        </p:nvSpPr>
        <p:spPr>
          <a:xfrm>
            <a:off x="2979790" y="4583668"/>
            <a:ext cx="53969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1" dirty="0">
                <a:solidFill>
                  <a:srgbClr val="C00000"/>
                </a:solidFill>
              </a:rPr>
              <a:t>B</a:t>
            </a:r>
          </a:p>
        </p:txBody>
      </p:sp>
      <p:graphicFrame>
        <p:nvGraphicFramePr>
          <p:cNvPr id="11" name="Tabela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6657132"/>
              </p:ext>
            </p:extLst>
          </p:nvPr>
        </p:nvGraphicFramePr>
        <p:xfrm>
          <a:off x="228600" y="1958777"/>
          <a:ext cx="1143045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1015">
                  <a:extLst>
                    <a:ext uri="{9D8B030D-6E8A-4147-A177-3AD203B41FA5}">
                      <a16:colId xmlns:a16="http://schemas.microsoft.com/office/drawing/2014/main" val="3862100276"/>
                    </a:ext>
                  </a:extLst>
                </a:gridCol>
                <a:gridCol w="381015">
                  <a:extLst>
                    <a:ext uri="{9D8B030D-6E8A-4147-A177-3AD203B41FA5}">
                      <a16:colId xmlns:a16="http://schemas.microsoft.com/office/drawing/2014/main" val="297598874"/>
                    </a:ext>
                  </a:extLst>
                </a:gridCol>
                <a:gridCol w="381015">
                  <a:extLst>
                    <a:ext uri="{9D8B030D-6E8A-4147-A177-3AD203B41FA5}">
                      <a16:colId xmlns:a16="http://schemas.microsoft.com/office/drawing/2014/main" val="3475204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30830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74561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35228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90207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2436208"/>
                  </a:ext>
                </a:extLst>
              </a:tr>
            </a:tbl>
          </a:graphicData>
        </a:graphic>
      </p:graphicFrame>
      <p:cxnSp>
        <p:nvCxnSpPr>
          <p:cNvPr id="48" name="Conector de seta reta 24"/>
          <p:cNvCxnSpPr/>
          <p:nvPr/>
        </p:nvCxnSpPr>
        <p:spPr>
          <a:xfrm>
            <a:off x="1828800" y="4032645"/>
            <a:ext cx="3852" cy="424405"/>
          </a:xfrm>
          <a:prstGeom prst="straightConnector1">
            <a:avLst/>
          </a:prstGeom>
          <a:ln w="22225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CaixaDeTexto 49"/>
          <p:cNvSpPr txBox="1"/>
          <p:nvPr/>
        </p:nvSpPr>
        <p:spPr>
          <a:xfrm>
            <a:off x="1524000" y="3714690"/>
            <a:ext cx="562975" cy="4001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sz="2000" b="1" dirty="0"/>
              <a:t>0</a:t>
            </a:r>
            <a:r>
              <a:rPr lang="pt-BR" sz="1200" b="1" dirty="0">
                <a:sym typeface="Wingdings" panose="05000000000000000000" pitchFamily="2" charset="2"/>
              </a:rPr>
              <a:t></a:t>
            </a:r>
            <a:r>
              <a:rPr lang="pt-BR" sz="2000" b="1" dirty="0"/>
              <a:t>f</a:t>
            </a:r>
          </a:p>
        </p:txBody>
      </p:sp>
      <p:sp>
        <p:nvSpPr>
          <p:cNvPr id="54" name="CaixaDeTexto 53"/>
          <p:cNvSpPr txBox="1"/>
          <p:nvPr/>
        </p:nvSpPr>
        <p:spPr>
          <a:xfrm>
            <a:off x="1524000" y="4812268"/>
            <a:ext cx="591829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sz="1800" b="1" dirty="0"/>
              <a:t>1</a:t>
            </a:r>
            <a:r>
              <a:rPr lang="pt-BR" sz="1200" b="1" dirty="0">
                <a:sym typeface="Wingdings" panose="05000000000000000000" pitchFamily="2" charset="2"/>
              </a:rPr>
              <a:t></a:t>
            </a:r>
            <a:r>
              <a:rPr lang="pt-BR" sz="1800" b="1" dirty="0"/>
              <a:t>v</a:t>
            </a:r>
          </a:p>
        </p:txBody>
      </p:sp>
      <p:cxnSp>
        <p:nvCxnSpPr>
          <p:cNvPr id="59" name="Conector de seta reta 24"/>
          <p:cNvCxnSpPr/>
          <p:nvPr/>
        </p:nvCxnSpPr>
        <p:spPr>
          <a:xfrm>
            <a:off x="3413029" y="4046933"/>
            <a:ext cx="19823" cy="422265"/>
          </a:xfrm>
          <a:prstGeom prst="straightConnector1">
            <a:avLst/>
          </a:prstGeom>
          <a:ln w="22225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CaixaDeTexto 59"/>
          <p:cNvSpPr txBox="1"/>
          <p:nvPr/>
        </p:nvSpPr>
        <p:spPr>
          <a:xfrm>
            <a:off x="3206440" y="3505200"/>
            <a:ext cx="562975" cy="4001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sz="2000" b="1" dirty="0"/>
              <a:t>0</a:t>
            </a:r>
            <a:r>
              <a:rPr lang="pt-BR" sz="1200" b="1" dirty="0">
                <a:sym typeface="Wingdings" panose="05000000000000000000" pitchFamily="2" charset="2"/>
              </a:rPr>
              <a:t></a:t>
            </a:r>
            <a:r>
              <a:rPr lang="pt-BR" sz="2000" b="1" dirty="0"/>
              <a:t>f</a:t>
            </a:r>
          </a:p>
        </p:txBody>
      </p:sp>
      <p:sp>
        <p:nvSpPr>
          <p:cNvPr id="61" name="CaixaDeTexto 60"/>
          <p:cNvSpPr txBox="1"/>
          <p:nvPr/>
        </p:nvSpPr>
        <p:spPr>
          <a:xfrm>
            <a:off x="3308659" y="4705352"/>
            <a:ext cx="591829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sz="1800" b="1" dirty="0"/>
              <a:t>1</a:t>
            </a:r>
            <a:r>
              <a:rPr lang="pt-BR" sz="1200" b="1" dirty="0">
                <a:sym typeface="Wingdings" panose="05000000000000000000" pitchFamily="2" charset="2"/>
              </a:rPr>
              <a:t></a:t>
            </a:r>
            <a:r>
              <a:rPr lang="pt-BR" sz="1800" b="1" dirty="0"/>
              <a:t>v</a:t>
            </a:r>
          </a:p>
        </p:txBody>
      </p:sp>
      <p:cxnSp>
        <p:nvCxnSpPr>
          <p:cNvPr id="74" name="Conector reto 73"/>
          <p:cNvCxnSpPr/>
          <p:nvPr/>
        </p:nvCxnSpPr>
        <p:spPr>
          <a:xfrm flipV="1">
            <a:off x="6469656" y="3988222"/>
            <a:ext cx="2184100" cy="11122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Retângulo 74"/>
          <p:cNvSpPr/>
          <p:nvPr/>
        </p:nvSpPr>
        <p:spPr>
          <a:xfrm>
            <a:off x="6469656" y="2514600"/>
            <a:ext cx="2184100" cy="3352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6" name="Retângulo 75"/>
          <p:cNvSpPr/>
          <p:nvPr/>
        </p:nvSpPr>
        <p:spPr>
          <a:xfrm>
            <a:off x="6244703" y="4697837"/>
            <a:ext cx="381000" cy="5043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77" name="Conector reto 76"/>
          <p:cNvCxnSpPr/>
          <p:nvPr/>
        </p:nvCxnSpPr>
        <p:spPr>
          <a:xfrm>
            <a:off x="5881741" y="5207651"/>
            <a:ext cx="1143045" cy="0"/>
          </a:xfrm>
          <a:prstGeom prst="line">
            <a:avLst/>
          </a:prstGeom>
          <a:ln w="349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nector reto 77"/>
          <p:cNvCxnSpPr/>
          <p:nvPr/>
        </p:nvCxnSpPr>
        <p:spPr>
          <a:xfrm>
            <a:off x="6238880" y="4688539"/>
            <a:ext cx="418199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CaixaDeTexto 78"/>
          <p:cNvSpPr txBox="1"/>
          <p:nvPr/>
        </p:nvSpPr>
        <p:spPr>
          <a:xfrm>
            <a:off x="5790733" y="4296983"/>
            <a:ext cx="4539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/>
              <a:t>+</a:t>
            </a:r>
          </a:p>
        </p:txBody>
      </p:sp>
      <p:sp>
        <p:nvSpPr>
          <p:cNvPr id="80" name="CaixaDeTexto 79"/>
          <p:cNvSpPr txBox="1"/>
          <p:nvPr/>
        </p:nvSpPr>
        <p:spPr>
          <a:xfrm>
            <a:off x="5849546" y="4826651"/>
            <a:ext cx="4411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/>
              <a:t>_</a:t>
            </a:r>
          </a:p>
        </p:txBody>
      </p:sp>
      <p:sp>
        <p:nvSpPr>
          <p:cNvPr id="81" name="Seta em Curva para a Esquerda 80"/>
          <p:cNvSpPr/>
          <p:nvPr/>
        </p:nvSpPr>
        <p:spPr>
          <a:xfrm rot="10800000">
            <a:off x="5763333" y="4032645"/>
            <a:ext cx="274264" cy="1834751"/>
          </a:xfrm>
          <a:prstGeom prst="curvedLef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82" name="Retângulo 81"/>
          <p:cNvSpPr/>
          <p:nvPr/>
        </p:nvSpPr>
        <p:spPr>
          <a:xfrm>
            <a:off x="6901466" y="3886200"/>
            <a:ext cx="1066800" cy="2767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cxnSp>
        <p:nvCxnSpPr>
          <p:cNvPr id="83" name="Conector de Seta Reta 82"/>
          <p:cNvCxnSpPr/>
          <p:nvPr/>
        </p:nvCxnSpPr>
        <p:spPr>
          <a:xfrm flipV="1">
            <a:off x="6915754" y="3340747"/>
            <a:ext cx="852714" cy="653037"/>
          </a:xfrm>
          <a:prstGeom prst="straightConnector1">
            <a:avLst/>
          </a:prstGeom>
          <a:ln w="317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Conector de Seta Reta 83"/>
          <p:cNvCxnSpPr/>
          <p:nvPr/>
        </p:nvCxnSpPr>
        <p:spPr>
          <a:xfrm>
            <a:off x="6901466" y="3988222"/>
            <a:ext cx="1066800" cy="0"/>
          </a:xfrm>
          <a:prstGeom prst="straightConnector1">
            <a:avLst/>
          </a:prstGeom>
          <a:ln w="317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Retângulo 84"/>
          <p:cNvSpPr/>
          <p:nvPr/>
        </p:nvSpPr>
        <p:spPr>
          <a:xfrm>
            <a:off x="8491985" y="4736163"/>
            <a:ext cx="381000" cy="4714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6" name="Fluxograma: Somador 85"/>
          <p:cNvSpPr/>
          <p:nvPr/>
        </p:nvSpPr>
        <p:spPr>
          <a:xfrm>
            <a:off x="8415336" y="4736163"/>
            <a:ext cx="515190" cy="460248"/>
          </a:xfrm>
          <a:prstGeom prst="flowChartSummingJunction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7" name="CaixaDeTexto 86"/>
          <p:cNvSpPr txBox="1"/>
          <p:nvPr/>
        </p:nvSpPr>
        <p:spPr>
          <a:xfrm>
            <a:off x="8215312" y="5296650"/>
            <a:ext cx="97013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/>
              <a:t>Lâmpada</a:t>
            </a:r>
          </a:p>
        </p:txBody>
      </p:sp>
      <p:sp>
        <p:nvSpPr>
          <p:cNvPr id="88" name="CaixaDeTexto 87"/>
          <p:cNvSpPr txBox="1"/>
          <p:nvPr/>
        </p:nvSpPr>
        <p:spPr>
          <a:xfrm>
            <a:off x="5911777" y="4826651"/>
            <a:ext cx="6126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/>
              <a:t>Pilha</a:t>
            </a:r>
          </a:p>
        </p:txBody>
      </p:sp>
      <p:sp>
        <p:nvSpPr>
          <p:cNvPr id="89" name="Retângulo 88"/>
          <p:cNvSpPr/>
          <p:nvPr/>
        </p:nvSpPr>
        <p:spPr>
          <a:xfrm>
            <a:off x="6977666" y="2447672"/>
            <a:ext cx="1066800" cy="2767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cxnSp>
        <p:nvCxnSpPr>
          <p:cNvPr id="90" name="Conector de Seta Reta 89"/>
          <p:cNvCxnSpPr/>
          <p:nvPr/>
        </p:nvCxnSpPr>
        <p:spPr>
          <a:xfrm flipV="1">
            <a:off x="6977666" y="1854851"/>
            <a:ext cx="852714" cy="653037"/>
          </a:xfrm>
          <a:prstGeom prst="straightConnector1">
            <a:avLst/>
          </a:prstGeom>
          <a:ln w="317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ector de Seta Reta 90"/>
          <p:cNvCxnSpPr/>
          <p:nvPr/>
        </p:nvCxnSpPr>
        <p:spPr>
          <a:xfrm>
            <a:off x="6991954" y="2516614"/>
            <a:ext cx="1066800" cy="0"/>
          </a:xfrm>
          <a:prstGeom prst="straightConnector1">
            <a:avLst/>
          </a:prstGeom>
          <a:ln w="317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CaixaDeTexto 91"/>
          <p:cNvSpPr txBox="1"/>
          <p:nvPr/>
        </p:nvSpPr>
        <p:spPr>
          <a:xfrm>
            <a:off x="7282466" y="4157246"/>
            <a:ext cx="53969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1" dirty="0">
                <a:solidFill>
                  <a:srgbClr val="C00000"/>
                </a:solidFill>
              </a:rPr>
              <a:t> A</a:t>
            </a:r>
          </a:p>
        </p:txBody>
      </p:sp>
      <p:sp>
        <p:nvSpPr>
          <p:cNvPr id="93" name="CaixaDeTexto 92"/>
          <p:cNvSpPr txBox="1"/>
          <p:nvPr/>
        </p:nvSpPr>
        <p:spPr>
          <a:xfrm>
            <a:off x="7290456" y="2633246"/>
            <a:ext cx="53969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1" dirty="0">
                <a:solidFill>
                  <a:srgbClr val="C00000"/>
                </a:solidFill>
              </a:rPr>
              <a:t>B</a:t>
            </a:r>
          </a:p>
        </p:txBody>
      </p:sp>
      <p:cxnSp>
        <p:nvCxnSpPr>
          <p:cNvPr id="94" name="Conector de seta reta 24"/>
          <p:cNvCxnSpPr/>
          <p:nvPr/>
        </p:nvCxnSpPr>
        <p:spPr>
          <a:xfrm>
            <a:off x="7852634" y="3437874"/>
            <a:ext cx="3852" cy="533400"/>
          </a:xfrm>
          <a:prstGeom prst="straightConnector1">
            <a:avLst/>
          </a:prstGeom>
          <a:ln w="22225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CaixaDeTexto 94"/>
          <p:cNvSpPr txBox="1"/>
          <p:nvPr/>
        </p:nvSpPr>
        <p:spPr>
          <a:xfrm>
            <a:off x="7587266" y="3021564"/>
            <a:ext cx="562975" cy="4001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sz="2000" b="1" dirty="0"/>
              <a:t>0</a:t>
            </a:r>
            <a:r>
              <a:rPr lang="pt-BR" sz="1200" b="1" dirty="0">
                <a:sym typeface="Wingdings" panose="05000000000000000000" pitchFamily="2" charset="2"/>
              </a:rPr>
              <a:t></a:t>
            </a:r>
            <a:r>
              <a:rPr lang="pt-BR" sz="2000" b="1" dirty="0"/>
              <a:t>f</a:t>
            </a:r>
          </a:p>
        </p:txBody>
      </p:sp>
      <p:sp>
        <p:nvSpPr>
          <p:cNvPr id="96" name="CaixaDeTexto 95"/>
          <p:cNvSpPr txBox="1"/>
          <p:nvPr/>
        </p:nvSpPr>
        <p:spPr>
          <a:xfrm>
            <a:off x="7606291" y="4221716"/>
            <a:ext cx="591829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sz="1800" b="1" dirty="0"/>
              <a:t>1</a:t>
            </a:r>
            <a:r>
              <a:rPr lang="pt-BR" sz="1200" b="1" dirty="0">
                <a:sym typeface="Wingdings" panose="05000000000000000000" pitchFamily="2" charset="2"/>
              </a:rPr>
              <a:t></a:t>
            </a:r>
            <a:r>
              <a:rPr lang="pt-BR" sz="1800" b="1" dirty="0"/>
              <a:t>v</a:t>
            </a:r>
          </a:p>
        </p:txBody>
      </p:sp>
      <p:cxnSp>
        <p:nvCxnSpPr>
          <p:cNvPr id="97" name="Conector de seta reta 24"/>
          <p:cNvCxnSpPr/>
          <p:nvPr/>
        </p:nvCxnSpPr>
        <p:spPr>
          <a:xfrm>
            <a:off x="7865668" y="1940310"/>
            <a:ext cx="3852" cy="533400"/>
          </a:xfrm>
          <a:prstGeom prst="straightConnector1">
            <a:avLst/>
          </a:prstGeom>
          <a:ln w="22225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CaixaDeTexto 97"/>
          <p:cNvSpPr txBox="1"/>
          <p:nvPr/>
        </p:nvSpPr>
        <p:spPr>
          <a:xfrm>
            <a:off x="7600300" y="1524000"/>
            <a:ext cx="562975" cy="4001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sz="2000" b="1" dirty="0"/>
              <a:t>0</a:t>
            </a:r>
            <a:r>
              <a:rPr lang="pt-BR" sz="1200" b="1" dirty="0">
                <a:sym typeface="Wingdings" panose="05000000000000000000" pitchFamily="2" charset="2"/>
              </a:rPr>
              <a:t></a:t>
            </a:r>
            <a:r>
              <a:rPr lang="pt-BR" sz="2000" b="1" dirty="0"/>
              <a:t>f</a:t>
            </a:r>
          </a:p>
        </p:txBody>
      </p:sp>
      <p:sp>
        <p:nvSpPr>
          <p:cNvPr id="99" name="CaixaDeTexto 98"/>
          <p:cNvSpPr txBox="1"/>
          <p:nvPr/>
        </p:nvSpPr>
        <p:spPr>
          <a:xfrm>
            <a:off x="7619325" y="2724152"/>
            <a:ext cx="591829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sz="1800" b="1" dirty="0"/>
              <a:t>1</a:t>
            </a:r>
            <a:r>
              <a:rPr lang="pt-BR" sz="1200" b="1" dirty="0">
                <a:sym typeface="Wingdings" panose="05000000000000000000" pitchFamily="2" charset="2"/>
              </a:rPr>
              <a:t></a:t>
            </a:r>
            <a:r>
              <a:rPr lang="pt-BR" sz="1800" b="1" dirty="0"/>
              <a:t>v</a:t>
            </a:r>
          </a:p>
        </p:txBody>
      </p:sp>
      <p:pic>
        <p:nvPicPr>
          <p:cNvPr id="100" name="Imagem 9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4495800"/>
            <a:ext cx="972422" cy="148116"/>
          </a:xfrm>
          <a:prstGeom prst="rect">
            <a:avLst/>
          </a:prstGeom>
        </p:spPr>
      </p:pic>
      <p:pic>
        <p:nvPicPr>
          <p:cNvPr id="101" name="Imagem 10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8978" y="4495800"/>
            <a:ext cx="972422" cy="148116"/>
          </a:xfrm>
          <a:prstGeom prst="rect">
            <a:avLst/>
          </a:prstGeom>
        </p:spPr>
      </p:pic>
      <p:pic>
        <p:nvPicPr>
          <p:cNvPr id="102" name="Imagem 10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4200" y="4038600"/>
            <a:ext cx="972422" cy="148116"/>
          </a:xfrm>
          <a:prstGeom prst="rect">
            <a:avLst/>
          </a:prstGeom>
        </p:spPr>
      </p:pic>
      <p:pic>
        <p:nvPicPr>
          <p:cNvPr id="103" name="Imagem 10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0498" y="2552651"/>
            <a:ext cx="972422" cy="148116"/>
          </a:xfrm>
          <a:prstGeom prst="rect">
            <a:avLst/>
          </a:prstGeom>
        </p:spPr>
      </p:pic>
      <p:cxnSp>
        <p:nvCxnSpPr>
          <p:cNvPr id="29" name="Conector reto 28"/>
          <p:cNvCxnSpPr/>
          <p:nvPr/>
        </p:nvCxnSpPr>
        <p:spPr>
          <a:xfrm>
            <a:off x="4629291" y="1529945"/>
            <a:ext cx="71126" cy="486515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CaixaDeTexto 103"/>
          <p:cNvSpPr txBox="1"/>
          <p:nvPr/>
        </p:nvSpPr>
        <p:spPr>
          <a:xfrm>
            <a:off x="4927891" y="1524000"/>
            <a:ext cx="113845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400" b="1" dirty="0" err="1"/>
              <a:t>Or</a:t>
            </a:r>
            <a:r>
              <a:rPr lang="pt-BR" sz="1400" b="1" dirty="0"/>
              <a:t> - Lógico</a:t>
            </a:r>
          </a:p>
        </p:txBody>
      </p:sp>
      <p:graphicFrame>
        <p:nvGraphicFramePr>
          <p:cNvPr id="105" name="Tabela 1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4423146"/>
              </p:ext>
            </p:extLst>
          </p:nvPr>
        </p:nvGraphicFramePr>
        <p:xfrm>
          <a:off x="4904031" y="1958777"/>
          <a:ext cx="1143045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1015">
                  <a:extLst>
                    <a:ext uri="{9D8B030D-6E8A-4147-A177-3AD203B41FA5}">
                      <a16:colId xmlns:a16="http://schemas.microsoft.com/office/drawing/2014/main" val="3862100276"/>
                    </a:ext>
                  </a:extLst>
                </a:gridCol>
                <a:gridCol w="381015">
                  <a:extLst>
                    <a:ext uri="{9D8B030D-6E8A-4147-A177-3AD203B41FA5}">
                      <a16:colId xmlns:a16="http://schemas.microsoft.com/office/drawing/2014/main" val="297598874"/>
                    </a:ext>
                  </a:extLst>
                </a:gridCol>
                <a:gridCol w="381015">
                  <a:extLst>
                    <a:ext uri="{9D8B030D-6E8A-4147-A177-3AD203B41FA5}">
                      <a16:colId xmlns:a16="http://schemas.microsoft.com/office/drawing/2014/main" val="3475204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30830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74561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35228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90207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24362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92626471"/>
      </p:ext>
    </p:extLst>
  </p:cSld>
  <p:clrMapOvr>
    <a:masterClrMapping/>
  </p:clrMapOvr>
  <p:transition>
    <p:fade thruBlk="1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010400" cy="1143000"/>
          </a:xfrm>
        </p:spPr>
        <p:txBody>
          <a:bodyPr/>
          <a:lstStyle/>
          <a:p>
            <a:r>
              <a:rPr lang="pt-BR" sz="3600" dirty="0">
                <a:solidFill>
                  <a:srgbClr val="C00000"/>
                </a:solidFill>
              </a:rPr>
              <a:t>Código Hexadecimal</a:t>
            </a:r>
          </a:p>
        </p:txBody>
      </p:sp>
      <p:pic>
        <p:nvPicPr>
          <p:cNvPr id="8" name="Picture 14" descr="https://encrypted-tbn3.gstatic.com/images?q=tbn:ANd9GcSTT9hB4C6uDhPnHuFGStflSkVy-vqD__r9IdfQHez91DYRk1QWOw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919686" y="29028"/>
            <a:ext cx="2209800" cy="1447800"/>
          </a:xfrm>
          <a:prstGeom prst="rect">
            <a:avLst/>
          </a:prstGeom>
          <a:noFill/>
        </p:spPr>
      </p:pic>
      <p:sp>
        <p:nvSpPr>
          <p:cNvPr id="9" name="Retângulo 8"/>
          <p:cNvSpPr/>
          <p:nvPr/>
        </p:nvSpPr>
        <p:spPr>
          <a:xfrm>
            <a:off x="152400" y="2819400"/>
            <a:ext cx="8686800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CaixaDeTexto 9"/>
          <p:cNvSpPr txBox="1"/>
          <p:nvPr/>
        </p:nvSpPr>
        <p:spPr>
          <a:xfrm>
            <a:off x="97178" y="2060377"/>
            <a:ext cx="31032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/>
              <a:t>0 1 2 3 4 5 6 7 8 9 </a:t>
            </a:r>
            <a:r>
              <a:rPr lang="pt-BR" sz="1400" b="1" dirty="0">
                <a:solidFill>
                  <a:srgbClr val="C00000"/>
                </a:solidFill>
              </a:rPr>
              <a:t>10 11 12 13 14 15</a:t>
            </a:r>
          </a:p>
        </p:txBody>
      </p:sp>
      <p:cxnSp>
        <p:nvCxnSpPr>
          <p:cNvPr id="18" name="Conector de seta reta 17"/>
          <p:cNvCxnSpPr/>
          <p:nvPr/>
        </p:nvCxnSpPr>
        <p:spPr>
          <a:xfrm>
            <a:off x="97178" y="1984177"/>
            <a:ext cx="1524000" cy="1588"/>
          </a:xfrm>
          <a:prstGeom prst="straightConnector1">
            <a:avLst/>
          </a:prstGeom>
          <a:ln w="22225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aixaDeTexto 19"/>
          <p:cNvSpPr txBox="1"/>
          <p:nvPr/>
        </p:nvSpPr>
        <p:spPr>
          <a:xfrm>
            <a:off x="401978" y="1600200"/>
            <a:ext cx="8723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/>
              <a:t>Decimal</a:t>
            </a:r>
          </a:p>
        </p:txBody>
      </p:sp>
      <p:cxnSp>
        <p:nvCxnSpPr>
          <p:cNvPr id="21" name="Conector de seta reta 20"/>
          <p:cNvCxnSpPr/>
          <p:nvPr/>
        </p:nvCxnSpPr>
        <p:spPr>
          <a:xfrm>
            <a:off x="97178" y="2436812"/>
            <a:ext cx="2971800" cy="1588"/>
          </a:xfrm>
          <a:prstGeom prst="straightConnector1">
            <a:avLst/>
          </a:prstGeom>
          <a:ln w="22225">
            <a:solidFill>
              <a:srgbClr val="C0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CaixaDeTexto 22"/>
          <p:cNvSpPr txBox="1"/>
          <p:nvPr/>
        </p:nvSpPr>
        <p:spPr>
          <a:xfrm>
            <a:off x="1600200" y="2514600"/>
            <a:ext cx="12795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>
                <a:solidFill>
                  <a:srgbClr val="C00000"/>
                </a:solidFill>
              </a:rPr>
              <a:t>Hexadecimal</a:t>
            </a:r>
          </a:p>
        </p:txBody>
      </p:sp>
      <p:cxnSp>
        <p:nvCxnSpPr>
          <p:cNvPr id="24" name="Conector de seta reta 23"/>
          <p:cNvCxnSpPr/>
          <p:nvPr/>
        </p:nvCxnSpPr>
        <p:spPr>
          <a:xfrm>
            <a:off x="97178" y="2589212"/>
            <a:ext cx="1524000" cy="1588"/>
          </a:xfrm>
          <a:prstGeom prst="straightConnector1">
            <a:avLst/>
          </a:prstGeom>
          <a:ln w="22225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de seta reta 24"/>
          <p:cNvCxnSpPr/>
          <p:nvPr/>
        </p:nvCxnSpPr>
        <p:spPr>
          <a:xfrm rot="5400000">
            <a:off x="3695303" y="3085703"/>
            <a:ext cx="1447800" cy="794"/>
          </a:xfrm>
          <a:prstGeom prst="straightConnector1">
            <a:avLst/>
          </a:prstGeom>
          <a:ln w="22225"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CaixaDeTexto 26"/>
          <p:cNvSpPr txBox="1"/>
          <p:nvPr/>
        </p:nvSpPr>
        <p:spPr>
          <a:xfrm>
            <a:off x="4087687" y="1902023"/>
            <a:ext cx="63671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/>
              <a:t>+ 127</a:t>
            </a:r>
          </a:p>
        </p:txBody>
      </p:sp>
      <p:sp>
        <p:nvSpPr>
          <p:cNvPr id="28" name="CaixaDeTexto 27"/>
          <p:cNvSpPr txBox="1"/>
          <p:nvPr/>
        </p:nvSpPr>
        <p:spPr>
          <a:xfrm>
            <a:off x="4114800" y="3886200"/>
            <a:ext cx="5918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/>
              <a:t>- 127</a:t>
            </a:r>
          </a:p>
        </p:txBody>
      </p:sp>
      <p:sp>
        <p:nvSpPr>
          <p:cNvPr id="29" name="CaixaDeTexto 28"/>
          <p:cNvSpPr txBox="1"/>
          <p:nvPr/>
        </p:nvSpPr>
        <p:spPr>
          <a:xfrm>
            <a:off x="8458200" y="3581400"/>
            <a:ext cx="4828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/>
              <a:t>255</a:t>
            </a:r>
          </a:p>
        </p:txBody>
      </p:sp>
      <p:sp>
        <p:nvSpPr>
          <p:cNvPr id="30" name="CaixaDeTexto 29"/>
          <p:cNvSpPr txBox="1"/>
          <p:nvPr/>
        </p:nvSpPr>
        <p:spPr>
          <a:xfrm>
            <a:off x="0" y="3807023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/>
              <a:t>0</a:t>
            </a:r>
          </a:p>
        </p:txBody>
      </p:sp>
      <p:sp>
        <p:nvSpPr>
          <p:cNvPr id="31" name="CaixaDeTexto 30"/>
          <p:cNvSpPr txBox="1"/>
          <p:nvPr/>
        </p:nvSpPr>
        <p:spPr>
          <a:xfrm>
            <a:off x="5994176" y="2133600"/>
            <a:ext cx="7409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>
                <a:solidFill>
                  <a:srgbClr val="003399"/>
                </a:solidFill>
              </a:rPr>
              <a:t>outros</a:t>
            </a:r>
          </a:p>
        </p:txBody>
      </p:sp>
      <p:graphicFrame>
        <p:nvGraphicFramePr>
          <p:cNvPr id="45" name="Tabela 44"/>
          <p:cNvGraphicFramePr>
            <a:graphicFrameLocks noGrp="1"/>
          </p:cNvGraphicFramePr>
          <p:nvPr/>
        </p:nvGraphicFramePr>
        <p:xfrm>
          <a:off x="990600" y="4876800"/>
          <a:ext cx="609600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6" name="CaixaDeTexto 45"/>
          <p:cNvSpPr txBox="1"/>
          <p:nvPr/>
        </p:nvSpPr>
        <p:spPr>
          <a:xfrm>
            <a:off x="1066800" y="4343400"/>
            <a:ext cx="598914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b="1" dirty="0"/>
              <a:t>0     0      0    0    0      0     0     0</a:t>
            </a:r>
            <a:endParaRPr lang="pt-BR" sz="3200" b="1" dirty="0">
              <a:solidFill>
                <a:srgbClr val="C00000"/>
              </a:solidFill>
            </a:endParaRPr>
          </a:p>
        </p:txBody>
      </p:sp>
      <p:sp>
        <p:nvSpPr>
          <p:cNvPr id="47" name="CaixaDeTexto 46"/>
          <p:cNvSpPr txBox="1"/>
          <p:nvPr/>
        </p:nvSpPr>
        <p:spPr>
          <a:xfrm>
            <a:off x="1097460" y="5282625"/>
            <a:ext cx="598914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b="1" dirty="0"/>
              <a:t>1     1      1    1    1      1     1     1</a:t>
            </a:r>
            <a:endParaRPr lang="pt-BR" sz="3200" b="1" dirty="0">
              <a:solidFill>
                <a:srgbClr val="C00000"/>
              </a:solidFill>
            </a:endParaRPr>
          </a:p>
        </p:txBody>
      </p:sp>
      <p:sp>
        <p:nvSpPr>
          <p:cNvPr id="48" name="CaixaDeTexto 47"/>
          <p:cNvSpPr txBox="1"/>
          <p:nvPr/>
        </p:nvSpPr>
        <p:spPr>
          <a:xfrm>
            <a:off x="7564892" y="4035623"/>
            <a:ext cx="721672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>
                <a:solidFill>
                  <a:srgbClr val="003399"/>
                </a:solidFill>
              </a:rPr>
              <a:t>1 Byte</a:t>
            </a:r>
          </a:p>
          <a:p>
            <a:endParaRPr lang="pt-BR" sz="1400" b="1" dirty="0">
              <a:solidFill>
                <a:srgbClr val="003399"/>
              </a:solidFill>
            </a:endParaRPr>
          </a:p>
          <a:p>
            <a:endParaRPr lang="pt-BR" sz="1400" b="1" dirty="0">
              <a:solidFill>
                <a:srgbClr val="003399"/>
              </a:solidFill>
            </a:endParaRPr>
          </a:p>
          <a:p>
            <a:endParaRPr lang="pt-BR" sz="1400" b="1" dirty="0">
              <a:solidFill>
                <a:srgbClr val="003399"/>
              </a:solidFill>
            </a:endParaRPr>
          </a:p>
          <a:p>
            <a:r>
              <a:rPr lang="pt-BR" sz="1400" b="1" dirty="0">
                <a:solidFill>
                  <a:srgbClr val="003399"/>
                </a:solidFill>
              </a:rPr>
              <a:t>8 </a:t>
            </a:r>
            <a:r>
              <a:rPr lang="pt-BR" sz="1400" b="1" dirty="0" err="1">
                <a:solidFill>
                  <a:srgbClr val="003399"/>
                </a:solidFill>
              </a:rPr>
              <a:t>bit’s</a:t>
            </a:r>
            <a:endParaRPr lang="pt-BR" sz="1400" b="1" dirty="0">
              <a:solidFill>
                <a:srgbClr val="003399"/>
              </a:solidFill>
            </a:endParaRPr>
          </a:p>
        </p:txBody>
      </p:sp>
      <p:cxnSp>
        <p:nvCxnSpPr>
          <p:cNvPr id="50" name="Conector de seta reta 49"/>
          <p:cNvCxnSpPr/>
          <p:nvPr/>
        </p:nvCxnSpPr>
        <p:spPr>
          <a:xfrm rot="5400000">
            <a:off x="7696994" y="4647406"/>
            <a:ext cx="4572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4535768"/>
      </p:ext>
    </p:extLst>
  </p:cSld>
  <p:clrMapOvr>
    <a:masterClrMapping/>
  </p:clrMapOvr>
  <p:transition>
    <p:fade thruBlk="1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010400" cy="1143000"/>
          </a:xfrm>
        </p:spPr>
        <p:txBody>
          <a:bodyPr/>
          <a:lstStyle/>
          <a:p>
            <a:r>
              <a:rPr lang="pt-BR" dirty="0">
                <a:solidFill>
                  <a:srgbClr val="C00000"/>
                </a:solidFill>
              </a:rPr>
              <a:t>Tabela ASCII</a:t>
            </a:r>
          </a:p>
        </p:txBody>
      </p:sp>
      <p:pic>
        <p:nvPicPr>
          <p:cNvPr id="8" name="Picture 14" descr="https://encrypted-tbn3.gstatic.com/images?q=tbn:ANd9GcSTT9hB4C6uDhPnHuFGStflSkVy-vqD__r9IdfQHez91DYRk1QWOw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919686" y="29028"/>
            <a:ext cx="2209800" cy="1447800"/>
          </a:xfrm>
          <a:prstGeom prst="rect">
            <a:avLst/>
          </a:prstGeom>
          <a:noFill/>
        </p:spPr>
      </p:pic>
      <p:sp>
        <p:nvSpPr>
          <p:cNvPr id="9" name="Retângulo 8"/>
          <p:cNvSpPr/>
          <p:nvPr/>
        </p:nvSpPr>
        <p:spPr>
          <a:xfrm>
            <a:off x="152400" y="2819400"/>
            <a:ext cx="8686800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CaixaDeTexto 9"/>
          <p:cNvSpPr txBox="1"/>
          <p:nvPr/>
        </p:nvSpPr>
        <p:spPr>
          <a:xfrm>
            <a:off x="97178" y="2060377"/>
            <a:ext cx="31032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/>
              <a:t>0 1 2 3 4 5 6 7 8 9 </a:t>
            </a:r>
            <a:r>
              <a:rPr lang="pt-BR" sz="1400" b="1" dirty="0">
                <a:solidFill>
                  <a:srgbClr val="C00000"/>
                </a:solidFill>
              </a:rPr>
              <a:t>10 11 12 13 14 15</a:t>
            </a:r>
          </a:p>
        </p:txBody>
      </p:sp>
      <p:cxnSp>
        <p:nvCxnSpPr>
          <p:cNvPr id="18" name="Conector de seta reta 17"/>
          <p:cNvCxnSpPr/>
          <p:nvPr/>
        </p:nvCxnSpPr>
        <p:spPr>
          <a:xfrm>
            <a:off x="97178" y="1984177"/>
            <a:ext cx="1524000" cy="1588"/>
          </a:xfrm>
          <a:prstGeom prst="straightConnector1">
            <a:avLst/>
          </a:prstGeom>
          <a:ln w="22225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aixaDeTexto 19"/>
          <p:cNvSpPr txBox="1"/>
          <p:nvPr/>
        </p:nvSpPr>
        <p:spPr>
          <a:xfrm>
            <a:off x="401978" y="1600200"/>
            <a:ext cx="8723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/>
              <a:t>Decimal</a:t>
            </a:r>
          </a:p>
        </p:txBody>
      </p:sp>
      <p:cxnSp>
        <p:nvCxnSpPr>
          <p:cNvPr id="21" name="Conector de seta reta 20"/>
          <p:cNvCxnSpPr/>
          <p:nvPr/>
        </p:nvCxnSpPr>
        <p:spPr>
          <a:xfrm>
            <a:off x="97178" y="2436812"/>
            <a:ext cx="2971800" cy="1588"/>
          </a:xfrm>
          <a:prstGeom prst="straightConnector1">
            <a:avLst/>
          </a:prstGeom>
          <a:ln w="22225">
            <a:solidFill>
              <a:srgbClr val="C0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CaixaDeTexto 22"/>
          <p:cNvSpPr txBox="1"/>
          <p:nvPr/>
        </p:nvSpPr>
        <p:spPr>
          <a:xfrm>
            <a:off x="1600200" y="2514600"/>
            <a:ext cx="12795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>
                <a:solidFill>
                  <a:srgbClr val="C00000"/>
                </a:solidFill>
              </a:rPr>
              <a:t>Hexadecimal</a:t>
            </a:r>
          </a:p>
        </p:txBody>
      </p:sp>
      <p:cxnSp>
        <p:nvCxnSpPr>
          <p:cNvPr id="24" name="Conector de seta reta 23"/>
          <p:cNvCxnSpPr/>
          <p:nvPr/>
        </p:nvCxnSpPr>
        <p:spPr>
          <a:xfrm>
            <a:off x="97178" y="2589212"/>
            <a:ext cx="1524000" cy="1588"/>
          </a:xfrm>
          <a:prstGeom prst="straightConnector1">
            <a:avLst/>
          </a:prstGeom>
          <a:ln w="22225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de seta reta 24"/>
          <p:cNvCxnSpPr/>
          <p:nvPr/>
        </p:nvCxnSpPr>
        <p:spPr>
          <a:xfrm rot="5400000">
            <a:off x="3695303" y="3085703"/>
            <a:ext cx="1447800" cy="794"/>
          </a:xfrm>
          <a:prstGeom prst="straightConnector1">
            <a:avLst/>
          </a:prstGeom>
          <a:ln w="22225"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CaixaDeTexto 26"/>
          <p:cNvSpPr txBox="1"/>
          <p:nvPr/>
        </p:nvSpPr>
        <p:spPr>
          <a:xfrm>
            <a:off x="4087687" y="1902023"/>
            <a:ext cx="63671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/>
              <a:t>+ 127</a:t>
            </a:r>
          </a:p>
        </p:txBody>
      </p:sp>
      <p:sp>
        <p:nvSpPr>
          <p:cNvPr id="28" name="CaixaDeTexto 27"/>
          <p:cNvSpPr txBox="1"/>
          <p:nvPr/>
        </p:nvSpPr>
        <p:spPr>
          <a:xfrm>
            <a:off x="4114800" y="3886200"/>
            <a:ext cx="5918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/>
              <a:t>- 127</a:t>
            </a:r>
          </a:p>
        </p:txBody>
      </p:sp>
      <p:sp>
        <p:nvSpPr>
          <p:cNvPr id="29" name="CaixaDeTexto 28"/>
          <p:cNvSpPr txBox="1"/>
          <p:nvPr/>
        </p:nvSpPr>
        <p:spPr>
          <a:xfrm>
            <a:off x="8458200" y="3581400"/>
            <a:ext cx="4828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/>
              <a:t>255</a:t>
            </a:r>
          </a:p>
        </p:txBody>
      </p:sp>
      <p:sp>
        <p:nvSpPr>
          <p:cNvPr id="30" name="CaixaDeTexto 29"/>
          <p:cNvSpPr txBox="1"/>
          <p:nvPr/>
        </p:nvSpPr>
        <p:spPr>
          <a:xfrm>
            <a:off x="0" y="3807023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/>
              <a:t>0</a:t>
            </a:r>
          </a:p>
        </p:txBody>
      </p:sp>
      <p:sp>
        <p:nvSpPr>
          <p:cNvPr id="31" name="CaixaDeTexto 30"/>
          <p:cNvSpPr txBox="1"/>
          <p:nvPr/>
        </p:nvSpPr>
        <p:spPr>
          <a:xfrm>
            <a:off x="5994176" y="2133600"/>
            <a:ext cx="7409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>
                <a:solidFill>
                  <a:srgbClr val="003399"/>
                </a:solidFill>
              </a:rPr>
              <a:t>outros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1066800" y="5410200"/>
            <a:ext cx="687701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b="1" dirty="0"/>
              <a:t>0 1 2 3 4 5 6 7 8 9 10 11 12 13 14 15</a:t>
            </a:r>
          </a:p>
        </p:txBody>
      </p:sp>
      <p:sp>
        <p:nvSpPr>
          <p:cNvPr id="34" name="CaixaDeTexto 33"/>
          <p:cNvSpPr txBox="1"/>
          <p:nvPr/>
        </p:nvSpPr>
        <p:spPr>
          <a:xfrm>
            <a:off x="3160225" y="4688414"/>
            <a:ext cx="26901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b="1" dirty="0">
                <a:solidFill>
                  <a:srgbClr val="C00000"/>
                </a:solidFill>
              </a:rPr>
              <a:t>Hexadecimal</a:t>
            </a:r>
          </a:p>
        </p:txBody>
      </p:sp>
      <p:cxnSp>
        <p:nvCxnSpPr>
          <p:cNvPr id="35" name="Conector de seta reta 34"/>
          <p:cNvCxnSpPr/>
          <p:nvPr/>
        </p:nvCxnSpPr>
        <p:spPr>
          <a:xfrm>
            <a:off x="1066800" y="4749225"/>
            <a:ext cx="6705600" cy="1588"/>
          </a:xfrm>
          <a:prstGeom prst="straightConnector1">
            <a:avLst/>
          </a:prstGeom>
          <a:ln w="22225">
            <a:solidFill>
              <a:srgbClr val="C0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CaixaDeTexto 35"/>
          <p:cNvSpPr txBox="1"/>
          <p:nvPr/>
        </p:nvSpPr>
        <p:spPr>
          <a:xfrm>
            <a:off x="3405840" y="5966892"/>
            <a:ext cx="175721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b="1" dirty="0"/>
              <a:t>Decimal</a:t>
            </a:r>
          </a:p>
        </p:txBody>
      </p:sp>
      <p:cxnSp>
        <p:nvCxnSpPr>
          <p:cNvPr id="37" name="Conector de seta reta 36"/>
          <p:cNvCxnSpPr>
            <a:cxnSpLocks/>
          </p:cNvCxnSpPr>
          <p:nvPr/>
        </p:nvCxnSpPr>
        <p:spPr>
          <a:xfrm>
            <a:off x="1066800" y="6019800"/>
            <a:ext cx="6705600" cy="0"/>
          </a:xfrm>
          <a:prstGeom prst="straightConnector1">
            <a:avLst/>
          </a:prstGeom>
          <a:ln w="22225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tângulo 1">
            <a:extLst>
              <a:ext uri="{FF2B5EF4-FFF2-40B4-BE49-F238E27FC236}">
                <a16:creationId xmlns:a16="http://schemas.microsoft.com/office/drawing/2014/main" id="{C9D59976-416B-4951-9D30-BB405E47DE7F}"/>
              </a:ext>
            </a:extLst>
          </p:cNvPr>
          <p:cNvSpPr/>
          <p:nvPr/>
        </p:nvSpPr>
        <p:spPr>
          <a:xfrm>
            <a:off x="4572000" y="4215825"/>
            <a:ext cx="44435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800" b="1" dirty="0">
                <a:solidFill>
                  <a:srgbClr val="C00000"/>
                </a:solidFill>
              </a:rPr>
              <a:t>A</a:t>
            </a:r>
            <a:endParaRPr lang="pt-BR" sz="2800" dirty="0"/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DE6B9D9F-4955-427D-8441-833B2D82522D}"/>
              </a:ext>
            </a:extLst>
          </p:cNvPr>
          <p:cNvSpPr/>
          <p:nvPr/>
        </p:nvSpPr>
        <p:spPr>
          <a:xfrm>
            <a:off x="5105400" y="4219178"/>
            <a:ext cx="44435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800" b="1" dirty="0">
                <a:solidFill>
                  <a:srgbClr val="C00000"/>
                </a:solidFill>
              </a:rPr>
              <a:t>B</a:t>
            </a:r>
            <a:endParaRPr lang="pt-BR" sz="2800" dirty="0"/>
          </a:p>
        </p:txBody>
      </p:sp>
      <p:sp>
        <p:nvSpPr>
          <p:cNvPr id="38" name="Retângulo 37">
            <a:extLst>
              <a:ext uri="{FF2B5EF4-FFF2-40B4-BE49-F238E27FC236}">
                <a16:creationId xmlns:a16="http://schemas.microsoft.com/office/drawing/2014/main" id="{FBA3D395-087D-4F6B-917A-5FA615CF42EB}"/>
              </a:ext>
            </a:extLst>
          </p:cNvPr>
          <p:cNvSpPr/>
          <p:nvPr/>
        </p:nvSpPr>
        <p:spPr>
          <a:xfrm>
            <a:off x="5688516" y="4219178"/>
            <a:ext cx="44435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800" b="1" dirty="0">
                <a:solidFill>
                  <a:srgbClr val="C00000"/>
                </a:solidFill>
              </a:rPr>
              <a:t>C</a:t>
            </a:r>
            <a:endParaRPr lang="pt-BR" sz="2800" dirty="0"/>
          </a:p>
        </p:txBody>
      </p:sp>
      <p:sp>
        <p:nvSpPr>
          <p:cNvPr id="39" name="Retângulo 38">
            <a:extLst>
              <a:ext uri="{FF2B5EF4-FFF2-40B4-BE49-F238E27FC236}">
                <a16:creationId xmlns:a16="http://schemas.microsoft.com/office/drawing/2014/main" id="{531E957B-0BD0-48E0-8DAC-BF09D42FCDE1}"/>
              </a:ext>
            </a:extLst>
          </p:cNvPr>
          <p:cNvSpPr/>
          <p:nvPr/>
        </p:nvSpPr>
        <p:spPr>
          <a:xfrm>
            <a:off x="6221916" y="4222531"/>
            <a:ext cx="44435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800" b="1" dirty="0">
                <a:solidFill>
                  <a:srgbClr val="C00000"/>
                </a:solidFill>
              </a:rPr>
              <a:t>D</a:t>
            </a:r>
            <a:endParaRPr lang="pt-BR" sz="2800" dirty="0"/>
          </a:p>
        </p:txBody>
      </p:sp>
      <p:sp>
        <p:nvSpPr>
          <p:cNvPr id="40" name="Retângulo 39">
            <a:extLst>
              <a:ext uri="{FF2B5EF4-FFF2-40B4-BE49-F238E27FC236}">
                <a16:creationId xmlns:a16="http://schemas.microsoft.com/office/drawing/2014/main" id="{5F51029D-1523-42F8-86F5-70E0674908D6}"/>
              </a:ext>
            </a:extLst>
          </p:cNvPr>
          <p:cNvSpPr/>
          <p:nvPr/>
        </p:nvSpPr>
        <p:spPr>
          <a:xfrm>
            <a:off x="6831516" y="4229996"/>
            <a:ext cx="42351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800" b="1" dirty="0">
                <a:solidFill>
                  <a:srgbClr val="C00000"/>
                </a:solidFill>
              </a:rPr>
              <a:t>E</a:t>
            </a:r>
          </a:p>
        </p:txBody>
      </p:sp>
      <p:sp>
        <p:nvSpPr>
          <p:cNvPr id="41" name="Retângulo 40">
            <a:extLst>
              <a:ext uri="{FF2B5EF4-FFF2-40B4-BE49-F238E27FC236}">
                <a16:creationId xmlns:a16="http://schemas.microsoft.com/office/drawing/2014/main" id="{49E6641D-969B-4C20-9E00-A69250187BBF}"/>
              </a:ext>
            </a:extLst>
          </p:cNvPr>
          <p:cNvSpPr/>
          <p:nvPr/>
        </p:nvSpPr>
        <p:spPr>
          <a:xfrm>
            <a:off x="7364916" y="4233349"/>
            <a:ext cx="40427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800" b="1" dirty="0">
                <a:solidFill>
                  <a:srgbClr val="C00000"/>
                </a:solidFill>
              </a:rPr>
              <a:t>F</a:t>
            </a: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56CE39A1-D65F-4F32-B865-88409F2E37D8}"/>
              </a:ext>
            </a:extLst>
          </p:cNvPr>
          <p:cNvSpPr txBox="1"/>
          <p:nvPr/>
        </p:nvSpPr>
        <p:spPr>
          <a:xfrm>
            <a:off x="1066800" y="4215825"/>
            <a:ext cx="34852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b="1" dirty="0">
                <a:solidFill>
                  <a:srgbClr val="C00000"/>
                </a:solidFill>
              </a:rPr>
              <a:t>0 1 2 3 4 5 6 7 8 9</a:t>
            </a:r>
          </a:p>
        </p:txBody>
      </p:sp>
    </p:spTree>
  </p:cSld>
  <p:clrMapOvr>
    <a:masterClrMapping/>
  </p:clrMapOvr>
  <p:transition>
    <p:fade thruBlk="1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4" descr="https://encrypted-tbn3.gstatic.com/images?q=tbn:ANd9GcSTT9hB4C6uDhPnHuFGStflSkVy-vqD__r9IdfQHez91DYRk1QWOw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919686" y="29028"/>
            <a:ext cx="2209800" cy="1447800"/>
          </a:xfrm>
          <a:prstGeom prst="rect">
            <a:avLst/>
          </a:prstGeom>
          <a:noFill/>
        </p:spPr>
      </p:pic>
      <p:sp>
        <p:nvSpPr>
          <p:cNvPr id="9" name="Retângulo 8"/>
          <p:cNvSpPr/>
          <p:nvPr/>
        </p:nvSpPr>
        <p:spPr>
          <a:xfrm>
            <a:off x="97178" y="2891135"/>
            <a:ext cx="8686800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CaixaDeTexto 9"/>
          <p:cNvSpPr txBox="1"/>
          <p:nvPr/>
        </p:nvSpPr>
        <p:spPr>
          <a:xfrm>
            <a:off x="97178" y="2060377"/>
            <a:ext cx="31032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/>
              <a:t>0 1 2 3 4 5 6 7 8 9 </a:t>
            </a:r>
            <a:r>
              <a:rPr lang="pt-BR" sz="1400" b="1" dirty="0">
                <a:solidFill>
                  <a:srgbClr val="C00000"/>
                </a:solidFill>
              </a:rPr>
              <a:t>10 11 12 13 14 15</a:t>
            </a:r>
          </a:p>
        </p:txBody>
      </p:sp>
      <p:cxnSp>
        <p:nvCxnSpPr>
          <p:cNvPr id="18" name="Conector de seta reta 17"/>
          <p:cNvCxnSpPr/>
          <p:nvPr/>
        </p:nvCxnSpPr>
        <p:spPr>
          <a:xfrm>
            <a:off x="97178" y="1984177"/>
            <a:ext cx="1524000" cy="1588"/>
          </a:xfrm>
          <a:prstGeom prst="straightConnector1">
            <a:avLst/>
          </a:prstGeom>
          <a:ln w="22225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aixaDeTexto 19"/>
          <p:cNvSpPr txBox="1"/>
          <p:nvPr/>
        </p:nvSpPr>
        <p:spPr>
          <a:xfrm>
            <a:off x="401978" y="1600200"/>
            <a:ext cx="8723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/>
              <a:t>Decimal</a:t>
            </a:r>
          </a:p>
        </p:txBody>
      </p:sp>
      <p:cxnSp>
        <p:nvCxnSpPr>
          <p:cNvPr id="21" name="Conector de seta reta 20"/>
          <p:cNvCxnSpPr/>
          <p:nvPr/>
        </p:nvCxnSpPr>
        <p:spPr>
          <a:xfrm>
            <a:off x="97178" y="2436812"/>
            <a:ext cx="2971800" cy="1588"/>
          </a:xfrm>
          <a:prstGeom prst="straightConnector1">
            <a:avLst/>
          </a:prstGeom>
          <a:ln w="22225">
            <a:solidFill>
              <a:srgbClr val="C0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CaixaDeTexto 22"/>
          <p:cNvSpPr txBox="1"/>
          <p:nvPr/>
        </p:nvSpPr>
        <p:spPr>
          <a:xfrm>
            <a:off x="1600200" y="2514600"/>
            <a:ext cx="12795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>
                <a:solidFill>
                  <a:srgbClr val="C00000"/>
                </a:solidFill>
              </a:rPr>
              <a:t>Hexadecimal</a:t>
            </a:r>
          </a:p>
        </p:txBody>
      </p:sp>
      <p:cxnSp>
        <p:nvCxnSpPr>
          <p:cNvPr id="24" name="Conector de seta reta 23"/>
          <p:cNvCxnSpPr/>
          <p:nvPr/>
        </p:nvCxnSpPr>
        <p:spPr>
          <a:xfrm>
            <a:off x="97178" y="2589212"/>
            <a:ext cx="1524000" cy="1588"/>
          </a:xfrm>
          <a:prstGeom prst="straightConnector1">
            <a:avLst/>
          </a:prstGeom>
          <a:ln w="22225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de seta reta 24"/>
          <p:cNvCxnSpPr/>
          <p:nvPr/>
        </p:nvCxnSpPr>
        <p:spPr>
          <a:xfrm rot="5400000">
            <a:off x="3695303" y="3085703"/>
            <a:ext cx="1447800" cy="794"/>
          </a:xfrm>
          <a:prstGeom prst="straightConnector1">
            <a:avLst/>
          </a:prstGeom>
          <a:ln w="22225"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CaixaDeTexto 26"/>
          <p:cNvSpPr txBox="1"/>
          <p:nvPr/>
        </p:nvSpPr>
        <p:spPr>
          <a:xfrm>
            <a:off x="4087687" y="1902023"/>
            <a:ext cx="63671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/>
              <a:t>+ 127</a:t>
            </a:r>
          </a:p>
        </p:txBody>
      </p:sp>
      <p:sp>
        <p:nvSpPr>
          <p:cNvPr id="28" name="CaixaDeTexto 27"/>
          <p:cNvSpPr txBox="1"/>
          <p:nvPr/>
        </p:nvSpPr>
        <p:spPr>
          <a:xfrm>
            <a:off x="4114800" y="3886200"/>
            <a:ext cx="5918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/>
              <a:t>- 127</a:t>
            </a:r>
          </a:p>
        </p:txBody>
      </p:sp>
      <p:sp>
        <p:nvSpPr>
          <p:cNvPr id="29" name="CaixaDeTexto 28"/>
          <p:cNvSpPr txBox="1"/>
          <p:nvPr/>
        </p:nvSpPr>
        <p:spPr>
          <a:xfrm>
            <a:off x="8458200" y="3581400"/>
            <a:ext cx="4828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/>
              <a:t>255</a:t>
            </a:r>
          </a:p>
        </p:txBody>
      </p:sp>
      <p:sp>
        <p:nvSpPr>
          <p:cNvPr id="30" name="CaixaDeTexto 29"/>
          <p:cNvSpPr txBox="1"/>
          <p:nvPr/>
        </p:nvSpPr>
        <p:spPr>
          <a:xfrm>
            <a:off x="0" y="3807023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/>
              <a:t>0</a:t>
            </a:r>
          </a:p>
        </p:txBody>
      </p:sp>
      <p:sp>
        <p:nvSpPr>
          <p:cNvPr id="31" name="CaixaDeTexto 30"/>
          <p:cNvSpPr txBox="1"/>
          <p:nvPr/>
        </p:nvSpPr>
        <p:spPr>
          <a:xfrm>
            <a:off x="5994176" y="2133600"/>
            <a:ext cx="212429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>
                <a:solidFill>
                  <a:srgbClr val="003399"/>
                </a:solidFill>
              </a:rPr>
              <a:t>Outros: &gt; * % # = ; , / $ </a:t>
            </a:r>
          </a:p>
        </p:txBody>
      </p:sp>
      <p:sp>
        <p:nvSpPr>
          <p:cNvPr id="46" name="CaixaDeTexto 45"/>
          <p:cNvSpPr txBox="1"/>
          <p:nvPr/>
        </p:nvSpPr>
        <p:spPr>
          <a:xfrm>
            <a:off x="1172172" y="5024735"/>
            <a:ext cx="62279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chemeClr val="accent2"/>
                </a:solidFill>
              </a:rPr>
              <a:t>          6         5       4     3         2       1       0 </a:t>
            </a:r>
          </a:p>
        </p:txBody>
      </p:sp>
      <p:sp>
        <p:nvSpPr>
          <p:cNvPr id="47" name="CaixaDeTexto 46"/>
          <p:cNvSpPr txBox="1"/>
          <p:nvPr/>
        </p:nvSpPr>
        <p:spPr>
          <a:xfrm>
            <a:off x="1097460" y="5282625"/>
            <a:ext cx="598914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b="1" dirty="0"/>
              <a:t>2     2      2    2    2      2     2     2</a:t>
            </a:r>
            <a:endParaRPr lang="pt-BR" sz="3200" b="1" dirty="0">
              <a:solidFill>
                <a:srgbClr val="C00000"/>
              </a:solidFill>
            </a:endParaRPr>
          </a:p>
        </p:txBody>
      </p:sp>
      <p:sp>
        <p:nvSpPr>
          <p:cNvPr id="48" name="CaixaDeTexto 47"/>
          <p:cNvSpPr txBox="1"/>
          <p:nvPr/>
        </p:nvSpPr>
        <p:spPr>
          <a:xfrm>
            <a:off x="7564892" y="4035623"/>
            <a:ext cx="119810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solidFill>
                  <a:srgbClr val="003399"/>
                </a:solidFill>
              </a:rPr>
              <a:t>1 Byte</a:t>
            </a:r>
          </a:p>
          <a:p>
            <a:endParaRPr lang="pt-BR" sz="2000" b="1" dirty="0">
              <a:solidFill>
                <a:srgbClr val="003399"/>
              </a:solidFill>
            </a:endParaRPr>
          </a:p>
          <a:p>
            <a:endParaRPr lang="pt-BR" sz="2000" b="1" dirty="0">
              <a:solidFill>
                <a:srgbClr val="003399"/>
              </a:solidFill>
            </a:endParaRPr>
          </a:p>
          <a:p>
            <a:endParaRPr lang="pt-BR" sz="2000" b="1" dirty="0">
              <a:solidFill>
                <a:srgbClr val="003399"/>
              </a:solidFill>
            </a:endParaRPr>
          </a:p>
          <a:p>
            <a:r>
              <a:rPr lang="pt-BR" sz="2000" b="1" dirty="0">
                <a:solidFill>
                  <a:srgbClr val="003399"/>
                </a:solidFill>
              </a:rPr>
              <a:t>8 </a:t>
            </a:r>
            <a:r>
              <a:rPr lang="pt-BR" sz="2000" b="1" dirty="0" err="1">
                <a:solidFill>
                  <a:srgbClr val="003399"/>
                </a:solidFill>
              </a:rPr>
              <a:t>bit’s</a:t>
            </a:r>
            <a:endParaRPr lang="pt-BR" sz="2000" b="1" dirty="0">
              <a:solidFill>
                <a:srgbClr val="003399"/>
              </a:solidFill>
            </a:endParaRPr>
          </a:p>
        </p:txBody>
      </p:sp>
      <p:cxnSp>
        <p:nvCxnSpPr>
          <p:cNvPr id="50" name="Conector de seta reta 49"/>
          <p:cNvCxnSpPr/>
          <p:nvPr/>
        </p:nvCxnSpPr>
        <p:spPr>
          <a:xfrm rot="5400000">
            <a:off x="7773194" y="4876006"/>
            <a:ext cx="4572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962" name="Picture 2" descr="https://encrypted-tbn3.gstatic.com/images?q=tbn:ANd9GcRLoLaqpkvxBZ9IFJN8qn_-zIF-XTyYcuw5NO8m1WM-Pakzm5s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14400" y="4444426"/>
            <a:ext cx="859547" cy="965774"/>
          </a:xfrm>
          <a:prstGeom prst="rect">
            <a:avLst/>
          </a:prstGeom>
          <a:noFill/>
        </p:spPr>
      </p:pic>
      <p:sp>
        <p:nvSpPr>
          <p:cNvPr id="22" name="CaixaDeTexto 21"/>
          <p:cNvSpPr txBox="1"/>
          <p:nvPr/>
        </p:nvSpPr>
        <p:spPr>
          <a:xfrm>
            <a:off x="1143000" y="4419600"/>
            <a:ext cx="58929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rgbClr val="C00000"/>
                </a:solidFill>
              </a:rPr>
              <a:t>         64       32     16     8      4       2       1 </a:t>
            </a:r>
          </a:p>
        </p:txBody>
      </p:sp>
      <p:sp>
        <p:nvSpPr>
          <p:cNvPr id="26" name="Título 1"/>
          <p:cNvSpPr txBox="1">
            <a:spLocks/>
          </p:cNvSpPr>
          <p:nvPr/>
        </p:nvSpPr>
        <p:spPr>
          <a:xfrm>
            <a:off x="457200" y="274638"/>
            <a:ext cx="7010400" cy="114300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r>
              <a:rPr lang="pt-BR" sz="3600" kern="0">
                <a:solidFill>
                  <a:srgbClr val="C00000"/>
                </a:solidFill>
              </a:rPr>
              <a:t>Código Hexadecimal</a:t>
            </a:r>
            <a:endParaRPr lang="pt-BR" sz="3600" kern="0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ransition>
    <p:fade thruBlk="1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010400" cy="1143000"/>
          </a:xfrm>
        </p:spPr>
        <p:txBody>
          <a:bodyPr/>
          <a:lstStyle/>
          <a:p>
            <a:r>
              <a:rPr lang="pt-BR" sz="3200" dirty="0">
                <a:solidFill>
                  <a:srgbClr val="C00000"/>
                </a:solidFill>
              </a:rPr>
              <a:t>Conversão de Base</a:t>
            </a:r>
            <a:br>
              <a:rPr lang="pt-BR" sz="3200" dirty="0">
                <a:solidFill>
                  <a:srgbClr val="C00000"/>
                </a:solidFill>
              </a:rPr>
            </a:br>
            <a:r>
              <a:rPr lang="pt-BR" sz="3200" dirty="0" err="1">
                <a:solidFill>
                  <a:srgbClr val="C00000"/>
                </a:solidFill>
              </a:rPr>
              <a:t>Binário</a:t>
            </a:r>
            <a:r>
              <a:rPr lang="pt-BR" sz="2000" dirty="0" err="1">
                <a:solidFill>
                  <a:srgbClr val="C00000"/>
                </a:solidFill>
                <a:sym typeface="Wingdings" panose="05000000000000000000" pitchFamily="2" charset="2"/>
              </a:rPr>
              <a:t></a:t>
            </a:r>
            <a:r>
              <a:rPr lang="pt-BR" sz="3200" dirty="0" err="1">
                <a:solidFill>
                  <a:srgbClr val="C00000"/>
                </a:solidFill>
              </a:rPr>
              <a:t>Decimal</a:t>
            </a:r>
            <a:r>
              <a:rPr lang="pt-BR" sz="3200" dirty="0">
                <a:solidFill>
                  <a:srgbClr val="C00000"/>
                </a:solidFill>
              </a:rPr>
              <a:t> </a:t>
            </a:r>
          </a:p>
        </p:txBody>
      </p:sp>
      <p:pic>
        <p:nvPicPr>
          <p:cNvPr id="8" name="Picture 14" descr="https://encrypted-tbn3.gstatic.com/images?q=tbn:ANd9GcSTT9hB4C6uDhPnHuFGStflSkVy-vqD__r9IdfQHez91DYRk1QWOw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919686" y="29028"/>
            <a:ext cx="2209800" cy="1447800"/>
          </a:xfrm>
          <a:prstGeom prst="rect">
            <a:avLst/>
          </a:prstGeom>
          <a:noFill/>
        </p:spPr>
      </p:pic>
      <p:sp>
        <p:nvSpPr>
          <p:cNvPr id="46" name="CaixaDeTexto 45"/>
          <p:cNvSpPr txBox="1"/>
          <p:nvPr/>
        </p:nvSpPr>
        <p:spPr>
          <a:xfrm>
            <a:off x="1600200" y="5335822"/>
            <a:ext cx="73901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b="1" dirty="0">
                <a:solidFill>
                  <a:schemeClr val="accent2"/>
                </a:solidFill>
              </a:rPr>
              <a:t>  6                5             4             3              2               1              0 </a:t>
            </a:r>
          </a:p>
        </p:txBody>
      </p:sp>
      <p:sp>
        <p:nvSpPr>
          <p:cNvPr id="47" name="CaixaDeTexto 46"/>
          <p:cNvSpPr txBox="1"/>
          <p:nvPr/>
        </p:nvSpPr>
        <p:spPr>
          <a:xfrm>
            <a:off x="304800" y="5493603"/>
            <a:ext cx="858921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800" b="1" dirty="0"/>
              <a:t>2     2     2    2    2     2     2     2</a:t>
            </a:r>
            <a:endParaRPr lang="pt-BR" sz="4800" b="1" dirty="0">
              <a:solidFill>
                <a:srgbClr val="C00000"/>
              </a:solidFill>
            </a:endParaRPr>
          </a:p>
        </p:txBody>
      </p:sp>
      <p:pic>
        <p:nvPicPr>
          <p:cNvPr id="40962" name="Picture 2" descr="https://encrypted-tbn3.gstatic.com/images?q=tbn:ANd9GcRLoLaqpkvxBZ9IFJN8qn_-zIF-XTyYcuw5NO8m1WM-Pakzm5s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33360" y="4226158"/>
            <a:ext cx="914400" cy="790514"/>
          </a:xfrm>
          <a:prstGeom prst="rect">
            <a:avLst/>
          </a:prstGeom>
          <a:noFill/>
        </p:spPr>
      </p:pic>
      <p:sp>
        <p:nvSpPr>
          <p:cNvPr id="22" name="CaixaDeTexto 21"/>
          <p:cNvSpPr txBox="1"/>
          <p:nvPr/>
        </p:nvSpPr>
        <p:spPr>
          <a:xfrm>
            <a:off x="8367712" y="4401283"/>
            <a:ext cx="4330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>
                <a:solidFill>
                  <a:srgbClr val="C00000"/>
                </a:solidFill>
              </a:rPr>
              <a:t>1 </a:t>
            </a:r>
          </a:p>
        </p:txBody>
      </p:sp>
      <p:sp>
        <p:nvSpPr>
          <p:cNvPr id="26" name="CaixaDeTexto 25"/>
          <p:cNvSpPr txBox="1"/>
          <p:nvPr/>
        </p:nvSpPr>
        <p:spPr>
          <a:xfrm>
            <a:off x="7162800" y="4388086"/>
            <a:ext cx="4330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>
                <a:solidFill>
                  <a:srgbClr val="C00000"/>
                </a:solidFill>
              </a:rPr>
              <a:t>2 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5946361" y="4401283"/>
            <a:ext cx="4330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>
                <a:solidFill>
                  <a:srgbClr val="C00000"/>
                </a:solidFill>
              </a:rPr>
              <a:t>4 </a:t>
            </a:r>
          </a:p>
        </p:txBody>
      </p:sp>
      <p:sp>
        <p:nvSpPr>
          <p:cNvPr id="33" name="CaixaDeTexto 32"/>
          <p:cNvSpPr txBox="1"/>
          <p:nvPr/>
        </p:nvSpPr>
        <p:spPr>
          <a:xfrm>
            <a:off x="4862512" y="4388086"/>
            <a:ext cx="4330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>
                <a:solidFill>
                  <a:srgbClr val="C00000"/>
                </a:solidFill>
              </a:rPr>
              <a:t>8 </a:t>
            </a:r>
          </a:p>
        </p:txBody>
      </p:sp>
      <p:sp>
        <p:nvSpPr>
          <p:cNvPr id="34" name="CaixaDeTexto 33"/>
          <p:cNvSpPr txBox="1"/>
          <p:nvPr/>
        </p:nvSpPr>
        <p:spPr>
          <a:xfrm>
            <a:off x="3733800" y="4392846"/>
            <a:ext cx="609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>
                <a:solidFill>
                  <a:srgbClr val="C00000"/>
                </a:solidFill>
              </a:rPr>
              <a:t>16 </a:t>
            </a:r>
          </a:p>
        </p:txBody>
      </p:sp>
      <p:sp>
        <p:nvSpPr>
          <p:cNvPr id="35" name="CaixaDeTexto 34"/>
          <p:cNvSpPr txBox="1"/>
          <p:nvPr/>
        </p:nvSpPr>
        <p:spPr>
          <a:xfrm>
            <a:off x="2743200" y="4378558"/>
            <a:ext cx="609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>
                <a:solidFill>
                  <a:srgbClr val="C00000"/>
                </a:solidFill>
              </a:rPr>
              <a:t>32 </a:t>
            </a:r>
          </a:p>
        </p:txBody>
      </p:sp>
      <p:sp>
        <p:nvSpPr>
          <p:cNvPr id="36" name="CaixaDeTexto 35"/>
          <p:cNvSpPr txBox="1"/>
          <p:nvPr/>
        </p:nvSpPr>
        <p:spPr>
          <a:xfrm>
            <a:off x="1447800" y="4388078"/>
            <a:ext cx="609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>
                <a:solidFill>
                  <a:srgbClr val="C00000"/>
                </a:solidFill>
              </a:rPr>
              <a:t>64 </a:t>
            </a:r>
          </a:p>
        </p:txBody>
      </p:sp>
      <p:sp>
        <p:nvSpPr>
          <p:cNvPr id="37" name="CaixaDeTexto 36"/>
          <p:cNvSpPr txBox="1"/>
          <p:nvPr/>
        </p:nvSpPr>
        <p:spPr>
          <a:xfrm>
            <a:off x="4876800" y="2363450"/>
            <a:ext cx="813043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8800" b="1" dirty="0"/>
              <a:t>2</a:t>
            </a:r>
            <a:endParaRPr lang="pt-BR" sz="8800" b="1" dirty="0">
              <a:solidFill>
                <a:srgbClr val="C00000"/>
              </a:solidFill>
            </a:endParaRPr>
          </a:p>
        </p:txBody>
      </p:sp>
      <p:cxnSp>
        <p:nvCxnSpPr>
          <p:cNvPr id="3" name="Conector de Seta Reta 2"/>
          <p:cNvCxnSpPr/>
          <p:nvPr/>
        </p:nvCxnSpPr>
        <p:spPr>
          <a:xfrm flipV="1">
            <a:off x="8567736" y="4986908"/>
            <a:ext cx="0" cy="382250"/>
          </a:xfrm>
          <a:prstGeom prst="straightConnector1">
            <a:avLst/>
          </a:prstGeom>
          <a:ln w="25400">
            <a:solidFill>
              <a:schemeClr val="tx1">
                <a:alpha val="9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de Seta Reta 37"/>
          <p:cNvCxnSpPr/>
          <p:nvPr/>
        </p:nvCxnSpPr>
        <p:spPr>
          <a:xfrm flipV="1">
            <a:off x="7358064" y="4988158"/>
            <a:ext cx="0" cy="382250"/>
          </a:xfrm>
          <a:prstGeom prst="straightConnector1">
            <a:avLst/>
          </a:prstGeom>
          <a:ln w="25400">
            <a:solidFill>
              <a:schemeClr val="tx1">
                <a:alpha val="9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de Seta Reta 38"/>
          <p:cNvCxnSpPr/>
          <p:nvPr/>
        </p:nvCxnSpPr>
        <p:spPr>
          <a:xfrm flipV="1">
            <a:off x="6153152" y="4988158"/>
            <a:ext cx="0" cy="382250"/>
          </a:xfrm>
          <a:prstGeom prst="straightConnector1">
            <a:avLst/>
          </a:prstGeom>
          <a:ln w="25400">
            <a:solidFill>
              <a:schemeClr val="tx1">
                <a:alpha val="9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 de Seta Reta 39"/>
          <p:cNvCxnSpPr/>
          <p:nvPr/>
        </p:nvCxnSpPr>
        <p:spPr>
          <a:xfrm flipV="1">
            <a:off x="5029200" y="4988158"/>
            <a:ext cx="0" cy="382250"/>
          </a:xfrm>
          <a:prstGeom prst="straightConnector1">
            <a:avLst/>
          </a:prstGeom>
          <a:ln w="25400">
            <a:solidFill>
              <a:schemeClr val="tx1">
                <a:alpha val="9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de Seta Reta 40"/>
          <p:cNvCxnSpPr/>
          <p:nvPr/>
        </p:nvCxnSpPr>
        <p:spPr>
          <a:xfrm flipV="1">
            <a:off x="4005264" y="4988158"/>
            <a:ext cx="0" cy="382250"/>
          </a:xfrm>
          <a:prstGeom prst="straightConnector1">
            <a:avLst/>
          </a:prstGeom>
          <a:ln w="25400">
            <a:solidFill>
              <a:schemeClr val="tx1">
                <a:alpha val="9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ector de Seta Reta 41"/>
          <p:cNvCxnSpPr/>
          <p:nvPr/>
        </p:nvCxnSpPr>
        <p:spPr>
          <a:xfrm flipV="1">
            <a:off x="2971800" y="4988158"/>
            <a:ext cx="0" cy="382250"/>
          </a:xfrm>
          <a:prstGeom prst="straightConnector1">
            <a:avLst/>
          </a:prstGeom>
          <a:ln w="25400">
            <a:solidFill>
              <a:schemeClr val="tx1">
                <a:alpha val="9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de Seta Reta 42"/>
          <p:cNvCxnSpPr/>
          <p:nvPr/>
        </p:nvCxnSpPr>
        <p:spPr>
          <a:xfrm flipV="1">
            <a:off x="1752600" y="4988158"/>
            <a:ext cx="0" cy="382250"/>
          </a:xfrm>
          <a:prstGeom prst="straightConnector1">
            <a:avLst/>
          </a:prstGeom>
          <a:ln w="25400">
            <a:solidFill>
              <a:schemeClr val="tx1">
                <a:alpha val="9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de Seta Reta 43"/>
          <p:cNvCxnSpPr/>
          <p:nvPr/>
        </p:nvCxnSpPr>
        <p:spPr>
          <a:xfrm flipV="1">
            <a:off x="609600" y="4988158"/>
            <a:ext cx="0" cy="382250"/>
          </a:xfrm>
          <a:prstGeom prst="straightConnector1">
            <a:avLst/>
          </a:prstGeom>
          <a:ln w="25400">
            <a:solidFill>
              <a:schemeClr val="tx1">
                <a:alpha val="9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CaixaDeTexto 44"/>
          <p:cNvSpPr txBox="1"/>
          <p:nvPr/>
        </p:nvSpPr>
        <p:spPr>
          <a:xfrm>
            <a:off x="5715000" y="1905000"/>
            <a:ext cx="4330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>
                <a:solidFill>
                  <a:schemeClr val="accent1">
                    <a:lumMod val="50000"/>
                  </a:schemeClr>
                </a:solidFill>
              </a:rPr>
              <a:t>1 </a:t>
            </a:r>
          </a:p>
        </p:txBody>
      </p:sp>
      <p:sp>
        <p:nvSpPr>
          <p:cNvPr id="49" name="CaixaDeTexto 48"/>
          <p:cNvSpPr txBox="1"/>
          <p:nvPr/>
        </p:nvSpPr>
        <p:spPr>
          <a:xfrm>
            <a:off x="4495800" y="1905000"/>
            <a:ext cx="4330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>
                <a:solidFill>
                  <a:schemeClr val="accent1">
                    <a:lumMod val="50000"/>
                  </a:schemeClr>
                </a:solidFill>
              </a:rPr>
              <a:t>0</a:t>
            </a:r>
            <a:r>
              <a:rPr lang="pt-BR" sz="2800" b="1" dirty="0">
                <a:solidFill>
                  <a:srgbClr val="C00000"/>
                </a:solidFill>
              </a:rPr>
              <a:t> </a:t>
            </a:r>
          </a:p>
        </p:txBody>
      </p:sp>
      <p:cxnSp>
        <p:nvCxnSpPr>
          <p:cNvPr id="51" name="Conector de Seta Reta 50"/>
          <p:cNvCxnSpPr/>
          <p:nvPr/>
        </p:nvCxnSpPr>
        <p:spPr>
          <a:xfrm flipH="1" flipV="1">
            <a:off x="4851643" y="2374902"/>
            <a:ext cx="236834" cy="341450"/>
          </a:xfrm>
          <a:prstGeom prst="straightConnector1">
            <a:avLst/>
          </a:prstGeom>
          <a:ln w="25400">
            <a:solidFill>
              <a:schemeClr val="tx1">
                <a:alpha val="9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ector de Seta Reta 51"/>
          <p:cNvCxnSpPr/>
          <p:nvPr/>
        </p:nvCxnSpPr>
        <p:spPr>
          <a:xfrm flipV="1">
            <a:off x="5494634" y="2374902"/>
            <a:ext cx="296566" cy="328748"/>
          </a:xfrm>
          <a:prstGeom prst="straightConnector1">
            <a:avLst/>
          </a:prstGeom>
          <a:ln w="25400">
            <a:solidFill>
              <a:schemeClr val="tx1">
                <a:alpha val="9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CaixaDeTexto 52"/>
          <p:cNvSpPr txBox="1"/>
          <p:nvPr/>
        </p:nvSpPr>
        <p:spPr>
          <a:xfrm>
            <a:off x="5715000" y="1524000"/>
            <a:ext cx="4330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>
                <a:solidFill>
                  <a:schemeClr val="accent1">
                    <a:lumMod val="50000"/>
                  </a:schemeClr>
                </a:solidFill>
              </a:rPr>
              <a:t>f </a:t>
            </a:r>
          </a:p>
        </p:txBody>
      </p:sp>
      <p:sp>
        <p:nvSpPr>
          <p:cNvPr id="54" name="CaixaDeTexto 53"/>
          <p:cNvSpPr txBox="1"/>
          <p:nvPr/>
        </p:nvSpPr>
        <p:spPr>
          <a:xfrm>
            <a:off x="4495800" y="1524000"/>
            <a:ext cx="4330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>
                <a:solidFill>
                  <a:schemeClr val="accent1">
                    <a:lumMod val="50000"/>
                  </a:schemeClr>
                </a:solidFill>
              </a:rPr>
              <a:t>v</a:t>
            </a:r>
            <a:r>
              <a:rPr lang="pt-BR" sz="2800" b="1" dirty="0">
                <a:solidFill>
                  <a:srgbClr val="C00000"/>
                </a:solidFill>
              </a:rPr>
              <a:t> </a:t>
            </a:r>
          </a:p>
        </p:txBody>
      </p:sp>
      <p:sp>
        <p:nvSpPr>
          <p:cNvPr id="55" name="CaixaDeTexto 54"/>
          <p:cNvSpPr txBox="1"/>
          <p:nvPr/>
        </p:nvSpPr>
        <p:spPr>
          <a:xfrm>
            <a:off x="7162800" y="1905000"/>
            <a:ext cx="119810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solidFill>
                  <a:srgbClr val="003399"/>
                </a:solidFill>
              </a:rPr>
              <a:t>1 Byte</a:t>
            </a:r>
          </a:p>
          <a:p>
            <a:endParaRPr lang="pt-BR" sz="2000" b="1" dirty="0">
              <a:solidFill>
                <a:srgbClr val="003399"/>
              </a:solidFill>
            </a:endParaRPr>
          </a:p>
          <a:p>
            <a:endParaRPr lang="pt-BR" sz="2000" b="1" dirty="0">
              <a:solidFill>
                <a:srgbClr val="003399"/>
              </a:solidFill>
            </a:endParaRPr>
          </a:p>
          <a:p>
            <a:endParaRPr lang="pt-BR" sz="2000" b="1" dirty="0">
              <a:solidFill>
                <a:srgbClr val="003399"/>
              </a:solidFill>
            </a:endParaRPr>
          </a:p>
          <a:p>
            <a:r>
              <a:rPr lang="pt-BR" sz="2000" b="1" dirty="0">
                <a:solidFill>
                  <a:srgbClr val="003399"/>
                </a:solidFill>
              </a:rPr>
              <a:t>8 </a:t>
            </a:r>
            <a:r>
              <a:rPr lang="pt-BR" sz="2000" b="1" dirty="0" err="1">
                <a:solidFill>
                  <a:srgbClr val="003399"/>
                </a:solidFill>
              </a:rPr>
              <a:t>bit’s</a:t>
            </a:r>
            <a:endParaRPr lang="pt-BR" sz="2000" b="1" dirty="0">
              <a:solidFill>
                <a:srgbClr val="003399"/>
              </a:solidFill>
            </a:endParaRPr>
          </a:p>
        </p:txBody>
      </p:sp>
      <p:sp>
        <p:nvSpPr>
          <p:cNvPr id="13" name="Retângulo 12"/>
          <p:cNvSpPr/>
          <p:nvPr/>
        </p:nvSpPr>
        <p:spPr>
          <a:xfrm>
            <a:off x="77207" y="1903274"/>
            <a:ext cx="4037593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Foco no essencial</a:t>
            </a:r>
          </a:p>
        </p:txBody>
      </p:sp>
    </p:spTree>
    <p:extLst>
      <p:ext uri="{BB962C8B-B14F-4D97-AF65-F5344CB8AC3E}">
        <p14:creationId xmlns:p14="http://schemas.microsoft.com/office/powerpoint/2010/main" val="3166305764"/>
      </p:ext>
    </p:extLst>
  </p:cSld>
  <p:clrMapOvr>
    <a:masterClrMapping/>
  </p:clrMapOvr>
  <p:transition>
    <p:fade thruBlk="1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010400" cy="1143000"/>
          </a:xfrm>
        </p:spPr>
        <p:txBody>
          <a:bodyPr/>
          <a:lstStyle/>
          <a:p>
            <a:r>
              <a:rPr lang="pt-BR" sz="3200" dirty="0">
                <a:solidFill>
                  <a:srgbClr val="C00000"/>
                </a:solidFill>
              </a:rPr>
              <a:t>Conversão de Base</a:t>
            </a:r>
            <a:br>
              <a:rPr lang="pt-BR" sz="3200" dirty="0">
                <a:solidFill>
                  <a:srgbClr val="C00000"/>
                </a:solidFill>
              </a:rPr>
            </a:br>
            <a:r>
              <a:rPr lang="pt-BR" sz="3200" dirty="0" err="1">
                <a:solidFill>
                  <a:srgbClr val="C00000"/>
                </a:solidFill>
              </a:rPr>
              <a:t>Binário</a:t>
            </a:r>
            <a:r>
              <a:rPr lang="pt-BR" sz="2000" dirty="0" err="1">
                <a:solidFill>
                  <a:srgbClr val="C00000"/>
                </a:solidFill>
                <a:sym typeface="Wingdings" panose="05000000000000000000" pitchFamily="2" charset="2"/>
              </a:rPr>
              <a:t></a:t>
            </a:r>
            <a:r>
              <a:rPr lang="pt-BR" sz="3200" dirty="0" err="1">
                <a:solidFill>
                  <a:srgbClr val="C00000"/>
                </a:solidFill>
              </a:rPr>
              <a:t>Decimal</a:t>
            </a:r>
            <a:r>
              <a:rPr lang="pt-BR" sz="3200" dirty="0">
                <a:solidFill>
                  <a:srgbClr val="C00000"/>
                </a:solidFill>
              </a:rPr>
              <a:t> </a:t>
            </a:r>
          </a:p>
        </p:txBody>
      </p:sp>
      <p:pic>
        <p:nvPicPr>
          <p:cNvPr id="8" name="Picture 14" descr="https://encrypted-tbn3.gstatic.com/images?q=tbn:ANd9GcSTT9hB4C6uDhPnHuFGStflSkVy-vqD__r9IdfQHez91DYRk1QWOw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919686" y="29028"/>
            <a:ext cx="2209800" cy="1447800"/>
          </a:xfrm>
          <a:prstGeom prst="rect">
            <a:avLst/>
          </a:prstGeom>
          <a:noFill/>
        </p:spPr>
      </p:pic>
      <p:sp>
        <p:nvSpPr>
          <p:cNvPr id="46" name="CaixaDeTexto 45"/>
          <p:cNvSpPr txBox="1"/>
          <p:nvPr/>
        </p:nvSpPr>
        <p:spPr>
          <a:xfrm>
            <a:off x="1600200" y="5335822"/>
            <a:ext cx="73901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b="1" dirty="0">
                <a:solidFill>
                  <a:schemeClr val="accent2"/>
                </a:solidFill>
              </a:rPr>
              <a:t>  6                5             4             3              2               1              0 </a:t>
            </a:r>
          </a:p>
        </p:txBody>
      </p:sp>
      <p:sp>
        <p:nvSpPr>
          <p:cNvPr id="47" name="CaixaDeTexto 46"/>
          <p:cNvSpPr txBox="1"/>
          <p:nvPr/>
        </p:nvSpPr>
        <p:spPr>
          <a:xfrm>
            <a:off x="304800" y="5493603"/>
            <a:ext cx="858921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800" b="1" dirty="0"/>
              <a:t>2     2     2    2    2     2     2     2</a:t>
            </a:r>
            <a:endParaRPr lang="pt-BR" sz="4800" b="1" dirty="0">
              <a:solidFill>
                <a:srgbClr val="C00000"/>
              </a:solidFill>
            </a:endParaRPr>
          </a:p>
        </p:txBody>
      </p:sp>
      <p:pic>
        <p:nvPicPr>
          <p:cNvPr id="40962" name="Picture 2" descr="https://encrypted-tbn3.gstatic.com/images?q=tbn:ANd9GcRLoLaqpkvxBZ9IFJN8qn_-zIF-XTyYcuw5NO8m1WM-Pakzm5s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33360" y="4226158"/>
            <a:ext cx="914400" cy="790514"/>
          </a:xfrm>
          <a:prstGeom prst="rect">
            <a:avLst/>
          </a:prstGeom>
          <a:noFill/>
        </p:spPr>
      </p:pic>
      <p:sp>
        <p:nvSpPr>
          <p:cNvPr id="22" name="CaixaDeTexto 21"/>
          <p:cNvSpPr txBox="1"/>
          <p:nvPr/>
        </p:nvSpPr>
        <p:spPr>
          <a:xfrm>
            <a:off x="8367712" y="4401283"/>
            <a:ext cx="4330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>
                <a:solidFill>
                  <a:srgbClr val="C00000"/>
                </a:solidFill>
              </a:rPr>
              <a:t>1 </a:t>
            </a:r>
          </a:p>
        </p:txBody>
      </p:sp>
      <p:sp>
        <p:nvSpPr>
          <p:cNvPr id="26" name="CaixaDeTexto 25"/>
          <p:cNvSpPr txBox="1"/>
          <p:nvPr/>
        </p:nvSpPr>
        <p:spPr>
          <a:xfrm>
            <a:off x="7162800" y="4388086"/>
            <a:ext cx="4330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>
                <a:solidFill>
                  <a:srgbClr val="C00000"/>
                </a:solidFill>
              </a:rPr>
              <a:t>2 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5946361" y="4401283"/>
            <a:ext cx="4330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>
                <a:solidFill>
                  <a:srgbClr val="C00000"/>
                </a:solidFill>
              </a:rPr>
              <a:t>4 </a:t>
            </a:r>
          </a:p>
        </p:txBody>
      </p:sp>
      <p:sp>
        <p:nvSpPr>
          <p:cNvPr id="33" name="CaixaDeTexto 32"/>
          <p:cNvSpPr txBox="1"/>
          <p:nvPr/>
        </p:nvSpPr>
        <p:spPr>
          <a:xfrm>
            <a:off x="4862512" y="4388086"/>
            <a:ext cx="4330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>
                <a:solidFill>
                  <a:srgbClr val="C00000"/>
                </a:solidFill>
              </a:rPr>
              <a:t>8 </a:t>
            </a:r>
          </a:p>
        </p:txBody>
      </p:sp>
      <p:sp>
        <p:nvSpPr>
          <p:cNvPr id="34" name="CaixaDeTexto 33"/>
          <p:cNvSpPr txBox="1"/>
          <p:nvPr/>
        </p:nvSpPr>
        <p:spPr>
          <a:xfrm>
            <a:off x="3733800" y="4392846"/>
            <a:ext cx="609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>
                <a:solidFill>
                  <a:srgbClr val="C00000"/>
                </a:solidFill>
              </a:rPr>
              <a:t>16 </a:t>
            </a:r>
          </a:p>
        </p:txBody>
      </p:sp>
      <p:sp>
        <p:nvSpPr>
          <p:cNvPr id="35" name="CaixaDeTexto 34"/>
          <p:cNvSpPr txBox="1"/>
          <p:nvPr/>
        </p:nvSpPr>
        <p:spPr>
          <a:xfrm>
            <a:off x="2743200" y="4378558"/>
            <a:ext cx="609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>
                <a:solidFill>
                  <a:srgbClr val="C00000"/>
                </a:solidFill>
              </a:rPr>
              <a:t>32 </a:t>
            </a:r>
          </a:p>
        </p:txBody>
      </p:sp>
      <p:sp>
        <p:nvSpPr>
          <p:cNvPr id="36" name="CaixaDeTexto 35"/>
          <p:cNvSpPr txBox="1"/>
          <p:nvPr/>
        </p:nvSpPr>
        <p:spPr>
          <a:xfrm>
            <a:off x="1447800" y="4388078"/>
            <a:ext cx="609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>
                <a:solidFill>
                  <a:srgbClr val="C00000"/>
                </a:solidFill>
              </a:rPr>
              <a:t>64 </a:t>
            </a:r>
          </a:p>
        </p:txBody>
      </p:sp>
      <p:cxnSp>
        <p:nvCxnSpPr>
          <p:cNvPr id="3" name="Conector de Seta Reta 2"/>
          <p:cNvCxnSpPr/>
          <p:nvPr/>
        </p:nvCxnSpPr>
        <p:spPr>
          <a:xfrm flipV="1">
            <a:off x="8567736" y="4986908"/>
            <a:ext cx="0" cy="382250"/>
          </a:xfrm>
          <a:prstGeom prst="straightConnector1">
            <a:avLst/>
          </a:prstGeom>
          <a:ln w="25400">
            <a:solidFill>
              <a:schemeClr val="tx1">
                <a:alpha val="9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de Seta Reta 37"/>
          <p:cNvCxnSpPr/>
          <p:nvPr/>
        </p:nvCxnSpPr>
        <p:spPr>
          <a:xfrm flipV="1">
            <a:off x="7358064" y="4988158"/>
            <a:ext cx="0" cy="382250"/>
          </a:xfrm>
          <a:prstGeom prst="straightConnector1">
            <a:avLst/>
          </a:prstGeom>
          <a:ln w="25400">
            <a:solidFill>
              <a:schemeClr val="tx1">
                <a:alpha val="9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de Seta Reta 38"/>
          <p:cNvCxnSpPr/>
          <p:nvPr/>
        </p:nvCxnSpPr>
        <p:spPr>
          <a:xfrm flipV="1">
            <a:off x="6153152" y="4988158"/>
            <a:ext cx="0" cy="382250"/>
          </a:xfrm>
          <a:prstGeom prst="straightConnector1">
            <a:avLst/>
          </a:prstGeom>
          <a:ln w="25400">
            <a:solidFill>
              <a:schemeClr val="tx1">
                <a:alpha val="9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 de Seta Reta 39"/>
          <p:cNvCxnSpPr/>
          <p:nvPr/>
        </p:nvCxnSpPr>
        <p:spPr>
          <a:xfrm flipV="1">
            <a:off x="5029200" y="4988158"/>
            <a:ext cx="0" cy="382250"/>
          </a:xfrm>
          <a:prstGeom prst="straightConnector1">
            <a:avLst/>
          </a:prstGeom>
          <a:ln w="25400">
            <a:solidFill>
              <a:schemeClr val="tx1">
                <a:alpha val="9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de Seta Reta 40"/>
          <p:cNvCxnSpPr/>
          <p:nvPr/>
        </p:nvCxnSpPr>
        <p:spPr>
          <a:xfrm flipV="1">
            <a:off x="4005264" y="4988158"/>
            <a:ext cx="0" cy="382250"/>
          </a:xfrm>
          <a:prstGeom prst="straightConnector1">
            <a:avLst/>
          </a:prstGeom>
          <a:ln w="25400">
            <a:solidFill>
              <a:schemeClr val="tx1">
                <a:alpha val="9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ector de Seta Reta 41"/>
          <p:cNvCxnSpPr/>
          <p:nvPr/>
        </p:nvCxnSpPr>
        <p:spPr>
          <a:xfrm flipV="1">
            <a:off x="2971800" y="4988158"/>
            <a:ext cx="0" cy="382250"/>
          </a:xfrm>
          <a:prstGeom prst="straightConnector1">
            <a:avLst/>
          </a:prstGeom>
          <a:ln w="25400">
            <a:solidFill>
              <a:schemeClr val="tx1">
                <a:alpha val="9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de Seta Reta 42"/>
          <p:cNvCxnSpPr/>
          <p:nvPr/>
        </p:nvCxnSpPr>
        <p:spPr>
          <a:xfrm flipV="1">
            <a:off x="1752600" y="4988158"/>
            <a:ext cx="0" cy="382250"/>
          </a:xfrm>
          <a:prstGeom prst="straightConnector1">
            <a:avLst/>
          </a:prstGeom>
          <a:ln w="25400">
            <a:solidFill>
              <a:schemeClr val="tx1">
                <a:alpha val="9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de Seta Reta 43"/>
          <p:cNvCxnSpPr/>
          <p:nvPr/>
        </p:nvCxnSpPr>
        <p:spPr>
          <a:xfrm flipV="1">
            <a:off x="609600" y="4988158"/>
            <a:ext cx="0" cy="382250"/>
          </a:xfrm>
          <a:prstGeom prst="straightConnector1">
            <a:avLst/>
          </a:prstGeom>
          <a:ln w="25400">
            <a:solidFill>
              <a:schemeClr val="tx1">
                <a:alpha val="9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tângulo 12"/>
          <p:cNvSpPr/>
          <p:nvPr/>
        </p:nvSpPr>
        <p:spPr>
          <a:xfrm>
            <a:off x="763007" y="1676400"/>
            <a:ext cx="4037593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54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Abstração</a:t>
            </a:r>
            <a:endParaRPr lang="pt-BR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4" name="Retângulo 3"/>
          <p:cNvSpPr/>
          <p:nvPr/>
        </p:nvSpPr>
        <p:spPr>
          <a:xfrm>
            <a:off x="320965" y="2819400"/>
            <a:ext cx="4543231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pt-BR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Porque sabemos que é uma zebra???</a:t>
            </a:r>
          </a:p>
        </p:txBody>
      </p:sp>
      <p:sp>
        <p:nvSpPr>
          <p:cNvPr id="48" name="Retângulo 47"/>
          <p:cNvSpPr/>
          <p:nvPr/>
        </p:nvSpPr>
        <p:spPr>
          <a:xfrm>
            <a:off x="686807" y="3267670"/>
            <a:ext cx="4037593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54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Lista</a:t>
            </a:r>
            <a:endParaRPr lang="pt-BR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342719630"/>
      </p:ext>
    </p:extLst>
  </p:cSld>
  <p:clrMapOvr>
    <a:masterClrMapping/>
  </p:clrMapOvr>
  <p:transition>
    <p:fade thruBlk="1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010400" cy="1143000"/>
          </a:xfrm>
        </p:spPr>
        <p:txBody>
          <a:bodyPr/>
          <a:lstStyle/>
          <a:p>
            <a:r>
              <a:rPr lang="pt-BR" sz="3200" dirty="0">
                <a:solidFill>
                  <a:srgbClr val="C00000"/>
                </a:solidFill>
              </a:rPr>
              <a:t>Conversão de Base</a:t>
            </a:r>
            <a:br>
              <a:rPr lang="pt-BR" sz="3200" dirty="0">
                <a:solidFill>
                  <a:srgbClr val="C00000"/>
                </a:solidFill>
              </a:rPr>
            </a:br>
            <a:r>
              <a:rPr lang="pt-BR" sz="3200" dirty="0" err="1">
                <a:solidFill>
                  <a:srgbClr val="C00000"/>
                </a:solidFill>
              </a:rPr>
              <a:t>Binário</a:t>
            </a:r>
            <a:r>
              <a:rPr lang="pt-BR" sz="2000" dirty="0" err="1">
                <a:solidFill>
                  <a:srgbClr val="C00000"/>
                </a:solidFill>
                <a:sym typeface="Wingdings" panose="05000000000000000000" pitchFamily="2" charset="2"/>
              </a:rPr>
              <a:t></a:t>
            </a:r>
            <a:r>
              <a:rPr lang="pt-BR" sz="3200" dirty="0" err="1">
                <a:solidFill>
                  <a:srgbClr val="C00000"/>
                </a:solidFill>
              </a:rPr>
              <a:t>Decimal</a:t>
            </a:r>
            <a:r>
              <a:rPr lang="pt-BR" sz="3200" dirty="0">
                <a:solidFill>
                  <a:srgbClr val="C00000"/>
                </a:solidFill>
              </a:rPr>
              <a:t> </a:t>
            </a:r>
          </a:p>
        </p:txBody>
      </p:sp>
      <p:pic>
        <p:nvPicPr>
          <p:cNvPr id="8" name="Picture 14" descr="https://encrypted-tbn3.gstatic.com/images?q=tbn:ANd9GcSTT9hB4C6uDhPnHuFGStflSkVy-vqD__r9IdfQHez91DYRk1QWOw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919686" y="29028"/>
            <a:ext cx="2209800" cy="1447800"/>
          </a:xfrm>
          <a:prstGeom prst="rect">
            <a:avLst/>
          </a:prstGeom>
          <a:noFill/>
        </p:spPr>
      </p:pic>
      <p:sp>
        <p:nvSpPr>
          <p:cNvPr id="46" name="CaixaDeTexto 45"/>
          <p:cNvSpPr txBox="1"/>
          <p:nvPr/>
        </p:nvSpPr>
        <p:spPr>
          <a:xfrm>
            <a:off x="1600200" y="2862264"/>
            <a:ext cx="73901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b="1" dirty="0">
                <a:solidFill>
                  <a:schemeClr val="accent2"/>
                </a:solidFill>
              </a:rPr>
              <a:t>  6                5             4             3              2               1              0 </a:t>
            </a:r>
          </a:p>
        </p:txBody>
      </p:sp>
      <p:sp>
        <p:nvSpPr>
          <p:cNvPr id="47" name="CaixaDeTexto 46"/>
          <p:cNvSpPr txBox="1"/>
          <p:nvPr/>
        </p:nvSpPr>
        <p:spPr>
          <a:xfrm>
            <a:off x="304800" y="3020045"/>
            <a:ext cx="858921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800" b="1" dirty="0"/>
              <a:t>2     2     2    2    2     2     2     2</a:t>
            </a:r>
            <a:endParaRPr lang="pt-BR" sz="4800" b="1" dirty="0">
              <a:solidFill>
                <a:srgbClr val="C00000"/>
              </a:solidFill>
            </a:endParaRPr>
          </a:p>
        </p:txBody>
      </p:sp>
      <p:pic>
        <p:nvPicPr>
          <p:cNvPr id="40962" name="Picture 2" descr="https://encrypted-tbn3.gstatic.com/images?q=tbn:ANd9GcRLoLaqpkvxBZ9IFJN8qn_-zIF-XTyYcuw5NO8m1WM-Pakzm5s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33360" y="1752600"/>
            <a:ext cx="914400" cy="790514"/>
          </a:xfrm>
          <a:prstGeom prst="rect">
            <a:avLst/>
          </a:prstGeom>
          <a:noFill/>
        </p:spPr>
      </p:pic>
      <p:sp>
        <p:nvSpPr>
          <p:cNvPr id="22" name="CaixaDeTexto 21"/>
          <p:cNvSpPr txBox="1"/>
          <p:nvPr/>
        </p:nvSpPr>
        <p:spPr>
          <a:xfrm>
            <a:off x="8367712" y="1927725"/>
            <a:ext cx="4330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>
                <a:solidFill>
                  <a:srgbClr val="C00000"/>
                </a:solidFill>
              </a:rPr>
              <a:t>1 </a:t>
            </a:r>
          </a:p>
        </p:txBody>
      </p:sp>
      <p:sp>
        <p:nvSpPr>
          <p:cNvPr id="26" name="CaixaDeTexto 25"/>
          <p:cNvSpPr txBox="1"/>
          <p:nvPr/>
        </p:nvSpPr>
        <p:spPr>
          <a:xfrm>
            <a:off x="7162800" y="1914528"/>
            <a:ext cx="4330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>
                <a:solidFill>
                  <a:srgbClr val="C00000"/>
                </a:solidFill>
              </a:rPr>
              <a:t>2 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5946361" y="1927725"/>
            <a:ext cx="4330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>
                <a:solidFill>
                  <a:srgbClr val="C00000"/>
                </a:solidFill>
              </a:rPr>
              <a:t>4 </a:t>
            </a:r>
          </a:p>
        </p:txBody>
      </p:sp>
      <p:sp>
        <p:nvSpPr>
          <p:cNvPr id="33" name="CaixaDeTexto 32"/>
          <p:cNvSpPr txBox="1"/>
          <p:nvPr/>
        </p:nvSpPr>
        <p:spPr>
          <a:xfrm>
            <a:off x="4862512" y="1914528"/>
            <a:ext cx="4330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>
                <a:solidFill>
                  <a:srgbClr val="C00000"/>
                </a:solidFill>
              </a:rPr>
              <a:t>8 </a:t>
            </a:r>
          </a:p>
        </p:txBody>
      </p:sp>
      <p:sp>
        <p:nvSpPr>
          <p:cNvPr id="34" name="CaixaDeTexto 33"/>
          <p:cNvSpPr txBox="1"/>
          <p:nvPr/>
        </p:nvSpPr>
        <p:spPr>
          <a:xfrm>
            <a:off x="3733800" y="1919288"/>
            <a:ext cx="609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>
                <a:solidFill>
                  <a:srgbClr val="C00000"/>
                </a:solidFill>
              </a:rPr>
              <a:t>16 </a:t>
            </a:r>
          </a:p>
        </p:txBody>
      </p:sp>
      <p:sp>
        <p:nvSpPr>
          <p:cNvPr id="35" name="CaixaDeTexto 34"/>
          <p:cNvSpPr txBox="1"/>
          <p:nvPr/>
        </p:nvSpPr>
        <p:spPr>
          <a:xfrm>
            <a:off x="2743200" y="1905000"/>
            <a:ext cx="609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>
                <a:solidFill>
                  <a:srgbClr val="C00000"/>
                </a:solidFill>
              </a:rPr>
              <a:t>32 </a:t>
            </a:r>
          </a:p>
        </p:txBody>
      </p:sp>
      <p:sp>
        <p:nvSpPr>
          <p:cNvPr id="36" name="CaixaDeTexto 35"/>
          <p:cNvSpPr txBox="1"/>
          <p:nvPr/>
        </p:nvSpPr>
        <p:spPr>
          <a:xfrm>
            <a:off x="1447800" y="1914520"/>
            <a:ext cx="609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>
                <a:solidFill>
                  <a:srgbClr val="C00000"/>
                </a:solidFill>
              </a:rPr>
              <a:t>64 </a:t>
            </a:r>
          </a:p>
        </p:txBody>
      </p:sp>
      <p:sp>
        <p:nvSpPr>
          <p:cNvPr id="2" name="Chave Esquerda 1"/>
          <p:cNvSpPr/>
          <p:nvPr/>
        </p:nvSpPr>
        <p:spPr>
          <a:xfrm rot="16200000">
            <a:off x="6562723" y="2033589"/>
            <a:ext cx="304801" cy="3705224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75449348"/>
      </p:ext>
    </p:extLst>
  </p:cSld>
  <p:clrMapOvr>
    <a:masterClrMapping/>
  </p:clrMapOvr>
  <p:transition>
    <p:fade thruBlk="1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010400" cy="1143000"/>
          </a:xfrm>
        </p:spPr>
        <p:txBody>
          <a:bodyPr/>
          <a:lstStyle/>
          <a:p>
            <a:r>
              <a:rPr lang="pt-BR" sz="3200" dirty="0">
                <a:solidFill>
                  <a:srgbClr val="C00000"/>
                </a:solidFill>
              </a:rPr>
              <a:t>Conversão de Base</a:t>
            </a:r>
            <a:br>
              <a:rPr lang="pt-BR" sz="3200" dirty="0">
                <a:solidFill>
                  <a:srgbClr val="C00000"/>
                </a:solidFill>
              </a:rPr>
            </a:br>
            <a:r>
              <a:rPr lang="pt-BR" sz="3200" dirty="0" err="1">
                <a:solidFill>
                  <a:srgbClr val="C00000"/>
                </a:solidFill>
              </a:rPr>
              <a:t>Binário</a:t>
            </a:r>
            <a:r>
              <a:rPr lang="pt-BR" sz="2000" dirty="0" err="1">
                <a:solidFill>
                  <a:srgbClr val="C00000"/>
                </a:solidFill>
                <a:sym typeface="Wingdings" panose="05000000000000000000" pitchFamily="2" charset="2"/>
              </a:rPr>
              <a:t></a:t>
            </a:r>
            <a:r>
              <a:rPr lang="pt-BR" sz="3200" dirty="0" err="1">
                <a:solidFill>
                  <a:srgbClr val="C00000"/>
                </a:solidFill>
              </a:rPr>
              <a:t>Decimal</a:t>
            </a:r>
            <a:r>
              <a:rPr lang="pt-BR" sz="3200" dirty="0">
                <a:solidFill>
                  <a:srgbClr val="C00000"/>
                </a:solidFill>
              </a:rPr>
              <a:t> </a:t>
            </a:r>
          </a:p>
        </p:txBody>
      </p:sp>
      <p:pic>
        <p:nvPicPr>
          <p:cNvPr id="8" name="Picture 14" descr="https://encrypted-tbn3.gstatic.com/images?q=tbn:ANd9GcSTT9hB4C6uDhPnHuFGStflSkVy-vqD__r9IdfQHez91DYRk1QWOw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919686" y="29028"/>
            <a:ext cx="2209800" cy="1447800"/>
          </a:xfrm>
          <a:prstGeom prst="rect">
            <a:avLst/>
          </a:prstGeom>
          <a:noFill/>
        </p:spPr>
      </p:pic>
      <p:sp>
        <p:nvSpPr>
          <p:cNvPr id="46" name="CaixaDeTexto 45"/>
          <p:cNvSpPr txBox="1"/>
          <p:nvPr/>
        </p:nvSpPr>
        <p:spPr>
          <a:xfrm>
            <a:off x="1600200" y="2862264"/>
            <a:ext cx="73901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b="1" dirty="0">
                <a:solidFill>
                  <a:schemeClr val="accent2"/>
                </a:solidFill>
              </a:rPr>
              <a:t>  6                5             4             3              2               1              0 </a:t>
            </a:r>
          </a:p>
        </p:txBody>
      </p:sp>
      <p:sp>
        <p:nvSpPr>
          <p:cNvPr id="47" name="CaixaDeTexto 46"/>
          <p:cNvSpPr txBox="1"/>
          <p:nvPr/>
        </p:nvSpPr>
        <p:spPr>
          <a:xfrm>
            <a:off x="304800" y="3020045"/>
            <a:ext cx="858921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800" b="1" dirty="0"/>
              <a:t>2     2     2    2    2     2     2     2</a:t>
            </a:r>
            <a:endParaRPr lang="pt-BR" sz="4800" b="1" dirty="0">
              <a:solidFill>
                <a:srgbClr val="C00000"/>
              </a:solidFill>
            </a:endParaRPr>
          </a:p>
        </p:txBody>
      </p:sp>
      <p:pic>
        <p:nvPicPr>
          <p:cNvPr id="40962" name="Picture 2" descr="https://encrypted-tbn3.gstatic.com/images?q=tbn:ANd9GcRLoLaqpkvxBZ9IFJN8qn_-zIF-XTyYcuw5NO8m1WM-Pakzm5s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33360" y="1752600"/>
            <a:ext cx="914400" cy="790514"/>
          </a:xfrm>
          <a:prstGeom prst="rect">
            <a:avLst/>
          </a:prstGeom>
          <a:noFill/>
        </p:spPr>
      </p:pic>
      <p:sp>
        <p:nvSpPr>
          <p:cNvPr id="22" name="CaixaDeTexto 21"/>
          <p:cNvSpPr txBox="1"/>
          <p:nvPr/>
        </p:nvSpPr>
        <p:spPr>
          <a:xfrm>
            <a:off x="8367712" y="1927725"/>
            <a:ext cx="4330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>
                <a:solidFill>
                  <a:srgbClr val="C00000"/>
                </a:solidFill>
              </a:rPr>
              <a:t>1 </a:t>
            </a:r>
          </a:p>
        </p:txBody>
      </p:sp>
      <p:sp>
        <p:nvSpPr>
          <p:cNvPr id="26" name="CaixaDeTexto 25"/>
          <p:cNvSpPr txBox="1"/>
          <p:nvPr/>
        </p:nvSpPr>
        <p:spPr>
          <a:xfrm>
            <a:off x="7162800" y="1914528"/>
            <a:ext cx="4330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>
                <a:solidFill>
                  <a:srgbClr val="C00000"/>
                </a:solidFill>
              </a:rPr>
              <a:t>2 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5946361" y="1927725"/>
            <a:ext cx="4330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>
                <a:solidFill>
                  <a:srgbClr val="C00000"/>
                </a:solidFill>
              </a:rPr>
              <a:t>4 </a:t>
            </a:r>
          </a:p>
        </p:txBody>
      </p:sp>
      <p:sp>
        <p:nvSpPr>
          <p:cNvPr id="33" name="CaixaDeTexto 32"/>
          <p:cNvSpPr txBox="1"/>
          <p:nvPr/>
        </p:nvSpPr>
        <p:spPr>
          <a:xfrm>
            <a:off x="4862512" y="1914528"/>
            <a:ext cx="4330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>
                <a:solidFill>
                  <a:srgbClr val="C00000"/>
                </a:solidFill>
              </a:rPr>
              <a:t>8 </a:t>
            </a:r>
          </a:p>
        </p:txBody>
      </p:sp>
      <p:sp>
        <p:nvSpPr>
          <p:cNvPr id="34" name="CaixaDeTexto 33"/>
          <p:cNvSpPr txBox="1"/>
          <p:nvPr/>
        </p:nvSpPr>
        <p:spPr>
          <a:xfrm>
            <a:off x="3733800" y="1919288"/>
            <a:ext cx="609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>
                <a:solidFill>
                  <a:srgbClr val="C00000"/>
                </a:solidFill>
              </a:rPr>
              <a:t>16 </a:t>
            </a:r>
          </a:p>
        </p:txBody>
      </p:sp>
      <p:sp>
        <p:nvSpPr>
          <p:cNvPr id="35" name="CaixaDeTexto 34"/>
          <p:cNvSpPr txBox="1"/>
          <p:nvPr/>
        </p:nvSpPr>
        <p:spPr>
          <a:xfrm>
            <a:off x="2743200" y="1905000"/>
            <a:ext cx="609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>
                <a:solidFill>
                  <a:srgbClr val="C00000"/>
                </a:solidFill>
              </a:rPr>
              <a:t>32 </a:t>
            </a:r>
          </a:p>
        </p:txBody>
      </p:sp>
      <p:sp>
        <p:nvSpPr>
          <p:cNvPr id="36" name="CaixaDeTexto 35"/>
          <p:cNvSpPr txBox="1"/>
          <p:nvPr/>
        </p:nvSpPr>
        <p:spPr>
          <a:xfrm>
            <a:off x="1447800" y="1914520"/>
            <a:ext cx="609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>
                <a:solidFill>
                  <a:srgbClr val="C00000"/>
                </a:solidFill>
              </a:rPr>
              <a:t>64 </a:t>
            </a:r>
          </a:p>
        </p:txBody>
      </p:sp>
      <p:sp>
        <p:nvSpPr>
          <p:cNvPr id="2" name="Chave Esquerda 1"/>
          <p:cNvSpPr/>
          <p:nvPr/>
        </p:nvSpPr>
        <p:spPr>
          <a:xfrm rot="16200000">
            <a:off x="6562723" y="2033589"/>
            <a:ext cx="304801" cy="3705224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4F857AA4-74D6-461F-B6FA-2F0C140CF195}"/>
              </a:ext>
            </a:extLst>
          </p:cNvPr>
          <p:cNvGraphicFramePr>
            <a:graphicFrameLocks noGrp="1"/>
          </p:cNvGraphicFramePr>
          <p:nvPr/>
        </p:nvGraphicFramePr>
        <p:xfrm>
          <a:off x="1435846" y="1696918"/>
          <a:ext cx="1307354" cy="4704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230">
                  <a:extLst>
                    <a:ext uri="{9D8B030D-6E8A-4147-A177-3AD203B41FA5}">
                      <a16:colId xmlns:a16="http://schemas.microsoft.com/office/drawing/2014/main" val="1877514277"/>
                    </a:ext>
                  </a:extLst>
                </a:gridCol>
                <a:gridCol w="316230">
                  <a:extLst>
                    <a:ext uri="{9D8B030D-6E8A-4147-A177-3AD203B41FA5}">
                      <a16:colId xmlns:a16="http://schemas.microsoft.com/office/drawing/2014/main" val="3182002160"/>
                    </a:ext>
                  </a:extLst>
                </a:gridCol>
                <a:gridCol w="316230">
                  <a:extLst>
                    <a:ext uri="{9D8B030D-6E8A-4147-A177-3AD203B41FA5}">
                      <a16:colId xmlns:a16="http://schemas.microsoft.com/office/drawing/2014/main" val="3026333392"/>
                    </a:ext>
                  </a:extLst>
                </a:gridCol>
                <a:gridCol w="358664">
                  <a:extLst>
                    <a:ext uri="{9D8B030D-6E8A-4147-A177-3AD203B41FA5}">
                      <a16:colId xmlns:a16="http://schemas.microsoft.com/office/drawing/2014/main" val="127950185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pt-BR" sz="14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4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4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8434642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pt-B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5169136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endParaRPr lang="pt-B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3543350"/>
                  </a:ext>
                </a:extLst>
              </a:tr>
              <a:tr h="127000">
                <a:tc>
                  <a:txBody>
                    <a:bodyPr/>
                    <a:lstStyle/>
                    <a:p>
                      <a:endParaRPr lang="pt-B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9143850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pt-B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43479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pt-B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8955820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pt-B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16255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pt-B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4533502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pt-B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0367501"/>
                  </a:ext>
                </a:extLst>
              </a:tr>
              <a:tr h="147320">
                <a:tc>
                  <a:txBody>
                    <a:bodyPr/>
                    <a:lstStyle/>
                    <a:p>
                      <a:endParaRPr lang="pt-B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932983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pt-B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3810882"/>
                  </a:ext>
                </a:extLst>
              </a:tr>
              <a:tr h="147320">
                <a:tc>
                  <a:txBody>
                    <a:bodyPr/>
                    <a:lstStyle/>
                    <a:p>
                      <a:endParaRPr lang="pt-B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1217653"/>
                  </a:ext>
                </a:extLst>
              </a:tr>
              <a:tr h="147320">
                <a:tc>
                  <a:txBody>
                    <a:bodyPr/>
                    <a:lstStyle/>
                    <a:p>
                      <a:endParaRPr lang="pt-B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9079314"/>
                  </a:ext>
                </a:extLst>
              </a:tr>
              <a:tr h="147320">
                <a:tc>
                  <a:txBody>
                    <a:bodyPr/>
                    <a:lstStyle/>
                    <a:p>
                      <a:endParaRPr lang="pt-B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3164668"/>
                  </a:ext>
                </a:extLst>
              </a:tr>
              <a:tr h="147320">
                <a:tc>
                  <a:txBody>
                    <a:bodyPr/>
                    <a:lstStyle/>
                    <a:p>
                      <a:endParaRPr lang="pt-B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11331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20159604"/>
      </p:ext>
    </p:extLst>
  </p:cSld>
  <p:clrMapOvr>
    <a:masterClrMapping/>
  </p:clrMapOvr>
  <p:transition>
    <p:fade thruBlk="1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010400" cy="1143000"/>
          </a:xfrm>
        </p:spPr>
        <p:txBody>
          <a:bodyPr/>
          <a:lstStyle/>
          <a:p>
            <a:r>
              <a:rPr lang="pt-BR" dirty="0">
                <a:solidFill>
                  <a:srgbClr val="C00000"/>
                </a:solidFill>
              </a:rPr>
              <a:t>Tabela ASCII</a:t>
            </a:r>
          </a:p>
        </p:txBody>
      </p:sp>
      <p:sp>
        <p:nvSpPr>
          <p:cNvPr id="10" name="Retângulo 9"/>
          <p:cNvSpPr/>
          <p:nvPr/>
        </p:nvSpPr>
        <p:spPr>
          <a:xfrm>
            <a:off x="0" y="1600200"/>
            <a:ext cx="914400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dirty="0"/>
              <a:t>Tabela </a:t>
            </a:r>
            <a:r>
              <a:rPr lang="pt-BR" dirty="0">
                <a:solidFill>
                  <a:srgbClr val="C00000"/>
                </a:solidFill>
              </a:rPr>
              <a:t>ASCII</a:t>
            </a:r>
            <a:r>
              <a:rPr lang="pt-BR" dirty="0"/>
              <a:t> A sigla ASCII deriva de </a:t>
            </a:r>
            <a:r>
              <a:rPr lang="pt-BR" dirty="0" err="1">
                <a:solidFill>
                  <a:srgbClr val="C00000"/>
                </a:solidFill>
              </a:rPr>
              <a:t>A</a:t>
            </a:r>
            <a:r>
              <a:rPr lang="pt-BR" dirty="0" err="1"/>
              <a:t>merican</a:t>
            </a:r>
            <a:r>
              <a:rPr lang="pt-BR" dirty="0"/>
              <a:t> </a:t>
            </a:r>
            <a:r>
              <a:rPr lang="pt-BR" dirty="0">
                <a:solidFill>
                  <a:srgbClr val="C00000"/>
                </a:solidFill>
              </a:rPr>
              <a:t>S</a:t>
            </a:r>
            <a:r>
              <a:rPr lang="pt-BR" dirty="0"/>
              <a:t>tandard </a:t>
            </a:r>
            <a:r>
              <a:rPr lang="pt-BR" dirty="0" err="1">
                <a:solidFill>
                  <a:srgbClr val="C00000"/>
                </a:solidFill>
              </a:rPr>
              <a:t>C</a:t>
            </a:r>
            <a:r>
              <a:rPr lang="pt-BR" dirty="0" err="1"/>
              <a:t>ode</a:t>
            </a:r>
            <a:r>
              <a:rPr lang="pt-BR" dirty="0"/>
              <a:t> for </a:t>
            </a:r>
            <a:r>
              <a:rPr lang="pt-BR" dirty="0" err="1">
                <a:solidFill>
                  <a:srgbClr val="C00000"/>
                </a:solidFill>
              </a:rPr>
              <a:t>I</a:t>
            </a:r>
            <a:r>
              <a:rPr lang="pt-BR" dirty="0" err="1"/>
              <a:t>nformation</a:t>
            </a:r>
            <a:r>
              <a:rPr lang="pt-BR" dirty="0"/>
              <a:t> </a:t>
            </a:r>
            <a:r>
              <a:rPr lang="pt-BR" dirty="0" err="1"/>
              <a:t>Interchange</a:t>
            </a:r>
            <a:r>
              <a:rPr lang="pt-BR" dirty="0"/>
              <a:t>, ou seja, Código no Padrão Americano para Troca de Informações. </a:t>
            </a:r>
          </a:p>
          <a:p>
            <a:pPr algn="just"/>
            <a:endParaRPr lang="pt-BR" dirty="0"/>
          </a:p>
          <a:p>
            <a:pPr algn="just"/>
            <a:r>
              <a:rPr lang="pt-BR" dirty="0"/>
              <a:t>Como os computadores lidam apenas com números, um código ASCII é a representação numérica dos caracteres. Quando os computadores venceram a barreira dos 8 bits, a tabela ASCII pôde ser ampliada para receber mais 128 códigos. Esta tabela ficou conhecida como caracteres ASCII estendidos (ou ampliados).</a:t>
            </a:r>
          </a:p>
        </p:txBody>
      </p:sp>
      <p:sp>
        <p:nvSpPr>
          <p:cNvPr id="37898" name="AutoShape 10" descr="https://encrypted-tbn3.gstatic.com/images?q=tbn:ANd9GcSTT9hB4C6uDhPnHuFGStflSkVy-vqD__r9IdfQHez91DYRk1QWOw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37900" name="AutoShape 12" descr="https://encrypted-tbn3.gstatic.com/images?q=tbn:ANd9GcSTT9hB4C6uDhPnHuFGStflSkVy-vqD__r9IdfQHez91DYRk1QWOw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37902" name="Picture 14" descr="https://encrypted-tbn3.gstatic.com/images?q=tbn:ANd9GcSTT9hB4C6uDhPnHuFGStflSkVy-vqD__r9IdfQHez91DYRk1QWOw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919686" y="29028"/>
            <a:ext cx="2209800" cy="1447800"/>
          </a:xfrm>
          <a:prstGeom prst="rect">
            <a:avLst/>
          </a:prstGeom>
          <a:noFill/>
        </p:spPr>
      </p:pic>
    </p:spTree>
  </p:cSld>
  <p:clrMapOvr>
    <a:masterClrMapping/>
  </p:clrMapOvr>
  <p:transition>
    <p:fade thruBlk="1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96" name="Picture 8" descr="http://s2.glbimg.com/fEu3dqWDHAo0Gi1rGJin--DMiT4=/695x0/s.glbimg.com/po/tt2/f/original/2015/02/12/imagem28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524000"/>
            <a:ext cx="9144000" cy="4953000"/>
          </a:xfrm>
          <a:prstGeom prst="rect">
            <a:avLst/>
          </a:prstGeom>
          <a:noFill/>
        </p:spPr>
      </p:pic>
      <p:sp>
        <p:nvSpPr>
          <p:cNvPr id="7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010400" cy="1143000"/>
          </a:xfrm>
        </p:spPr>
        <p:txBody>
          <a:bodyPr/>
          <a:lstStyle/>
          <a:p>
            <a:r>
              <a:rPr lang="pt-BR" dirty="0">
                <a:solidFill>
                  <a:srgbClr val="C00000"/>
                </a:solidFill>
              </a:rPr>
              <a:t>Tabela ASCII</a:t>
            </a:r>
          </a:p>
        </p:txBody>
      </p:sp>
      <p:pic>
        <p:nvPicPr>
          <p:cNvPr id="8" name="Picture 14" descr="https://encrypted-tbn3.gstatic.com/images?q=tbn:ANd9GcSTT9hB4C6uDhPnHuFGStflSkVy-vqD__r9IdfQHez91DYRk1QWOw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919686" y="29028"/>
            <a:ext cx="2209800" cy="1447800"/>
          </a:xfrm>
          <a:prstGeom prst="rect">
            <a:avLst/>
          </a:prstGeom>
          <a:noFill/>
        </p:spPr>
      </p:pic>
    </p:spTree>
  </p:cSld>
  <p:clrMapOvr>
    <a:masterClrMapping/>
  </p:clrMapOvr>
  <p:transition>
    <p:fade thruBlk="1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14" name="Picture 2" descr="http://www.infoisis.eti.br/image/ascii2.gi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524000"/>
            <a:ext cx="9144000" cy="4953000"/>
          </a:xfrm>
          <a:prstGeom prst="rect">
            <a:avLst/>
          </a:prstGeom>
          <a:noFill/>
        </p:spPr>
      </p:pic>
      <p:sp>
        <p:nvSpPr>
          <p:cNvPr id="8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010400" cy="1143000"/>
          </a:xfrm>
        </p:spPr>
        <p:txBody>
          <a:bodyPr/>
          <a:lstStyle/>
          <a:p>
            <a:r>
              <a:rPr lang="pt-BR" dirty="0">
                <a:solidFill>
                  <a:srgbClr val="C00000"/>
                </a:solidFill>
              </a:rPr>
              <a:t>Tabela ASCII</a:t>
            </a:r>
          </a:p>
        </p:txBody>
      </p:sp>
      <p:pic>
        <p:nvPicPr>
          <p:cNvPr id="9" name="Picture 14" descr="https://encrypted-tbn3.gstatic.com/images?q=tbn:ANd9GcSTT9hB4C6uDhPnHuFGStflSkVy-vqD__r9IdfQHez91DYRk1QWOw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919686" y="29028"/>
            <a:ext cx="2209800" cy="1447800"/>
          </a:xfrm>
          <a:prstGeom prst="rect">
            <a:avLst/>
          </a:prstGeom>
          <a:noFill/>
        </p:spPr>
      </p:pic>
    </p:spTree>
  </p:cSld>
  <p:clrMapOvr>
    <a:masterClrMapping/>
  </p:clrMapOvr>
  <p:transition>
    <p:fade thruBlk="1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76200"/>
            <a:ext cx="7010400" cy="1143000"/>
          </a:xfrm>
        </p:spPr>
        <p:txBody>
          <a:bodyPr/>
          <a:lstStyle/>
          <a:p>
            <a:r>
              <a:rPr lang="pt-BR" dirty="0" err="1"/>
              <a:t>Codigo</a:t>
            </a:r>
            <a:r>
              <a:rPr lang="pt-BR" dirty="0"/>
              <a:t>  Hexadecimal - </a:t>
            </a:r>
            <a:r>
              <a:rPr lang="pt-BR" dirty="0">
                <a:solidFill>
                  <a:srgbClr val="FF0000"/>
                </a:solidFill>
              </a:rPr>
              <a:t>\x</a:t>
            </a:r>
            <a:br>
              <a:rPr lang="pt-BR" dirty="0">
                <a:solidFill>
                  <a:srgbClr val="FF0000"/>
                </a:solidFill>
              </a:rPr>
            </a:br>
            <a:r>
              <a:rPr lang="pt-BR" dirty="0">
                <a:solidFill>
                  <a:srgbClr val="FF0000"/>
                </a:solidFill>
              </a:rPr>
              <a:t>Linguagem C</a:t>
            </a:r>
          </a:p>
        </p:txBody>
      </p:sp>
      <p:sp>
        <p:nvSpPr>
          <p:cNvPr id="8" name="CaixaDeTexto 7"/>
          <p:cNvSpPr txBox="1"/>
          <p:nvPr/>
        </p:nvSpPr>
        <p:spPr>
          <a:xfrm>
            <a:off x="381000" y="1442621"/>
            <a:ext cx="8763000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#include &lt;</a:t>
            </a:r>
            <a:r>
              <a:rPr lang="pt-BR" dirty="0" err="1"/>
              <a:t>stdio</a:t>
            </a:r>
            <a:r>
              <a:rPr lang="pt-BR" dirty="0"/>
              <a:t>.h&gt;  </a:t>
            </a:r>
            <a:r>
              <a:rPr lang="pt-BR" sz="1600" dirty="0"/>
              <a:t>.h</a:t>
            </a:r>
            <a:r>
              <a:rPr lang="pt-BR" sz="1600" dirty="0">
                <a:solidFill>
                  <a:srgbClr val="C00000"/>
                </a:solidFill>
              </a:rPr>
              <a:t>-&gt;Biblioteca padrão </a:t>
            </a:r>
            <a:r>
              <a:rPr lang="pt-BR" sz="1600" dirty="0" err="1">
                <a:solidFill>
                  <a:srgbClr val="C00000"/>
                </a:solidFill>
              </a:rPr>
              <a:t>std</a:t>
            </a:r>
            <a:r>
              <a:rPr lang="pt-BR" sz="1600" dirty="0">
                <a:solidFill>
                  <a:srgbClr val="C00000"/>
                </a:solidFill>
              </a:rPr>
              <a:t>-&gt; </a:t>
            </a:r>
            <a:r>
              <a:rPr lang="pt-BR" sz="1600" dirty="0" err="1">
                <a:solidFill>
                  <a:srgbClr val="C00000"/>
                </a:solidFill>
              </a:rPr>
              <a:t>standart</a:t>
            </a:r>
            <a:r>
              <a:rPr lang="pt-BR" sz="1600" dirty="0">
                <a:solidFill>
                  <a:srgbClr val="C00000"/>
                </a:solidFill>
              </a:rPr>
              <a:t>  i/o-&gt; input / output</a:t>
            </a:r>
            <a:r>
              <a:rPr lang="pt-BR" dirty="0"/>
              <a:t> #include &lt;</a:t>
            </a:r>
            <a:r>
              <a:rPr lang="pt-BR" dirty="0" err="1"/>
              <a:t>conio</a:t>
            </a:r>
            <a:r>
              <a:rPr lang="pt-BR" dirty="0"/>
              <a:t>.h&gt; </a:t>
            </a:r>
            <a:r>
              <a:rPr lang="pt-BR" sz="1600" dirty="0"/>
              <a:t>.h</a:t>
            </a:r>
            <a:r>
              <a:rPr lang="pt-BR" sz="1600" dirty="0">
                <a:solidFill>
                  <a:srgbClr val="C00000"/>
                </a:solidFill>
              </a:rPr>
              <a:t>-&gt;Biblioteca console </a:t>
            </a:r>
            <a:r>
              <a:rPr lang="pt-BR" sz="1600" dirty="0" err="1">
                <a:solidFill>
                  <a:srgbClr val="C00000"/>
                </a:solidFill>
              </a:rPr>
              <a:t>con</a:t>
            </a:r>
            <a:r>
              <a:rPr lang="pt-BR" sz="1600" dirty="0">
                <a:solidFill>
                  <a:srgbClr val="C00000"/>
                </a:solidFill>
              </a:rPr>
              <a:t>-&gt; console i/o-&gt; input / output</a:t>
            </a:r>
            <a:endParaRPr lang="pt-BR" dirty="0">
              <a:solidFill>
                <a:srgbClr val="C00000"/>
              </a:solidFill>
            </a:endParaRPr>
          </a:p>
          <a:p>
            <a:r>
              <a:rPr lang="pt-BR" sz="6000" dirty="0" err="1">
                <a:solidFill>
                  <a:srgbClr val="C00000"/>
                </a:solidFill>
              </a:rPr>
              <a:t>main</a:t>
            </a:r>
            <a:r>
              <a:rPr lang="pt-BR" sz="6000" dirty="0">
                <a:solidFill>
                  <a:srgbClr val="C00000"/>
                </a:solidFill>
              </a:rPr>
              <a:t>() </a:t>
            </a:r>
            <a:r>
              <a:rPr lang="pt-BR" sz="1600" dirty="0">
                <a:solidFill>
                  <a:schemeClr val="accent2"/>
                </a:solidFill>
              </a:rPr>
              <a:t>-&gt; Função principal</a:t>
            </a:r>
          </a:p>
          <a:p>
            <a:r>
              <a:rPr lang="pt-BR" sz="6000" dirty="0">
                <a:solidFill>
                  <a:schemeClr val="accent6"/>
                </a:solidFill>
              </a:rPr>
              <a:t>{</a:t>
            </a:r>
            <a:r>
              <a:rPr lang="pt-BR" sz="1800" dirty="0">
                <a:solidFill>
                  <a:schemeClr val="accent2"/>
                </a:solidFill>
              </a:rPr>
              <a:t>-&gt; Inicio </a:t>
            </a:r>
            <a:endParaRPr lang="pt-BR" sz="1800" dirty="0">
              <a:solidFill>
                <a:schemeClr val="accent6"/>
              </a:solidFill>
            </a:endParaRPr>
          </a:p>
          <a:p>
            <a:r>
              <a:rPr lang="pt-BR" sz="6000" dirty="0"/>
              <a:t>	</a:t>
            </a:r>
            <a:r>
              <a:rPr lang="pt-BR" sz="1800" dirty="0">
                <a:solidFill>
                  <a:schemeClr val="accent2"/>
                </a:solidFill>
              </a:rPr>
              <a:t>	-&gt; Corpo do programa</a:t>
            </a:r>
            <a:endParaRPr lang="pt-BR" sz="1800" dirty="0">
              <a:solidFill>
                <a:srgbClr val="C00000"/>
              </a:solidFill>
            </a:endParaRPr>
          </a:p>
          <a:p>
            <a:r>
              <a:rPr lang="pt-BR" sz="6000" dirty="0">
                <a:solidFill>
                  <a:schemeClr val="accent6"/>
                </a:solidFill>
              </a:rPr>
              <a:t>}</a:t>
            </a:r>
            <a:r>
              <a:rPr lang="pt-BR" sz="6000" dirty="0">
                <a:solidFill>
                  <a:schemeClr val="accent2"/>
                </a:solidFill>
              </a:rPr>
              <a:t> </a:t>
            </a:r>
            <a:r>
              <a:rPr lang="pt-BR" sz="1800" dirty="0">
                <a:solidFill>
                  <a:schemeClr val="accent2"/>
                </a:solidFill>
              </a:rPr>
              <a:t>-&gt; Fim</a:t>
            </a:r>
            <a:endParaRPr lang="pt-BR" sz="1800" dirty="0">
              <a:solidFill>
                <a:schemeClr val="accent6"/>
              </a:solidFill>
            </a:endParaRPr>
          </a:p>
          <a:p>
            <a:r>
              <a:rPr lang="pt-BR" dirty="0"/>
              <a:t>	</a:t>
            </a:r>
          </a:p>
        </p:txBody>
      </p:sp>
      <p:pic>
        <p:nvPicPr>
          <p:cNvPr id="7" name="Picture 14" descr="https://encrypted-tbn3.gstatic.com/images?q=tbn:ANd9GcSTT9hB4C6uDhPnHuFGStflSkVy-vqD__r9IdfQHez91DYRk1QWOw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919686" y="29028"/>
            <a:ext cx="2209800" cy="1447800"/>
          </a:xfrm>
          <a:prstGeom prst="rect">
            <a:avLst/>
          </a:prstGeom>
          <a:noFill/>
        </p:spPr>
      </p:pic>
    </p:spTree>
  </p:cSld>
  <p:clrMapOvr>
    <a:masterClrMapping/>
  </p:clrMapOvr>
  <p:transition>
    <p:fade thruBlk="1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aixaDeTexto 9"/>
          <p:cNvSpPr txBox="1"/>
          <p:nvPr/>
        </p:nvSpPr>
        <p:spPr>
          <a:xfrm>
            <a:off x="914400" y="1600200"/>
            <a:ext cx="723900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#include &lt;</a:t>
            </a:r>
            <a:r>
              <a:rPr lang="pt-BR" sz="2800" dirty="0" err="1"/>
              <a:t>stdio</a:t>
            </a:r>
            <a:r>
              <a:rPr lang="pt-BR" sz="2800" dirty="0"/>
              <a:t>.h&gt;</a:t>
            </a:r>
          </a:p>
          <a:p>
            <a:r>
              <a:rPr lang="pt-BR" sz="2800" dirty="0"/>
              <a:t>#include &lt;</a:t>
            </a:r>
            <a:r>
              <a:rPr lang="pt-BR" sz="2800" dirty="0" err="1"/>
              <a:t>conio</a:t>
            </a:r>
            <a:r>
              <a:rPr lang="pt-BR" sz="2800" dirty="0"/>
              <a:t>.h&gt;</a:t>
            </a:r>
          </a:p>
          <a:p>
            <a:endParaRPr lang="pt-BR" sz="2800" dirty="0"/>
          </a:p>
          <a:p>
            <a:r>
              <a:rPr lang="pt-BR" sz="2800" dirty="0" err="1">
                <a:solidFill>
                  <a:schemeClr val="accent6"/>
                </a:solidFill>
              </a:rPr>
              <a:t>main</a:t>
            </a:r>
            <a:r>
              <a:rPr lang="pt-BR" sz="2800" dirty="0">
                <a:solidFill>
                  <a:schemeClr val="accent6"/>
                </a:solidFill>
              </a:rPr>
              <a:t>()</a:t>
            </a:r>
          </a:p>
          <a:p>
            <a:r>
              <a:rPr lang="pt-BR" sz="2800" dirty="0">
                <a:solidFill>
                  <a:schemeClr val="accent6"/>
                </a:solidFill>
              </a:rPr>
              <a:t>{</a:t>
            </a:r>
          </a:p>
          <a:p>
            <a:r>
              <a:rPr lang="pt-BR" sz="2800" dirty="0"/>
              <a:t>	</a:t>
            </a:r>
            <a:r>
              <a:rPr lang="pt-BR" sz="2800" dirty="0" err="1">
                <a:solidFill>
                  <a:srgbClr val="FF0000"/>
                </a:solidFill>
              </a:rPr>
              <a:t>printf</a:t>
            </a:r>
            <a:r>
              <a:rPr lang="pt-BR" sz="2800" dirty="0"/>
              <a:t>(“\n\n”);</a:t>
            </a:r>
          </a:p>
          <a:p>
            <a:r>
              <a:rPr lang="pt-BR" sz="2800" dirty="0"/>
              <a:t>	</a:t>
            </a:r>
            <a:r>
              <a:rPr lang="pt-BR" sz="2800" dirty="0" err="1">
                <a:solidFill>
                  <a:srgbClr val="FF0000"/>
                </a:solidFill>
              </a:rPr>
              <a:t>printf</a:t>
            </a:r>
            <a:r>
              <a:rPr lang="pt-BR" sz="2800" dirty="0"/>
              <a:t>(“\n\xC9\xCD\</a:t>
            </a:r>
            <a:r>
              <a:rPr lang="pt-BR" sz="2800" dirty="0" err="1"/>
              <a:t>xBB</a:t>
            </a:r>
            <a:r>
              <a:rPr lang="pt-BR" sz="2800" dirty="0"/>
              <a:t>”);</a:t>
            </a:r>
          </a:p>
          <a:p>
            <a:r>
              <a:rPr lang="pt-BR" sz="2800" dirty="0"/>
              <a:t>	</a:t>
            </a:r>
            <a:r>
              <a:rPr lang="pt-BR" sz="2800" dirty="0" err="1">
                <a:solidFill>
                  <a:srgbClr val="FF0000"/>
                </a:solidFill>
              </a:rPr>
              <a:t>printf</a:t>
            </a:r>
            <a:r>
              <a:rPr lang="pt-BR" sz="2800" dirty="0"/>
              <a:t>( “\n\</a:t>
            </a:r>
            <a:r>
              <a:rPr lang="pt-BR" sz="2800" dirty="0" err="1"/>
              <a:t>xBA</a:t>
            </a:r>
            <a:r>
              <a:rPr lang="pt-BR" sz="2800" dirty="0"/>
              <a:t>\XBA”);</a:t>
            </a:r>
          </a:p>
          <a:p>
            <a:r>
              <a:rPr lang="pt-BR" sz="2800" dirty="0"/>
              <a:t>	</a:t>
            </a:r>
            <a:r>
              <a:rPr lang="pt-BR" sz="2800" dirty="0" err="1">
                <a:solidFill>
                  <a:srgbClr val="FF0000"/>
                </a:solidFill>
              </a:rPr>
              <a:t>printf</a:t>
            </a:r>
            <a:r>
              <a:rPr lang="pt-BR" sz="2800" dirty="0"/>
              <a:t>(“\n\xC8\xCD\</a:t>
            </a:r>
            <a:r>
              <a:rPr lang="pt-BR" sz="2800" dirty="0" err="1"/>
              <a:t>xBC</a:t>
            </a:r>
            <a:r>
              <a:rPr lang="pt-BR" sz="2800" dirty="0"/>
              <a:t>”);</a:t>
            </a:r>
          </a:p>
          <a:p>
            <a:r>
              <a:rPr lang="pt-BR" sz="2800" dirty="0">
                <a:solidFill>
                  <a:srgbClr val="C00000"/>
                </a:solidFill>
              </a:rPr>
              <a:t>           </a:t>
            </a:r>
            <a:r>
              <a:rPr lang="pt-BR" sz="2800" dirty="0" err="1">
                <a:solidFill>
                  <a:srgbClr val="C00000"/>
                </a:solidFill>
              </a:rPr>
              <a:t>getch</a:t>
            </a:r>
            <a:r>
              <a:rPr lang="pt-BR" sz="2800" dirty="0">
                <a:solidFill>
                  <a:srgbClr val="C00000"/>
                </a:solidFill>
              </a:rPr>
              <a:t>();</a:t>
            </a:r>
          </a:p>
          <a:p>
            <a:r>
              <a:rPr lang="pt-BR" sz="2800" dirty="0">
                <a:solidFill>
                  <a:schemeClr val="accent6"/>
                </a:solidFill>
              </a:rPr>
              <a:t>}</a:t>
            </a:r>
          </a:p>
          <a:p>
            <a:r>
              <a:rPr lang="pt-BR" sz="2800" dirty="0"/>
              <a:t>	</a:t>
            </a:r>
          </a:p>
        </p:txBody>
      </p:sp>
      <p:pic>
        <p:nvPicPr>
          <p:cNvPr id="6" name="Picture 14" descr="https://encrypted-tbn3.gstatic.com/images?q=tbn:ANd9GcSTT9hB4C6uDhPnHuFGStflSkVy-vqD__r9IdfQHez91DYRk1QWOw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919686" y="29028"/>
            <a:ext cx="2209800" cy="1447800"/>
          </a:xfrm>
          <a:prstGeom prst="rect">
            <a:avLst/>
          </a:prstGeom>
          <a:noFill/>
        </p:spPr>
      </p:pic>
      <p:sp>
        <p:nvSpPr>
          <p:cNvPr id="8" name="Título 1"/>
          <p:cNvSpPr txBox="1">
            <a:spLocks/>
          </p:cNvSpPr>
          <p:nvPr/>
        </p:nvSpPr>
        <p:spPr>
          <a:xfrm>
            <a:off x="533400" y="76200"/>
            <a:ext cx="7010400" cy="1371600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4400" b="0" i="0" u="none" strike="noStrike" kern="0" cap="none" spc="0" normalizeH="0" baseline="0" noProof="0" dirty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Codigo</a:t>
            </a:r>
            <a:r>
              <a:rPr kumimoji="0" lang="pt-BR" sz="44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 Hexadecimal - </a:t>
            </a:r>
            <a:r>
              <a:rPr kumimoji="0" lang="pt-BR" sz="4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\x</a:t>
            </a:r>
            <a:br>
              <a:rPr kumimoji="0" lang="pt-BR" sz="4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pt-BR" sz="4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Linguagem C</a:t>
            </a:r>
          </a:p>
        </p:txBody>
      </p:sp>
    </p:spTree>
  </p:cSld>
  <p:clrMapOvr>
    <a:masterClrMapping/>
  </p:clrMapOvr>
  <p:transition>
    <p:fade thruBlk="1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ixaDeTexto 7"/>
          <p:cNvSpPr txBox="1"/>
          <p:nvPr/>
        </p:nvSpPr>
        <p:spPr>
          <a:xfrm>
            <a:off x="381000" y="1442621"/>
            <a:ext cx="914400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#include &lt;</a:t>
            </a:r>
            <a:r>
              <a:rPr lang="pt-BR" dirty="0" err="1"/>
              <a:t>stdio</a:t>
            </a:r>
            <a:r>
              <a:rPr lang="pt-BR" dirty="0"/>
              <a:t>.h&gt;</a:t>
            </a:r>
          </a:p>
          <a:p>
            <a:r>
              <a:rPr lang="pt-BR" dirty="0"/>
              <a:t>#include &lt;</a:t>
            </a:r>
            <a:r>
              <a:rPr lang="pt-BR" dirty="0" err="1"/>
              <a:t>conio</a:t>
            </a:r>
            <a:r>
              <a:rPr lang="pt-BR" dirty="0"/>
              <a:t>.h&gt;</a:t>
            </a:r>
          </a:p>
          <a:p>
            <a:r>
              <a:rPr lang="pt-BR" dirty="0" err="1">
                <a:solidFill>
                  <a:schemeClr val="accent2"/>
                </a:solidFill>
              </a:rPr>
              <a:t>main</a:t>
            </a:r>
            <a:r>
              <a:rPr lang="pt-BR" dirty="0">
                <a:solidFill>
                  <a:schemeClr val="accent2"/>
                </a:solidFill>
              </a:rPr>
              <a:t>()</a:t>
            </a:r>
          </a:p>
          <a:p>
            <a:r>
              <a:rPr lang="pt-BR" dirty="0">
                <a:solidFill>
                  <a:schemeClr val="accent6"/>
                </a:solidFill>
              </a:rPr>
              <a:t>{</a:t>
            </a:r>
          </a:p>
          <a:p>
            <a:r>
              <a:rPr lang="pt-BR" dirty="0"/>
              <a:t>	</a:t>
            </a:r>
            <a:r>
              <a:rPr lang="pt-BR" dirty="0" err="1">
                <a:solidFill>
                  <a:srgbClr val="FF0000"/>
                </a:solidFill>
              </a:rPr>
              <a:t>printf</a:t>
            </a:r>
            <a:r>
              <a:rPr lang="pt-BR" dirty="0"/>
              <a:t>(“\n\n”);</a:t>
            </a:r>
          </a:p>
          <a:p>
            <a:r>
              <a:rPr lang="pt-BR" dirty="0"/>
              <a:t>	</a:t>
            </a:r>
            <a:r>
              <a:rPr lang="pt-BR" dirty="0" err="1">
                <a:solidFill>
                  <a:srgbClr val="FF0000"/>
                </a:solidFill>
              </a:rPr>
              <a:t>printf</a:t>
            </a:r>
            <a:r>
              <a:rPr lang="pt-BR" dirty="0"/>
              <a:t>(“\n\</a:t>
            </a:r>
            <a:r>
              <a:rPr lang="pt-BR" dirty="0" err="1"/>
              <a:t>xDC</a:t>
            </a:r>
            <a:r>
              <a:rPr lang="pt-BR" dirty="0"/>
              <a:t>\XDC\XDB\</a:t>
            </a:r>
            <a:r>
              <a:rPr lang="pt-BR" dirty="0" err="1"/>
              <a:t>xDB</a:t>
            </a:r>
            <a:r>
              <a:rPr lang="pt-BR" dirty="0"/>
              <a:t>\</a:t>
            </a:r>
            <a:r>
              <a:rPr lang="pt-BR" dirty="0" err="1"/>
              <a:t>xDB</a:t>
            </a:r>
            <a:r>
              <a:rPr lang="pt-BR" dirty="0"/>
              <a:t>\</a:t>
            </a:r>
            <a:r>
              <a:rPr lang="pt-BR" dirty="0" err="1"/>
              <a:t>xDB</a:t>
            </a:r>
            <a:r>
              <a:rPr lang="pt-BR" dirty="0"/>
              <a:t>\</a:t>
            </a:r>
            <a:r>
              <a:rPr lang="pt-BR" dirty="0" err="1"/>
              <a:t>xDC</a:t>
            </a:r>
            <a:r>
              <a:rPr lang="pt-BR" dirty="0"/>
              <a:t>\</a:t>
            </a:r>
            <a:r>
              <a:rPr lang="pt-BR" dirty="0" err="1"/>
              <a:t>xDC</a:t>
            </a:r>
            <a:r>
              <a:rPr lang="pt-BR" dirty="0"/>
              <a:t>”);</a:t>
            </a:r>
          </a:p>
          <a:p>
            <a:r>
              <a:rPr lang="pt-BR" dirty="0"/>
              <a:t>	</a:t>
            </a:r>
            <a:r>
              <a:rPr lang="pt-BR" dirty="0" err="1">
                <a:solidFill>
                  <a:srgbClr val="FF0000"/>
                </a:solidFill>
              </a:rPr>
              <a:t>printf</a:t>
            </a:r>
            <a:r>
              <a:rPr lang="pt-BR" dirty="0"/>
              <a:t>( “\n\XDFO\</a:t>
            </a:r>
            <a:r>
              <a:rPr lang="pt-BR" dirty="0" err="1"/>
              <a:t>xDF</a:t>
            </a:r>
            <a:r>
              <a:rPr lang="pt-BR" dirty="0"/>
              <a:t>\</a:t>
            </a:r>
            <a:r>
              <a:rPr lang="pt-BR" dirty="0" err="1"/>
              <a:t>xDF</a:t>
            </a:r>
            <a:r>
              <a:rPr lang="pt-BR" dirty="0"/>
              <a:t>\</a:t>
            </a:r>
            <a:r>
              <a:rPr lang="pt-BR" dirty="0" err="1"/>
              <a:t>xDF</a:t>
            </a:r>
            <a:r>
              <a:rPr lang="pt-BR" dirty="0"/>
              <a:t>\</a:t>
            </a:r>
            <a:r>
              <a:rPr lang="pt-BR" dirty="0" err="1"/>
              <a:t>xDFBA</a:t>
            </a:r>
            <a:r>
              <a:rPr lang="pt-BR" dirty="0"/>
              <a:t>\XDFOO\XDF”);</a:t>
            </a:r>
          </a:p>
          <a:p>
            <a:r>
              <a:rPr lang="pt-BR" dirty="0"/>
              <a:t>	</a:t>
            </a:r>
            <a:r>
              <a:rPr lang="pt-BR" dirty="0" err="1">
                <a:solidFill>
                  <a:srgbClr val="FF0000"/>
                </a:solidFill>
              </a:rPr>
              <a:t>printf</a:t>
            </a:r>
            <a:r>
              <a:rPr lang="pt-BR" dirty="0"/>
              <a:t>(“\n\\n”);</a:t>
            </a:r>
          </a:p>
          <a:p>
            <a:r>
              <a:rPr lang="pt-BR" dirty="0"/>
              <a:t>	</a:t>
            </a:r>
            <a:r>
              <a:rPr lang="pt-BR" dirty="0" err="1">
                <a:solidFill>
                  <a:srgbClr val="FF0000"/>
                </a:solidFill>
              </a:rPr>
              <a:t>printf</a:t>
            </a:r>
            <a:r>
              <a:rPr lang="pt-BR" dirty="0"/>
              <a:t>(“\n\</a:t>
            </a:r>
            <a:r>
              <a:rPr lang="pt-BR" dirty="0" err="1"/>
              <a:t>xDC</a:t>
            </a:r>
            <a:r>
              <a:rPr lang="pt-BR" dirty="0"/>
              <a:t>\XDC\</a:t>
            </a:r>
            <a:r>
              <a:rPr lang="pt-BR" dirty="0" err="1"/>
              <a:t>xDB</a:t>
            </a:r>
            <a:r>
              <a:rPr lang="pt-BR" dirty="0"/>
              <a:t>\</a:t>
            </a:r>
            <a:r>
              <a:rPr lang="pt-BR" dirty="0" err="1"/>
              <a:t>xDB</a:t>
            </a:r>
            <a:r>
              <a:rPr lang="pt-BR" dirty="0"/>
              <a:t>\</a:t>
            </a:r>
            <a:r>
              <a:rPr lang="pt-BR" dirty="0" err="1"/>
              <a:t>xDB</a:t>
            </a:r>
            <a:r>
              <a:rPr lang="pt-BR" dirty="0"/>
              <a:t>\</a:t>
            </a:r>
            <a:r>
              <a:rPr lang="pt-BR" dirty="0" err="1"/>
              <a:t>xDB</a:t>
            </a:r>
            <a:r>
              <a:rPr lang="pt-BR" dirty="0"/>
              <a:t>\</a:t>
            </a:r>
            <a:r>
              <a:rPr lang="pt-BR" dirty="0" err="1"/>
              <a:t>xDB</a:t>
            </a:r>
            <a:r>
              <a:rPr lang="pt-BR" dirty="0"/>
              <a:t>\</a:t>
            </a:r>
            <a:r>
              <a:rPr lang="pt-BR" dirty="0" err="1"/>
              <a:t>Xdb</a:t>
            </a:r>
            <a:r>
              <a:rPr lang="pt-BR" dirty="0"/>
              <a:t>\</a:t>
            </a:r>
            <a:r>
              <a:rPr lang="pt-BR" dirty="0" err="1"/>
              <a:t>xDB</a:t>
            </a:r>
            <a:r>
              <a:rPr lang="pt-BR" dirty="0"/>
              <a:t>”);</a:t>
            </a:r>
          </a:p>
          <a:p>
            <a:r>
              <a:rPr lang="pt-BR" dirty="0"/>
              <a:t>	</a:t>
            </a:r>
            <a:r>
              <a:rPr lang="pt-BR" dirty="0" err="1">
                <a:solidFill>
                  <a:srgbClr val="FF0000"/>
                </a:solidFill>
              </a:rPr>
              <a:t>printf</a:t>
            </a:r>
            <a:r>
              <a:rPr lang="pt-BR" dirty="0"/>
              <a:t>( “\n\XDFO\</a:t>
            </a:r>
            <a:r>
              <a:rPr lang="pt-BR" dirty="0" err="1"/>
              <a:t>xDF</a:t>
            </a:r>
            <a:r>
              <a:rPr lang="pt-BR" dirty="0"/>
              <a:t>\</a:t>
            </a:r>
            <a:r>
              <a:rPr lang="pt-BR" dirty="0" err="1"/>
              <a:t>xDF</a:t>
            </a:r>
            <a:r>
              <a:rPr lang="pt-BR" dirty="0"/>
              <a:t>\</a:t>
            </a:r>
            <a:r>
              <a:rPr lang="pt-BR" dirty="0" err="1"/>
              <a:t>xDF</a:t>
            </a:r>
            <a:r>
              <a:rPr lang="pt-BR" dirty="0"/>
              <a:t>\</a:t>
            </a:r>
            <a:r>
              <a:rPr lang="pt-BR" dirty="0" err="1"/>
              <a:t>xDFO</a:t>
            </a:r>
            <a:r>
              <a:rPr lang="pt-BR" dirty="0"/>
              <a:t>\</a:t>
            </a:r>
            <a:r>
              <a:rPr lang="pt-BR" dirty="0" err="1"/>
              <a:t>xDFOO</a:t>
            </a:r>
            <a:r>
              <a:rPr lang="pt-BR" dirty="0"/>
              <a:t>\XDF”);</a:t>
            </a:r>
          </a:p>
          <a:p>
            <a:r>
              <a:rPr lang="pt-BR" dirty="0"/>
              <a:t>	</a:t>
            </a:r>
            <a:r>
              <a:rPr lang="pt-BR" dirty="0" err="1">
                <a:solidFill>
                  <a:srgbClr val="FF0000"/>
                </a:solidFill>
              </a:rPr>
              <a:t>printf</a:t>
            </a:r>
            <a:r>
              <a:rPr lang="pt-BR" dirty="0"/>
              <a:t>(“\n\\n”);</a:t>
            </a:r>
          </a:p>
          <a:p>
            <a:r>
              <a:rPr lang="pt-BR" dirty="0"/>
              <a:t>           </a:t>
            </a:r>
            <a:r>
              <a:rPr lang="pt-BR" dirty="0" err="1">
                <a:solidFill>
                  <a:srgbClr val="C00000"/>
                </a:solidFill>
              </a:rPr>
              <a:t>getch</a:t>
            </a:r>
            <a:r>
              <a:rPr lang="pt-BR" dirty="0">
                <a:solidFill>
                  <a:srgbClr val="C00000"/>
                </a:solidFill>
              </a:rPr>
              <a:t>();</a:t>
            </a:r>
          </a:p>
          <a:p>
            <a:r>
              <a:rPr lang="pt-BR" dirty="0">
                <a:solidFill>
                  <a:schemeClr val="accent6"/>
                </a:solidFill>
              </a:rPr>
              <a:t>}</a:t>
            </a:r>
          </a:p>
          <a:p>
            <a:r>
              <a:rPr lang="pt-BR" dirty="0"/>
              <a:t>	</a:t>
            </a:r>
          </a:p>
        </p:txBody>
      </p:sp>
      <p:pic>
        <p:nvPicPr>
          <p:cNvPr id="6" name="Picture 14" descr="https://encrypted-tbn3.gstatic.com/images?q=tbn:ANd9GcSTT9hB4C6uDhPnHuFGStflSkVy-vqD__r9IdfQHez91DYRk1QWOw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919686" y="29028"/>
            <a:ext cx="2209800" cy="1447800"/>
          </a:xfrm>
          <a:prstGeom prst="rect">
            <a:avLst/>
          </a:prstGeom>
          <a:noFill/>
        </p:spPr>
      </p:pic>
      <p:sp>
        <p:nvSpPr>
          <p:cNvPr id="9" name="Título 1"/>
          <p:cNvSpPr>
            <a:spLocks noGrp="1"/>
          </p:cNvSpPr>
          <p:nvPr>
            <p:ph type="title"/>
          </p:nvPr>
        </p:nvSpPr>
        <p:spPr>
          <a:xfrm>
            <a:off x="457200" y="76200"/>
            <a:ext cx="7010400" cy="1143000"/>
          </a:xfrm>
        </p:spPr>
        <p:txBody>
          <a:bodyPr/>
          <a:lstStyle/>
          <a:p>
            <a:r>
              <a:rPr lang="pt-BR" dirty="0" err="1">
                <a:solidFill>
                  <a:srgbClr val="C00000"/>
                </a:solidFill>
              </a:rPr>
              <a:t>Codigo</a:t>
            </a:r>
            <a:r>
              <a:rPr lang="pt-BR" dirty="0">
                <a:solidFill>
                  <a:srgbClr val="C00000"/>
                </a:solidFill>
              </a:rPr>
              <a:t>  Hexadecimal - \x</a:t>
            </a:r>
            <a:br>
              <a:rPr lang="pt-BR" dirty="0">
                <a:solidFill>
                  <a:srgbClr val="C00000"/>
                </a:solidFill>
              </a:rPr>
            </a:br>
            <a:r>
              <a:rPr lang="pt-BR" dirty="0">
                <a:solidFill>
                  <a:srgbClr val="C00000"/>
                </a:solidFill>
              </a:rPr>
              <a:t>Linguagem C</a:t>
            </a:r>
          </a:p>
        </p:txBody>
      </p:sp>
    </p:spTree>
  </p:cSld>
  <p:clrMapOvr>
    <a:masterClrMapping/>
  </p:clrMapOvr>
  <p:transition>
    <p:fade thruBlk="1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aixaDeTexto 9"/>
          <p:cNvSpPr txBox="1"/>
          <p:nvPr/>
        </p:nvSpPr>
        <p:spPr>
          <a:xfrm>
            <a:off x="914400" y="1828800"/>
            <a:ext cx="7239000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#include &lt;</a:t>
            </a:r>
            <a:r>
              <a:rPr lang="pt-BR" dirty="0" err="1"/>
              <a:t>stdio</a:t>
            </a:r>
            <a:r>
              <a:rPr lang="pt-BR" dirty="0"/>
              <a:t>.h&gt;</a:t>
            </a:r>
          </a:p>
          <a:p>
            <a:r>
              <a:rPr lang="pt-BR" dirty="0"/>
              <a:t>#include &lt;</a:t>
            </a:r>
            <a:r>
              <a:rPr lang="pt-BR" dirty="0" err="1"/>
              <a:t>conio</a:t>
            </a:r>
            <a:r>
              <a:rPr lang="pt-BR" dirty="0"/>
              <a:t>.h&gt;</a:t>
            </a:r>
          </a:p>
          <a:p>
            <a:endParaRPr lang="pt-BR" dirty="0"/>
          </a:p>
          <a:p>
            <a:r>
              <a:rPr lang="pt-BR" dirty="0" err="1"/>
              <a:t>main</a:t>
            </a:r>
            <a:r>
              <a:rPr lang="pt-BR" dirty="0"/>
              <a:t>()</a:t>
            </a:r>
          </a:p>
          <a:p>
            <a:r>
              <a:rPr lang="pt-BR" dirty="0"/>
              <a:t>{</a:t>
            </a:r>
          </a:p>
          <a:p>
            <a:r>
              <a:rPr lang="pt-BR" dirty="0"/>
              <a:t>	</a:t>
            </a:r>
            <a:r>
              <a:rPr lang="pt-BR" dirty="0" err="1"/>
              <a:t>int</a:t>
            </a:r>
            <a:r>
              <a:rPr lang="pt-BR" dirty="0"/>
              <a:t> x;</a:t>
            </a:r>
          </a:p>
          <a:p>
            <a:r>
              <a:rPr lang="pt-BR" dirty="0"/>
              <a:t>	</a:t>
            </a:r>
            <a:r>
              <a:rPr lang="pt-BR" dirty="0" err="1"/>
              <a:t>puts</a:t>
            </a:r>
            <a:r>
              <a:rPr lang="pt-BR" dirty="0"/>
              <a:t>(“DIGITE UM VALOR QUALQUER”);</a:t>
            </a:r>
          </a:p>
          <a:p>
            <a:r>
              <a:rPr lang="pt-BR" dirty="0"/>
              <a:t>	</a:t>
            </a:r>
            <a:r>
              <a:rPr lang="pt-BR" dirty="0" err="1"/>
              <a:t>scanf</a:t>
            </a:r>
            <a:r>
              <a:rPr lang="pt-BR" dirty="0"/>
              <a:t>(“%d”,&amp;x);</a:t>
            </a:r>
          </a:p>
          <a:p>
            <a:r>
              <a:rPr lang="pt-BR" dirty="0"/>
              <a:t>	</a:t>
            </a:r>
            <a:r>
              <a:rPr lang="pt-BR" dirty="0" err="1"/>
              <a:t>puts</a:t>
            </a:r>
            <a:r>
              <a:rPr lang="pt-BR" dirty="0"/>
              <a:t>(“O valor digitado foi: ”);</a:t>
            </a:r>
          </a:p>
          <a:p>
            <a:r>
              <a:rPr lang="pt-BR" dirty="0"/>
              <a:t>	</a:t>
            </a:r>
            <a:r>
              <a:rPr lang="pt-BR" dirty="0" err="1"/>
              <a:t>printf</a:t>
            </a:r>
            <a:r>
              <a:rPr lang="pt-BR" dirty="0"/>
              <a:t>(“%d\n”,x);</a:t>
            </a:r>
          </a:p>
          <a:p>
            <a:r>
              <a:rPr lang="pt-BR" dirty="0"/>
              <a:t>           </a:t>
            </a:r>
            <a:r>
              <a:rPr lang="pt-BR" dirty="0" err="1"/>
              <a:t>getch</a:t>
            </a:r>
            <a:r>
              <a:rPr lang="pt-BR" dirty="0"/>
              <a:t>();</a:t>
            </a:r>
          </a:p>
          <a:p>
            <a:r>
              <a:rPr lang="pt-BR" dirty="0"/>
              <a:t>}</a:t>
            </a:r>
          </a:p>
          <a:p>
            <a:r>
              <a:rPr lang="pt-BR" dirty="0"/>
              <a:t>	</a:t>
            </a:r>
          </a:p>
        </p:txBody>
      </p:sp>
      <p:pic>
        <p:nvPicPr>
          <p:cNvPr id="6" name="Picture 14" descr="https://encrypted-tbn3.gstatic.com/images?q=tbn:ANd9GcSTT9hB4C6uDhPnHuFGStflSkVy-vqD__r9IdfQHez91DYRk1QWOw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919686" y="29028"/>
            <a:ext cx="2209800" cy="1447800"/>
          </a:xfrm>
          <a:prstGeom prst="rect">
            <a:avLst/>
          </a:prstGeom>
          <a:noFill/>
        </p:spPr>
      </p:pic>
      <p:sp>
        <p:nvSpPr>
          <p:cNvPr id="8" name="Título 1"/>
          <p:cNvSpPr>
            <a:spLocks noGrp="1"/>
          </p:cNvSpPr>
          <p:nvPr>
            <p:ph type="title"/>
          </p:nvPr>
        </p:nvSpPr>
        <p:spPr>
          <a:xfrm>
            <a:off x="457200" y="76200"/>
            <a:ext cx="7010400" cy="1143000"/>
          </a:xfrm>
        </p:spPr>
        <p:txBody>
          <a:bodyPr/>
          <a:lstStyle/>
          <a:p>
            <a:r>
              <a:rPr lang="pt-BR" dirty="0">
                <a:solidFill>
                  <a:srgbClr val="FF0000"/>
                </a:solidFill>
              </a:rPr>
              <a:t>Linguagem C</a:t>
            </a:r>
          </a:p>
        </p:txBody>
      </p:sp>
    </p:spTree>
  </p:cSld>
  <p:clrMapOvr>
    <a:masterClrMapping/>
  </p:clrMapOvr>
  <p:transition>
    <p:fade thruBlk="1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/>
          <p:cNvSpPr txBox="1"/>
          <p:nvPr/>
        </p:nvSpPr>
        <p:spPr>
          <a:xfrm>
            <a:off x="381000" y="1524000"/>
            <a:ext cx="8458200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 err="1"/>
              <a:t>main</a:t>
            </a:r>
            <a:r>
              <a:rPr lang="pt-BR" sz="3200" b="1" dirty="0"/>
              <a:t>()</a:t>
            </a:r>
          </a:p>
          <a:p>
            <a:r>
              <a:rPr lang="pt-BR" sz="3200" b="1" dirty="0"/>
              <a:t>{</a:t>
            </a:r>
          </a:p>
          <a:p>
            <a:r>
              <a:rPr lang="pt-BR" sz="3200" b="1" dirty="0"/>
              <a:t>    </a:t>
            </a:r>
            <a:r>
              <a:rPr lang="pt-BR" sz="3200" b="1" dirty="0" err="1"/>
              <a:t>int</a:t>
            </a:r>
            <a:r>
              <a:rPr lang="pt-BR" sz="3200" b="1" dirty="0"/>
              <a:t>  x;</a:t>
            </a:r>
          </a:p>
          <a:p>
            <a:r>
              <a:rPr lang="pt-BR" sz="3200" b="1" dirty="0"/>
              <a:t>    for(x=1; x&lt;20;x++)</a:t>
            </a:r>
          </a:p>
          <a:p>
            <a:r>
              <a:rPr lang="pt-BR" sz="3200" b="1" dirty="0"/>
              <a:t>    {</a:t>
            </a:r>
          </a:p>
          <a:p>
            <a:r>
              <a:rPr lang="pt-BR" sz="3200" b="1" dirty="0"/>
              <a:t>        </a:t>
            </a:r>
            <a:r>
              <a:rPr lang="pt-BR" sz="3200" b="1" dirty="0" err="1"/>
              <a:t>printf</a:t>
            </a:r>
            <a:r>
              <a:rPr lang="pt-BR" sz="3200" b="1" dirty="0"/>
              <a:t>(“\</a:t>
            </a:r>
            <a:r>
              <a:rPr lang="pt-BR" sz="3200" b="1" dirty="0" err="1"/>
              <a:t>xDB</a:t>
            </a:r>
            <a:r>
              <a:rPr lang="pt-BR" sz="3200" b="1" dirty="0"/>
              <a:t>“);</a:t>
            </a:r>
          </a:p>
          <a:p>
            <a:r>
              <a:rPr lang="pt-BR" sz="3200" b="1" dirty="0"/>
              <a:t>        </a:t>
            </a:r>
            <a:r>
              <a:rPr lang="pt-BR" sz="3200" b="1" dirty="0" err="1"/>
              <a:t>sleep</a:t>
            </a:r>
            <a:r>
              <a:rPr lang="pt-BR" sz="3200" b="1" dirty="0"/>
              <a:t>(20);</a:t>
            </a:r>
          </a:p>
          <a:p>
            <a:r>
              <a:rPr lang="pt-BR" sz="3200" b="1" dirty="0"/>
              <a:t>    }</a:t>
            </a:r>
          </a:p>
          <a:p>
            <a:r>
              <a:rPr lang="pt-BR" sz="3200" b="1" dirty="0"/>
              <a:t>   </a:t>
            </a:r>
            <a:r>
              <a:rPr lang="pt-BR" sz="3200" b="1" dirty="0" err="1">
                <a:solidFill>
                  <a:srgbClr val="FF0000"/>
                </a:solidFill>
              </a:rPr>
              <a:t>getch</a:t>
            </a:r>
            <a:r>
              <a:rPr lang="pt-BR" sz="3200" b="1" dirty="0">
                <a:solidFill>
                  <a:srgbClr val="FF0000"/>
                </a:solidFill>
              </a:rPr>
              <a:t>();</a:t>
            </a:r>
          </a:p>
          <a:p>
            <a:r>
              <a:rPr lang="pt-BR" sz="3200" b="1" dirty="0"/>
              <a:t>}</a:t>
            </a:r>
          </a:p>
        </p:txBody>
      </p:sp>
      <p:pic>
        <p:nvPicPr>
          <p:cNvPr id="7" name="Picture 14" descr="https://encrypted-tbn3.gstatic.com/images?q=tbn:ANd9GcSTT9hB4C6uDhPnHuFGStflSkVy-vqD__r9IdfQHez91DYRk1QWOw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919686" y="29028"/>
            <a:ext cx="2209800" cy="1447800"/>
          </a:xfrm>
          <a:prstGeom prst="rect">
            <a:avLst/>
          </a:prstGeom>
          <a:noFill/>
        </p:spPr>
      </p:pic>
      <p:sp>
        <p:nvSpPr>
          <p:cNvPr id="11" name="Título 1"/>
          <p:cNvSpPr>
            <a:spLocks noGrp="1"/>
          </p:cNvSpPr>
          <p:nvPr>
            <p:ph type="title"/>
          </p:nvPr>
        </p:nvSpPr>
        <p:spPr>
          <a:xfrm>
            <a:off x="762000" y="76200"/>
            <a:ext cx="7010400" cy="1143000"/>
          </a:xfrm>
        </p:spPr>
        <p:txBody>
          <a:bodyPr/>
          <a:lstStyle/>
          <a:p>
            <a:r>
              <a:rPr lang="pt-BR" dirty="0">
                <a:solidFill>
                  <a:srgbClr val="C00000"/>
                </a:solidFill>
              </a:rPr>
              <a:t>Código  Hexadecimal</a:t>
            </a:r>
            <a:br>
              <a:rPr lang="pt-BR" dirty="0">
                <a:solidFill>
                  <a:srgbClr val="C00000"/>
                </a:solidFill>
              </a:rPr>
            </a:br>
            <a:r>
              <a:rPr lang="pt-BR" dirty="0">
                <a:solidFill>
                  <a:srgbClr val="C00000"/>
                </a:solidFill>
              </a:rPr>
              <a:t>Pausa</a:t>
            </a:r>
          </a:p>
        </p:txBody>
      </p:sp>
    </p:spTree>
  </p:cSld>
  <p:clrMapOvr>
    <a:masterClrMapping/>
  </p:clrMapOvr>
  <p:transition>
    <p:fade thruBlk="1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62000" y="76200"/>
            <a:ext cx="7010400" cy="1143000"/>
          </a:xfrm>
        </p:spPr>
        <p:txBody>
          <a:bodyPr/>
          <a:lstStyle/>
          <a:p>
            <a:r>
              <a:rPr lang="pt-BR" dirty="0">
                <a:solidFill>
                  <a:srgbClr val="C00000"/>
                </a:solidFill>
              </a:rPr>
              <a:t>Código  Hexadecimal</a:t>
            </a:r>
            <a:br>
              <a:rPr lang="pt-BR" dirty="0">
                <a:solidFill>
                  <a:srgbClr val="C00000"/>
                </a:solidFill>
              </a:rPr>
            </a:br>
            <a:r>
              <a:rPr lang="pt-BR" dirty="0">
                <a:solidFill>
                  <a:srgbClr val="C00000"/>
                </a:solidFill>
              </a:rPr>
              <a:t>Som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381000" y="1752600"/>
            <a:ext cx="84582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 err="1"/>
              <a:t>main</a:t>
            </a:r>
            <a:r>
              <a:rPr lang="pt-BR" sz="3600" b="1" dirty="0"/>
              <a:t>()</a:t>
            </a:r>
          </a:p>
          <a:p>
            <a:r>
              <a:rPr lang="pt-BR" sz="3600" b="1" dirty="0"/>
              <a:t>{</a:t>
            </a:r>
          </a:p>
          <a:p>
            <a:r>
              <a:rPr lang="pt-BR" sz="3600" b="1" dirty="0"/>
              <a:t>    </a:t>
            </a:r>
            <a:r>
              <a:rPr lang="pt-BR" sz="3600" b="1" dirty="0" err="1"/>
              <a:t>int</a:t>
            </a:r>
            <a:r>
              <a:rPr lang="pt-BR" sz="3600" b="1" dirty="0"/>
              <a:t>  x;</a:t>
            </a:r>
          </a:p>
          <a:p>
            <a:r>
              <a:rPr lang="pt-BR" sz="3600" b="1" dirty="0">
                <a:solidFill>
                  <a:srgbClr val="FF0000"/>
                </a:solidFill>
              </a:rPr>
              <a:t>    for(x=1; x&lt;20;x++)</a:t>
            </a:r>
          </a:p>
          <a:p>
            <a:r>
              <a:rPr lang="pt-BR" sz="3600" b="1" dirty="0">
                <a:solidFill>
                  <a:srgbClr val="FF0000"/>
                </a:solidFill>
              </a:rPr>
              <a:t>    {</a:t>
            </a:r>
          </a:p>
          <a:p>
            <a:r>
              <a:rPr lang="pt-BR" sz="3600" b="1" dirty="0">
                <a:solidFill>
                  <a:srgbClr val="FF0000"/>
                </a:solidFill>
              </a:rPr>
              <a:t>        </a:t>
            </a:r>
            <a:r>
              <a:rPr lang="pt-BR" sz="3600" b="1" dirty="0" err="1">
                <a:solidFill>
                  <a:srgbClr val="FF0000"/>
                </a:solidFill>
              </a:rPr>
              <a:t>printf</a:t>
            </a:r>
            <a:r>
              <a:rPr lang="pt-BR" sz="3600" b="1" dirty="0">
                <a:solidFill>
                  <a:srgbClr val="FF0000"/>
                </a:solidFill>
              </a:rPr>
              <a:t>(“\x7“);</a:t>
            </a:r>
          </a:p>
          <a:p>
            <a:r>
              <a:rPr lang="pt-BR" sz="3600" b="1" dirty="0">
                <a:solidFill>
                  <a:srgbClr val="FF0000"/>
                </a:solidFill>
              </a:rPr>
              <a:t>    }</a:t>
            </a:r>
          </a:p>
          <a:p>
            <a:r>
              <a:rPr lang="pt-BR" sz="3600" b="1" dirty="0"/>
              <a:t>}</a:t>
            </a:r>
          </a:p>
        </p:txBody>
      </p:sp>
      <p:pic>
        <p:nvPicPr>
          <p:cNvPr id="7" name="Picture 14" descr="https://encrypted-tbn3.gstatic.com/images?q=tbn:ANd9GcSTT9hB4C6uDhPnHuFGStflSkVy-vqD__r9IdfQHez91DYRk1QWOw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919686" y="29028"/>
            <a:ext cx="2209800" cy="1447800"/>
          </a:xfrm>
          <a:prstGeom prst="rect">
            <a:avLst/>
          </a:prstGeom>
          <a:noFill/>
        </p:spPr>
      </p:pic>
    </p:spTree>
  </p:cSld>
  <p:clrMapOvr>
    <a:masterClrMapping/>
  </p:clrMapOvr>
  <p:transition>
    <p:fade thruBlk="1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62000" y="76200"/>
            <a:ext cx="7010400" cy="1143000"/>
          </a:xfrm>
        </p:spPr>
        <p:txBody>
          <a:bodyPr/>
          <a:lstStyle/>
          <a:p>
            <a:r>
              <a:rPr lang="pt-BR" dirty="0">
                <a:solidFill>
                  <a:srgbClr val="C00000"/>
                </a:solidFill>
              </a:rPr>
              <a:t>Código  Hexadecimal</a:t>
            </a:r>
            <a:br>
              <a:rPr lang="pt-BR" dirty="0">
                <a:solidFill>
                  <a:srgbClr val="C00000"/>
                </a:solidFill>
              </a:rPr>
            </a:br>
            <a:r>
              <a:rPr lang="pt-BR" dirty="0">
                <a:solidFill>
                  <a:srgbClr val="C00000"/>
                </a:solidFill>
              </a:rPr>
              <a:t>Funções-Caixa</a:t>
            </a:r>
          </a:p>
        </p:txBody>
      </p:sp>
      <p:sp>
        <p:nvSpPr>
          <p:cNvPr id="10" name="CaixaDeTexto 9"/>
          <p:cNvSpPr txBox="1"/>
          <p:nvPr/>
        </p:nvSpPr>
        <p:spPr>
          <a:xfrm>
            <a:off x="0" y="1474887"/>
            <a:ext cx="7924800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/>
              <a:t>#include &lt;</a:t>
            </a:r>
            <a:r>
              <a:rPr lang="pt-BR" sz="2000" dirty="0" err="1"/>
              <a:t>stdio</a:t>
            </a:r>
            <a:r>
              <a:rPr lang="pt-BR" sz="2000" dirty="0"/>
              <a:t>.h&gt;</a:t>
            </a:r>
          </a:p>
          <a:p>
            <a:r>
              <a:rPr lang="pt-BR" sz="2000" dirty="0"/>
              <a:t>#include &lt;</a:t>
            </a:r>
            <a:r>
              <a:rPr lang="pt-BR" sz="2000" dirty="0" err="1"/>
              <a:t>conio</a:t>
            </a:r>
            <a:r>
              <a:rPr lang="pt-BR" sz="2000" dirty="0"/>
              <a:t>.h&gt;</a:t>
            </a:r>
          </a:p>
          <a:p>
            <a:r>
              <a:rPr lang="pt-BR" sz="2000" dirty="0" err="1"/>
              <a:t>main</a:t>
            </a:r>
            <a:r>
              <a:rPr lang="pt-BR" sz="2000" dirty="0"/>
              <a:t>()</a:t>
            </a:r>
          </a:p>
          <a:p>
            <a:r>
              <a:rPr lang="pt-BR" sz="2000" dirty="0"/>
              <a:t>{</a:t>
            </a:r>
          </a:p>
          <a:p>
            <a:r>
              <a:rPr lang="pt-BR" sz="2000" dirty="0">
                <a:solidFill>
                  <a:srgbClr val="FF0000"/>
                </a:solidFill>
              </a:rPr>
              <a:t>  </a:t>
            </a:r>
            <a:r>
              <a:rPr lang="pt-BR" sz="2000" b="1" dirty="0">
                <a:solidFill>
                  <a:srgbClr val="FF0000"/>
                </a:solidFill>
              </a:rPr>
              <a:t>linha();</a:t>
            </a:r>
            <a:r>
              <a:rPr lang="pt-BR" sz="2000" dirty="0">
                <a:solidFill>
                  <a:srgbClr val="FF0000"/>
                </a:solidFill>
              </a:rPr>
              <a:t>	</a:t>
            </a:r>
          </a:p>
          <a:p>
            <a:r>
              <a:rPr lang="pt-BR" sz="2000" dirty="0"/>
              <a:t>  </a:t>
            </a:r>
            <a:r>
              <a:rPr lang="pt-BR" sz="2000" dirty="0" err="1"/>
              <a:t>printf</a:t>
            </a:r>
            <a:r>
              <a:rPr lang="pt-BR" sz="2000" dirty="0"/>
              <a:t>(“\</a:t>
            </a:r>
            <a:r>
              <a:rPr lang="pt-BR" sz="2000" dirty="0" err="1"/>
              <a:t>xDB</a:t>
            </a:r>
            <a:r>
              <a:rPr lang="pt-BR" sz="2000" dirty="0"/>
              <a:t> Um programa da galera de ADS \</a:t>
            </a:r>
            <a:r>
              <a:rPr lang="pt-BR" sz="2000" dirty="0" err="1"/>
              <a:t>xDB</a:t>
            </a:r>
            <a:r>
              <a:rPr lang="pt-BR" sz="2000" dirty="0"/>
              <a:t> \n);</a:t>
            </a:r>
          </a:p>
          <a:p>
            <a:r>
              <a:rPr lang="pt-BR" sz="2000" b="1" dirty="0">
                <a:solidFill>
                  <a:srgbClr val="FF0000"/>
                </a:solidFill>
              </a:rPr>
              <a:t>  linha();	</a:t>
            </a:r>
          </a:p>
          <a:p>
            <a:r>
              <a:rPr lang="pt-BR" sz="2000" dirty="0"/>
              <a:t>  </a:t>
            </a:r>
            <a:r>
              <a:rPr lang="pt-BR" sz="2000" dirty="0" err="1"/>
              <a:t>getch</a:t>
            </a:r>
            <a:r>
              <a:rPr lang="pt-BR" sz="2000" dirty="0"/>
              <a:t>();</a:t>
            </a:r>
          </a:p>
          <a:p>
            <a:r>
              <a:rPr lang="pt-BR" sz="2000" dirty="0"/>
              <a:t>}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4953000" y="3629323"/>
            <a:ext cx="3048000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solidFill>
                  <a:srgbClr val="FF0000"/>
                </a:solidFill>
              </a:rPr>
              <a:t>linha()</a:t>
            </a:r>
          </a:p>
          <a:p>
            <a:r>
              <a:rPr lang="pt-BR" sz="2000" b="1" dirty="0">
                <a:solidFill>
                  <a:srgbClr val="FF0000"/>
                </a:solidFill>
              </a:rPr>
              <a:t>{</a:t>
            </a:r>
          </a:p>
          <a:p>
            <a:r>
              <a:rPr lang="pt-BR" sz="2000" b="1" dirty="0">
                <a:solidFill>
                  <a:srgbClr val="FF0000"/>
                </a:solidFill>
              </a:rPr>
              <a:t>    </a:t>
            </a:r>
            <a:r>
              <a:rPr lang="pt-BR" sz="2000" b="1" dirty="0" err="1">
                <a:solidFill>
                  <a:srgbClr val="FF0000"/>
                </a:solidFill>
              </a:rPr>
              <a:t>int</a:t>
            </a:r>
            <a:r>
              <a:rPr lang="pt-BR" sz="2000" b="1" dirty="0">
                <a:solidFill>
                  <a:srgbClr val="FF0000"/>
                </a:solidFill>
              </a:rPr>
              <a:t>  x;</a:t>
            </a:r>
          </a:p>
          <a:p>
            <a:r>
              <a:rPr lang="pt-BR" sz="2000" b="1" dirty="0">
                <a:solidFill>
                  <a:srgbClr val="FF0000"/>
                </a:solidFill>
              </a:rPr>
              <a:t>    </a:t>
            </a:r>
            <a:r>
              <a:rPr lang="pt-BR" sz="2000" b="1" dirty="0">
                <a:solidFill>
                  <a:schemeClr val="accent1">
                    <a:lumMod val="50000"/>
                  </a:schemeClr>
                </a:solidFill>
              </a:rPr>
              <a:t>for(x=1; x&lt;=20;x++)</a:t>
            </a:r>
          </a:p>
          <a:p>
            <a:r>
              <a:rPr lang="pt-BR" sz="2000" b="1" dirty="0">
                <a:solidFill>
                  <a:srgbClr val="FF0000"/>
                </a:solidFill>
              </a:rPr>
              <a:t>    </a:t>
            </a:r>
            <a:r>
              <a:rPr lang="pt-BR" sz="2000" b="1" dirty="0">
                <a:solidFill>
                  <a:schemeClr val="accent1">
                    <a:lumMod val="50000"/>
                  </a:schemeClr>
                </a:solidFill>
              </a:rPr>
              <a:t>{</a:t>
            </a:r>
          </a:p>
          <a:p>
            <a:r>
              <a:rPr lang="pt-BR" sz="2000" b="1" dirty="0">
                <a:solidFill>
                  <a:schemeClr val="accent1">
                    <a:lumMod val="50000"/>
                  </a:schemeClr>
                </a:solidFill>
              </a:rPr>
              <a:t>        </a:t>
            </a:r>
            <a:r>
              <a:rPr lang="pt-BR" sz="2000" b="1" dirty="0" err="1">
                <a:solidFill>
                  <a:schemeClr val="accent1">
                    <a:lumMod val="50000"/>
                  </a:schemeClr>
                </a:solidFill>
              </a:rPr>
              <a:t>printf</a:t>
            </a:r>
            <a:r>
              <a:rPr lang="pt-BR" sz="2000" b="1" dirty="0">
                <a:solidFill>
                  <a:schemeClr val="accent1">
                    <a:lumMod val="50000"/>
                  </a:schemeClr>
                </a:solidFill>
              </a:rPr>
              <a:t>(“\</a:t>
            </a:r>
            <a:r>
              <a:rPr lang="pt-BR" sz="2000" b="1" dirty="0" err="1">
                <a:solidFill>
                  <a:schemeClr val="accent1">
                    <a:lumMod val="50000"/>
                  </a:schemeClr>
                </a:solidFill>
              </a:rPr>
              <a:t>xDB</a:t>
            </a:r>
            <a:r>
              <a:rPr lang="pt-BR" sz="2000" b="1" dirty="0">
                <a:solidFill>
                  <a:schemeClr val="accent1">
                    <a:lumMod val="50000"/>
                  </a:schemeClr>
                </a:solidFill>
              </a:rPr>
              <a:t>“);</a:t>
            </a:r>
          </a:p>
          <a:p>
            <a:r>
              <a:rPr lang="pt-BR" sz="2000" b="1" dirty="0">
                <a:solidFill>
                  <a:schemeClr val="accent1">
                    <a:lumMod val="50000"/>
                  </a:schemeClr>
                </a:solidFill>
              </a:rPr>
              <a:t>        </a:t>
            </a:r>
            <a:r>
              <a:rPr lang="pt-BR" sz="2000" b="1" dirty="0" err="1">
                <a:solidFill>
                  <a:schemeClr val="accent1">
                    <a:lumMod val="50000"/>
                  </a:schemeClr>
                </a:solidFill>
              </a:rPr>
              <a:t>sleep</a:t>
            </a:r>
            <a:r>
              <a:rPr lang="pt-BR" sz="2000" b="1" dirty="0">
                <a:solidFill>
                  <a:schemeClr val="accent1">
                    <a:lumMod val="50000"/>
                  </a:schemeClr>
                </a:solidFill>
              </a:rPr>
              <a:t>(20);</a:t>
            </a:r>
          </a:p>
          <a:p>
            <a:r>
              <a:rPr lang="pt-BR" sz="2000" b="1" dirty="0">
                <a:solidFill>
                  <a:schemeClr val="accent1">
                    <a:lumMod val="50000"/>
                  </a:schemeClr>
                </a:solidFill>
              </a:rPr>
              <a:t>    }</a:t>
            </a:r>
          </a:p>
          <a:p>
            <a:r>
              <a:rPr lang="pt-BR" sz="2000" b="1" dirty="0">
                <a:solidFill>
                  <a:srgbClr val="FF0000"/>
                </a:solidFill>
              </a:rPr>
              <a:t>}</a:t>
            </a:r>
          </a:p>
        </p:txBody>
      </p:sp>
      <p:pic>
        <p:nvPicPr>
          <p:cNvPr id="7" name="Picture 14" descr="https://encrypted-tbn3.gstatic.com/images?q=tbn:ANd9GcSTT9hB4C6uDhPnHuFGStflSkVy-vqD__r9IdfQHez91DYRk1QWOw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919686" y="29028"/>
            <a:ext cx="2209800" cy="1447800"/>
          </a:xfrm>
          <a:prstGeom prst="rect">
            <a:avLst/>
          </a:prstGeom>
          <a:noFill/>
        </p:spPr>
      </p:pic>
    </p:spTree>
  </p:cSld>
  <p:clrMapOvr>
    <a:masterClrMapping/>
  </p:clrMapOvr>
  <p:transition>
    <p:fade thruBlk="1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62000" y="76200"/>
            <a:ext cx="7010400" cy="1143000"/>
          </a:xfrm>
        </p:spPr>
        <p:txBody>
          <a:bodyPr/>
          <a:lstStyle/>
          <a:p>
            <a:r>
              <a:rPr lang="pt-BR" dirty="0">
                <a:solidFill>
                  <a:srgbClr val="C00000"/>
                </a:solidFill>
              </a:rPr>
              <a:t>Código  Hexadecimal</a:t>
            </a:r>
            <a:br>
              <a:rPr lang="pt-BR" dirty="0">
                <a:solidFill>
                  <a:srgbClr val="C00000"/>
                </a:solidFill>
              </a:rPr>
            </a:br>
            <a:r>
              <a:rPr lang="pt-BR" dirty="0">
                <a:solidFill>
                  <a:srgbClr val="C00000"/>
                </a:solidFill>
              </a:rPr>
              <a:t>Funções-Som</a:t>
            </a:r>
          </a:p>
        </p:txBody>
      </p:sp>
      <p:sp>
        <p:nvSpPr>
          <p:cNvPr id="10" name="CaixaDeTexto 9"/>
          <p:cNvSpPr txBox="1"/>
          <p:nvPr/>
        </p:nvSpPr>
        <p:spPr>
          <a:xfrm>
            <a:off x="228600" y="1453277"/>
            <a:ext cx="67818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800" dirty="0"/>
              <a:t>#include &lt;</a:t>
            </a:r>
            <a:r>
              <a:rPr lang="pt-BR" sz="1800" dirty="0" err="1"/>
              <a:t>stdio</a:t>
            </a:r>
            <a:r>
              <a:rPr lang="pt-BR" sz="1800" dirty="0"/>
              <a:t>.h&gt;</a:t>
            </a:r>
          </a:p>
          <a:p>
            <a:r>
              <a:rPr lang="pt-BR" sz="1800" dirty="0"/>
              <a:t>#include &lt;</a:t>
            </a:r>
            <a:r>
              <a:rPr lang="pt-BR" sz="1800" dirty="0" err="1"/>
              <a:t>conio</a:t>
            </a:r>
            <a:r>
              <a:rPr lang="pt-BR" sz="1800" dirty="0"/>
              <a:t>.h&gt;</a:t>
            </a:r>
          </a:p>
          <a:p>
            <a:r>
              <a:rPr lang="pt-BR" sz="1800" dirty="0"/>
              <a:t>	</a:t>
            </a:r>
            <a:r>
              <a:rPr lang="pt-BR" sz="1800" dirty="0" err="1"/>
              <a:t>main</a:t>
            </a:r>
            <a:r>
              <a:rPr lang="pt-BR" sz="1800" dirty="0"/>
              <a:t>()</a:t>
            </a:r>
          </a:p>
          <a:p>
            <a:r>
              <a:rPr lang="pt-BR" sz="1800" dirty="0"/>
              <a:t>	{</a:t>
            </a:r>
          </a:p>
          <a:p>
            <a:r>
              <a:rPr lang="pt-BR" sz="1800" dirty="0">
                <a:solidFill>
                  <a:schemeClr val="accent2"/>
                </a:solidFill>
              </a:rPr>
              <a:t>	  </a:t>
            </a:r>
            <a:r>
              <a:rPr lang="pt-BR" sz="1800" b="1" dirty="0">
                <a:solidFill>
                  <a:schemeClr val="accent2"/>
                </a:solidFill>
              </a:rPr>
              <a:t>som();</a:t>
            </a:r>
            <a:r>
              <a:rPr lang="pt-BR" sz="1800" dirty="0">
                <a:solidFill>
                  <a:schemeClr val="accent2"/>
                </a:solidFill>
              </a:rPr>
              <a:t>	</a:t>
            </a:r>
          </a:p>
          <a:p>
            <a:r>
              <a:rPr lang="pt-BR" sz="1800" dirty="0"/>
              <a:t>	  </a:t>
            </a:r>
            <a:r>
              <a:rPr lang="pt-BR" sz="1800" dirty="0" err="1"/>
              <a:t>printf</a:t>
            </a:r>
            <a:r>
              <a:rPr lang="pt-BR" sz="1800" dirty="0"/>
              <a:t>(“\</a:t>
            </a:r>
            <a:r>
              <a:rPr lang="pt-BR" sz="1800" dirty="0" err="1"/>
              <a:t>xDB</a:t>
            </a:r>
            <a:r>
              <a:rPr lang="pt-BR" sz="1800" dirty="0"/>
              <a:t> Digite um caractere:” );</a:t>
            </a:r>
          </a:p>
          <a:p>
            <a:r>
              <a:rPr lang="pt-BR" sz="1800" dirty="0"/>
              <a:t>	  </a:t>
            </a:r>
            <a:r>
              <a:rPr lang="pt-BR" sz="1800" dirty="0" err="1"/>
              <a:t>getche</a:t>
            </a:r>
            <a:r>
              <a:rPr lang="pt-BR" sz="1800" dirty="0"/>
              <a:t>();</a:t>
            </a:r>
          </a:p>
          <a:p>
            <a:r>
              <a:rPr lang="pt-BR" sz="1800" dirty="0"/>
              <a:t>	 </a:t>
            </a:r>
            <a:r>
              <a:rPr lang="pt-BR" sz="1800" b="1" dirty="0">
                <a:solidFill>
                  <a:schemeClr val="accent2"/>
                </a:solidFill>
              </a:rPr>
              <a:t>som();</a:t>
            </a:r>
          </a:p>
          <a:p>
            <a:r>
              <a:rPr lang="pt-BR" sz="1800" dirty="0"/>
              <a:t>	}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4343400" y="3733800"/>
            <a:ext cx="30480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800" b="1" dirty="0">
                <a:solidFill>
                  <a:schemeClr val="accent2"/>
                </a:solidFill>
              </a:rPr>
              <a:t>som()</a:t>
            </a:r>
          </a:p>
          <a:p>
            <a:r>
              <a:rPr lang="pt-BR" sz="1800" b="1" dirty="0">
                <a:solidFill>
                  <a:schemeClr val="accent2"/>
                </a:solidFill>
              </a:rPr>
              <a:t>{</a:t>
            </a:r>
          </a:p>
          <a:p>
            <a:r>
              <a:rPr lang="pt-BR" sz="1800" b="1" dirty="0">
                <a:solidFill>
                  <a:schemeClr val="accent2"/>
                </a:solidFill>
              </a:rPr>
              <a:t>    </a:t>
            </a:r>
            <a:r>
              <a:rPr lang="pt-BR" sz="1800" b="1" dirty="0" err="1">
                <a:solidFill>
                  <a:schemeClr val="accent2"/>
                </a:solidFill>
              </a:rPr>
              <a:t>int</a:t>
            </a:r>
            <a:r>
              <a:rPr lang="pt-BR" sz="1800" b="1" dirty="0">
                <a:solidFill>
                  <a:schemeClr val="accent2"/>
                </a:solidFill>
              </a:rPr>
              <a:t>  y;</a:t>
            </a:r>
          </a:p>
          <a:p>
            <a:r>
              <a:rPr lang="pt-BR" sz="1800" b="1" dirty="0">
                <a:solidFill>
                  <a:schemeClr val="accent2"/>
                </a:solidFill>
              </a:rPr>
              <a:t>   </a:t>
            </a:r>
            <a:r>
              <a:rPr lang="pt-BR" sz="1800" b="1" dirty="0" err="1">
                <a:solidFill>
                  <a:schemeClr val="accent2"/>
                </a:solidFill>
              </a:rPr>
              <a:t>printf</a:t>
            </a:r>
            <a:r>
              <a:rPr lang="pt-BR" sz="1800" b="1" dirty="0">
                <a:solidFill>
                  <a:schemeClr val="accent2"/>
                </a:solidFill>
              </a:rPr>
              <a:t>(“\x7“);</a:t>
            </a:r>
          </a:p>
          <a:p>
            <a:r>
              <a:rPr lang="pt-BR" sz="1800" b="1" dirty="0">
                <a:solidFill>
                  <a:schemeClr val="accent2"/>
                </a:solidFill>
              </a:rPr>
              <a:t>    for(y=1; y&lt;5000;y++)</a:t>
            </a:r>
          </a:p>
          <a:p>
            <a:r>
              <a:rPr lang="pt-BR" sz="1800" b="1" dirty="0">
                <a:solidFill>
                  <a:schemeClr val="accent2"/>
                </a:solidFill>
              </a:rPr>
              <a:t>   {</a:t>
            </a:r>
          </a:p>
          <a:p>
            <a:r>
              <a:rPr lang="pt-BR" sz="1800" b="1" dirty="0">
                <a:solidFill>
                  <a:schemeClr val="accent2"/>
                </a:solidFill>
              </a:rPr>
              <a:t>      </a:t>
            </a:r>
            <a:r>
              <a:rPr lang="pt-BR" sz="1800" b="1" dirty="0" err="1">
                <a:solidFill>
                  <a:schemeClr val="accent2"/>
                </a:solidFill>
              </a:rPr>
              <a:t>printf</a:t>
            </a:r>
            <a:r>
              <a:rPr lang="pt-BR" sz="1800" b="1" dirty="0">
                <a:solidFill>
                  <a:schemeClr val="accent2"/>
                </a:solidFill>
              </a:rPr>
              <a:t>(“\x7”);</a:t>
            </a:r>
          </a:p>
          <a:p>
            <a:r>
              <a:rPr lang="pt-BR" sz="1800" b="1" dirty="0">
                <a:solidFill>
                  <a:schemeClr val="accent2"/>
                </a:solidFill>
              </a:rPr>
              <a:t>    }</a:t>
            </a:r>
          </a:p>
          <a:p>
            <a:r>
              <a:rPr lang="pt-BR" sz="1800" b="1" dirty="0">
                <a:solidFill>
                  <a:schemeClr val="accent2"/>
                </a:solidFill>
              </a:rPr>
              <a:t>}</a:t>
            </a:r>
          </a:p>
        </p:txBody>
      </p:sp>
      <p:pic>
        <p:nvPicPr>
          <p:cNvPr id="7" name="Picture 14" descr="https://encrypted-tbn3.gstatic.com/images?q=tbn:ANd9GcSTT9hB4C6uDhPnHuFGStflSkVy-vqD__r9IdfQHez91DYRk1QWOw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919686" y="29028"/>
            <a:ext cx="2209800" cy="1447800"/>
          </a:xfrm>
          <a:prstGeom prst="rect">
            <a:avLst/>
          </a:prstGeom>
          <a:noFill/>
        </p:spPr>
      </p:pic>
    </p:spTree>
  </p:cSld>
  <p:clrMapOvr>
    <a:masterClrMapping/>
  </p:clrMapOvr>
  <p:transition>
    <p:fade thruBlk="1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62000" y="76200"/>
            <a:ext cx="7010400" cy="1143000"/>
          </a:xfrm>
        </p:spPr>
        <p:txBody>
          <a:bodyPr/>
          <a:lstStyle/>
          <a:p>
            <a:r>
              <a:rPr lang="pt-BR" dirty="0">
                <a:solidFill>
                  <a:srgbClr val="C00000"/>
                </a:solidFill>
              </a:rPr>
              <a:t>Código  Hexadecimal</a:t>
            </a:r>
            <a:br>
              <a:rPr lang="pt-BR" dirty="0">
                <a:solidFill>
                  <a:srgbClr val="C00000"/>
                </a:solidFill>
              </a:rPr>
            </a:br>
            <a:r>
              <a:rPr lang="pt-BR" dirty="0">
                <a:solidFill>
                  <a:srgbClr val="C00000"/>
                </a:solidFill>
              </a:rPr>
              <a:t>Funções-Planta</a:t>
            </a:r>
          </a:p>
        </p:txBody>
      </p:sp>
      <p:sp>
        <p:nvSpPr>
          <p:cNvPr id="10" name="CaixaDeTexto 9"/>
          <p:cNvSpPr txBox="1"/>
          <p:nvPr/>
        </p:nvSpPr>
        <p:spPr>
          <a:xfrm>
            <a:off x="0" y="1869281"/>
            <a:ext cx="411480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800" dirty="0"/>
              <a:t>#include &lt;</a:t>
            </a:r>
            <a:r>
              <a:rPr lang="pt-BR" sz="1800" dirty="0" err="1"/>
              <a:t>stdio</a:t>
            </a:r>
            <a:r>
              <a:rPr lang="pt-BR" sz="1800" dirty="0"/>
              <a:t>.h&gt;</a:t>
            </a:r>
          </a:p>
          <a:p>
            <a:r>
              <a:rPr lang="pt-BR" sz="1800" dirty="0"/>
              <a:t>#include &lt;</a:t>
            </a:r>
            <a:r>
              <a:rPr lang="pt-BR" sz="1800" dirty="0" err="1"/>
              <a:t>conio</a:t>
            </a:r>
            <a:r>
              <a:rPr lang="pt-BR" sz="1800" dirty="0"/>
              <a:t>.h&gt;</a:t>
            </a:r>
          </a:p>
          <a:p>
            <a:r>
              <a:rPr lang="pt-BR" sz="1800" dirty="0" err="1"/>
              <a:t>main</a:t>
            </a:r>
            <a:r>
              <a:rPr lang="pt-BR" sz="1800" dirty="0"/>
              <a:t>()</a:t>
            </a:r>
          </a:p>
          <a:p>
            <a:r>
              <a:rPr lang="pt-BR" sz="1800" dirty="0"/>
              <a:t>{</a:t>
            </a:r>
          </a:p>
          <a:p>
            <a:r>
              <a:rPr lang="pt-BR" sz="1800" dirty="0">
                <a:solidFill>
                  <a:schemeClr val="accent2"/>
                </a:solidFill>
              </a:rPr>
              <a:t>  </a:t>
            </a:r>
            <a:r>
              <a:rPr lang="pt-BR" sz="1800" dirty="0" err="1"/>
              <a:t>printf</a:t>
            </a:r>
            <a:r>
              <a:rPr lang="pt-BR" sz="1800" dirty="0"/>
              <a:t>(“\n Sala \n” );</a:t>
            </a:r>
          </a:p>
          <a:p>
            <a:r>
              <a:rPr lang="pt-BR" sz="1800" dirty="0"/>
              <a:t>  </a:t>
            </a:r>
            <a:r>
              <a:rPr lang="pt-BR" sz="1800" dirty="0" err="1">
                <a:solidFill>
                  <a:srgbClr val="003399"/>
                </a:solidFill>
              </a:rPr>
              <a:t>retangulo</a:t>
            </a:r>
            <a:r>
              <a:rPr lang="pt-BR" sz="1800" dirty="0">
                <a:solidFill>
                  <a:srgbClr val="003399"/>
                </a:solidFill>
              </a:rPr>
              <a:t>(22,13</a:t>
            </a:r>
            <a:r>
              <a:rPr lang="pt-BR" sz="1800" dirty="0"/>
              <a:t>);</a:t>
            </a:r>
          </a:p>
          <a:p>
            <a:r>
              <a:rPr lang="pt-BR" sz="1800" dirty="0"/>
              <a:t> </a:t>
            </a:r>
            <a:r>
              <a:rPr lang="pt-BR" sz="1800" b="1" dirty="0">
                <a:solidFill>
                  <a:schemeClr val="accent2"/>
                </a:solidFill>
              </a:rPr>
              <a:t> </a:t>
            </a:r>
            <a:r>
              <a:rPr lang="pt-BR" sz="1800" dirty="0" err="1"/>
              <a:t>printf</a:t>
            </a:r>
            <a:r>
              <a:rPr lang="pt-BR" sz="1800" dirty="0"/>
              <a:t>(“\n Cozinha\n” );</a:t>
            </a:r>
          </a:p>
          <a:p>
            <a:r>
              <a:rPr lang="pt-BR" sz="1800" dirty="0"/>
              <a:t>  </a:t>
            </a:r>
            <a:r>
              <a:rPr lang="pt-BR" sz="1800" dirty="0" err="1">
                <a:solidFill>
                  <a:srgbClr val="003399"/>
                </a:solidFill>
              </a:rPr>
              <a:t>retangulo</a:t>
            </a:r>
            <a:r>
              <a:rPr lang="pt-BR" sz="1800" dirty="0">
                <a:solidFill>
                  <a:srgbClr val="003399"/>
                </a:solidFill>
              </a:rPr>
              <a:t>(16,16</a:t>
            </a:r>
            <a:r>
              <a:rPr lang="pt-BR" sz="1800" dirty="0"/>
              <a:t>);</a:t>
            </a:r>
          </a:p>
          <a:p>
            <a:r>
              <a:rPr lang="pt-BR" sz="1800" b="1" dirty="0">
                <a:solidFill>
                  <a:schemeClr val="accent2"/>
                </a:solidFill>
              </a:rPr>
              <a:t>  </a:t>
            </a:r>
            <a:r>
              <a:rPr lang="pt-BR" sz="1800" dirty="0" err="1"/>
              <a:t>printf</a:t>
            </a:r>
            <a:r>
              <a:rPr lang="pt-BR" sz="1800" dirty="0"/>
              <a:t>(“\n Banheiro\n” );</a:t>
            </a:r>
          </a:p>
          <a:p>
            <a:r>
              <a:rPr lang="pt-BR" sz="1800" dirty="0"/>
              <a:t>  </a:t>
            </a:r>
            <a:r>
              <a:rPr lang="pt-BR" sz="1800" dirty="0" err="1">
                <a:solidFill>
                  <a:srgbClr val="003399"/>
                </a:solidFill>
              </a:rPr>
              <a:t>retangulo</a:t>
            </a:r>
            <a:r>
              <a:rPr lang="pt-BR" sz="1800" dirty="0">
                <a:solidFill>
                  <a:srgbClr val="003399"/>
                </a:solidFill>
              </a:rPr>
              <a:t>(6,8</a:t>
            </a:r>
            <a:r>
              <a:rPr lang="pt-BR" sz="1800" dirty="0"/>
              <a:t>);</a:t>
            </a:r>
          </a:p>
          <a:p>
            <a:r>
              <a:rPr lang="pt-BR" sz="1800" dirty="0"/>
              <a:t>  </a:t>
            </a:r>
            <a:r>
              <a:rPr lang="pt-BR" sz="1800" dirty="0" err="1"/>
              <a:t>printf</a:t>
            </a:r>
            <a:r>
              <a:rPr lang="pt-BR" sz="1800" dirty="0"/>
              <a:t>(“\n Quarto\n” );</a:t>
            </a:r>
          </a:p>
          <a:p>
            <a:r>
              <a:rPr lang="pt-BR" sz="1800" dirty="0"/>
              <a:t>  </a:t>
            </a:r>
            <a:r>
              <a:rPr lang="pt-BR" sz="1800" dirty="0" err="1">
                <a:solidFill>
                  <a:srgbClr val="003399"/>
                </a:solidFill>
              </a:rPr>
              <a:t>retangulo</a:t>
            </a:r>
            <a:r>
              <a:rPr lang="pt-BR" sz="1800" dirty="0">
                <a:solidFill>
                  <a:srgbClr val="003399"/>
                </a:solidFill>
              </a:rPr>
              <a:t>(12,12</a:t>
            </a:r>
            <a:r>
              <a:rPr lang="pt-BR" sz="1800" dirty="0"/>
              <a:t>);</a:t>
            </a:r>
          </a:p>
          <a:p>
            <a:r>
              <a:rPr lang="pt-BR" sz="1800" dirty="0"/>
              <a:t>}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4191000" y="1605677"/>
            <a:ext cx="41148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800" dirty="0" err="1">
                <a:solidFill>
                  <a:srgbClr val="003399"/>
                </a:solidFill>
              </a:rPr>
              <a:t>retangulo</a:t>
            </a:r>
            <a:r>
              <a:rPr lang="pt-BR" sz="1800" dirty="0">
                <a:solidFill>
                  <a:srgbClr val="003399"/>
                </a:solidFill>
              </a:rPr>
              <a:t>(largura,altura)</a:t>
            </a:r>
          </a:p>
          <a:p>
            <a:r>
              <a:rPr lang="pt-BR" sz="1800" dirty="0">
                <a:solidFill>
                  <a:srgbClr val="003399"/>
                </a:solidFill>
              </a:rPr>
              <a:t> </a:t>
            </a:r>
            <a:r>
              <a:rPr lang="pt-BR" sz="1800" dirty="0" err="1">
                <a:solidFill>
                  <a:srgbClr val="003399"/>
                </a:solidFill>
              </a:rPr>
              <a:t>int</a:t>
            </a:r>
            <a:r>
              <a:rPr lang="pt-BR" sz="1800" dirty="0">
                <a:solidFill>
                  <a:srgbClr val="003399"/>
                </a:solidFill>
              </a:rPr>
              <a:t> largura,altura;</a:t>
            </a:r>
          </a:p>
          <a:p>
            <a:r>
              <a:rPr lang="pt-BR" sz="1800" dirty="0">
                <a:solidFill>
                  <a:srgbClr val="003399"/>
                </a:solidFill>
              </a:rPr>
              <a:t>{</a:t>
            </a:r>
          </a:p>
          <a:p>
            <a:r>
              <a:rPr lang="pt-BR" sz="1800" dirty="0">
                <a:solidFill>
                  <a:srgbClr val="003399"/>
                </a:solidFill>
              </a:rPr>
              <a:t>  </a:t>
            </a:r>
            <a:r>
              <a:rPr lang="pt-BR" sz="1800" dirty="0" err="1">
                <a:solidFill>
                  <a:srgbClr val="003399"/>
                </a:solidFill>
              </a:rPr>
              <a:t>int</a:t>
            </a:r>
            <a:r>
              <a:rPr lang="pt-BR" sz="1800" dirty="0">
                <a:solidFill>
                  <a:srgbClr val="003399"/>
                </a:solidFill>
              </a:rPr>
              <a:t> j,k;</a:t>
            </a:r>
          </a:p>
          <a:p>
            <a:r>
              <a:rPr lang="pt-BR" sz="1800" dirty="0">
                <a:solidFill>
                  <a:srgbClr val="003399"/>
                </a:solidFill>
              </a:rPr>
              <a:t>  largura /=2;</a:t>
            </a:r>
          </a:p>
          <a:p>
            <a:r>
              <a:rPr lang="pt-BR" sz="1800" dirty="0">
                <a:solidFill>
                  <a:srgbClr val="003399"/>
                </a:solidFill>
              </a:rPr>
              <a:t>  altura /=4;</a:t>
            </a:r>
          </a:p>
          <a:p>
            <a:r>
              <a:rPr lang="pt-BR" sz="1800" dirty="0"/>
              <a:t>  </a:t>
            </a:r>
            <a:r>
              <a:rPr lang="pt-BR" sz="1800" dirty="0">
                <a:solidFill>
                  <a:schemeClr val="accent1">
                    <a:lumMod val="50000"/>
                  </a:schemeClr>
                </a:solidFill>
              </a:rPr>
              <a:t>for(j=1;j&lt;=altura;j++)</a:t>
            </a:r>
          </a:p>
          <a:p>
            <a:r>
              <a:rPr lang="pt-BR" sz="18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pt-BR" sz="1800" dirty="0">
                <a:solidFill>
                  <a:schemeClr val="accent1">
                    <a:lumMod val="50000"/>
                  </a:schemeClr>
                </a:solidFill>
              </a:rPr>
              <a:t> {</a:t>
            </a:r>
          </a:p>
          <a:p>
            <a:r>
              <a:rPr lang="pt-BR" sz="1800" dirty="0"/>
              <a:t>   </a:t>
            </a:r>
            <a:r>
              <a:rPr lang="pt-BR" sz="1800" dirty="0" err="1"/>
              <a:t>printf</a:t>
            </a:r>
            <a:r>
              <a:rPr lang="pt-BR" sz="1800" dirty="0"/>
              <a:t>(“\t \t” );</a:t>
            </a:r>
          </a:p>
          <a:p>
            <a:r>
              <a:rPr lang="pt-BR" sz="1800" dirty="0"/>
              <a:t>    </a:t>
            </a:r>
            <a:r>
              <a:rPr lang="pt-BR" sz="1800" dirty="0">
                <a:solidFill>
                  <a:srgbClr val="A50021"/>
                </a:solidFill>
              </a:rPr>
              <a:t>for(k=1;j&lt;=largura;k++)</a:t>
            </a:r>
          </a:p>
          <a:p>
            <a:r>
              <a:rPr lang="pt-BR" sz="1800" dirty="0">
                <a:solidFill>
                  <a:srgbClr val="A50021"/>
                </a:solidFill>
              </a:rPr>
              <a:t>    {</a:t>
            </a:r>
          </a:p>
          <a:p>
            <a:r>
              <a:rPr lang="pt-BR" sz="1800" dirty="0">
                <a:solidFill>
                  <a:srgbClr val="A50021"/>
                </a:solidFill>
              </a:rPr>
              <a:t>      </a:t>
            </a:r>
            <a:r>
              <a:rPr lang="pt-BR" sz="1800" dirty="0" err="1">
                <a:solidFill>
                  <a:srgbClr val="A50021"/>
                </a:solidFill>
              </a:rPr>
              <a:t>printf</a:t>
            </a:r>
            <a:r>
              <a:rPr lang="pt-BR" sz="1800" dirty="0">
                <a:solidFill>
                  <a:srgbClr val="A50021"/>
                </a:solidFill>
              </a:rPr>
              <a:t>(“\</a:t>
            </a:r>
            <a:r>
              <a:rPr lang="pt-BR" sz="1800" dirty="0" err="1">
                <a:solidFill>
                  <a:srgbClr val="A50021"/>
                </a:solidFill>
              </a:rPr>
              <a:t>xDB</a:t>
            </a:r>
            <a:r>
              <a:rPr lang="pt-BR" sz="1800" dirty="0">
                <a:solidFill>
                  <a:srgbClr val="A50021"/>
                </a:solidFill>
              </a:rPr>
              <a:t>”);</a:t>
            </a:r>
          </a:p>
          <a:p>
            <a:r>
              <a:rPr lang="pt-BR" sz="1800" dirty="0">
                <a:solidFill>
                  <a:srgbClr val="A50021"/>
                </a:solidFill>
              </a:rPr>
              <a:t>      </a:t>
            </a:r>
            <a:r>
              <a:rPr lang="pt-BR" sz="1800" dirty="0" err="1">
                <a:solidFill>
                  <a:srgbClr val="A50021"/>
                </a:solidFill>
              </a:rPr>
              <a:t>printf</a:t>
            </a:r>
            <a:r>
              <a:rPr lang="pt-BR" sz="1800" dirty="0">
                <a:solidFill>
                  <a:srgbClr val="A50021"/>
                </a:solidFill>
              </a:rPr>
              <a:t>(“\n”);</a:t>
            </a:r>
          </a:p>
          <a:p>
            <a:r>
              <a:rPr lang="pt-BR" sz="1800" dirty="0">
                <a:solidFill>
                  <a:srgbClr val="A50021"/>
                </a:solidFill>
              </a:rPr>
              <a:t>    }</a:t>
            </a:r>
          </a:p>
          <a:p>
            <a:r>
              <a:rPr lang="pt-BR" sz="1800" dirty="0">
                <a:solidFill>
                  <a:schemeClr val="accent1">
                    <a:lumMod val="50000"/>
                  </a:schemeClr>
                </a:solidFill>
              </a:rPr>
              <a:t>  }</a:t>
            </a:r>
          </a:p>
          <a:p>
            <a:r>
              <a:rPr lang="pt-BR" sz="1800" dirty="0">
                <a:solidFill>
                  <a:srgbClr val="003399"/>
                </a:solidFill>
              </a:rPr>
              <a:t>}</a:t>
            </a:r>
          </a:p>
        </p:txBody>
      </p:sp>
      <p:pic>
        <p:nvPicPr>
          <p:cNvPr id="8" name="Picture 14" descr="https://encrypted-tbn3.gstatic.com/images?q=tbn:ANd9GcSTT9hB4C6uDhPnHuFGStflSkVy-vqD__r9IdfQHez91DYRk1QWOw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919686" y="29028"/>
            <a:ext cx="2209800" cy="1447800"/>
          </a:xfrm>
          <a:prstGeom prst="rect">
            <a:avLst/>
          </a:prstGeom>
          <a:noFill/>
        </p:spPr>
      </p:pic>
    </p:spTree>
  </p:cSld>
  <p:clrMapOvr>
    <a:masterClrMapping/>
  </p:clrMapOvr>
  <p:transition>
    <p:fade thruBlk="1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/>
          <p:nvPr/>
        </p:nvSpPr>
        <p:spPr>
          <a:xfrm>
            <a:off x="0" y="1519059"/>
            <a:ext cx="9144000" cy="44781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500" dirty="0">
                <a:solidFill>
                  <a:srgbClr val="C00000"/>
                </a:solidFill>
              </a:rPr>
              <a:t>Sintaxe</a:t>
            </a:r>
            <a:r>
              <a:rPr lang="pt-BR" sz="1500" dirty="0"/>
              <a:t>:    </a:t>
            </a:r>
            <a:r>
              <a:rPr lang="pt-BR" sz="1500" b="1" dirty="0">
                <a:solidFill>
                  <a:srgbClr val="003399"/>
                </a:solidFill>
              </a:rPr>
              <a:t>SE(teste_lógico; valor_se_verdadeiro; valor_se_falso)</a:t>
            </a:r>
          </a:p>
          <a:p>
            <a:pPr algn="just"/>
            <a:r>
              <a:rPr lang="pt-BR" sz="1500" dirty="0">
                <a:solidFill>
                  <a:srgbClr val="C00000"/>
                </a:solidFill>
              </a:rPr>
              <a:t>Teste_lógico </a:t>
            </a:r>
            <a:r>
              <a:rPr lang="pt-BR" sz="1500" dirty="0"/>
              <a:t>é qualquer valor ou expressão que pode ser avaliada como VERDADEIRO ou FALSO.</a:t>
            </a:r>
            <a:br>
              <a:rPr lang="pt-BR" sz="1500" dirty="0"/>
            </a:br>
            <a:endParaRPr lang="pt-BR" sz="1500" dirty="0"/>
          </a:p>
          <a:p>
            <a:r>
              <a:rPr lang="pt-BR" sz="1500" dirty="0">
                <a:solidFill>
                  <a:srgbClr val="C00000"/>
                </a:solidFill>
              </a:rPr>
              <a:t>Valor_se_verdadeiro:</a:t>
            </a:r>
            <a:r>
              <a:rPr lang="pt-BR" sz="1500" dirty="0"/>
              <a:t>   é o valor fornecido se teste_lógico for VERDADEIRO. Se teste_lógico for VERDADEIRO e valor_se_verdadeiro for omitido, VERDADEIRO será fornecido.</a:t>
            </a:r>
            <a:br>
              <a:rPr lang="pt-BR" sz="1500" dirty="0"/>
            </a:br>
            <a:endParaRPr lang="pt-BR" sz="1500" dirty="0"/>
          </a:p>
          <a:p>
            <a:r>
              <a:rPr lang="pt-BR" sz="1500" dirty="0">
                <a:solidFill>
                  <a:srgbClr val="C00000"/>
                </a:solidFill>
              </a:rPr>
              <a:t>Valor_se_falso:</a:t>
            </a:r>
            <a:r>
              <a:rPr lang="pt-BR" sz="1500" dirty="0"/>
              <a:t>   é o valor fornecido se teste_lógico for FALSO. Se teste_lógico for FALSO e     valor_se_falso for omitido, FALSO será fornecido.</a:t>
            </a:r>
            <a:br>
              <a:rPr lang="pt-BR" sz="1500" dirty="0"/>
            </a:br>
            <a:br>
              <a:rPr lang="pt-BR" sz="1500" dirty="0"/>
            </a:br>
            <a:r>
              <a:rPr lang="pt-BR" sz="1500" dirty="0">
                <a:solidFill>
                  <a:srgbClr val="C00000"/>
                </a:solidFill>
              </a:rPr>
              <a:t>Exemplos</a:t>
            </a:r>
            <a:r>
              <a:rPr lang="pt-BR" sz="1500" dirty="0"/>
              <a:t>:</a:t>
            </a:r>
            <a:br>
              <a:rPr lang="pt-BR" sz="1500" dirty="0"/>
            </a:br>
            <a:br>
              <a:rPr lang="pt-BR" sz="1500" b="1" dirty="0">
                <a:solidFill>
                  <a:srgbClr val="003399"/>
                </a:solidFill>
              </a:rPr>
            </a:br>
            <a:r>
              <a:rPr lang="pt-BR" sz="1500" b="1" dirty="0">
                <a:solidFill>
                  <a:srgbClr val="003399"/>
                </a:solidFill>
              </a:rPr>
              <a:t>=SE(B2&gt;C2;"Acima do orçamento";"OK")</a:t>
            </a:r>
            <a:br>
              <a:rPr lang="pt-BR" sz="1500" b="1" dirty="0">
                <a:solidFill>
                  <a:srgbClr val="003399"/>
                </a:solidFill>
              </a:rPr>
            </a:br>
            <a:br>
              <a:rPr lang="pt-BR" sz="1500" dirty="0"/>
            </a:br>
            <a:r>
              <a:rPr lang="pt-BR" sz="1500" b="1" dirty="0">
                <a:solidFill>
                  <a:srgbClr val="003399"/>
                </a:solidFill>
              </a:rPr>
              <a:t>=SE(Média&gt;89;"A";SE(Média&gt;79;"B"; SE(Média&gt;69;"C";SE(Média&gt;59;"D";"F"))))</a:t>
            </a:r>
          </a:p>
          <a:p>
            <a:pPr algn="just"/>
            <a:br>
              <a:rPr lang="pt-BR" sz="1500" dirty="0"/>
            </a:br>
            <a:r>
              <a:rPr lang="pt-BR" sz="1500" dirty="0"/>
              <a:t>No exemplo anterior, a segunda instrução SE também é o argumento valor_se_falso para a primeira instrução SE. Da mesma maneira, a terceira instrução SE é o argumento valor_se_falso para a segunda instrução SE. Por exemplo, se o primeiro teste_lógico (Média&gt;89) for VERDADEIRO, "A" será fornecido. Se o primeiro teste_lógico for FALSO, a segunda instrução SE é avaliada e assim por diante.</a:t>
            </a:r>
          </a:p>
        </p:txBody>
      </p:sp>
      <p:sp>
        <p:nvSpPr>
          <p:cNvPr id="4" name="Retângulo 3"/>
          <p:cNvSpPr/>
          <p:nvPr/>
        </p:nvSpPr>
        <p:spPr>
          <a:xfrm>
            <a:off x="3048000" y="540603"/>
            <a:ext cx="44196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C00000"/>
                </a:solidFill>
              </a:rPr>
              <a:t>FÓRMULA CONDICIONAL SE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41578198"/>
      </p:ext>
    </p:extLst>
  </p:cSld>
  <p:clrMapOvr>
    <a:masterClrMapping/>
  </p:clrMapOvr>
  <p:transition>
    <p:fade thruBlk="1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tângulo 34"/>
          <p:cNvSpPr/>
          <p:nvPr/>
        </p:nvSpPr>
        <p:spPr>
          <a:xfrm>
            <a:off x="6248400" y="194846"/>
            <a:ext cx="28956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1600" b="1" dirty="0">
                <a:solidFill>
                  <a:srgbClr val="C00000"/>
                </a:solidFill>
              </a:rPr>
              <a:t>FUXOGRAMA</a:t>
            </a:r>
            <a:endParaRPr lang="pt-BR" sz="1600" dirty="0"/>
          </a:p>
        </p:txBody>
      </p:sp>
      <p:sp>
        <p:nvSpPr>
          <p:cNvPr id="32" name="Fluxograma: Conector 31"/>
          <p:cNvSpPr/>
          <p:nvPr/>
        </p:nvSpPr>
        <p:spPr>
          <a:xfrm>
            <a:off x="304800" y="1981200"/>
            <a:ext cx="1066800" cy="685800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8" name="Fluxograma: Entrada manual 37"/>
          <p:cNvSpPr/>
          <p:nvPr/>
        </p:nvSpPr>
        <p:spPr>
          <a:xfrm>
            <a:off x="304800" y="3276600"/>
            <a:ext cx="1066800" cy="685800"/>
          </a:xfrm>
          <a:prstGeom prst="flowChartManualInp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9" name="Fluxograma: Decisão 38"/>
          <p:cNvSpPr/>
          <p:nvPr/>
        </p:nvSpPr>
        <p:spPr>
          <a:xfrm>
            <a:off x="228600" y="4876800"/>
            <a:ext cx="1371600" cy="914400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0" name="Fluxograma: Processo 39"/>
          <p:cNvSpPr/>
          <p:nvPr/>
        </p:nvSpPr>
        <p:spPr>
          <a:xfrm>
            <a:off x="4602713" y="2057400"/>
            <a:ext cx="1219200" cy="762000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Fluxograma: Exibir 40"/>
          <p:cNvSpPr/>
          <p:nvPr/>
        </p:nvSpPr>
        <p:spPr>
          <a:xfrm>
            <a:off x="4526513" y="4038600"/>
            <a:ext cx="1295400" cy="838200"/>
          </a:xfrm>
          <a:prstGeom prst="flowChartDispla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2" name="CaixaDeTexto 41"/>
          <p:cNvSpPr txBox="1"/>
          <p:nvPr/>
        </p:nvSpPr>
        <p:spPr>
          <a:xfrm>
            <a:off x="1676400" y="2133600"/>
            <a:ext cx="26597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800" dirty="0"/>
              <a:t>Inicio e fim do programa</a:t>
            </a:r>
          </a:p>
        </p:txBody>
      </p:sp>
      <p:sp>
        <p:nvSpPr>
          <p:cNvPr id="43" name="CaixaDeTexto 42"/>
          <p:cNvSpPr txBox="1"/>
          <p:nvPr/>
        </p:nvSpPr>
        <p:spPr>
          <a:xfrm>
            <a:off x="1676400" y="3440668"/>
            <a:ext cx="20056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800" dirty="0"/>
              <a:t>Entrada de dados</a:t>
            </a:r>
          </a:p>
        </p:txBody>
      </p:sp>
      <p:sp>
        <p:nvSpPr>
          <p:cNvPr id="44" name="CaixaDeTexto 43"/>
          <p:cNvSpPr txBox="1"/>
          <p:nvPr/>
        </p:nvSpPr>
        <p:spPr>
          <a:xfrm>
            <a:off x="2081922" y="5117068"/>
            <a:ext cx="21852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800" dirty="0"/>
              <a:t>Tomada de decisão</a:t>
            </a:r>
          </a:p>
        </p:txBody>
      </p:sp>
      <p:sp>
        <p:nvSpPr>
          <p:cNvPr id="45" name="CaixaDeTexto 44"/>
          <p:cNvSpPr txBox="1"/>
          <p:nvPr/>
        </p:nvSpPr>
        <p:spPr>
          <a:xfrm>
            <a:off x="6279113" y="2221468"/>
            <a:ext cx="28648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800" dirty="0"/>
              <a:t>Processamento de dados </a:t>
            </a:r>
          </a:p>
        </p:txBody>
      </p:sp>
      <p:sp>
        <p:nvSpPr>
          <p:cNvPr id="46" name="CaixaDeTexto 45"/>
          <p:cNvSpPr txBox="1"/>
          <p:nvPr/>
        </p:nvSpPr>
        <p:spPr>
          <a:xfrm>
            <a:off x="6236003" y="4267200"/>
            <a:ext cx="20697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800" dirty="0"/>
              <a:t>Exibição de dados</a:t>
            </a:r>
          </a:p>
        </p:txBody>
      </p:sp>
      <p:sp>
        <p:nvSpPr>
          <p:cNvPr id="47" name="CaixaDeTexto 46"/>
          <p:cNvSpPr txBox="1"/>
          <p:nvPr/>
        </p:nvSpPr>
        <p:spPr>
          <a:xfrm>
            <a:off x="1409700" y="2159000"/>
            <a:ext cx="4106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800" dirty="0">
                <a:sym typeface="Wingdings" pitchFamily="2" charset="2"/>
              </a:rPr>
              <a:t></a:t>
            </a:r>
            <a:endParaRPr lang="pt-BR" sz="1800" dirty="0"/>
          </a:p>
        </p:txBody>
      </p:sp>
      <p:sp>
        <p:nvSpPr>
          <p:cNvPr id="48" name="CaixaDeTexto 47"/>
          <p:cNvSpPr txBox="1"/>
          <p:nvPr/>
        </p:nvSpPr>
        <p:spPr>
          <a:xfrm>
            <a:off x="1371600" y="3466068"/>
            <a:ext cx="4106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800" dirty="0">
                <a:sym typeface="Wingdings" pitchFamily="2" charset="2"/>
              </a:rPr>
              <a:t></a:t>
            </a:r>
            <a:endParaRPr lang="pt-BR" sz="1800" dirty="0"/>
          </a:p>
        </p:txBody>
      </p:sp>
      <p:sp>
        <p:nvSpPr>
          <p:cNvPr id="49" name="CaixaDeTexto 48"/>
          <p:cNvSpPr txBox="1"/>
          <p:nvPr/>
        </p:nvSpPr>
        <p:spPr>
          <a:xfrm>
            <a:off x="1646710" y="5155168"/>
            <a:ext cx="4106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800" dirty="0">
                <a:sym typeface="Wingdings" pitchFamily="2" charset="2"/>
              </a:rPr>
              <a:t></a:t>
            </a:r>
            <a:endParaRPr lang="pt-BR" sz="1800" dirty="0"/>
          </a:p>
        </p:txBody>
      </p:sp>
      <p:sp>
        <p:nvSpPr>
          <p:cNvPr id="50" name="CaixaDeTexto 49"/>
          <p:cNvSpPr txBox="1"/>
          <p:nvPr/>
        </p:nvSpPr>
        <p:spPr>
          <a:xfrm>
            <a:off x="5913910" y="2247900"/>
            <a:ext cx="4106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800" dirty="0">
                <a:sym typeface="Wingdings" pitchFamily="2" charset="2"/>
              </a:rPr>
              <a:t></a:t>
            </a:r>
            <a:endParaRPr lang="pt-BR" sz="1800" dirty="0"/>
          </a:p>
        </p:txBody>
      </p:sp>
      <p:sp>
        <p:nvSpPr>
          <p:cNvPr id="51" name="CaixaDeTexto 50"/>
          <p:cNvSpPr txBox="1"/>
          <p:nvPr/>
        </p:nvSpPr>
        <p:spPr>
          <a:xfrm>
            <a:off x="5918200" y="4278868"/>
            <a:ext cx="4106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800" dirty="0">
                <a:sym typeface="Wingdings" pitchFamily="2" charset="2"/>
              </a:rPr>
              <a:t></a:t>
            </a:r>
            <a:endParaRPr lang="pt-BR" sz="1800" dirty="0"/>
          </a:p>
        </p:txBody>
      </p:sp>
    </p:spTree>
    <p:extLst>
      <p:ext uri="{BB962C8B-B14F-4D97-AF65-F5344CB8AC3E}">
        <p14:creationId xmlns:p14="http://schemas.microsoft.com/office/powerpoint/2010/main" val="2383272546"/>
      </p:ext>
    </p:extLst>
  </p:cSld>
  <p:clrMapOvr>
    <a:masterClrMapping/>
  </p:clrMapOvr>
  <p:transition>
    <p:fade thruBlk="1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/>
          <p:cNvSpPr/>
          <p:nvPr/>
        </p:nvSpPr>
        <p:spPr>
          <a:xfrm>
            <a:off x="76200" y="0"/>
            <a:ext cx="28194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1600" b="1" dirty="0">
                <a:solidFill>
                  <a:srgbClr val="C00000"/>
                </a:solidFill>
              </a:rPr>
              <a:t>FÓRMULA CONDICIONAL </a:t>
            </a:r>
          </a:p>
          <a:p>
            <a:pPr algn="ctr"/>
            <a:r>
              <a:rPr lang="pt-BR" sz="1600" b="1" dirty="0">
                <a:solidFill>
                  <a:srgbClr val="C00000"/>
                </a:solidFill>
              </a:rPr>
              <a:t>SE (DECISÃO)</a:t>
            </a:r>
            <a:endParaRPr lang="pt-BR" sz="1600" dirty="0"/>
          </a:p>
        </p:txBody>
      </p:sp>
      <p:sp>
        <p:nvSpPr>
          <p:cNvPr id="7" name="Fluxograma: Decisão 6"/>
          <p:cNvSpPr/>
          <p:nvPr/>
        </p:nvSpPr>
        <p:spPr>
          <a:xfrm>
            <a:off x="3048000" y="2209800"/>
            <a:ext cx="2590800" cy="1447800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800" b="1" dirty="0">
                <a:solidFill>
                  <a:schemeClr val="accent6">
                    <a:lumMod val="75000"/>
                  </a:schemeClr>
                </a:solidFill>
              </a:rPr>
              <a:t>SE</a:t>
            </a:r>
          </a:p>
          <a:p>
            <a:pPr algn="ctr"/>
            <a:r>
              <a:rPr lang="pt-BR" sz="1800" b="1" dirty="0">
                <a:solidFill>
                  <a:schemeClr val="accent6">
                    <a:lumMod val="75000"/>
                  </a:schemeClr>
                </a:solidFill>
              </a:rPr>
              <a:t>(Peso&gt;=10)</a:t>
            </a:r>
          </a:p>
        </p:txBody>
      </p:sp>
      <p:cxnSp>
        <p:nvCxnSpPr>
          <p:cNvPr id="10" name="Conector reto 9"/>
          <p:cNvCxnSpPr/>
          <p:nvPr/>
        </p:nvCxnSpPr>
        <p:spPr>
          <a:xfrm>
            <a:off x="5638800" y="2933700"/>
            <a:ext cx="9906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/>
          <p:nvPr/>
        </p:nvCxnSpPr>
        <p:spPr>
          <a:xfrm>
            <a:off x="2057400" y="2933700"/>
            <a:ext cx="9906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/>
          <p:cNvCxnSpPr/>
          <p:nvPr/>
        </p:nvCxnSpPr>
        <p:spPr>
          <a:xfrm flipV="1">
            <a:off x="2057400" y="2921000"/>
            <a:ext cx="0" cy="106680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/>
          <p:cNvCxnSpPr/>
          <p:nvPr/>
        </p:nvCxnSpPr>
        <p:spPr>
          <a:xfrm flipV="1">
            <a:off x="6629400" y="2933700"/>
            <a:ext cx="0" cy="106680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to 17"/>
          <p:cNvCxnSpPr>
            <a:endCxn id="25" idx="2"/>
          </p:cNvCxnSpPr>
          <p:nvPr/>
        </p:nvCxnSpPr>
        <p:spPr>
          <a:xfrm>
            <a:off x="2057400" y="5638800"/>
            <a:ext cx="2235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to 18"/>
          <p:cNvCxnSpPr/>
          <p:nvPr/>
        </p:nvCxnSpPr>
        <p:spPr>
          <a:xfrm flipV="1">
            <a:off x="2057400" y="4597400"/>
            <a:ext cx="0" cy="106680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to 19"/>
          <p:cNvCxnSpPr>
            <a:stCxn id="25" idx="6"/>
          </p:cNvCxnSpPr>
          <p:nvPr/>
        </p:nvCxnSpPr>
        <p:spPr>
          <a:xfrm>
            <a:off x="4445000" y="5638800"/>
            <a:ext cx="2184400" cy="5080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to 20"/>
          <p:cNvCxnSpPr/>
          <p:nvPr/>
        </p:nvCxnSpPr>
        <p:spPr>
          <a:xfrm flipV="1">
            <a:off x="6629400" y="4648200"/>
            <a:ext cx="0" cy="106680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Elipse 24"/>
          <p:cNvSpPr/>
          <p:nvPr/>
        </p:nvSpPr>
        <p:spPr>
          <a:xfrm>
            <a:off x="4292600" y="5562600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28" name="CaixaDeTexto 27"/>
          <p:cNvSpPr txBox="1"/>
          <p:nvPr/>
        </p:nvSpPr>
        <p:spPr>
          <a:xfrm>
            <a:off x="5660980" y="2362200"/>
            <a:ext cx="13740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/>
              <a:t>CONDIÇÃO</a:t>
            </a:r>
          </a:p>
          <a:p>
            <a:r>
              <a:rPr lang="pt-BR" sz="1400" b="1" dirty="0"/>
              <a:t>VERDADEIRA</a:t>
            </a:r>
          </a:p>
        </p:txBody>
      </p:sp>
      <p:sp>
        <p:nvSpPr>
          <p:cNvPr id="29" name="CaixaDeTexto 28"/>
          <p:cNvSpPr txBox="1"/>
          <p:nvPr/>
        </p:nvSpPr>
        <p:spPr>
          <a:xfrm>
            <a:off x="1981200" y="2372380"/>
            <a:ext cx="11624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400" b="1" dirty="0"/>
              <a:t>CONDIÇÃO</a:t>
            </a:r>
          </a:p>
          <a:p>
            <a:pPr algn="ctr"/>
            <a:r>
              <a:rPr lang="pt-BR" sz="1400" b="1" dirty="0"/>
              <a:t>FALSA</a:t>
            </a:r>
          </a:p>
        </p:txBody>
      </p:sp>
      <p:sp>
        <p:nvSpPr>
          <p:cNvPr id="30" name="Elipse 29"/>
          <p:cNvSpPr/>
          <p:nvPr/>
        </p:nvSpPr>
        <p:spPr>
          <a:xfrm>
            <a:off x="3429000" y="6019800"/>
            <a:ext cx="1981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FIM</a:t>
            </a:r>
          </a:p>
        </p:txBody>
      </p:sp>
      <p:cxnSp>
        <p:nvCxnSpPr>
          <p:cNvPr id="31" name="Conector reto 30"/>
          <p:cNvCxnSpPr>
            <a:endCxn id="25" idx="0"/>
          </p:cNvCxnSpPr>
          <p:nvPr/>
        </p:nvCxnSpPr>
        <p:spPr>
          <a:xfrm flipV="1">
            <a:off x="4368800" y="5562600"/>
            <a:ext cx="0" cy="45720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 reto 33"/>
          <p:cNvCxnSpPr/>
          <p:nvPr/>
        </p:nvCxnSpPr>
        <p:spPr>
          <a:xfrm flipV="1">
            <a:off x="4343400" y="1828800"/>
            <a:ext cx="0" cy="45720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tângulo 34"/>
          <p:cNvSpPr/>
          <p:nvPr/>
        </p:nvSpPr>
        <p:spPr>
          <a:xfrm>
            <a:off x="6248400" y="194846"/>
            <a:ext cx="28956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1600" b="1" dirty="0">
                <a:solidFill>
                  <a:srgbClr val="C00000"/>
                </a:solidFill>
              </a:rPr>
              <a:t> ECOVIAS - BALANÇA</a:t>
            </a:r>
            <a:endParaRPr lang="pt-BR" sz="1600" dirty="0"/>
          </a:p>
        </p:txBody>
      </p:sp>
      <p:sp>
        <p:nvSpPr>
          <p:cNvPr id="36" name="Elipse 35"/>
          <p:cNvSpPr/>
          <p:nvPr/>
        </p:nvSpPr>
        <p:spPr>
          <a:xfrm>
            <a:off x="3352800" y="152400"/>
            <a:ext cx="1981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INÍCIO</a:t>
            </a:r>
          </a:p>
        </p:txBody>
      </p:sp>
      <p:cxnSp>
        <p:nvCxnSpPr>
          <p:cNvPr id="37" name="Conector reto 36"/>
          <p:cNvCxnSpPr/>
          <p:nvPr/>
        </p:nvCxnSpPr>
        <p:spPr>
          <a:xfrm flipV="1">
            <a:off x="4343400" y="685800"/>
            <a:ext cx="0" cy="45720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angulado 25"/>
          <p:cNvCxnSpPr/>
          <p:nvPr/>
        </p:nvCxnSpPr>
        <p:spPr>
          <a:xfrm rot="5400000">
            <a:off x="3924300" y="3848100"/>
            <a:ext cx="609600" cy="228600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CaixaDeTexto 26"/>
          <p:cNvSpPr txBox="1"/>
          <p:nvPr/>
        </p:nvSpPr>
        <p:spPr>
          <a:xfrm>
            <a:off x="3429000" y="4191000"/>
            <a:ext cx="1451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>
                <a:solidFill>
                  <a:srgbClr val="C00000"/>
                </a:solidFill>
              </a:rPr>
              <a:t>CONDICIONAL</a:t>
            </a:r>
          </a:p>
        </p:txBody>
      </p:sp>
      <p:sp>
        <p:nvSpPr>
          <p:cNvPr id="32" name="Fluxograma: Exibir 31"/>
          <p:cNvSpPr/>
          <p:nvPr/>
        </p:nvSpPr>
        <p:spPr>
          <a:xfrm>
            <a:off x="685800" y="3962400"/>
            <a:ext cx="2514600" cy="609600"/>
          </a:xfrm>
          <a:prstGeom prst="flowChartDispla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PROSSIGA</a:t>
            </a:r>
          </a:p>
        </p:txBody>
      </p:sp>
      <p:sp>
        <p:nvSpPr>
          <p:cNvPr id="38" name="Fluxograma: Exibir 37"/>
          <p:cNvSpPr/>
          <p:nvPr/>
        </p:nvSpPr>
        <p:spPr>
          <a:xfrm>
            <a:off x="5334000" y="4038600"/>
            <a:ext cx="2514600" cy="609600"/>
          </a:xfrm>
          <a:prstGeom prst="flowChartDispla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AGUARDE</a:t>
            </a:r>
          </a:p>
        </p:txBody>
      </p:sp>
      <p:sp>
        <p:nvSpPr>
          <p:cNvPr id="39" name="Fluxograma: Entrada manual 38"/>
          <p:cNvSpPr/>
          <p:nvPr/>
        </p:nvSpPr>
        <p:spPr>
          <a:xfrm>
            <a:off x="3200400" y="1066800"/>
            <a:ext cx="2286000" cy="838200"/>
          </a:xfrm>
          <a:prstGeom prst="flowChartManualInp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BALANÇA</a:t>
            </a:r>
          </a:p>
          <a:p>
            <a:pPr algn="ctr"/>
            <a:r>
              <a:rPr lang="pt-BR" dirty="0">
                <a:solidFill>
                  <a:schemeClr val="tx1"/>
                </a:solidFill>
              </a:rPr>
              <a:t>(TON)</a:t>
            </a:r>
          </a:p>
        </p:txBody>
      </p:sp>
    </p:spTree>
    <p:extLst>
      <p:ext uri="{BB962C8B-B14F-4D97-AF65-F5344CB8AC3E}">
        <p14:creationId xmlns:p14="http://schemas.microsoft.com/office/powerpoint/2010/main" val="2372629686"/>
      </p:ext>
    </p:extLst>
  </p:cSld>
  <p:clrMapOvr>
    <a:masterClrMapping/>
  </p:clrMapOvr>
  <p:transition>
    <p:fade thruBlk="1"/>
  </p:transition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Default Design">
  <a:themeElements>
    <a:clrScheme name="1_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1_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F76FEB943E6AED44A9105F9765788AC6" ma:contentTypeVersion="0" ma:contentTypeDescription="Crie um novo documento." ma:contentTypeScope="" ma:versionID="92cecfd90e045b1e816799d4df0a122e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574c6ccb71ee63fbc30cff3237551ec3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FA72C441-A683-4020-9512-EC99AC866957}"/>
</file>

<file path=customXml/itemProps2.xml><?xml version="1.0" encoding="utf-8"?>
<ds:datastoreItem xmlns:ds="http://schemas.openxmlformats.org/officeDocument/2006/customXml" ds:itemID="{5B473F10-5A7F-4126-BA3E-B476D33BD21C}"/>
</file>

<file path=customXml/itemProps3.xml><?xml version="1.0" encoding="utf-8"?>
<ds:datastoreItem xmlns:ds="http://schemas.openxmlformats.org/officeDocument/2006/customXml" ds:itemID="{85D8E895-EB3C-4043-BDAF-34143EE8CBC8}"/>
</file>

<file path=docProps/app.xml><?xml version="1.0" encoding="utf-8"?>
<Properties xmlns="http://schemas.openxmlformats.org/officeDocument/2006/extended-properties" xmlns:vt="http://schemas.openxmlformats.org/officeDocument/2006/docPropsVTypes">
  <TotalTime>6998</TotalTime>
  <Words>2265</Words>
  <Application>Microsoft Office PowerPoint</Application>
  <PresentationFormat>Apresentação na tela (4:3)</PresentationFormat>
  <Paragraphs>416</Paragraphs>
  <Slides>28</Slides>
  <Notes>0</Notes>
  <HiddenSlides>0</HiddenSlides>
  <MMClips>0</MMClips>
  <ScaleCrop>false</ScaleCrop>
  <HeadingPairs>
    <vt:vector size="8" baseType="variant">
      <vt:variant>
        <vt:lpstr>Fontes usadas</vt:lpstr>
      </vt:variant>
      <vt:variant>
        <vt:i4>3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28</vt:i4>
      </vt:variant>
      <vt:variant>
        <vt:lpstr>Apresentações personalizadas</vt:lpstr>
      </vt:variant>
      <vt:variant>
        <vt:i4>1</vt:i4>
      </vt:variant>
    </vt:vector>
  </HeadingPairs>
  <TitlesOfParts>
    <vt:vector size="34" baseType="lpstr">
      <vt:lpstr>Arial</vt:lpstr>
      <vt:lpstr>Times New Roman</vt:lpstr>
      <vt:lpstr>Wingdings</vt:lpstr>
      <vt:lpstr>Default Design</vt:lpstr>
      <vt:lpstr>1_Default Design</vt:lpstr>
      <vt:lpstr>Apresentação do PowerPoint</vt:lpstr>
      <vt:lpstr>Apresentação do PowerPoint</vt:lpstr>
      <vt:lpstr>Apresentação do PowerPoint</vt:lpstr>
      <vt:lpstr>Apresentação do PowerPoint</vt:lpstr>
      <vt:lpstr>Circuito – lei de Ohm</vt:lpstr>
      <vt:lpstr>Portas Lógicas - And</vt:lpstr>
      <vt:lpstr>Código Hexadecimal</vt:lpstr>
      <vt:lpstr>Tabela ASCII</vt:lpstr>
      <vt:lpstr>Apresentação do PowerPoint</vt:lpstr>
      <vt:lpstr>Conversão de Base BinárioDecimal </vt:lpstr>
      <vt:lpstr>Conversão de Base BinárioDecimal </vt:lpstr>
      <vt:lpstr>Conversão de Base BinárioDecimal </vt:lpstr>
      <vt:lpstr>Conversão de Base BinárioDecimal </vt:lpstr>
      <vt:lpstr>Tabela ASCII</vt:lpstr>
      <vt:lpstr>Tabela ASCII</vt:lpstr>
      <vt:lpstr>Tabela ASCII</vt:lpstr>
      <vt:lpstr>Codigo  Hexadecimal - \x Linguagem C</vt:lpstr>
      <vt:lpstr>Apresentação do PowerPoint</vt:lpstr>
      <vt:lpstr>Codigo  Hexadecimal - \x Linguagem C</vt:lpstr>
      <vt:lpstr>Linguagem C</vt:lpstr>
      <vt:lpstr>Código  Hexadecimal Pausa</vt:lpstr>
      <vt:lpstr>Código  Hexadecimal Som</vt:lpstr>
      <vt:lpstr>Código  Hexadecimal Funções-Caixa</vt:lpstr>
      <vt:lpstr>Código  Hexadecimal Funções-Som</vt:lpstr>
      <vt:lpstr>Código  Hexadecimal Funções-Planta</vt:lpstr>
      <vt:lpstr>Apresentação do PowerPoint</vt:lpstr>
      <vt:lpstr>Apresentação do PowerPoint</vt:lpstr>
      <vt:lpstr>Apresentação do PowerPoint</vt:lpstr>
      <vt:lpstr>Custom Show 1</vt:lpstr>
    </vt:vector>
  </TitlesOfParts>
  <Company>Azimuth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KL</dc:creator>
  <cp:lastModifiedBy>PATRICIA DA SILVA</cp:lastModifiedBy>
  <cp:revision>689</cp:revision>
  <dcterms:created xsi:type="dcterms:W3CDTF">2005-03-05T09:57:46Z</dcterms:created>
  <dcterms:modified xsi:type="dcterms:W3CDTF">2024-08-05T16:14:26Z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0x010100F76FEB943E6AED44A9105F9765788AC6</vt:lpwstr>
  </property>
</Properties>
</file>