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2" r:id="rId4"/>
  </p:sldMasterIdLst>
  <p:sldIdLst>
    <p:sldId id="256" r:id="rId5"/>
    <p:sldId id="265" r:id="rId6"/>
    <p:sldId id="288" r:id="rId7"/>
    <p:sldId id="289" r:id="rId8"/>
    <p:sldId id="292" r:id="rId9"/>
    <p:sldId id="290" r:id="rId10"/>
    <p:sldId id="293" r:id="rId11"/>
    <p:sldId id="291" r:id="rId12"/>
    <p:sldId id="294" r:id="rId13"/>
    <p:sldId id="295" r:id="rId14"/>
    <p:sldId id="280" r:id="rId15"/>
    <p:sldId id="281" r:id="rId16"/>
    <p:sldId id="296" r:id="rId17"/>
    <p:sldId id="283" r:id="rId18"/>
    <p:sldId id="287" r:id="rId19"/>
    <p:sldId id="299" r:id="rId20"/>
    <p:sldId id="301" r:id="rId21"/>
    <p:sldId id="302" r:id="rId22"/>
    <p:sldId id="298" r:id="rId23"/>
    <p:sldId id="300" r:id="rId24"/>
    <p:sldId id="303" r:id="rId25"/>
    <p:sldId id="304" r:id="rId26"/>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68" autoAdjust="0"/>
    <p:restoredTop sz="94660"/>
  </p:normalViewPr>
  <p:slideViewPr>
    <p:cSldViewPr>
      <p:cViewPr varScale="1">
        <p:scale>
          <a:sx n="68" d="100"/>
          <a:sy n="68" d="100"/>
        </p:scale>
        <p:origin x="1452" y="4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BIO PESSOA DE SA" userId="94edb27a-f0a8-4624-8ff3-eae76013cbb2" providerId="ADAL" clId="{18210DCF-19CF-4AAD-9CD5-576C13BEED86}"/>
    <pc:docChg chg="modSld">
      <pc:chgData name="FABIO PESSOA DE SA" userId="94edb27a-f0a8-4624-8ff3-eae76013cbb2" providerId="ADAL" clId="{18210DCF-19CF-4AAD-9CD5-576C13BEED86}" dt="2020-10-19T21:22:18.823" v="5" actId="20577"/>
      <pc:docMkLst>
        <pc:docMk/>
      </pc:docMkLst>
      <pc:sldChg chg="modSp mod">
        <pc:chgData name="FABIO PESSOA DE SA" userId="94edb27a-f0a8-4624-8ff3-eae76013cbb2" providerId="ADAL" clId="{18210DCF-19CF-4AAD-9CD5-576C13BEED86}" dt="2020-10-19T21:22:18.823" v="5" actId="20577"/>
        <pc:sldMkLst>
          <pc:docMk/>
          <pc:sldMk cId="3324060188" sldId="297"/>
        </pc:sldMkLst>
        <pc:spChg chg="mod">
          <ac:chgData name="FABIO PESSOA DE SA" userId="94edb27a-f0a8-4624-8ff3-eae76013cbb2" providerId="ADAL" clId="{18210DCF-19CF-4AAD-9CD5-576C13BEED86}" dt="2020-10-19T21:22:18.823" v="5" actId="20577"/>
          <ac:spMkLst>
            <pc:docMk/>
            <pc:sldMk cId="3324060188" sldId="297"/>
            <ac:spMk id="6"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o título">
    <p:bg>
      <p:bgRef idx="1001">
        <a:schemeClr val="bg2"/>
      </p:bgRef>
    </p:bg>
    <p:spTree>
      <p:nvGrpSpPr>
        <p:cNvPr id="1" name=""/>
        <p:cNvGrpSpPr/>
        <p:nvPr/>
      </p:nvGrpSpPr>
      <p:grpSpPr>
        <a:xfrm>
          <a:off x="0" y="0"/>
          <a:ext cx="0" cy="0"/>
          <a:chOff x="0" y="0"/>
          <a:chExt cx="0" cy="0"/>
        </a:xfrm>
      </p:grpSpPr>
      <p:sp>
        <p:nvSpPr>
          <p:cNvPr id="7" name="Rectangle 6"/>
          <p:cNvSpPr/>
          <p:nvPr/>
        </p:nvSpPr>
        <p:spPr>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pt-BR"/>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pt-BR"/>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pt-BR"/>
          </a:p>
        </p:txBody>
      </p:sp>
      <p:sp>
        <p:nvSpPr>
          <p:cNvPr id="8" name="Title 7"/>
          <p:cNvSpPr>
            <a:spLocks noGrp="1"/>
          </p:cNvSpPr>
          <p:nvPr>
            <p:ph type="ctrTitle"/>
          </p:nvPr>
        </p:nvSpPr>
        <p:spPr>
          <a:xfrm>
            <a:off x="2362200" y="4038600"/>
            <a:ext cx="6477000" cy="1828800"/>
          </a:xfrm>
        </p:spPr>
        <p:txBody>
          <a:bodyPr anchor="b"/>
          <a:lstStyle>
            <a:lvl1pPr latinLnBrk="0">
              <a:defRPr lang="pt-BR" cap="all" baseline="0"/>
            </a:lvl1pPr>
          </a:lstStyle>
          <a:p>
            <a:r>
              <a:rPr lang="pt-BR"/>
              <a:t>Clique para editar o estilo do título mestre</a:t>
            </a:r>
          </a:p>
        </p:txBody>
      </p:sp>
      <p:sp>
        <p:nvSpPr>
          <p:cNvPr id="9" name="Subtitle 8"/>
          <p:cNvSpPr>
            <a:spLocks noGrp="1"/>
          </p:cNvSpPr>
          <p:nvPr>
            <p:ph type="subTitle" idx="1"/>
          </p:nvPr>
        </p:nvSpPr>
        <p:spPr>
          <a:xfrm>
            <a:off x="2362200" y="6050037"/>
            <a:ext cx="6515100" cy="685800"/>
          </a:xfrm>
        </p:spPr>
        <p:txBody>
          <a:bodyPr anchor="ctr"/>
          <a:lstStyle>
            <a:lvl1pPr marL="0" indent="0" algn="l" latinLnBrk="0">
              <a:buNone/>
              <a:defRPr lang="pt-BR" sz="28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pt-BR"/>
              <a:t>Clique para editar o estilo do subtítulo mestre</a:t>
            </a:r>
          </a:p>
        </p:txBody>
      </p:sp>
      <p:sp>
        <p:nvSpPr>
          <p:cNvPr id="28" name="Date Placeholder 27"/>
          <p:cNvSpPr>
            <a:spLocks noGrp="1"/>
          </p:cNvSpPr>
          <p:nvPr>
            <p:ph type="dt" sz="half" idx="10"/>
          </p:nvPr>
        </p:nvSpPr>
        <p:spPr>
          <a:xfrm>
            <a:off x="76200" y="6068699"/>
            <a:ext cx="2057400" cy="685800"/>
          </a:xfrm>
        </p:spPr>
        <p:txBody>
          <a:bodyPr>
            <a:noAutofit/>
          </a:bodyPr>
          <a:lstStyle>
            <a:lvl1pPr algn="ctr" latinLnBrk="0">
              <a:defRPr lang="pt-BR" sz="2000">
                <a:solidFill>
                  <a:srgbClr val="FFFFFF"/>
                </a:solidFill>
              </a:defRPr>
            </a:lvl1pPr>
          </a:lstStyle>
          <a:p>
            <a:fld id="{5CCC34FB-0DEE-40D2-BD68-D907C33B9AF4}" type="datetimeFigureOut">
              <a:rPr lang="pt-BR" smtClean="0"/>
              <a:pPr/>
              <a:t>19/03/2024</a:t>
            </a:fld>
            <a:endParaRPr lang="pt-BR"/>
          </a:p>
        </p:txBody>
      </p:sp>
      <p:sp>
        <p:nvSpPr>
          <p:cNvPr id="17" name="Footer Placeholder 16"/>
          <p:cNvSpPr>
            <a:spLocks noGrp="1"/>
          </p:cNvSpPr>
          <p:nvPr>
            <p:ph type="ftr" sz="quarter" idx="11"/>
          </p:nvPr>
        </p:nvSpPr>
        <p:spPr>
          <a:xfrm>
            <a:off x="2085393" y="236538"/>
            <a:ext cx="5867400" cy="365125"/>
          </a:xfrm>
        </p:spPr>
        <p:txBody>
          <a:bodyPr/>
          <a:lstStyle>
            <a:lvl1pPr algn="r" latinLnBrk="0">
              <a:defRPr lang="pt-BR">
                <a:solidFill>
                  <a:schemeClr val="tx2"/>
                </a:solidFill>
              </a:defRPr>
            </a:lvl1pPr>
          </a:lstStyle>
          <a:p>
            <a:endParaRPr lang="pt-BR"/>
          </a:p>
        </p:txBody>
      </p:sp>
      <p:sp>
        <p:nvSpPr>
          <p:cNvPr id="29" name="Slide Number Placeholder 28"/>
          <p:cNvSpPr>
            <a:spLocks noGrp="1"/>
          </p:cNvSpPr>
          <p:nvPr>
            <p:ph type="sldNum" sz="quarter" idx="12"/>
          </p:nvPr>
        </p:nvSpPr>
        <p:spPr>
          <a:xfrm>
            <a:off x="8001000" y="228600"/>
            <a:ext cx="838200" cy="381000"/>
          </a:xfrm>
        </p:spPr>
        <p:txBody>
          <a:bodyPr/>
          <a:lstStyle>
            <a:lvl1pPr latinLnBrk="0">
              <a:defRPr lang="pt-BR">
                <a:solidFill>
                  <a:schemeClr val="tx2"/>
                </a:solidFill>
              </a:defRPr>
            </a:lvl1pPr>
          </a:lstStyle>
          <a:p>
            <a:fld id="{5F8E9163-724E-4E4B-A2F9-B369A10AA010}" type="slidenum">
              <a:rPr lang="pt-BR" smtClean="0"/>
              <a:pPr/>
              <a:t>‹nº›</a:t>
            </a:fld>
            <a:endParaRPr lang="pt-B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ítulo e texto">
    <p:spTree>
      <p:nvGrpSpPr>
        <p:cNvPr id="1" name=""/>
        <p:cNvGrpSpPr/>
        <p:nvPr/>
      </p:nvGrpSpPr>
      <p:grpSpPr>
        <a:xfrm>
          <a:off x="0" y="0"/>
          <a:ext cx="0" cy="0"/>
          <a:chOff x="0" y="0"/>
          <a:chExt cx="0" cy="0"/>
        </a:xfrm>
      </p:grpSpPr>
      <p:sp>
        <p:nvSpPr>
          <p:cNvPr id="24" name="Rectangle 2"/>
          <p:cNvSpPr>
            <a:spLocks noGrp="1"/>
          </p:cNvSpPr>
          <p:nvPr>
            <p:ph type="title" hasCustomPrompt="1"/>
          </p:nvPr>
        </p:nvSpPr>
        <p:spPr/>
        <p:txBody>
          <a:bodyPr/>
          <a:lstStyle/>
          <a:p>
            <a:r>
              <a:rPr lang="pt-BR"/>
              <a:t>Clique para editar estilo de títulos Mestre</a:t>
            </a:r>
          </a:p>
        </p:txBody>
      </p:sp>
      <p:sp>
        <p:nvSpPr>
          <p:cNvPr id="12" name="Rectangle 3"/>
          <p:cNvSpPr>
            <a:spLocks noGrp="1"/>
          </p:cNvSpPr>
          <p:nvPr>
            <p:ph type="body" idx="1"/>
          </p:nvPr>
        </p:nvSpPr>
        <p:spPr/>
        <p:txBody>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Rectangle 4"/>
          <p:cNvSpPr>
            <a:spLocks noGrp="1"/>
          </p:cNvSpPr>
          <p:nvPr>
            <p:ph type="dt" sz="half" idx="10"/>
          </p:nvPr>
        </p:nvSpPr>
        <p:spPr/>
        <p:txBody>
          <a:bodyPr/>
          <a:lstStyle/>
          <a:p>
            <a:fld id="{5CCC34FB-0DEE-40D2-BD68-D907C33B9AF4}" type="datetimeFigureOut">
              <a:rPr lang="pt-BR" smtClean="0"/>
              <a:pPr/>
              <a:t>19/03/2024</a:t>
            </a:fld>
            <a:endParaRPr lang="pt-BR"/>
          </a:p>
        </p:txBody>
      </p:sp>
      <p:sp>
        <p:nvSpPr>
          <p:cNvPr id="28" name="Rectangle 5"/>
          <p:cNvSpPr>
            <a:spLocks noGrp="1"/>
          </p:cNvSpPr>
          <p:nvPr>
            <p:ph type="ftr" sz="quarter" idx="11"/>
          </p:nvPr>
        </p:nvSpPr>
        <p:spPr/>
        <p:txBody>
          <a:bodyPr/>
          <a:lstStyle/>
          <a:p>
            <a:endParaRPr lang="pt-BR"/>
          </a:p>
        </p:txBody>
      </p:sp>
      <p:sp>
        <p:nvSpPr>
          <p:cNvPr id="19" name="Rectangle 6"/>
          <p:cNvSpPr>
            <a:spLocks noGrp="1"/>
          </p:cNvSpPr>
          <p:nvPr>
            <p:ph type="sldNum" sz="quarter" idx="12"/>
          </p:nvPr>
        </p:nvSpPr>
        <p:spPr/>
        <p:txBody>
          <a:bodyPr/>
          <a:lstStyle/>
          <a:p>
            <a:fld id="{5F8E9163-724E-4E4B-A2F9-B369A10AA010}" type="slidenum">
              <a:rPr lang="pt-BR" smtClean="0"/>
              <a:pPr/>
              <a:t>‹nº›</a:t>
            </a:fld>
            <a:endParaRPr lang="pt-B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lang="pt-BR"/>
              <a:t>Clique para editar o estilo do título mestre</a:t>
            </a:r>
          </a:p>
        </p:txBody>
      </p:sp>
      <p:sp>
        <p:nvSpPr>
          <p:cNvPr id="4" name="Date Placeholder 3"/>
          <p:cNvSpPr>
            <a:spLocks noGrp="1"/>
          </p:cNvSpPr>
          <p:nvPr>
            <p:ph type="dt" sz="half" idx="10"/>
          </p:nvPr>
        </p:nvSpPr>
        <p:spPr/>
        <p:txBody>
          <a:bodyPr/>
          <a:lstStyle/>
          <a:p>
            <a:fld id="{5CCC34FB-0DEE-40D2-BD68-D907C33B9AF4}" type="datetimeFigureOut">
              <a:rPr lang="pt-BR" smtClean="0"/>
              <a:pPr/>
              <a:t>19/03/2024</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lvl1pPr latinLnBrk="0">
              <a:defRPr lang="pt-BR">
                <a:solidFill>
                  <a:srgbClr val="FFFFFF"/>
                </a:solidFill>
              </a:defRPr>
            </a:lvl1pPr>
          </a:lstStyle>
          <a:p>
            <a:fld id="{5F8E9163-724E-4E4B-A2F9-B369A10AA010}" type="slidenum">
              <a:rPr lang="pt-BR" smtClean="0"/>
              <a:pPr/>
              <a:t>‹nº›</a:t>
            </a:fld>
            <a:endParaRPr lang="pt-BR"/>
          </a:p>
        </p:txBody>
      </p:sp>
      <p:sp>
        <p:nvSpPr>
          <p:cNvPr id="8" name="Content Placeholder 7"/>
          <p:cNvSpPr>
            <a:spLocks noGrp="1"/>
          </p:cNvSpPr>
          <p:nvPr>
            <p:ph sz="quarter" idx="13"/>
          </p:nvPr>
        </p:nvSpPr>
        <p:spPr>
          <a:xfrm>
            <a:off x="612648" y="1600200"/>
            <a:ext cx="8153400" cy="4495800"/>
          </a:xfrm>
        </p:spPr>
        <p:txBody>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Apenas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estilo do título mestre</a:t>
            </a:r>
          </a:p>
        </p:txBody>
      </p:sp>
      <p:sp>
        <p:nvSpPr>
          <p:cNvPr id="3" name="Date Placeholder 2"/>
          <p:cNvSpPr>
            <a:spLocks noGrp="1"/>
          </p:cNvSpPr>
          <p:nvPr>
            <p:ph type="dt" sz="half" idx="10"/>
          </p:nvPr>
        </p:nvSpPr>
        <p:spPr/>
        <p:txBody>
          <a:bodyPr/>
          <a:lstStyle/>
          <a:p>
            <a:fld id="{5CCC34FB-0DEE-40D2-BD68-D907C33B9AF4}" type="datetimeFigureOut">
              <a:rPr lang="pt-BR" smtClean="0"/>
              <a:pPr/>
              <a:t>19/03/2024</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lvl1pPr latinLnBrk="0">
              <a:defRPr lang="pt-BR">
                <a:solidFill>
                  <a:srgbClr val="FFFFFF"/>
                </a:solidFill>
              </a:defRPr>
            </a:lvl1pPr>
          </a:lstStyle>
          <a:p>
            <a:fld id="{5F8E9163-724E-4E4B-A2F9-B369A10AA010}" type="slidenum">
              <a:rPr lang="pt-BR" smtClean="0"/>
              <a:pPr/>
              <a:t>‹nº›</a:t>
            </a:fld>
            <a:endParaRPr lang="pt-B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CC34FB-0DEE-40D2-BD68-D907C33B9AF4}" type="datetimeFigureOut">
              <a:rPr lang="pt-BR" smtClean="0"/>
              <a:pPr/>
              <a:t>19/03/2024</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a:xfrm>
            <a:off x="0" y="6248400"/>
            <a:ext cx="533400" cy="381000"/>
          </a:xfrm>
        </p:spPr>
        <p:txBody>
          <a:bodyPr/>
          <a:lstStyle>
            <a:lvl1pPr latinLnBrk="0">
              <a:defRPr lang="pt-BR">
                <a:solidFill>
                  <a:schemeClr val="tx2"/>
                </a:solidFill>
              </a:defRPr>
            </a:lvl1pPr>
          </a:lstStyle>
          <a:p>
            <a:fld id="{5F8E9163-724E-4E4B-A2F9-B369A10AA010}" type="slidenum">
              <a:rPr lang="pt-BR" smtClean="0"/>
              <a:pPr/>
              <a:t>‹nº›</a:t>
            </a:fld>
            <a:endParaRPr lang="pt-B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ítulo e conteúdo 2">
    <p:spTree>
      <p:nvGrpSpPr>
        <p:cNvPr id="1" name=""/>
        <p:cNvGrpSpPr/>
        <p:nvPr/>
      </p:nvGrpSpPr>
      <p:grpSpPr>
        <a:xfrm>
          <a:off x="0" y="0"/>
          <a:ext cx="0" cy="0"/>
          <a:chOff x="0" y="0"/>
          <a:chExt cx="0" cy="0"/>
        </a:xfrm>
      </p:grpSpPr>
      <p:sp>
        <p:nvSpPr>
          <p:cNvPr id="2" name="Rectangle 2"/>
          <p:cNvSpPr>
            <a:spLocks noGrp="1"/>
          </p:cNvSpPr>
          <p:nvPr>
            <p:ph type="title" hasCustomPrompt="1"/>
          </p:nvPr>
        </p:nvSpPr>
        <p:spPr/>
        <p:txBody>
          <a:bodyPr/>
          <a:lstStyle/>
          <a:p>
            <a:r>
              <a:rPr lang="pt-BR"/>
              <a:t>Clique para editar estilo de títulos Mestre</a:t>
            </a:r>
          </a:p>
        </p:txBody>
      </p:sp>
      <p:sp>
        <p:nvSpPr>
          <p:cNvPr id="3" name="Rectangle 3"/>
          <p:cNvSpPr>
            <a:spLocks noGrp="1"/>
          </p:cNvSpPr>
          <p:nvPr>
            <p:ph sz="half" idx="1"/>
          </p:nvPr>
        </p:nvSpPr>
        <p:spPr>
          <a:xfrm>
            <a:off x="457200" y="1600200"/>
            <a:ext cx="4038600" cy="4525963"/>
          </a:xfrm>
        </p:spPr>
        <p:txBody>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Rectangle 4"/>
          <p:cNvSpPr>
            <a:spLocks noGrp="1"/>
          </p:cNvSpPr>
          <p:nvPr>
            <p:ph sz="half" idx="2"/>
          </p:nvPr>
        </p:nvSpPr>
        <p:spPr>
          <a:xfrm>
            <a:off x="4648200" y="1600200"/>
            <a:ext cx="4038600" cy="4525963"/>
          </a:xfrm>
        </p:spPr>
        <p:txBody>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Rectangle 5"/>
          <p:cNvSpPr>
            <a:spLocks noGrp="1"/>
          </p:cNvSpPr>
          <p:nvPr>
            <p:ph type="dt" sz="half" idx="10"/>
          </p:nvPr>
        </p:nvSpPr>
        <p:spPr/>
        <p:txBody>
          <a:bodyPr/>
          <a:lstStyle/>
          <a:p>
            <a:fld id="{5CCC34FB-0DEE-40D2-BD68-D907C33B9AF4}" type="datetimeFigureOut">
              <a:rPr lang="pt-BR" smtClean="0"/>
              <a:pPr/>
              <a:t>19/03/2024</a:t>
            </a:fld>
            <a:endParaRPr lang="pt-BR"/>
          </a:p>
        </p:txBody>
      </p:sp>
      <p:sp>
        <p:nvSpPr>
          <p:cNvPr id="6" name="Rectangle 6"/>
          <p:cNvSpPr>
            <a:spLocks noGrp="1"/>
          </p:cNvSpPr>
          <p:nvPr>
            <p:ph type="ftr" sz="quarter" idx="11"/>
          </p:nvPr>
        </p:nvSpPr>
        <p:spPr/>
        <p:txBody>
          <a:bodyPr/>
          <a:lstStyle/>
          <a:p>
            <a:endParaRPr lang="pt-BR"/>
          </a:p>
        </p:txBody>
      </p:sp>
      <p:sp>
        <p:nvSpPr>
          <p:cNvPr id="7" name="Rectangle 7"/>
          <p:cNvSpPr>
            <a:spLocks noGrp="1"/>
          </p:cNvSpPr>
          <p:nvPr>
            <p:ph type="sldNum" sz="quarter" idx="12"/>
          </p:nvPr>
        </p:nvSpPr>
        <p:spPr/>
        <p:txBody>
          <a:bodyPr/>
          <a:lstStyle/>
          <a:p>
            <a:fld id="{5F8E9163-724E-4E4B-A2F9-B369A10AA010}" type="slidenum">
              <a:rPr lang="pt-BR" smtClean="0"/>
              <a:pPr/>
              <a:t>‹nº›</a:t>
            </a:fld>
            <a:endParaRPr lang="pt-B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ColTx" preserve="1">
  <p:cSld name="Título e texto em duas colunas">
    <p:spTree>
      <p:nvGrpSpPr>
        <p:cNvPr id="1" name=""/>
        <p:cNvGrpSpPr/>
        <p:nvPr/>
      </p:nvGrpSpPr>
      <p:grpSpPr>
        <a:xfrm>
          <a:off x="0" y="0"/>
          <a:ext cx="0" cy="0"/>
          <a:chOff x="0" y="0"/>
          <a:chExt cx="0" cy="0"/>
        </a:xfrm>
      </p:grpSpPr>
      <p:sp>
        <p:nvSpPr>
          <p:cNvPr id="2" name="Rectangle 2"/>
          <p:cNvSpPr>
            <a:spLocks noGrp="1"/>
          </p:cNvSpPr>
          <p:nvPr>
            <p:ph type="title" hasCustomPrompt="1"/>
          </p:nvPr>
        </p:nvSpPr>
        <p:spPr/>
        <p:txBody>
          <a:bodyPr/>
          <a:lstStyle/>
          <a:p>
            <a:r>
              <a:rPr lang="pt-BR"/>
              <a:t>Clique para editar estilo de títulos Mestre</a:t>
            </a:r>
          </a:p>
        </p:txBody>
      </p:sp>
      <p:sp>
        <p:nvSpPr>
          <p:cNvPr id="3" name="Rectangle 3"/>
          <p:cNvSpPr>
            <a:spLocks noGrp="1"/>
          </p:cNvSpPr>
          <p:nvPr>
            <p:ph type="body" sz="half" idx="1"/>
          </p:nvPr>
        </p:nvSpPr>
        <p:spPr>
          <a:xfrm>
            <a:off x="457200" y="1600200"/>
            <a:ext cx="4038600" cy="4525963"/>
          </a:xfrm>
        </p:spPr>
        <p:txBody>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Rectangle 4"/>
          <p:cNvSpPr>
            <a:spLocks noGrp="1"/>
          </p:cNvSpPr>
          <p:nvPr>
            <p:ph type="body" sz="half" idx="2"/>
          </p:nvPr>
        </p:nvSpPr>
        <p:spPr>
          <a:xfrm>
            <a:off x="4648200" y="1600200"/>
            <a:ext cx="4038600" cy="4525963"/>
          </a:xfrm>
        </p:spPr>
        <p:txBody>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Rectangle 5"/>
          <p:cNvSpPr>
            <a:spLocks noGrp="1"/>
          </p:cNvSpPr>
          <p:nvPr>
            <p:ph type="dt" sz="half" idx="10"/>
          </p:nvPr>
        </p:nvSpPr>
        <p:spPr/>
        <p:txBody>
          <a:bodyPr/>
          <a:lstStyle/>
          <a:p>
            <a:fld id="{5CCC34FB-0DEE-40D2-BD68-D907C33B9AF4}" type="datetimeFigureOut">
              <a:rPr lang="pt-BR" smtClean="0"/>
              <a:pPr/>
              <a:t>19/03/2024</a:t>
            </a:fld>
            <a:endParaRPr lang="pt-BR"/>
          </a:p>
        </p:txBody>
      </p:sp>
      <p:sp>
        <p:nvSpPr>
          <p:cNvPr id="6" name="Rectangle 6"/>
          <p:cNvSpPr>
            <a:spLocks noGrp="1"/>
          </p:cNvSpPr>
          <p:nvPr>
            <p:ph type="ftr" sz="quarter" idx="11"/>
          </p:nvPr>
        </p:nvSpPr>
        <p:spPr/>
        <p:txBody>
          <a:bodyPr/>
          <a:lstStyle/>
          <a:p>
            <a:endParaRPr lang="pt-BR"/>
          </a:p>
        </p:txBody>
      </p:sp>
      <p:sp>
        <p:nvSpPr>
          <p:cNvPr id="7" name="Rectangle 7"/>
          <p:cNvSpPr>
            <a:spLocks noGrp="1"/>
          </p:cNvSpPr>
          <p:nvPr>
            <p:ph type="sldNum" sz="quarter" idx="12"/>
          </p:nvPr>
        </p:nvSpPr>
        <p:spPr/>
        <p:txBody>
          <a:bodyPr/>
          <a:lstStyle/>
          <a:p>
            <a:fld id="{5F8E9163-724E-4E4B-A2F9-B369A10AA010}" type="slidenum">
              <a:rPr lang="pt-BR" smtClean="0"/>
              <a:pPr/>
              <a:t>‹nº›</a:t>
            </a:fld>
            <a:endParaRPr lang="pt-B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lang="pt-BR"/>
              <a:t>Clique para editar estilo de títulos Mestre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a:r>
              <a:rPr lang="pt-BR"/>
              <a:t>Clique para editar estilos de texto Mestre</a:t>
            </a:r>
          </a:p>
          <a:p>
            <a:pPr lvl="1"/>
            <a:r>
              <a:rPr lang="pt-BR"/>
              <a:t>Segundo nível</a:t>
            </a:r>
          </a:p>
          <a:p>
            <a:pPr lvl="2"/>
            <a:r>
              <a:rPr lang="pt-BR"/>
              <a:t>Terceiro nível</a:t>
            </a:r>
          </a:p>
          <a:p>
            <a:pPr lvl="3"/>
            <a:r>
              <a:rPr lang="pt-BR"/>
              <a:t>QUARTO NÍVEL</a:t>
            </a:r>
          </a:p>
          <a:p>
            <a:pPr lvl="4"/>
            <a:r>
              <a:rPr lang="pt-BR"/>
              <a:t>Quinto nível</a:t>
            </a:r>
          </a:p>
          <a:p>
            <a:pPr lvl="5"/>
            <a:r>
              <a:rPr lang="pt-BR"/>
              <a:t>Sexto nível</a:t>
            </a:r>
          </a:p>
          <a:p>
            <a:pPr lvl="6"/>
            <a:r>
              <a:rPr lang="pt-BR"/>
              <a:t>Sétimo nível</a:t>
            </a:r>
          </a:p>
          <a:p>
            <a:pPr lvl="7"/>
            <a:r>
              <a:rPr lang="pt-BR"/>
              <a:t>Oitavo nível</a:t>
            </a:r>
          </a:p>
          <a:p>
            <a:pPr lvl="8"/>
            <a:r>
              <a:rPr lang="pt-BR"/>
              <a:t>Nono nível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latinLnBrk="0">
              <a:defRPr lang="pt-BR" sz="1400">
                <a:solidFill>
                  <a:schemeClr val="tx2"/>
                </a:solidFill>
              </a:defRPr>
            </a:lvl1pPr>
          </a:lstStyle>
          <a:p>
            <a:fld id="{5CCC34FB-0DEE-40D2-BD68-D907C33B9AF4}" type="datetimeFigureOut">
              <a:rPr lang="pt-BR" smtClean="0"/>
              <a:pPr/>
              <a:t>19/03/2024</a:t>
            </a:fld>
            <a:endParaRPr lang="pt-BR"/>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latinLnBrk="0">
              <a:defRPr lang="pt-BR" sz="1400">
                <a:solidFill>
                  <a:schemeClr val="tx2"/>
                </a:solidFill>
              </a:defRPr>
            </a:lvl1pPr>
          </a:lstStyle>
          <a:p>
            <a:endParaRPr lang="pt-BR"/>
          </a:p>
        </p:txBody>
      </p:sp>
      <p:sp>
        <p:nvSpPr>
          <p:cNvPr id="7" name="Rectangle 6"/>
          <p:cNvSpPr/>
          <p:nvPr/>
        </p:nvSpPr>
        <p:spPr>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pt-BR"/>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pt-BR"/>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pt-BR"/>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latinLnBrk="0">
              <a:defRPr lang="pt-BR" sz="1400" b="1">
                <a:solidFill>
                  <a:srgbClr val="FFFFFF"/>
                </a:solidFill>
              </a:defRPr>
            </a:lvl1pPr>
          </a:lstStyle>
          <a:p>
            <a:fld id="{5F8E9163-724E-4E4B-A2F9-B369A10AA010}" type="slidenum">
              <a:rPr lang="pt-BR" smtClean="0"/>
              <a:pPr/>
              <a:t>‹nº›</a:t>
            </a:fld>
            <a:endParaRPr lang="pt-BR"/>
          </a:p>
        </p:txBody>
      </p:sp>
    </p:spTree>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Lst>
  <p:txStyles>
    <p:titleStyle>
      <a:lvl1pPr algn="l" rtl="0" eaLnBrk="1" latinLnBrk="0" hangingPunct="1">
        <a:spcBef>
          <a:spcPct val="0"/>
        </a:spcBef>
        <a:buNone/>
        <a:defRPr lang="pt-BR" sz="4400" kern="1200">
          <a:solidFill>
            <a:schemeClr val="tx2"/>
          </a:solidFill>
          <a:effectLst>
            <a:outerShdw blurRad="50800" dist="38100" dir="2700000" algn="tl" rotWithShape="0">
              <a:prstClr val="black">
                <a:alpha val="40000"/>
              </a:prstClr>
            </a:outerShdw>
          </a:effectLst>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lang="pt-B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lang="pt-B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lang="pt-B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lang="pt-B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lang="pt-B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lang="pt-B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lang="pt-B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lang="pt-B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lang="pt-BR" sz="1800" kern="1200" baseline="0">
          <a:solidFill>
            <a:schemeClr val="tx1"/>
          </a:solidFill>
          <a:latin typeface="+mn-lt"/>
          <a:ea typeface="+mn-ea"/>
          <a:cs typeface="+mn-cs"/>
        </a:defRPr>
      </a:lvl9pPr>
    </p:bodyStyle>
    <p:otherStyle>
      <a:lvl1pPr marL="0" algn="l" rtl="0" eaLnBrk="1" latinLnBrk="0" hangingPunct="1">
        <a:defRPr lang="pt-BR" kern="1200">
          <a:solidFill>
            <a:schemeClr val="tx1"/>
          </a:solidFill>
          <a:latin typeface="+mn-lt"/>
          <a:ea typeface="+mn-ea"/>
          <a:cs typeface="+mn-cs"/>
        </a:defRPr>
      </a:lvl1pPr>
      <a:lvl2pPr marL="457200" algn="l" rtl="0" eaLnBrk="1" hangingPunct="1">
        <a:defRPr lang="pt-BR" kern="1200">
          <a:solidFill>
            <a:schemeClr val="tx1"/>
          </a:solidFill>
          <a:latin typeface="+mn-lt"/>
          <a:ea typeface="+mn-ea"/>
          <a:cs typeface="+mn-cs"/>
        </a:defRPr>
      </a:lvl2pPr>
      <a:lvl3pPr marL="914400" algn="l" rtl="0" eaLnBrk="1" hangingPunct="1">
        <a:defRPr lang="pt-BR" kern="1200">
          <a:solidFill>
            <a:schemeClr val="tx1"/>
          </a:solidFill>
          <a:latin typeface="+mn-lt"/>
          <a:ea typeface="+mn-ea"/>
          <a:cs typeface="+mn-cs"/>
        </a:defRPr>
      </a:lvl3pPr>
      <a:lvl4pPr marL="1371600" algn="l" rtl="0" eaLnBrk="1" hangingPunct="1">
        <a:defRPr lang="pt-BR" kern="1200">
          <a:solidFill>
            <a:schemeClr val="tx1"/>
          </a:solidFill>
          <a:latin typeface="+mn-lt"/>
          <a:ea typeface="+mn-ea"/>
          <a:cs typeface="+mn-cs"/>
        </a:defRPr>
      </a:lvl4pPr>
      <a:lvl5pPr marL="1828800" algn="l" rtl="0" eaLnBrk="1" hangingPunct="1">
        <a:defRPr lang="pt-BR" kern="1200">
          <a:solidFill>
            <a:schemeClr val="tx1"/>
          </a:solidFill>
          <a:latin typeface="+mn-lt"/>
          <a:ea typeface="+mn-ea"/>
          <a:cs typeface="+mn-cs"/>
        </a:defRPr>
      </a:lvl5pPr>
      <a:lvl6pPr marL="2286000" algn="l" rtl="0" eaLnBrk="1" hangingPunct="1">
        <a:defRPr lang="pt-BR" kern="1200">
          <a:solidFill>
            <a:schemeClr val="tx1"/>
          </a:solidFill>
          <a:latin typeface="+mn-lt"/>
          <a:ea typeface="+mn-ea"/>
          <a:cs typeface="+mn-cs"/>
        </a:defRPr>
      </a:lvl6pPr>
      <a:lvl7pPr marL="2743200" algn="l" rtl="0" eaLnBrk="1" hangingPunct="1">
        <a:defRPr lang="pt-BR" kern="1200">
          <a:solidFill>
            <a:schemeClr val="tx1"/>
          </a:solidFill>
          <a:latin typeface="+mn-lt"/>
          <a:ea typeface="+mn-ea"/>
          <a:cs typeface="+mn-cs"/>
        </a:defRPr>
      </a:lvl7pPr>
      <a:lvl8pPr marL="3200400" algn="l" rtl="0" eaLnBrk="1" hangingPunct="1">
        <a:defRPr lang="pt-BR" kern="1200">
          <a:solidFill>
            <a:schemeClr val="tx1"/>
          </a:solidFill>
          <a:latin typeface="+mn-lt"/>
          <a:ea typeface="+mn-ea"/>
          <a:cs typeface="+mn-cs"/>
        </a:defRPr>
      </a:lvl8pPr>
      <a:lvl9pPr marL="3657600" algn="l" rtl="0" eaLnBrk="1" hangingPunct="1">
        <a:defRPr lang="pt-BR"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p:cNvSpPr>
            <a:spLocks noGrp="1"/>
          </p:cNvSpPr>
          <p:nvPr>
            <p:ph type="subTitle" idx="1"/>
          </p:nvPr>
        </p:nvSpPr>
        <p:spPr/>
        <p:txBody>
          <a:bodyPr>
            <a:normAutofit/>
          </a:bodyPr>
          <a:lstStyle/>
          <a:p>
            <a:r>
              <a:rPr lang="pt-BR" dirty="0"/>
              <a:t>BIOS</a:t>
            </a:r>
          </a:p>
        </p:txBody>
      </p:sp>
      <p:sp>
        <p:nvSpPr>
          <p:cNvPr id="2" name="Título 1"/>
          <p:cNvSpPr>
            <a:spLocks noGrp="1"/>
          </p:cNvSpPr>
          <p:nvPr>
            <p:ph type="ctrTitle"/>
          </p:nvPr>
        </p:nvSpPr>
        <p:spPr>
          <a:xfrm>
            <a:off x="2667000" y="0"/>
            <a:ext cx="6477000" cy="1828800"/>
          </a:xfrm>
        </p:spPr>
        <p:txBody>
          <a:bodyPr/>
          <a:lstStyle/>
          <a:p>
            <a:pPr algn="r"/>
            <a:r>
              <a:rPr lang="pt-BR" dirty="0"/>
              <a:t>Laboratório de Hardware</a:t>
            </a:r>
          </a:p>
        </p:txBody>
      </p:sp>
      <p:sp>
        <p:nvSpPr>
          <p:cNvPr id="6" name="Retângulo 5"/>
          <p:cNvSpPr/>
          <p:nvPr/>
        </p:nvSpPr>
        <p:spPr>
          <a:xfrm>
            <a:off x="6610358" y="6237312"/>
            <a:ext cx="2533642" cy="369332"/>
          </a:xfrm>
          <a:prstGeom prst="rect">
            <a:avLst/>
          </a:prstGeom>
        </p:spPr>
        <p:txBody>
          <a:bodyPr wrap="none">
            <a:spAutoFit/>
          </a:bodyPr>
          <a:lstStyle/>
          <a:p>
            <a:r>
              <a:rPr lang="pt-BR" b="1" dirty="0"/>
              <a:t>Prof. Fábio </a:t>
            </a:r>
            <a:r>
              <a:rPr lang="pt-BR" b="1" dirty="0" err="1"/>
              <a:t>Pessôa</a:t>
            </a:r>
            <a:r>
              <a:rPr lang="pt-BR" b="1" dirty="0"/>
              <a:t> de Sá</a:t>
            </a:r>
            <a:endParaRPr lang="pt-BR" dirty="0"/>
          </a:p>
        </p:txBody>
      </p:sp>
      <p:pic>
        <p:nvPicPr>
          <p:cNvPr id="14342" name="Picture 6" descr="http://www.hermann-uwe.de/files/images/bios_chip_plcc_socket.jpg"/>
          <p:cNvPicPr>
            <a:picLocks noChangeAspect="1" noChangeArrowheads="1"/>
          </p:cNvPicPr>
          <p:nvPr/>
        </p:nvPicPr>
        <p:blipFill>
          <a:blip r:embed="rId2" cstate="print"/>
          <a:srcRect t="28896" b="14405"/>
          <a:stretch>
            <a:fillRect/>
          </a:stretch>
        </p:blipFill>
        <p:spPr bwMode="auto">
          <a:xfrm>
            <a:off x="0" y="2060848"/>
            <a:ext cx="9144000" cy="3888432"/>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b="1" dirty="0"/>
              <a:t>Laboratório de Hardware – ADS</a:t>
            </a:r>
            <a:br>
              <a:rPr lang="pt-BR" b="1" dirty="0"/>
            </a:br>
            <a:r>
              <a:rPr lang="pt-BR" sz="2200" dirty="0"/>
              <a:t>BIOS</a:t>
            </a:r>
          </a:p>
        </p:txBody>
      </p:sp>
      <p:sp>
        <p:nvSpPr>
          <p:cNvPr id="6" name="Espaço Reservado para Texto 2"/>
          <p:cNvSpPr>
            <a:spLocks noGrp="1"/>
          </p:cNvSpPr>
          <p:nvPr>
            <p:ph type="body" idx="1"/>
          </p:nvPr>
        </p:nvSpPr>
        <p:spPr>
          <a:xfrm>
            <a:off x="539552" y="1772816"/>
            <a:ext cx="7920880" cy="4608512"/>
          </a:xfrm>
        </p:spPr>
        <p:txBody>
          <a:bodyPr>
            <a:normAutofit/>
          </a:bodyPr>
          <a:lstStyle/>
          <a:p>
            <a:r>
              <a:rPr lang="pt-BR" sz="2500" dirty="0"/>
              <a:t>BIOS: "</a:t>
            </a:r>
            <a:r>
              <a:rPr lang="pt-BR" sz="2500" dirty="0" err="1"/>
              <a:t>Basic</a:t>
            </a:r>
            <a:r>
              <a:rPr lang="pt-BR" sz="2500" dirty="0"/>
              <a:t> Input Output System", ou "Sistema Básico de Entrada e Saída".  </a:t>
            </a:r>
            <a:r>
              <a:rPr lang="pt-BR" sz="2500" i="1" dirty="0"/>
              <a:t>(Pronuncia-se o </a:t>
            </a:r>
            <a:r>
              <a:rPr lang="pt-BR" sz="2500" i="1" dirty="0" err="1"/>
              <a:t>Bios</a:t>
            </a:r>
            <a:r>
              <a:rPr lang="pt-BR" sz="2500" i="1" dirty="0"/>
              <a:t>)</a:t>
            </a:r>
          </a:p>
          <a:p>
            <a:pPr>
              <a:buNone/>
            </a:pPr>
            <a:endParaRPr lang="pt-BR" sz="2500" dirty="0"/>
          </a:p>
          <a:p>
            <a:r>
              <a:rPr lang="pt-BR" sz="2500" dirty="0"/>
              <a:t>Primeira camada de software do sistema, que fica gravado no CMOS, na placa mãe, e tem a função de "dar a partida", reconhecendo os dispositivos instalados no micro e realizando o BOOT.</a:t>
            </a:r>
            <a:endParaRPr lang="pt-BR" sz="2500" i="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b="1" dirty="0"/>
              <a:t>Laboratório de Hardware – ADS</a:t>
            </a:r>
            <a:br>
              <a:rPr lang="pt-BR" b="1" dirty="0"/>
            </a:br>
            <a:r>
              <a:rPr lang="pt-BR" sz="2200" dirty="0"/>
              <a:t>BIOS</a:t>
            </a:r>
          </a:p>
        </p:txBody>
      </p:sp>
      <p:sp>
        <p:nvSpPr>
          <p:cNvPr id="6" name="Espaço Reservado para Texto 2"/>
          <p:cNvSpPr>
            <a:spLocks noGrp="1"/>
          </p:cNvSpPr>
          <p:nvPr>
            <p:ph type="body" idx="1"/>
          </p:nvPr>
        </p:nvSpPr>
        <p:spPr>
          <a:xfrm>
            <a:off x="539552" y="1772816"/>
            <a:ext cx="5832648" cy="2592288"/>
          </a:xfrm>
        </p:spPr>
        <p:txBody>
          <a:bodyPr>
            <a:normAutofit lnSpcReduction="10000"/>
          </a:bodyPr>
          <a:lstStyle/>
          <a:p>
            <a:r>
              <a:rPr lang="pt-BR" sz="2500" dirty="0"/>
              <a:t>A função do </a:t>
            </a:r>
            <a:r>
              <a:rPr lang="pt-BR" sz="2500" dirty="0" err="1"/>
              <a:t>CMOS</a:t>
            </a:r>
            <a:r>
              <a:rPr lang="pt-BR" sz="2500" dirty="0"/>
              <a:t> </a:t>
            </a:r>
            <a:r>
              <a:rPr lang="pt-BR" sz="2400" i="1" dirty="0"/>
              <a:t>(</a:t>
            </a:r>
            <a:r>
              <a:rPr lang="pt-BR" sz="2400" i="1" dirty="0" err="1"/>
              <a:t>Complementary</a:t>
            </a:r>
            <a:r>
              <a:rPr lang="pt-BR" sz="2400" i="1" dirty="0"/>
              <a:t> Metal-Oxide-</a:t>
            </a:r>
            <a:r>
              <a:rPr lang="pt-BR" sz="2400" i="1" dirty="0" err="1"/>
              <a:t>Semiconductor</a:t>
            </a:r>
            <a:r>
              <a:rPr lang="pt-BR" sz="2400" i="1" dirty="0"/>
              <a:t>)</a:t>
            </a:r>
            <a:r>
              <a:rPr lang="pt-BR" sz="2500" dirty="0"/>
              <a:t>, uma pequena quantidade de memória RAM, de geralmente 128 ou 256 bytes, é armazenar os dados do </a:t>
            </a:r>
            <a:r>
              <a:rPr lang="pt-BR" sz="2500" i="1" dirty="0"/>
              <a:t>Setup</a:t>
            </a:r>
            <a:r>
              <a:rPr lang="pt-BR" sz="2500" dirty="0"/>
              <a:t> para que estes não sejam perdidos quando desligamos a máquina.</a:t>
            </a:r>
          </a:p>
        </p:txBody>
      </p:sp>
      <p:pic>
        <p:nvPicPr>
          <p:cNvPr id="5" name="Picture 12" descr="http://t1.gstatic.com/images?q=tbn:ANd9GcTOm6SD4QPcMuNcbsX_CoJjb65p-qhI7kQRb03u1yoY14fXmFQn"/>
          <p:cNvPicPr>
            <a:picLocks noChangeAspect="1" noChangeArrowheads="1"/>
          </p:cNvPicPr>
          <p:nvPr/>
        </p:nvPicPr>
        <p:blipFill>
          <a:blip r:embed="rId2" cstate="print"/>
          <a:srcRect/>
          <a:stretch>
            <a:fillRect/>
          </a:stretch>
        </p:blipFill>
        <p:spPr bwMode="auto">
          <a:xfrm>
            <a:off x="6156176" y="1916832"/>
            <a:ext cx="2808312" cy="2114368"/>
          </a:xfrm>
          <a:prstGeom prst="rect">
            <a:avLst/>
          </a:prstGeom>
          <a:ln>
            <a:noFill/>
          </a:ln>
          <a:effectLst>
            <a:softEdge rad="112500"/>
          </a:effectLst>
        </p:spPr>
      </p:pic>
      <p:pic>
        <p:nvPicPr>
          <p:cNvPr id="7" name="Picture 14" descr="http://www.stealthwarriors.com/_content/0303/chip_bios.jpg"/>
          <p:cNvPicPr>
            <a:picLocks noChangeAspect="1" noChangeArrowheads="1"/>
          </p:cNvPicPr>
          <p:nvPr/>
        </p:nvPicPr>
        <p:blipFill>
          <a:blip r:embed="rId3" cstate="print"/>
          <a:srcRect/>
          <a:stretch>
            <a:fillRect/>
          </a:stretch>
        </p:blipFill>
        <p:spPr bwMode="auto">
          <a:xfrm>
            <a:off x="323528" y="4653136"/>
            <a:ext cx="2300422" cy="1728192"/>
          </a:xfrm>
          <a:prstGeom prst="rect">
            <a:avLst/>
          </a:prstGeom>
          <a:ln>
            <a:noFill/>
          </a:ln>
          <a:effectLst>
            <a:softEdge rad="112500"/>
          </a:effectLst>
        </p:spPr>
      </p:pic>
      <p:sp>
        <p:nvSpPr>
          <p:cNvPr id="8" name="Retângulo 7"/>
          <p:cNvSpPr/>
          <p:nvPr/>
        </p:nvSpPr>
        <p:spPr>
          <a:xfrm>
            <a:off x="2771800" y="4293096"/>
            <a:ext cx="5724128" cy="2400657"/>
          </a:xfrm>
          <a:prstGeom prst="rect">
            <a:avLst/>
          </a:prstGeom>
        </p:spPr>
        <p:txBody>
          <a:bodyPr wrap="square">
            <a:spAutoFit/>
          </a:bodyPr>
          <a:lstStyle/>
          <a:p>
            <a:r>
              <a:rPr lang="pt-BR" sz="2500" dirty="0"/>
              <a:t>CMOS é volátil, ou seja: seus valores são perdidos quando ele deixa de ser carregado eletricamente.</a:t>
            </a:r>
          </a:p>
          <a:p>
            <a:endParaRPr lang="pt-BR" sz="2500" dirty="0"/>
          </a:p>
          <a:p>
            <a:r>
              <a:rPr lang="pt-BR" sz="2500" dirty="0"/>
              <a:t>Pequena bateria que se destina a alimentar o CMOS. </a:t>
            </a:r>
            <a:endParaRPr lang="pt-BR" sz="2500" i="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b="1" dirty="0"/>
              <a:t>Laboratório de Hardware – ADS</a:t>
            </a:r>
            <a:br>
              <a:rPr lang="pt-BR" b="1" dirty="0"/>
            </a:br>
            <a:r>
              <a:rPr lang="pt-BR" sz="2200" dirty="0"/>
              <a:t>BIOS</a:t>
            </a:r>
          </a:p>
        </p:txBody>
      </p:sp>
      <p:sp>
        <p:nvSpPr>
          <p:cNvPr id="6" name="Espaço Reservado para Texto 2"/>
          <p:cNvSpPr>
            <a:spLocks noGrp="1"/>
          </p:cNvSpPr>
          <p:nvPr>
            <p:ph type="body" idx="1"/>
          </p:nvPr>
        </p:nvSpPr>
        <p:spPr>
          <a:xfrm>
            <a:off x="539552" y="1772816"/>
            <a:ext cx="7920880" cy="2736304"/>
          </a:xfrm>
        </p:spPr>
        <p:txBody>
          <a:bodyPr>
            <a:normAutofit/>
          </a:bodyPr>
          <a:lstStyle/>
          <a:p>
            <a:r>
              <a:rPr lang="pt-BR" sz="2500" dirty="0"/>
              <a:t>Durante o boot, o BIOS realiza uma série de testes, visando detectar com os componentes de hardware instalados no micro. </a:t>
            </a:r>
          </a:p>
          <a:p>
            <a:endParaRPr lang="pt-BR" sz="2500" dirty="0"/>
          </a:p>
          <a:p>
            <a:r>
              <a:rPr lang="pt-BR" sz="2500" dirty="0"/>
              <a:t>Este teste é chamado de POST (pronuncia-se </a:t>
            </a:r>
            <a:r>
              <a:rPr lang="pt-BR" sz="2500" dirty="0" err="1"/>
              <a:t>poust</a:t>
            </a:r>
            <a:r>
              <a:rPr lang="pt-BR" sz="2500" dirty="0"/>
              <a:t>), acrônimo de "</a:t>
            </a:r>
            <a:r>
              <a:rPr lang="pt-BR" sz="2500" dirty="0" err="1"/>
              <a:t>Power-On</a:t>
            </a:r>
            <a:r>
              <a:rPr lang="pt-BR" sz="2500" dirty="0"/>
              <a:t> </a:t>
            </a:r>
            <a:r>
              <a:rPr lang="pt-BR" sz="2500" dirty="0" err="1"/>
              <a:t>Self</a:t>
            </a:r>
            <a:r>
              <a:rPr lang="pt-BR" sz="2500" dirty="0"/>
              <a:t> </a:t>
            </a:r>
            <a:r>
              <a:rPr lang="pt-BR" sz="2500" dirty="0" err="1"/>
              <a:t>Test</a:t>
            </a:r>
            <a:r>
              <a:rPr lang="pt-BR" sz="2500" dirty="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b="1" dirty="0"/>
              <a:t>Laboratório de Hardware – ADS</a:t>
            </a:r>
            <a:br>
              <a:rPr lang="pt-BR" b="1" dirty="0"/>
            </a:br>
            <a:r>
              <a:rPr lang="pt-BR" sz="2200" dirty="0"/>
              <a:t>BIOS - POST</a:t>
            </a:r>
          </a:p>
        </p:txBody>
      </p:sp>
      <p:pic>
        <p:nvPicPr>
          <p:cNvPr id="36866" name="Picture 2" descr="http://lh5.ggpht.com/_qcXSUaDz780/R9He0gaF2JI/AAAAAAAAAB8/TnlpH0-MSz0/bioserror.jpg"/>
          <p:cNvPicPr>
            <a:picLocks noChangeAspect="1" noChangeArrowheads="1"/>
          </p:cNvPicPr>
          <p:nvPr/>
        </p:nvPicPr>
        <p:blipFill>
          <a:blip r:embed="rId2" cstate="print"/>
          <a:srcRect/>
          <a:stretch>
            <a:fillRect/>
          </a:stretch>
        </p:blipFill>
        <p:spPr bwMode="auto">
          <a:xfrm>
            <a:off x="1176131" y="1556792"/>
            <a:ext cx="7068277" cy="5301208"/>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b="1" dirty="0"/>
              <a:t>Laboratório de Hardware – ADS</a:t>
            </a:r>
            <a:br>
              <a:rPr lang="pt-BR" b="1" dirty="0"/>
            </a:br>
            <a:r>
              <a:rPr lang="pt-BR" sz="2200" dirty="0"/>
              <a:t>BIOS</a:t>
            </a:r>
          </a:p>
        </p:txBody>
      </p:sp>
      <p:sp>
        <p:nvSpPr>
          <p:cNvPr id="6" name="Espaço Reservado para Texto 2"/>
          <p:cNvSpPr>
            <a:spLocks noGrp="1"/>
          </p:cNvSpPr>
          <p:nvPr>
            <p:ph type="body" idx="1"/>
          </p:nvPr>
        </p:nvSpPr>
        <p:spPr>
          <a:xfrm>
            <a:off x="539552" y="1772816"/>
            <a:ext cx="7920880" cy="4608512"/>
          </a:xfrm>
        </p:spPr>
        <p:txBody>
          <a:bodyPr>
            <a:normAutofit/>
          </a:bodyPr>
          <a:lstStyle/>
          <a:p>
            <a:endParaRPr lang="pt-BR" sz="2800" dirty="0"/>
          </a:p>
          <a:p>
            <a:r>
              <a:rPr lang="pt-BR" sz="2500" dirty="0"/>
              <a:t>Os dados do POST são mostrados durante a inicialização, na forma da tabela que aparece antes do carregamento do sistema operacional, indicando a quantidade de memória instalada, assim como os discos rígidos, portas de comunicação e drives óticos instalados no micro.</a:t>
            </a:r>
          </a:p>
          <a:p>
            <a:endParaRPr lang="pt-BR" sz="2500" dirty="0"/>
          </a:p>
          <a:p>
            <a:r>
              <a:rPr lang="pt-BR" sz="2500" dirty="0"/>
              <a:t>Além de detectar o hardware instalado, a função do POST é verificar se tudo está funcionando corretamente.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b="1" dirty="0"/>
              <a:t>Laboratório de Hardware – ADS</a:t>
            </a:r>
            <a:br>
              <a:rPr lang="pt-BR" b="1" dirty="0"/>
            </a:br>
            <a:r>
              <a:rPr lang="pt-BR" sz="2200" dirty="0"/>
              <a:t>BIOS</a:t>
            </a:r>
          </a:p>
        </p:txBody>
      </p:sp>
      <p:sp>
        <p:nvSpPr>
          <p:cNvPr id="6" name="Espaço Reservado para Texto 2"/>
          <p:cNvSpPr>
            <a:spLocks noGrp="1"/>
          </p:cNvSpPr>
          <p:nvPr>
            <p:ph type="body" idx="1"/>
          </p:nvPr>
        </p:nvSpPr>
        <p:spPr>
          <a:xfrm>
            <a:off x="539552" y="1772816"/>
            <a:ext cx="7920880" cy="4608512"/>
          </a:xfrm>
        </p:spPr>
        <p:txBody>
          <a:bodyPr>
            <a:normAutofit/>
          </a:bodyPr>
          <a:lstStyle/>
          <a:p>
            <a:r>
              <a:rPr lang="pt-BR" sz="2500" dirty="0"/>
              <a:t>Caso seja detectado algum problema, como as memórias, processador ou placa de vídeo, o BIOS emitirá uma certa seqüência de bips sonoros.</a:t>
            </a:r>
          </a:p>
          <a:p>
            <a:endParaRPr lang="pt-BR" sz="2500" dirty="0"/>
          </a:p>
          <a:p>
            <a:r>
              <a:rPr lang="pt-BR" sz="2500" dirty="0"/>
              <a:t>Problemas menores, como conflitos de endereços, problemas com o teclado, ou falhas do disco rígido serão mostrados na forma de mensagens na tela.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b="1" dirty="0"/>
              <a:t>Laboratório de Hardware – ADS</a:t>
            </a:r>
            <a:br>
              <a:rPr lang="pt-BR" b="1" dirty="0"/>
            </a:br>
            <a:r>
              <a:rPr lang="pt-BR" sz="2200" dirty="0"/>
              <a:t>BIOS</a:t>
            </a:r>
          </a:p>
        </p:txBody>
      </p:sp>
      <p:graphicFrame>
        <p:nvGraphicFramePr>
          <p:cNvPr id="10" name="Tabela 9"/>
          <p:cNvGraphicFramePr>
            <a:graphicFrameLocks noGrp="1"/>
          </p:cNvGraphicFramePr>
          <p:nvPr/>
        </p:nvGraphicFramePr>
        <p:xfrm>
          <a:off x="323528" y="1772816"/>
          <a:ext cx="8604448" cy="3855720"/>
        </p:xfrm>
        <a:graphic>
          <a:graphicData uri="http://schemas.openxmlformats.org/drawingml/2006/table">
            <a:tbl>
              <a:tblPr/>
              <a:tblGrid>
                <a:gridCol w="1613151">
                  <a:extLst>
                    <a:ext uri="{9D8B030D-6E8A-4147-A177-3AD203B41FA5}">
                      <a16:colId xmlns:a16="http://schemas.microsoft.com/office/drawing/2014/main" val="20000"/>
                    </a:ext>
                  </a:extLst>
                </a:gridCol>
                <a:gridCol w="6991297">
                  <a:extLst>
                    <a:ext uri="{9D8B030D-6E8A-4147-A177-3AD203B41FA5}">
                      <a16:colId xmlns:a16="http://schemas.microsoft.com/office/drawing/2014/main" val="20001"/>
                    </a:ext>
                  </a:extLst>
                </a:gridCol>
              </a:tblGrid>
              <a:tr h="92364">
                <a:tc>
                  <a:txBody>
                    <a:bodyPr/>
                    <a:lstStyle/>
                    <a:p>
                      <a:pPr>
                        <a:spcAft>
                          <a:spcPts val="0"/>
                        </a:spcAft>
                      </a:pPr>
                      <a:r>
                        <a:rPr lang="pt-BR" sz="1500" b="1" dirty="0">
                          <a:latin typeface="Calibri"/>
                          <a:ea typeface="Calibri"/>
                          <a:cs typeface="Times New Roman"/>
                        </a:rPr>
                        <a:t>Som</a:t>
                      </a:r>
                      <a:endParaRPr lang="pt-BR" sz="1500" dirty="0">
                        <a:latin typeface="Calibri"/>
                        <a:ea typeface="Calibri"/>
                        <a:cs typeface="Times New Roman"/>
                      </a:endParaRPr>
                    </a:p>
                  </a:txBody>
                  <a:tcPr marL="29688" marR="296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pt-BR" sz="1500" b="1">
                          <a:latin typeface="Calibri"/>
                          <a:ea typeface="Calibri"/>
                          <a:cs typeface="Times New Roman"/>
                        </a:rPr>
                        <a:t>Descrição do Problema</a:t>
                      </a:r>
                      <a:endParaRPr lang="pt-BR" sz="1500">
                        <a:latin typeface="Calibri"/>
                        <a:ea typeface="Calibri"/>
                        <a:cs typeface="Times New Roman"/>
                      </a:endParaRPr>
                    </a:p>
                  </a:txBody>
                  <a:tcPr marL="29688" marR="296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61818">
                <a:tc>
                  <a:txBody>
                    <a:bodyPr/>
                    <a:lstStyle/>
                    <a:p>
                      <a:pPr>
                        <a:spcAft>
                          <a:spcPts val="0"/>
                        </a:spcAft>
                      </a:pPr>
                      <a:r>
                        <a:rPr lang="pt-BR" sz="1400">
                          <a:latin typeface="Calibri"/>
                          <a:ea typeface="Calibri"/>
                          <a:cs typeface="Times New Roman"/>
                        </a:rPr>
                        <a:t>1 Bip Curto</a:t>
                      </a:r>
                    </a:p>
                  </a:txBody>
                  <a:tcPr marL="29688" marR="296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pt-BR" sz="1400">
                          <a:latin typeface="Calibri"/>
                          <a:ea typeface="Calibri"/>
                          <a:cs typeface="Times New Roman"/>
                        </a:rPr>
                        <a:t>Post Executado com sucesso: Este é um Bip feliz emitido pelo BIOS quando o POST é executado com sucesso. Caso o seu sistema esteja inicializando normalmente e você não esteja ouvindo este Bip , verifique se o speaker está ligado à placa mãe corretamente. </a:t>
                      </a:r>
                    </a:p>
                  </a:txBody>
                  <a:tcPr marL="29688" marR="296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77091">
                <a:tc>
                  <a:txBody>
                    <a:bodyPr/>
                    <a:lstStyle/>
                    <a:p>
                      <a:pPr>
                        <a:spcAft>
                          <a:spcPts val="0"/>
                        </a:spcAft>
                      </a:pPr>
                      <a:r>
                        <a:rPr lang="pt-BR" sz="1400">
                          <a:latin typeface="Calibri"/>
                          <a:ea typeface="Calibri"/>
                          <a:cs typeface="Times New Roman"/>
                        </a:rPr>
                        <a:t>1 Bip longo</a:t>
                      </a:r>
                    </a:p>
                  </a:txBody>
                  <a:tcPr marL="29688" marR="296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pt-BR" sz="1400">
                          <a:latin typeface="Calibri"/>
                          <a:ea typeface="Calibri"/>
                          <a:cs typeface="Times New Roman"/>
                        </a:rPr>
                        <a:t>Falha no Refresh (refresh Failure) : O circuito de refresh da placa mãe está com problemas, isto pode ser causado por danos na placa mãe ou falhas nos módulos de memória RAM</a:t>
                      </a:r>
                    </a:p>
                  </a:txBody>
                  <a:tcPr marL="29688" marR="296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54182">
                <a:tc>
                  <a:txBody>
                    <a:bodyPr/>
                    <a:lstStyle/>
                    <a:p>
                      <a:pPr>
                        <a:spcAft>
                          <a:spcPts val="0"/>
                        </a:spcAft>
                      </a:pPr>
                      <a:r>
                        <a:rPr lang="pt-BR" sz="1400">
                          <a:latin typeface="Calibri"/>
                          <a:ea typeface="Calibri"/>
                          <a:cs typeface="Times New Roman"/>
                        </a:rPr>
                        <a:t>1 Bip longo e 2 bips curtos ou</a:t>
                      </a:r>
                      <a:br>
                        <a:rPr lang="pt-BR" sz="1400">
                          <a:latin typeface="Calibri"/>
                          <a:ea typeface="Calibri"/>
                          <a:cs typeface="Times New Roman"/>
                        </a:rPr>
                      </a:br>
                      <a:r>
                        <a:rPr lang="pt-BR" sz="1400">
                          <a:latin typeface="Calibri"/>
                          <a:ea typeface="Calibri"/>
                          <a:cs typeface="Times New Roman"/>
                        </a:rPr>
                        <a:t>1 Bip longo e 3 bips curtos</a:t>
                      </a:r>
                    </a:p>
                  </a:txBody>
                  <a:tcPr marL="29688" marR="296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pt-BR" sz="1400" dirty="0">
                          <a:latin typeface="Calibri"/>
                          <a:ea typeface="Calibri"/>
                          <a:cs typeface="Times New Roman"/>
                        </a:rPr>
                        <a:t>Falha no Vídeo: Problemas com o BIOS da placa de vídeo. Tente retirar a placa, passar borracha de vinil em seus contatos e recolocá-la, talvez em outro </a:t>
                      </a:r>
                      <a:r>
                        <a:rPr lang="pt-BR" sz="1400" dirty="0" err="1">
                          <a:latin typeface="Calibri"/>
                          <a:ea typeface="Calibri"/>
                          <a:cs typeface="Times New Roman"/>
                        </a:rPr>
                        <a:t>slot</a:t>
                      </a:r>
                      <a:r>
                        <a:rPr lang="pt-BR" sz="1400" dirty="0">
                          <a:latin typeface="Calibri"/>
                          <a:ea typeface="Calibri"/>
                          <a:cs typeface="Times New Roman"/>
                        </a:rPr>
                        <a:t>. Na maioria das vezes este problema é causado por mau contato.</a:t>
                      </a:r>
                    </a:p>
                  </a:txBody>
                  <a:tcPr marL="29688" marR="296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61818">
                <a:tc>
                  <a:txBody>
                    <a:bodyPr/>
                    <a:lstStyle/>
                    <a:p>
                      <a:pPr>
                        <a:spcAft>
                          <a:spcPts val="0"/>
                        </a:spcAft>
                      </a:pPr>
                      <a:r>
                        <a:rPr lang="pt-BR" sz="1400">
                          <a:latin typeface="Calibri"/>
                          <a:ea typeface="Calibri"/>
                          <a:cs typeface="Times New Roman"/>
                        </a:rPr>
                        <a:t>2 bips curtos</a:t>
                      </a:r>
                    </a:p>
                  </a:txBody>
                  <a:tcPr marL="29688" marR="296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pt-BR" sz="1400">
                          <a:latin typeface="Calibri"/>
                          <a:ea typeface="Calibri"/>
                          <a:cs typeface="Times New Roman"/>
                        </a:rPr>
                        <a:t>Falha Geral: Não foi possível iniciar o computador. Este problema é causado por uma falha grave em algum componente, que o BIOS não foi capaz de identificar. Em geral o problema é na placa mãe ou nos módulos de memória.</a:t>
                      </a:r>
                    </a:p>
                  </a:txBody>
                  <a:tcPr marL="29688" marR="296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46545">
                <a:tc>
                  <a:txBody>
                    <a:bodyPr/>
                    <a:lstStyle/>
                    <a:p>
                      <a:pPr>
                        <a:spcAft>
                          <a:spcPts val="0"/>
                        </a:spcAft>
                      </a:pPr>
                      <a:r>
                        <a:rPr lang="pt-BR" sz="1400">
                          <a:latin typeface="Calibri"/>
                          <a:ea typeface="Calibri"/>
                          <a:cs typeface="Times New Roman"/>
                        </a:rPr>
                        <a:t>2 Bips longos</a:t>
                      </a:r>
                    </a:p>
                  </a:txBody>
                  <a:tcPr marL="29688" marR="296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pt-BR" sz="1400" dirty="0">
                          <a:latin typeface="Calibri"/>
                          <a:ea typeface="Calibri"/>
                          <a:cs typeface="Times New Roman"/>
                        </a:rPr>
                        <a:t>Erro de paridade: Durante o POST, foi detectado um erro de paridade na memória RAM. Este problema pode ser tanto nos módulos de memória quanto nos próprios circuitos de paridade. Para determinar a causa do problema, basta fazer um teste com outros pentes de memória. Caso esteja utilizando pentes de memória sem o Bit de paridade você deve desativar a opção "</a:t>
                      </a:r>
                      <a:r>
                        <a:rPr lang="pt-BR" sz="1400" dirty="0" err="1">
                          <a:latin typeface="Calibri"/>
                          <a:ea typeface="Calibri"/>
                          <a:cs typeface="Times New Roman"/>
                        </a:rPr>
                        <a:t>Parity</a:t>
                      </a:r>
                      <a:r>
                        <a:rPr lang="pt-BR" sz="1400" dirty="0">
                          <a:latin typeface="Calibri"/>
                          <a:ea typeface="Calibri"/>
                          <a:cs typeface="Times New Roman"/>
                        </a:rPr>
                        <a:t> </a:t>
                      </a:r>
                      <a:r>
                        <a:rPr lang="pt-BR" sz="1400" dirty="0" err="1">
                          <a:latin typeface="Calibri"/>
                          <a:ea typeface="Calibri"/>
                          <a:cs typeface="Times New Roman"/>
                        </a:rPr>
                        <a:t>Check</a:t>
                      </a:r>
                      <a:r>
                        <a:rPr lang="pt-BR" sz="1400" dirty="0">
                          <a:latin typeface="Calibri"/>
                          <a:ea typeface="Calibri"/>
                          <a:cs typeface="Times New Roman"/>
                        </a:rPr>
                        <a:t>" encontrada no Setup.</a:t>
                      </a:r>
                    </a:p>
                  </a:txBody>
                  <a:tcPr marL="29688" marR="296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b="1" dirty="0"/>
              <a:t>Laboratório de Hardware – ADS</a:t>
            </a:r>
            <a:br>
              <a:rPr lang="pt-BR" b="1" dirty="0"/>
            </a:br>
            <a:r>
              <a:rPr lang="pt-BR" sz="2200" dirty="0"/>
              <a:t>BIOS</a:t>
            </a:r>
          </a:p>
        </p:txBody>
      </p:sp>
      <p:graphicFrame>
        <p:nvGraphicFramePr>
          <p:cNvPr id="5" name="Tabela 4"/>
          <p:cNvGraphicFramePr>
            <a:graphicFrameLocks noGrp="1"/>
          </p:cNvGraphicFramePr>
          <p:nvPr/>
        </p:nvGraphicFramePr>
        <p:xfrm>
          <a:off x="323528" y="1916832"/>
          <a:ext cx="8424936" cy="4064001"/>
        </p:xfrm>
        <a:graphic>
          <a:graphicData uri="http://schemas.openxmlformats.org/drawingml/2006/table">
            <a:tbl>
              <a:tblPr/>
              <a:tblGrid>
                <a:gridCol w="1579498">
                  <a:extLst>
                    <a:ext uri="{9D8B030D-6E8A-4147-A177-3AD203B41FA5}">
                      <a16:colId xmlns:a16="http://schemas.microsoft.com/office/drawing/2014/main" val="20000"/>
                    </a:ext>
                  </a:extLst>
                </a:gridCol>
                <a:gridCol w="6845438">
                  <a:extLst>
                    <a:ext uri="{9D8B030D-6E8A-4147-A177-3AD203B41FA5}">
                      <a16:colId xmlns:a16="http://schemas.microsoft.com/office/drawing/2014/main" val="20001"/>
                    </a:ext>
                  </a:extLst>
                </a:gridCol>
              </a:tblGrid>
              <a:tr h="1590261">
                <a:tc>
                  <a:txBody>
                    <a:bodyPr/>
                    <a:lstStyle/>
                    <a:p>
                      <a:pPr>
                        <a:spcAft>
                          <a:spcPts val="0"/>
                        </a:spcAft>
                      </a:pPr>
                      <a:r>
                        <a:rPr lang="pt-BR" sz="1400" dirty="0">
                          <a:latin typeface="Calibri"/>
                          <a:ea typeface="Calibri"/>
                          <a:cs typeface="Times New Roman"/>
                        </a:rPr>
                        <a:t>3 Bips longos</a:t>
                      </a: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pt-BR" sz="1400">
                          <a:latin typeface="Calibri"/>
                          <a:ea typeface="Calibri"/>
                          <a:cs typeface="Times New Roman"/>
                        </a:rPr>
                        <a:t>Falha nos primeiros 64 KB da memória RAM (Base 64k memory failure) &gt; Foi detectado um problema grave nos primeiros 64 KB da memória RAM. Isto pode ser causado por um defeito nas memórias ou na própria placa mãe. Outra possibilidade é o problema estar sendo causado por um simples mal contato. Experimente antes de mais nada retirar os pentes de memória, limpar seus contatos usando uma borracha de vinil (aquelas borrachas plásticas de escola) e recoloca-los com cuidado.</a:t>
                      </a: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06783">
                <a:tc>
                  <a:txBody>
                    <a:bodyPr/>
                    <a:lstStyle/>
                    <a:p>
                      <a:pPr>
                        <a:spcAft>
                          <a:spcPts val="0"/>
                        </a:spcAft>
                      </a:pPr>
                      <a:r>
                        <a:rPr lang="pt-BR" sz="1400">
                          <a:latin typeface="Calibri"/>
                          <a:ea typeface="Calibri"/>
                          <a:cs typeface="Times New Roman"/>
                        </a:rPr>
                        <a:t>4 Bips Longos</a:t>
                      </a: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pt-BR" sz="1400">
                          <a:latin typeface="Calibri"/>
                          <a:ea typeface="Calibri"/>
                          <a:cs typeface="Times New Roman"/>
                        </a:rPr>
                        <a:t>Timer não operacional: O Timer 1 não está operacional ou não está conseguindo encontrar a memória RAM. O problema pode estar na placa mãe (mais provável) ou nos módulos de memória.</a:t>
                      </a: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06783">
                <a:tc>
                  <a:txBody>
                    <a:bodyPr/>
                    <a:lstStyle/>
                    <a:p>
                      <a:pPr>
                        <a:spcAft>
                          <a:spcPts val="0"/>
                        </a:spcAft>
                      </a:pPr>
                      <a:r>
                        <a:rPr lang="pt-BR" sz="1400">
                          <a:latin typeface="Calibri"/>
                          <a:ea typeface="Calibri"/>
                          <a:cs typeface="Times New Roman"/>
                        </a:rPr>
                        <a:t>5 Bips</a:t>
                      </a: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pt-BR" sz="1400">
                          <a:latin typeface="Calibri"/>
                          <a:ea typeface="Calibri"/>
                          <a:cs typeface="Times New Roman"/>
                        </a:rPr>
                        <a:t>Erro no processador O processador está danificado, ou mal encaixado. Verifique se o processador está bem encaixado, e se por descuido você não esqueceu de baixar a alavanca do soquete Zif .</a:t>
                      </a: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60174">
                <a:tc>
                  <a:txBody>
                    <a:bodyPr/>
                    <a:lstStyle/>
                    <a:p>
                      <a:pPr>
                        <a:spcAft>
                          <a:spcPts val="0"/>
                        </a:spcAft>
                      </a:pPr>
                      <a:r>
                        <a:rPr lang="pt-BR" sz="1400">
                          <a:latin typeface="Calibri"/>
                          <a:ea typeface="Calibri"/>
                          <a:cs typeface="Times New Roman"/>
                        </a:rPr>
                        <a:t>6 Bips</a:t>
                      </a: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pt-BR" sz="1400" dirty="0">
                          <a:latin typeface="Calibri"/>
                          <a:ea typeface="Calibri"/>
                          <a:cs typeface="Times New Roman"/>
                        </a:rPr>
                        <a:t>Falha no </a:t>
                      </a:r>
                      <a:r>
                        <a:rPr lang="pt-BR" sz="1400" dirty="0" err="1">
                          <a:latin typeface="Calibri"/>
                          <a:ea typeface="Calibri"/>
                          <a:cs typeface="Times New Roman"/>
                        </a:rPr>
                        <a:t>Gate</a:t>
                      </a:r>
                      <a:r>
                        <a:rPr lang="pt-BR" sz="1400" dirty="0">
                          <a:latin typeface="Calibri"/>
                          <a:ea typeface="Calibri"/>
                          <a:cs typeface="Times New Roman"/>
                        </a:rPr>
                        <a:t> 20 (8042 - </a:t>
                      </a:r>
                      <a:r>
                        <a:rPr lang="pt-BR" sz="1400" dirty="0" err="1">
                          <a:latin typeface="Calibri"/>
                          <a:ea typeface="Calibri"/>
                          <a:cs typeface="Times New Roman"/>
                        </a:rPr>
                        <a:t>Gate</a:t>
                      </a:r>
                      <a:r>
                        <a:rPr lang="pt-BR" sz="1400" dirty="0">
                          <a:latin typeface="Calibri"/>
                          <a:ea typeface="Calibri"/>
                          <a:cs typeface="Times New Roman"/>
                        </a:rPr>
                        <a:t> A20 </a:t>
                      </a:r>
                      <a:r>
                        <a:rPr lang="pt-BR" sz="1400" dirty="0" err="1">
                          <a:latin typeface="Calibri"/>
                          <a:ea typeface="Calibri"/>
                          <a:cs typeface="Times New Roman"/>
                        </a:rPr>
                        <a:t>failure</a:t>
                      </a:r>
                      <a:r>
                        <a:rPr lang="pt-BR" sz="1400" dirty="0">
                          <a:latin typeface="Calibri"/>
                          <a:ea typeface="Calibri"/>
                          <a:cs typeface="Times New Roman"/>
                        </a:rPr>
                        <a:t>): O </a:t>
                      </a:r>
                      <a:r>
                        <a:rPr lang="pt-BR" sz="1400" dirty="0" err="1">
                          <a:latin typeface="Calibri"/>
                          <a:ea typeface="Calibri"/>
                          <a:cs typeface="Times New Roman"/>
                        </a:rPr>
                        <a:t>gate</a:t>
                      </a:r>
                      <a:r>
                        <a:rPr lang="pt-BR" sz="1400" dirty="0">
                          <a:latin typeface="Calibri"/>
                          <a:ea typeface="Calibri"/>
                          <a:cs typeface="Times New Roman"/>
                        </a:rPr>
                        <a:t> 20 é um sinal gerado pelo chip 8042, responsável por colocar o processador em modo protegido. Neste caso, o problema poderia ser algum dano no processador ou mesmo problemas relacionados com o chip 8042 localizado na placa mãe.</a:t>
                      </a: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b="1" dirty="0"/>
              <a:t>Laboratório de Hardware – ADS</a:t>
            </a:r>
            <a:br>
              <a:rPr lang="pt-BR" b="1" dirty="0"/>
            </a:br>
            <a:r>
              <a:rPr lang="pt-BR" sz="2200" dirty="0"/>
              <a:t>BIOS</a:t>
            </a:r>
          </a:p>
        </p:txBody>
      </p:sp>
      <p:graphicFrame>
        <p:nvGraphicFramePr>
          <p:cNvPr id="4" name="Tabela 3"/>
          <p:cNvGraphicFramePr>
            <a:graphicFrameLocks noGrp="1"/>
          </p:cNvGraphicFramePr>
          <p:nvPr/>
        </p:nvGraphicFramePr>
        <p:xfrm>
          <a:off x="251520" y="1772816"/>
          <a:ext cx="8568952" cy="4495964"/>
        </p:xfrm>
        <a:graphic>
          <a:graphicData uri="http://schemas.openxmlformats.org/drawingml/2006/table">
            <a:tbl>
              <a:tblPr/>
              <a:tblGrid>
                <a:gridCol w="1606498">
                  <a:extLst>
                    <a:ext uri="{9D8B030D-6E8A-4147-A177-3AD203B41FA5}">
                      <a16:colId xmlns:a16="http://schemas.microsoft.com/office/drawing/2014/main" val="20000"/>
                    </a:ext>
                  </a:extLst>
                </a:gridCol>
                <a:gridCol w="6962454">
                  <a:extLst>
                    <a:ext uri="{9D8B030D-6E8A-4147-A177-3AD203B41FA5}">
                      <a16:colId xmlns:a16="http://schemas.microsoft.com/office/drawing/2014/main" val="20001"/>
                    </a:ext>
                  </a:extLst>
                </a:gridCol>
              </a:tblGrid>
              <a:tr h="786581">
                <a:tc>
                  <a:txBody>
                    <a:bodyPr/>
                    <a:lstStyle/>
                    <a:p>
                      <a:pPr>
                        <a:spcAft>
                          <a:spcPts val="0"/>
                        </a:spcAft>
                      </a:pPr>
                      <a:r>
                        <a:rPr lang="pt-BR" sz="1400">
                          <a:latin typeface="Calibri"/>
                          <a:ea typeface="Calibri"/>
                          <a:cs typeface="Times New Roman"/>
                        </a:rPr>
                        <a:t>7 Bips</a:t>
                      </a:r>
                    </a:p>
                  </a:txBody>
                  <a:tcPr marL="42138" marR="421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pt-BR" sz="1400">
                          <a:latin typeface="Calibri"/>
                          <a:ea typeface="Calibri"/>
                          <a:cs typeface="Times New Roman"/>
                        </a:rPr>
                        <a:t>Processor exception (interrupt error): O processador gerou uma interrupção de exceção. Significa que o processador está apresentando um comportamento errático. Isso acontece às vezes no caso de um overclock mal sucedido. Se o problema for persistente, experimente baixar a freqüência de operação do processador. Caso não dê certo, considere uma troca.</a:t>
                      </a:r>
                    </a:p>
                  </a:txBody>
                  <a:tcPr marL="42138" marR="421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86581">
                <a:tc>
                  <a:txBody>
                    <a:bodyPr/>
                    <a:lstStyle/>
                    <a:p>
                      <a:pPr>
                        <a:spcAft>
                          <a:spcPts val="0"/>
                        </a:spcAft>
                      </a:pPr>
                      <a:r>
                        <a:rPr lang="pt-BR" sz="1400">
                          <a:latin typeface="Calibri"/>
                          <a:ea typeface="Calibri"/>
                          <a:cs typeface="Times New Roman"/>
                        </a:rPr>
                        <a:t>8 Bips</a:t>
                      </a:r>
                    </a:p>
                  </a:txBody>
                  <a:tcPr marL="42138" marR="421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pt-BR" sz="1400">
                          <a:latin typeface="Calibri"/>
                          <a:ea typeface="Calibri"/>
                          <a:cs typeface="Times New Roman"/>
                        </a:rPr>
                        <a:t>Erro na memória da placa de vídeo (display memory error) : Problemas com a placa de vídeo, que podem estar sendo causados também por mal contato. Experimente, como no caso das memórias, retirar a placa de vídeo, passar borracha em seus contatos e recolocar cuidadosamente no slot. Caso não resolva, provavelmente a placa de vídeo está danificada.</a:t>
                      </a:r>
                    </a:p>
                  </a:txBody>
                  <a:tcPr marL="42138" marR="421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55484">
                <a:tc>
                  <a:txBody>
                    <a:bodyPr/>
                    <a:lstStyle/>
                    <a:p>
                      <a:pPr>
                        <a:spcAft>
                          <a:spcPts val="0"/>
                        </a:spcAft>
                      </a:pPr>
                      <a:r>
                        <a:rPr lang="pt-BR" sz="1400">
                          <a:latin typeface="Calibri"/>
                          <a:ea typeface="Calibri"/>
                          <a:cs typeface="Times New Roman"/>
                        </a:rPr>
                        <a:t>9 Bips</a:t>
                      </a:r>
                    </a:p>
                  </a:txBody>
                  <a:tcPr marL="42138" marR="421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pt-BR" sz="1400">
                          <a:latin typeface="Calibri"/>
                          <a:ea typeface="Calibri"/>
                          <a:cs typeface="Times New Roman"/>
                        </a:rPr>
                        <a:t>Erro na memória ROM (rom checksum error): Problemas com a memória Flash, onde está gravado o BIOS. Isto pode ser causado por um dano físico no chip do BIOS, por um upgrade de BIOS mal sucedido ou mesmo pela ação de um vírus da linhagem do Chernobil.</a:t>
                      </a:r>
                    </a:p>
                  </a:txBody>
                  <a:tcPr marL="42138" marR="421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55484">
                <a:tc>
                  <a:txBody>
                    <a:bodyPr/>
                    <a:lstStyle/>
                    <a:p>
                      <a:pPr>
                        <a:spcAft>
                          <a:spcPts val="0"/>
                        </a:spcAft>
                      </a:pPr>
                      <a:r>
                        <a:rPr lang="pt-BR" sz="1400">
                          <a:latin typeface="Calibri"/>
                          <a:ea typeface="Calibri"/>
                          <a:cs typeface="Times New Roman"/>
                        </a:rPr>
                        <a:t>10 Bips</a:t>
                      </a:r>
                    </a:p>
                  </a:txBody>
                  <a:tcPr marL="42138" marR="421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pt-BR" sz="1400">
                          <a:latin typeface="Calibri"/>
                          <a:ea typeface="Calibri"/>
                          <a:cs typeface="Times New Roman"/>
                        </a:rPr>
                        <a:t>Falha no CMOS shutdown register (CMOS shutdown register error): O chamado de shutdown register enviado pelo CMOS apresentou erro. Este problema é causado por algum defeito no CMOS. Nesse caso será um problema físico do chip, não restando outra opção senão trocar a placa mãe.</a:t>
                      </a:r>
                    </a:p>
                  </a:txBody>
                  <a:tcPr marL="42138" marR="421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179871">
                <a:tc>
                  <a:txBody>
                    <a:bodyPr/>
                    <a:lstStyle/>
                    <a:p>
                      <a:pPr>
                        <a:spcAft>
                          <a:spcPts val="0"/>
                        </a:spcAft>
                      </a:pPr>
                      <a:r>
                        <a:rPr lang="pt-BR" sz="1400">
                          <a:latin typeface="Calibri"/>
                          <a:ea typeface="Calibri"/>
                          <a:cs typeface="Times New Roman"/>
                        </a:rPr>
                        <a:t>11 Bips</a:t>
                      </a:r>
                    </a:p>
                  </a:txBody>
                  <a:tcPr marL="42138" marR="421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pt-BR" sz="1400" dirty="0">
                          <a:latin typeface="Calibri"/>
                          <a:ea typeface="Calibri"/>
                          <a:cs typeface="Times New Roman"/>
                        </a:rPr>
                        <a:t>Problemas com a memória </a:t>
                      </a:r>
                      <a:r>
                        <a:rPr lang="pt-BR" sz="1400" dirty="0" err="1">
                          <a:latin typeface="Calibri"/>
                          <a:ea typeface="Calibri"/>
                          <a:cs typeface="Times New Roman"/>
                        </a:rPr>
                        <a:t>cache</a:t>
                      </a:r>
                      <a:r>
                        <a:rPr lang="pt-BR" sz="1400" dirty="0">
                          <a:latin typeface="Calibri"/>
                          <a:ea typeface="Calibri"/>
                          <a:cs typeface="Times New Roman"/>
                        </a:rPr>
                        <a:t> (</a:t>
                      </a:r>
                      <a:r>
                        <a:rPr lang="pt-BR" sz="1400" dirty="0" err="1">
                          <a:latin typeface="Calibri"/>
                          <a:ea typeface="Calibri"/>
                          <a:cs typeface="Times New Roman"/>
                        </a:rPr>
                        <a:t>cache</a:t>
                      </a:r>
                      <a:r>
                        <a:rPr lang="pt-BR" sz="1400" dirty="0">
                          <a:latin typeface="Calibri"/>
                          <a:ea typeface="Calibri"/>
                          <a:cs typeface="Times New Roman"/>
                        </a:rPr>
                        <a:t> memory </a:t>
                      </a:r>
                      <a:r>
                        <a:rPr lang="pt-BR" sz="1400" dirty="0" err="1">
                          <a:latin typeface="Calibri"/>
                          <a:ea typeface="Calibri"/>
                          <a:cs typeface="Times New Roman"/>
                        </a:rPr>
                        <a:t>bad</a:t>
                      </a:r>
                      <a:r>
                        <a:rPr lang="pt-BR" sz="1400" dirty="0">
                          <a:latin typeface="Calibri"/>
                          <a:ea typeface="Calibri"/>
                          <a:cs typeface="Times New Roman"/>
                        </a:rPr>
                        <a:t>): Foi detectado um erro na memória </a:t>
                      </a:r>
                      <a:r>
                        <a:rPr lang="pt-BR" sz="1400" dirty="0" err="1">
                          <a:latin typeface="Calibri"/>
                          <a:ea typeface="Calibri"/>
                          <a:cs typeface="Times New Roman"/>
                        </a:rPr>
                        <a:t>cache</a:t>
                      </a:r>
                      <a:r>
                        <a:rPr lang="pt-BR" sz="1400" dirty="0">
                          <a:latin typeface="Calibri"/>
                          <a:ea typeface="Calibri"/>
                          <a:cs typeface="Times New Roman"/>
                        </a:rPr>
                        <a:t>. Geralmente quando isso acontece, o BIOS consegue inicializar o sistema normalmente, desabilitando a memória </a:t>
                      </a:r>
                      <a:r>
                        <a:rPr lang="pt-BR" sz="1400" dirty="0" err="1">
                          <a:latin typeface="Calibri"/>
                          <a:ea typeface="Calibri"/>
                          <a:cs typeface="Times New Roman"/>
                        </a:rPr>
                        <a:t>cache</a:t>
                      </a:r>
                      <a:r>
                        <a:rPr lang="pt-BR" sz="1400" dirty="0">
                          <a:latin typeface="Calibri"/>
                          <a:ea typeface="Calibri"/>
                          <a:cs typeface="Times New Roman"/>
                        </a:rPr>
                        <a:t>. Mas, claro, isso não é desejável, pois deteriora muito o desempenho do sistema. Uma coisa a ser tentada é entrar no Setup e aumentar os tempos de espera da memória </a:t>
                      </a:r>
                      <a:r>
                        <a:rPr lang="pt-BR" sz="1400" dirty="0" err="1">
                          <a:latin typeface="Calibri"/>
                          <a:ea typeface="Calibri"/>
                          <a:cs typeface="Times New Roman"/>
                        </a:rPr>
                        <a:t>cache</a:t>
                      </a:r>
                      <a:r>
                        <a:rPr lang="pt-BR" sz="1400" dirty="0">
                          <a:latin typeface="Calibri"/>
                          <a:ea typeface="Calibri"/>
                          <a:cs typeface="Times New Roman"/>
                        </a:rPr>
                        <a:t>. Muitas vezes com esse "refresco" conseguimos que ela volte a funcionar normalmente.</a:t>
                      </a:r>
                    </a:p>
                  </a:txBody>
                  <a:tcPr marL="42138" marR="421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9937" name="Rectangle 1"/>
          <p:cNvSpPr>
            <a:spLocks noChangeArrowheads="1"/>
          </p:cNvSpPr>
          <p:nvPr/>
        </p:nvSpPr>
        <p:spPr bwMode="auto">
          <a:xfrm>
            <a:off x="251520" y="6273316"/>
            <a:ext cx="8424936" cy="26161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100" b="0" i="0" u="none" strike="noStrike" cap="none" normalizeH="0" baseline="0" dirty="0">
                <a:ln>
                  <a:noFill/>
                </a:ln>
                <a:solidFill>
                  <a:schemeClr val="tx1"/>
                </a:solidFill>
                <a:effectLst/>
                <a:latin typeface="Arial" pitchFamily="34" charset="0"/>
                <a:ea typeface="Calibri" pitchFamily="34" charset="0"/>
                <a:cs typeface="Times New Roman" pitchFamily="18" charset="0"/>
              </a:rPr>
              <a:t>Fonte: </a:t>
            </a:r>
            <a:r>
              <a:rPr kumimoji="0" lang="pt-BR" sz="1100" b="1" i="0" u="none" strike="noStrike" cap="none" normalizeH="0" baseline="0" dirty="0">
                <a:ln>
                  <a:noFill/>
                </a:ln>
                <a:solidFill>
                  <a:schemeClr val="tx1"/>
                </a:solidFill>
                <a:effectLst/>
                <a:latin typeface="Arial" pitchFamily="34" charset="0"/>
                <a:ea typeface="Calibri" pitchFamily="34" charset="0"/>
                <a:cs typeface="Times New Roman" pitchFamily="18" charset="0"/>
              </a:rPr>
              <a:t>Hardware Manual Completo</a:t>
            </a:r>
            <a:r>
              <a:rPr kumimoji="0" lang="pt-BR" sz="1100" b="0" i="0" u="none" strike="noStrike" cap="none" normalizeH="0" baseline="0" dirty="0">
                <a:ln>
                  <a:noFill/>
                </a:ln>
                <a:solidFill>
                  <a:schemeClr val="tx1"/>
                </a:solidFill>
                <a:effectLst/>
                <a:latin typeface="Arial" pitchFamily="34" charset="0"/>
                <a:ea typeface="Calibri" pitchFamily="34" charset="0"/>
                <a:cs typeface="Times New Roman" pitchFamily="18" charset="0"/>
              </a:rPr>
              <a:t>, Carlos </a:t>
            </a:r>
            <a:r>
              <a:rPr kumimoji="0" lang="pt-BR" sz="1100" b="0" i="0" u="none" strike="noStrike" cap="none" normalizeH="0" baseline="0" dirty="0" err="1">
                <a:ln>
                  <a:noFill/>
                </a:ln>
                <a:solidFill>
                  <a:schemeClr val="tx1"/>
                </a:solidFill>
                <a:effectLst/>
                <a:latin typeface="Arial" pitchFamily="34" charset="0"/>
                <a:ea typeface="Calibri" pitchFamily="34" charset="0"/>
                <a:cs typeface="Times New Roman" pitchFamily="18" charset="0"/>
              </a:rPr>
              <a:t>Morimoto</a:t>
            </a:r>
            <a:r>
              <a:rPr kumimoji="0" lang="pt-BR" sz="800" b="0" i="0" u="none" strike="noStrike" cap="none" normalizeH="0" baseline="0" dirty="0">
                <a:ln>
                  <a:noFill/>
                </a:ln>
                <a:solidFill>
                  <a:schemeClr val="tx1"/>
                </a:solidFill>
                <a:effectLst/>
                <a:latin typeface="Arial" pitchFamily="34" charset="0"/>
                <a:cs typeface="Arial" pitchFamily="34" charset="0"/>
              </a:rPr>
              <a:t> </a:t>
            </a:r>
            <a:endParaRPr kumimoji="0" lang="pt-BR" sz="1800" b="0" i="0" u="none" strike="noStrike" cap="none" normalizeH="0" baseline="0" dirty="0">
              <a:ln>
                <a:noFill/>
              </a:ln>
              <a:solidFill>
                <a:schemeClr val="tx1"/>
              </a:solidFill>
              <a:effectLst/>
              <a:latin typeface="Arial" pitchFamily="34" charset="0"/>
              <a:cs typeface="Arial"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b="1" dirty="0"/>
              <a:t>Laboratório de Hardware – ADS</a:t>
            </a:r>
            <a:br>
              <a:rPr lang="pt-BR" b="1" dirty="0"/>
            </a:br>
            <a:r>
              <a:rPr lang="pt-BR" sz="2200" dirty="0"/>
              <a:t>BIOS</a:t>
            </a:r>
          </a:p>
        </p:txBody>
      </p:sp>
      <p:sp>
        <p:nvSpPr>
          <p:cNvPr id="6" name="Espaço Reservado para Texto 2"/>
          <p:cNvSpPr>
            <a:spLocks noGrp="1"/>
          </p:cNvSpPr>
          <p:nvPr>
            <p:ph type="body" idx="1"/>
          </p:nvPr>
        </p:nvSpPr>
        <p:spPr>
          <a:xfrm>
            <a:off x="251520" y="1628800"/>
            <a:ext cx="8640960" cy="1080120"/>
          </a:xfrm>
        </p:spPr>
        <p:txBody>
          <a:bodyPr>
            <a:normAutofit fontScale="92500" lnSpcReduction="10000"/>
          </a:bodyPr>
          <a:lstStyle/>
          <a:p>
            <a:pPr lvl="0"/>
            <a:r>
              <a:rPr lang="pt-BR" sz="2500" b="1" dirty="0"/>
              <a:t>Ativando o CMOS Setup:</a:t>
            </a:r>
            <a:br>
              <a:rPr lang="pt-BR" sz="2500" b="1" dirty="0"/>
            </a:br>
            <a:r>
              <a:rPr lang="pt-BR" sz="2500" i="1" dirty="0" err="1"/>
              <a:t>Press</a:t>
            </a:r>
            <a:r>
              <a:rPr lang="pt-BR" sz="2500" i="1" dirty="0"/>
              <a:t> &lt;DEL&gt; to </a:t>
            </a:r>
            <a:r>
              <a:rPr lang="pt-BR" sz="2500" i="1" dirty="0" err="1"/>
              <a:t>enter</a:t>
            </a:r>
            <a:r>
              <a:rPr lang="pt-BR" sz="2500" i="1" dirty="0"/>
              <a:t> Setup – Aperte </a:t>
            </a:r>
            <a:r>
              <a:rPr lang="pt-BR" sz="2500" i="1" dirty="0" err="1"/>
              <a:t>enter</a:t>
            </a:r>
            <a:r>
              <a:rPr lang="pt-BR" sz="2500" i="1" dirty="0"/>
              <a:t> para entrar nas configurações</a:t>
            </a:r>
            <a:endParaRPr lang="pt-BR" sz="2500" dirty="0"/>
          </a:p>
          <a:p>
            <a:pPr lvl="0"/>
            <a:endParaRPr lang="pt-BR" sz="2500" dirty="0"/>
          </a:p>
          <a:p>
            <a:endParaRPr lang="pt-BR" sz="2500" i="1" dirty="0"/>
          </a:p>
          <a:p>
            <a:pPr>
              <a:buNone/>
            </a:pPr>
            <a:endParaRPr lang="pt-BR" sz="2500" i="1" dirty="0"/>
          </a:p>
        </p:txBody>
      </p:sp>
      <p:pic>
        <p:nvPicPr>
          <p:cNvPr id="24580" name="Picture 4" descr="http://www.pcbuyerbeware.co.uk/AwardBIOSMenu.gif"/>
          <p:cNvPicPr>
            <a:picLocks noChangeAspect="1" noChangeArrowheads="1"/>
          </p:cNvPicPr>
          <p:nvPr/>
        </p:nvPicPr>
        <p:blipFill>
          <a:blip r:embed="rId2" cstate="print"/>
          <a:srcRect/>
          <a:stretch>
            <a:fillRect/>
          </a:stretch>
        </p:blipFill>
        <p:spPr bwMode="auto">
          <a:xfrm>
            <a:off x="395536" y="2852936"/>
            <a:ext cx="8424936" cy="4005064"/>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b="1" dirty="0"/>
              <a:t>Laboratório de Hardware – ADS</a:t>
            </a:r>
            <a:br>
              <a:rPr lang="pt-BR" b="1" dirty="0"/>
            </a:br>
            <a:r>
              <a:rPr lang="pt-BR" sz="2200" dirty="0"/>
              <a:t>BIOS</a:t>
            </a:r>
          </a:p>
        </p:txBody>
      </p:sp>
      <p:sp>
        <p:nvSpPr>
          <p:cNvPr id="6" name="Espaço Reservado para Texto 2"/>
          <p:cNvSpPr>
            <a:spLocks noGrp="1"/>
          </p:cNvSpPr>
          <p:nvPr>
            <p:ph type="body" idx="1"/>
          </p:nvPr>
        </p:nvSpPr>
        <p:spPr>
          <a:xfrm>
            <a:off x="611560" y="1484784"/>
            <a:ext cx="2736304" cy="504056"/>
          </a:xfrm>
        </p:spPr>
        <p:txBody>
          <a:bodyPr>
            <a:normAutofit/>
          </a:bodyPr>
          <a:lstStyle/>
          <a:p>
            <a:r>
              <a:rPr lang="pt-BR" sz="2500" dirty="0"/>
              <a:t>Usando o Setup</a:t>
            </a:r>
            <a:endParaRPr lang="pt-BR" sz="2500" i="1" dirty="0"/>
          </a:p>
        </p:txBody>
      </p:sp>
      <p:graphicFrame>
        <p:nvGraphicFramePr>
          <p:cNvPr id="4" name="Tabela 3"/>
          <p:cNvGraphicFramePr>
            <a:graphicFrameLocks noGrp="1"/>
          </p:cNvGraphicFramePr>
          <p:nvPr/>
        </p:nvGraphicFramePr>
        <p:xfrm>
          <a:off x="0" y="2081064"/>
          <a:ext cx="9144000" cy="4776936"/>
        </p:xfrm>
        <a:graphic>
          <a:graphicData uri="http://schemas.openxmlformats.org/drawingml/2006/table">
            <a:tbl>
              <a:tblPr firstRow="1" bandRow="1">
                <a:tableStyleId>{073A0DAA-6AF3-43AB-8588-CEC1D06C72B9}</a:tableStyleId>
              </a:tblPr>
              <a:tblGrid>
                <a:gridCol w="2644198">
                  <a:extLst>
                    <a:ext uri="{9D8B030D-6E8A-4147-A177-3AD203B41FA5}">
                      <a16:colId xmlns:a16="http://schemas.microsoft.com/office/drawing/2014/main" val="20000"/>
                    </a:ext>
                  </a:extLst>
                </a:gridCol>
                <a:gridCol w="6499802">
                  <a:extLst>
                    <a:ext uri="{9D8B030D-6E8A-4147-A177-3AD203B41FA5}">
                      <a16:colId xmlns:a16="http://schemas.microsoft.com/office/drawing/2014/main" val="20001"/>
                    </a:ext>
                  </a:extLst>
                </a:gridCol>
              </a:tblGrid>
              <a:tr h="370840">
                <a:tc>
                  <a:txBody>
                    <a:bodyPr/>
                    <a:lstStyle/>
                    <a:p>
                      <a:r>
                        <a:rPr lang="pt-BR" dirty="0"/>
                        <a:t>Menu</a:t>
                      </a:r>
                    </a:p>
                  </a:txBody>
                  <a:tcPr/>
                </a:tc>
                <a:tc>
                  <a:txBody>
                    <a:bodyPr/>
                    <a:lstStyle/>
                    <a:p>
                      <a:r>
                        <a:rPr lang="pt-BR" dirty="0"/>
                        <a:t>Aplicação</a:t>
                      </a:r>
                    </a:p>
                  </a:txBody>
                  <a:tcPr/>
                </a:tc>
                <a:extLst>
                  <a:ext uri="{0D108BD9-81ED-4DB2-BD59-A6C34878D82A}">
                    <a16:rowId xmlns:a16="http://schemas.microsoft.com/office/drawing/2014/main" val="10000"/>
                  </a:ext>
                </a:extLst>
              </a:tr>
              <a:tr h="370840">
                <a:tc>
                  <a:txBody>
                    <a:bodyPr/>
                    <a:lstStyle/>
                    <a:p>
                      <a:r>
                        <a:rPr lang="pt-BR" dirty="0" err="1"/>
                        <a:t>Standart</a:t>
                      </a:r>
                      <a:r>
                        <a:rPr lang="pt-BR" dirty="0"/>
                        <a:t> CMOS Setup:</a:t>
                      </a:r>
                    </a:p>
                  </a:txBody>
                  <a:tcPr/>
                </a:tc>
                <a:tc>
                  <a:txBody>
                    <a:bodyPr/>
                    <a:lstStyle/>
                    <a:p>
                      <a:r>
                        <a:rPr lang="pt-BR" dirty="0"/>
                        <a:t>Programa data, hora e os parâmetros das unidades de armazenamento</a:t>
                      </a:r>
                    </a:p>
                  </a:txBody>
                  <a:tcPr/>
                </a:tc>
                <a:extLst>
                  <a:ext uri="{0D108BD9-81ED-4DB2-BD59-A6C34878D82A}">
                    <a16:rowId xmlns:a16="http://schemas.microsoft.com/office/drawing/2014/main" val="10001"/>
                  </a:ext>
                </a:extLst>
              </a:tr>
              <a:tr h="370840">
                <a:tc>
                  <a:txBody>
                    <a:bodyPr/>
                    <a:lstStyle/>
                    <a:p>
                      <a:r>
                        <a:rPr lang="pt-BR" dirty="0" err="1"/>
                        <a:t>Advanced</a:t>
                      </a:r>
                      <a:r>
                        <a:rPr lang="pt-BR" baseline="0" dirty="0"/>
                        <a:t> BIOS Setup:</a:t>
                      </a:r>
                      <a:endParaRPr lang="pt-BR" dirty="0"/>
                    </a:p>
                  </a:txBody>
                  <a:tcPr/>
                </a:tc>
                <a:tc>
                  <a:txBody>
                    <a:bodyPr/>
                    <a:lstStyle/>
                    <a:p>
                      <a:r>
                        <a:rPr lang="pt-BR" dirty="0"/>
                        <a:t>Várias opções de boots e outros itens</a:t>
                      </a:r>
                    </a:p>
                  </a:txBody>
                  <a:tcPr/>
                </a:tc>
                <a:extLst>
                  <a:ext uri="{0D108BD9-81ED-4DB2-BD59-A6C34878D82A}">
                    <a16:rowId xmlns:a16="http://schemas.microsoft.com/office/drawing/2014/main" val="10002"/>
                  </a:ext>
                </a:extLst>
              </a:tr>
              <a:tr h="370840">
                <a:tc>
                  <a:txBody>
                    <a:bodyPr/>
                    <a:lstStyle/>
                    <a:p>
                      <a:r>
                        <a:rPr lang="pt-BR" dirty="0" err="1"/>
                        <a:t>Advanced</a:t>
                      </a:r>
                      <a:r>
                        <a:rPr lang="pt-BR" dirty="0"/>
                        <a:t> </a:t>
                      </a:r>
                      <a:r>
                        <a:rPr lang="pt-BR" dirty="0" err="1"/>
                        <a:t>Chipset</a:t>
                      </a:r>
                      <a:r>
                        <a:rPr lang="pt-BR" dirty="0"/>
                        <a:t> Setup:</a:t>
                      </a:r>
                    </a:p>
                  </a:txBody>
                  <a:tcPr/>
                </a:tc>
                <a:tc>
                  <a:txBody>
                    <a:bodyPr/>
                    <a:lstStyle/>
                    <a:p>
                      <a:r>
                        <a:rPr lang="pt-BR" dirty="0"/>
                        <a:t>Programa o </a:t>
                      </a:r>
                      <a:r>
                        <a:rPr lang="pt-BR" dirty="0" err="1"/>
                        <a:t>fucnionamento</a:t>
                      </a:r>
                      <a:r>
                        <a:rPr lang="pt-BR" dirty="0"/>
                        <a:t> do </a:t>
                      </a:r>
                      <a:r>
                        <a:rPr lang="pt-BR" dirty="0" err="1"/>
                        <a:t>chipset</a:t>
                      </a:r>
                      <a:r>
                        <a:rPr lang="pt-BR" dirty="0"/>
                        <a:t>, memória e processador</a:t>
                      </a:r>
                    </a:p>
                  </a:txBody>
                  <a:tcPr/>
                </a:tc>
                <a:extLst>
                  <a:ext uri="{0D108BD9-81ED-4DB2-BD59-A6C34878D82A}">
                    <a16:rowId xmlns:a16="http://schemas.microsoft.com/office/drawing/2014/main" val="10003"/>
                  </a:ext>
                </a:extLst>
              </a:tr>
              <a:tr h="370840">
                <a:tc>
                  <a:txBody>
                    <a:bodyPr/>
                    <a:lstStyle/>
                    <a:p>
                      <a:r>
                        <a:rPr lang="pt-BR" dirty="0" err="1"/>
                        <a:t>Peripheral</a:t>
                      </a:r>
                      <a:r>
                        <a:rPr lang="pt-BR" dirty="0"/>
                        <a:t> </a:t>
                      </a:r>
                      <a:r>
                        <a:rPr lang="pt-BR" dirty="0" err="1"/>
                        <a:t>Configuration</a:t>
                      </a:r>
                      <a:r>
                        <a:rPr lang="pt-BR" dirty="0"/>
                        <a:t>:</a:t>
                      </a:r>
                    </a:p>
                  </a:txBody>
                  <a:tcPr/>
                </a:tc>
                <a:tc>
                  <a:txBody>
                    <a:bodyPr/>
                    <a:lstStyle/>
                    <a:p>
                      <a:r>
                        <a:rPr lang="pt-BR" dirty="0"/>
                        <a:t>Programa dispositivos </a:t>
                      </a:r>
                      <a:r>
                        <a:rPr lang="pt-BR" dirty="0" err="1"/>
                        <a:t>onboard</a:t>
                      </a:r>
                      <a:endParaRPr lang="pt-BR" dirty="0"/>
                    </a:p>
                  </a:txBody>
                  <a:tcPr/>
                </a:tc>
                <a:extLst>
                  <a:ext uri="{0D108BD9-81ED-4DB2-BD59-A6C34878D82A}">
                    <a16:rowId xmlns:a16="http://schemas.microsoft.com/office/drawing/2014/main" val="10004"/>
                  </a:ext>
                </a:extLst>
              </a:tr>
              <a:tr h="370840">
                <a:tc>
                  <a:txBody>
                    <a:bodyPr/>
                    <a:lstStyle/>
                    <a:p>
                      <a:r>
                        <a:rPr lang="pt-BR" dirty="0"/>
                        <a:t>Power Management:</a:t>
                      </a:r>
                    </a:p>
                  </a:txBody>
                  <a:tcPr/>
                </a:tc>
                <a:tc>
                  <a:txBody>
                    <a:bodyPr/>
                    <a:lstStyle/>
                    <a:p>
                      <a:r>
                        <a:rPr lang="pt-BR" dirty="0"/>
                        <a:t>Gerenciamento de energia</a:t>
                      </a:r>
                    </a:p>
                  </a:txBody>
                  <a:tcPr/>
                </a:tc>
                <a:extLst>
                  <a:ext uri="{0D108BD9-81ED-4DB2-BD59-A6C34878D82A}">
                    <a16:rowId xmlns:a16="http://schemas.microsoft.com/office/drawing/2014/main" val="10005"/>
                  </a:ext>
                </a:extLst>
              </a:tr>
              <a:tr h="370840">
                <a:tc>
                  <a:txBody>
                    <a:bodyPr/>
                    <a:lstStyle/>
                    <a:p>
                      <a:r>
                        <a:rPr lang="pt-BR" dirty="0"/>
                        <a:t>PCI/</a:t>
                      </a:r>
                      <a:r>
                        <a:rPr lang="pt-BR" dirty="0" err="1"/>
                        <a:t>PnP</a:t>
                      </a:r>
                      <a:r>
                        <a:rPr lang="pt-BR" dirty="0"/>
                        <a:t> </a:t>
                      </a:r>
                      <a:r>
                        <a:rPr lang="pt-BR" dirty="0" err="1"/>
                        <a:t>Configuration</a:t>
                      </a:r>
                      <a:r>
                        <a:rPr lang="pt-BR" dirty="0"/>
                        <a:t>:</a:t>
                      </a:r>
                    </a:p>
                  </a:txBody>
                  <a:tcPr/>
                </a:tc>
                <a:tc>
                  <a:txBody>
                    <a:bodyPr/>
                    <a:lstStyle/>
                    <a:p>
                      <a:r>
                        <a:rPr lang="pt-BR" dirty="0"/>
                        <a:t>Para compatibilização com</a:t>
                      </a:r>
                      <a:r>
                        <a:rPr lang="pt-BR" baseline="0" dirty="0"/>
                        <a:t> placas antigas</a:t>
                      </a:r>
                      <a:endParaRPr lang="pt-BR" dirty="0"/>
                    </a:p>
                  </a:txBody>
                  <a:tcPr/>
                </a:tc>
                <a:extLst>
                  <a:ext uri="{0D108BD9-81ED-4DB2-BD59-A6C34878D82A}">
                    <a16:rowId xmlns:a16="http://schemas.microsoft.com/office/drawing/2014/main" val="10006"/>
                  </a:ext>
                </a:extLst>
              </a:tr>
              <a:tr h="42845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Hardware Monitor</a:t>
                      </a:r>
                    </a:p>
                  </a:txBody>
                  <a:tcPr/>
                </a:tc>
                <a:tc>
                  <a:txBody>
                    <a:bodyPr/>
                    <a:lstStyle/>
                    <a:p>
                      <a:r>
                        <a:rPr lang="pt-BR" dirty="0"/>
                        <a:t>Informa temperatura, voltagem e rotação de coolers</a:t>
                      </a:r>
                    </a:p>
                  </a:txBody>
                  <a:tcPr/>
                </a:tc>
                <a:extLst>
                  <a:ext uri="{0D108BD9-81ED-4DB2-BD59-A6C34878D82A}">
                    <a16:rowId xmlns:a16="http://schemas.microsoft.com/office/drawing/2014/main" val="10007"/>
                  </a:ext>
                </a:extLst>
              </a:tr>
              <a:tr h="370840">
                <a:tc>
                  <a:txBody>
                    <a:bodyPr/>
                    <a:lstStyle/>
                    <a:p>
                      <a:r>
                        <a:rPr lang="pt-BR" dirty="0" err="1"/>
                        <a:t>Load</a:t>
                      </a:r>
                      <a:r>
                        <a:rPr lang="pt-BR" dirty="0"/>
                        <a:t> Defaults:</a:t>
                      </a:r>
                    </a:p>
                  </a:txBody>
                  <a:tcPr/>
                </a:tc>
                <a:tc>
                  <a:txBody>
                    <a:bodyPr/>
                    <a:lstStyle/>
                    <a:p>
                      <a:r>
                        <a:rPr lang="pt-BR" dirty="0"/>
                        <a:t>Carrega a configuração de fábrica</a:t>
                      </a:r>
                    </a:p>
                  </a:txBody>
                  <a:tcPr/>
                </a:tc>
                <a:extLst>
                  <a:ext uri="{0D108BD9-81ED-4DB2-BD59-A6C34878D82A}">
                    <a16:rowId xmlns:a16="http://schemas.microsoft.com/office/drawing/2014/main" val="10008"/>
                  </a:ext>
                </a:extLst>
              </a:tr>
              <a:tr h="370840">
                <a:tc>
                  <a:txBody>
                    <a:bodyPr/>
                    <a:lstStyle/>
                    <a:p>
                      <a:r>
                        <a:rPr lang="pt-BR" dirty="0"/>
                        <a:t>Set Password:</a:t>
                      </a:r>
                    </a:p>
                  </a:txBody>
                  <a:tcPr/>
                </a:tc>
                <a:tc>
                  <a:txBody>
                    <a:bodyPr/>
                    <a:lstStyle/>
                    <a:p>
                      <a:r>
                        <a:rPr lang="pt-BR" dirty="0"/>
                        <a:t>Configura </a:t>
                      </a:r>
                      <a:r>
                        <a:rPr lang="pt-BR" baseline="0" dirty="0"/>
                        <a:t> senha para o uso do computador e do Setup</a:t>
                      </a:r>
                      <a:endParaRPr lang="pt-BR" dirty="0"/>
                    </a:p>
                  </a:txBody>
                  <a:tcPr/>
                </a:tc>
                <a:extLst>
                  <a:ext uri="{0D108BD9-81ED-4DB2-BD59-A6C34878D82A}">
                    <a16:rowId xmlns:a16="http://schemas.microsoft.com/office/drawing/2014/main" val="10009"/>
                  </a:ext>
                </a:extLst>
              </a:tr>
              <a:tr h="370840">
                <a:tc>
                  <a:txBody>
                    <a:bodyPr/>
                    <a:lstStyle/>
                    <a:p>
                      <a:r>
                        <a:rPr lang="pt-BR" dirty="0" err="1"/>
                        <a:t>Detect</a:t>
                      </a:r>
                      <a:r>
                        <a:rPr lang="pt-BR" dirty="0"/>
                        <a:t> </a:t>
                      </a:r>
                      <a:r>
                        <a:rPr lang="pt-BR" dirty="0" err="1"/>
                        <a:t>Hard</a:t>
                      </a:r>
                      <a:r>
                        <a:rPr lang="pt-BR" dirty="0"/>
                        <a:t> Disks:</a:t>
                      </a:r>
                    </a:p>
                  </a:txBody>
                  <a:tcPr/>
                </a:tc>
                <a:tc>
                  <a:txBody>
                    <a:bodyPr/>
                    <a:lstStyle/>
                    <a:p>
                      <a:r>
                        <a:rPr lang="pt-BR" dirty="0"/>
                        <a:t>Identifica discos rígidos</a:t>
                      </a:r>
                    </a:p>
                  </a:txBody>
                  <a:tcPr/>
                </a:tc>
                <a:extLst>
                  <a:ext uri="{0D108BD9-81ED-4DB2-BD59-A6C34878D82A}">
                    <a16:rowId xmlns:a16="http://schemas.microsoft.com/office/drawing/2014/main" val="10010"/>
                  </a:ext>
                </a:extLst>
              </a:tr>
              <a:tr h="370840">
                <a:tc>
                  <a:txBody>
                    <a:bodyPr/>
                    <a:lstStyle/>
                    <a:p>
                      <a:r>
                        <a:rPr lang="pt-BR" dirty="0" err="1"/>
                        <a:t>Exit</a:t>
                      </a:r>
                      <a:r>
                        <a:rPr lang="pt-BR" dirty="0"/>
                        <a:t>:</a:t>
                      </a:r>
                    </a:p>
                  </a:txBody>
                  <a:tcPr/>
                </a:tc>
                <a:tc>
                  <a:txBody>
                    <a:bodyPr/>
                    <a:lstStyle/>
                    <a:p>
                      <a:r>
                        <a:rPr lang="pt-BR" dirty="0"/>
                        <a:t>Sair do Setup, salvando ou não as configurações</a:t>
                      </a:r>
                    </a:p>
                  </a:txBody>
                  <a:tcPr/>
                </a:tc>
                <a:extLst>
                  <a:ext uri="{0D108BD9-81ED-4DB2-BD59-A6C34878D82A}">
                    <a16:rowId xmlns:a16="http://schemas.microsoft.com/office/drawing/2014/main" val="10011"/>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b="1" dirty="0"/>
              <a:t>Laboratório de Hardware – ADS</a:t>
            </a:r>
            <a:br>
              <a:rPr lang="pt-BR" b="1" dirty="0"/>
            </a:br>
            <a:r>
              <a:rPr lang="pt-BR" sz="2200" dirty="0"/>
              <a:t>BIOS</a:t>
            </a:r>
          </a:p>
        </p:txBody>
      </p:sp>
      <p:sp>
        <p:nvSpPr>
          <p:cNvPr id="6" name="Espaço Reservado para Texto 2"/>
          <p:cNvSpPr>
            <a:spLocks noGrp="1"/>
          </p:cNvSpPr>
          <p:nvPr>
            <p:ph type="body" idx="1"/>
          </p:nvPr>
        </p:nvSpPr>
        <p:spPr>
          <a:xfrm>
            <a:off x="539552" y="1772816"/>
            <a:ext cx="7920880" cy="4608512"/>
          </a:xfrm>
        </p:spPr>
        <p:txBody>
          <a:bodyPr>
            <a:normAutofit lnSpcReduction="10000"/>
          </a:bodyPr>
          <a:lstStyle/>
          <a:p>
            <a:pPr marL="0" indent="0">
              <a:buNone/>
            </a:pPr>
            <a:r>
              <a:rPr lang="pt-BR" sz="2500" b="1" dirty="0"/>
              <a:t>Refinando o Setup</a:t>
            </a:r>
          </a:p>
          <a:p>
            <a:r>
              <a:rPr lang="pt-BR" sz="2500" dirty="0"/>
              <a:t>Desativar interfaces </a:t>
            </a:r>
            <a:r>
              <a:rPr lang="pt-BR" sz="2500" i="1" dirty="0" err="1"/>
              <a:t>onboard</a:t>
            </a:r>
            <a:r>
              <a:rPr lang="pt-BR" sz="2500" i="1" dirty="0"/>
              <a:t> </a:t>
            </a:r>
            <a:r>
              <a:rPr lang="pt-BR" sz="2500" dirty="0"/>
              <a:t>sem uso (ex. RAID, vídeo, rede, </a:t>
            </a:r>
            <a:r>
              <a:rPr lang="pt-BR" sz="2500" dirty="0" err="1"/>
              <a:t>etc</a:t>
            </a:r>
            <a:r>
              <a:rPr lang="pt-BR" sz="2500" dirty="0"/>
              <a:t>)</a:t>
            </a:r>
          </a:p>
          <a:p>
            <a:r>
              <a:rPr lang="pt-BR" sz="2500" dirty="0"/>
              <a:t>Memória “</a:t>
            </a:r>
            <a:r>
              <a:rPr lang="pt-BR" sz="2500" dirty="0" err="1"/>
              <a:t>By</a:t>
            </a:r>
            <a:r>
              <a:rPr lang="pt-BR" sz="2500" dirty="0"/>
              <a:t> SPD”</a:t>
            </a:r>
          </a:p>
          <a:p>
            <a:r>
              <a:rPr lang="pt-BR" sz="2500" dirty="0" err="1"/>
              <a:t>Hyper-Threading</a:t>
            </a:r>
            <a:r>
              <a:rPr lang="pt-BR" sz="2500" dirty="0"/>
              <a:t> </a:t>
            </a:r>
            <a:r>
              <a:rPr lang="pt-BR" sz="2500" dirty="0" err="1"/>
              <a:t>Tecnology</a:t>
            </a:r>
            <a:r>
              <a:rPr lang="pt-BR" sz="2500" dirty="0"/>
              <a:t> (HT) habilitado</a:t>
            </a:r>
          </a:p>
          <a:p>
            <a:r>
              <a:rPr lang="pt-BR" sz="2500" i="1" dirty="0"/>
              <a:t>Carregar configurações de fábrica</a:t>
            </a:r>
          </a:p>
          <a:p>
            <a:r>
              <a:rPr lang="pt-BR" sz="2500" i="1" dirty="0"/>
              <a:t>Acertar relógio</a:t>
            </a:r>
          </a:p>
          <a:p>
            <a:r>
              <a:rPr lang="pt-BR" sz="2500" i="1" dirty="0"/>
              <a:t>Desativar Drive de disquetes</a:t>
            </a:r>
          </a:p>
          <a:p>
            <a:r>
              <a:rPr lang="pt-BR" sz="2500" i="1" dirty="0"/>
              <a:t>Sequência de boot</a:t>
            </a:r>
          </a:p>
          <a:p>
            <a:r>
              <a:rPr lang="pt-BR" sz="2500" i="1" dirty="0"/>
              <a:t>Salvar e sair</a:t>
            </a:r>
          </a:p>
          <a:p>
            <a:endParaRPr lang="pt-BR" sz="2500" dirty="0"/>
          </a:p>
          <a:p>
            <a:endParaRPr lang="pt-BR" sz="2500" i="1" dirty="0"/>
          </a:p>
          <a:p>
            <a:pPr>
              <a:buNone/>
            </a:pPr>
            <a:endParaRPr lang="pt-BR" sz="2500" i="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b="1" dirty="0"/>
              <a:t>Laboratório de Hardware – ADS</a:t>
            </a:r>
            <a:br>
              <a:rPr lang="pt-BR" b="1" dirty="0"/>
            </a:br>
            <a:r>
              <a:rPr lang="pt-BR" sz="2200" dirty="0"/>
              <a:t>BIOS</a:t>
            </a:r>
          </a:p>
        </p:txBody>
      </p:sp>
      <p:sp>
        <p:nvSpPr>
          <p:cNvPr id="6" name="Espaço Reservado para Texto 2"/>
          <p:cNvSpPr>
            <a:spLocks noGrp="1"/>
          </p:cNvSpPr>
          <p:nvPr>
            <p:ph type="body" idx="1"/>
          </p:nvPr>
        </p:nvSpPr>
        <p:spPr>
          <a:xfrm>
            <a:off x="539552" y="1772816"/>
            <a:ext cx="7920880" cy="1656184"/>
          </a:xfrm>
        </p:spPr>
        <p:txBody>
          <a:bodyPr>
            <a:normAutofit/>
          </a:bodyPr>
          <a:lstStyle/>
          <a:p>
            <a:pPr marL="0" indent="0">
              <a:buNone/>
            </a:pPr>
            <a:r>
              <a:rPr lang="pt-BR" sz="2500" b="1" dirty="0"/>
              <a:t>Refinando o Setup</a:t>
            </a:r>
          </a:p>
          <a:p>
            <a:r>
              <a:rPr lang="pt-BR" sz="2500" dirty="0" err="1"/>
              <a:t>Password</a:t>
            </a:r>
            <a:r>
              <a:rPr lang="pt-BR" sz="2500" dirty="0"/>
              <a:t> </a:t>
            </a:r>
            <a:r>
              <a:rPr lang="pt-BR" sz="2500" dirty="0" err="1"/>
              <a:t>Check</a:t>
            </a:r>
            <a:r>
              <a:rPr lang="pt-BR" sz="2500" dirty="0"/>
              <a:t>: </a:t>
            </a:r>
            <a:r>
              <a:rPr lang="pt-BR" sz="2500" i="1" dirty="0"/>
              <a:t>Setup</a:t>
            </a:r>
            <a:r>
              <a:rPr lang="pt-BR" sz="2500" dirty="0"/>
              <a:t> e </a:t>
            </a:r>
            <a:r>
              <a:rPr lang="pt-BR" sz="2500" i="1" dirty="0"/>
              <a:t>Always (</a:t>
            </a:r>
            <a:r>
              <a:rPr lang="pt-BR" sz="2500" dirty="0"/>
              <a:t>definir para</a:t>
            </a:r>
            <a:r>
              <a:rPr lang="pt-BR" sz="2500" i="1" dirty="0"/>
              <a:t> Always);</a:t>
            </a:r>
          </a:p>
          <a:p>
            <a:r>
              <a:rPr lang="pt-BR" sz="2500" dirty="0"/>
              <a:t>Desabilitar opções de acesso aos disquetes;</a:t>
            </a:r>
          </a:p>
          <a:p>
            <a:endParaRPr lang="pt-BR" sz="2500" i="1" dirty="0"/>
          </a:p>
          <a:p>
            <a:pPr>
              <a:buNone/>
            </a:pPr>
            <a:endParaRPr lang="pt-BR" sz="2500" i="1" dirty="0"/>
          </a:p>
        </p:txBody>
      </p:sp>
      <p:sp>
        <p:nvSpPr>
          <p:cNvPr id="4" name="Espaço Reservado para Texto 2"/>
          <p:cNvSpPr txBox="1">
            <a:spLocks/>
          </p:cNvSpPr>
          <p:nvPr/>
        </p:nvSpPr>
        <p:spPr>
          <a:xfrm>
            <a:off x="683568" y="3789040"/>
            <a:ext cx="7920880" cy="1656184"/>
          </a:xfrm>
          <a:prstGeom prst="rect">
            <a:avLst/>
          </a:prstGeom>
        </p:spPr>
        <p:txBody>
          <a:bodyPr vert="horz">
            <a:normAutofit/>
          </a:bodyPr>
          <a:lstStyle/>
          <a:p>
            <a:pPr marR="0" lvl="0" algn="l" defTabSz="914400" rtl="0" eaLnBrk="1" fontAlgn="auto" latinLnBrk="0" hangingPunct="1">
              <a:lnSpc>
                <a:spcPct val="100000"/>
              </a:lnSpc>
              <a:spcBef>
                <a:spcPts val="700"/>
              </a:spcBef>
              <a:spcAft>
                <a:spcPts val="0"/>
              </a:spcAft>
              <a:buClr>
                <a:schemeClr val="accent2"/>
              </a:buClr>
              <a:buSzPct val="60000"/>
              <a:tabLst/>
              <a:defRPr/>
            </a:pPr>
            <a:r>
              <a:rPr kumimoji="0" lang="pt-BR" sz="2500" b="1" i="0" u="none" strike="noStrike" kern="1200" cap="none" spc="0" normalizeH="0" baseline="0" noProof="0" dirty="0" err="1">
                <a:ln>
                  <a:noFill/>
                </a:ln>
                <a:solidFill>
                  <a:schemeClr val="tx1"/>
                </a:solidFill>
                <a:effectLst/>
                <a:uLnTx/>
                <a:uFillTx/>
                <a:latin typeface="+mn-lt"/>
                <a:ea typeface="+mn-ea"/>
                <a:cs typeface="+mn-cs"/>
              </a:rPr>
              <a:t>Exit</a:t>
            </a:r>
            <a:endParaRPr kumimoji="0" lang="pt-BR" sz="2500" b="1" i="0" u="none" strike="noStrike" kern="1200" cap="none" spc="0" normalizeH="0" baseline="0" noProof="0" dirty="0">
              <a:ln>
                <a:noFill/>
              </a:ln>
              <a:solidFill>
                <a:schemeClr val="tx1"/>
              </a:solidFill>
              <a:effectLst/>
              <a:uLnTx/>
              <a:uFillTx/>
              <a:latin typeface="+mn-lt"/>
              <a:ea typeface="+mn-ea"/>
              <a:cs typeface="+mn-cs"/>
            </a:endParaRPr>
          </a:p>
          <a:p>
            <a:pPr marL="320040" marR="0" lvl="0" indent="-320040" algn="l" defTabSz="914400" rtl="0" eaLnBrk="1" fontAlgn="auto" latinLnBrk="0" hangingPunct="1">
              <a:lnSpc>
                <a:spcPct val="100000"/>
              </a:lnSpc>
              <a:spcBef>
                <a:spcPts val="700"/>
              </a:spcBef>
              <a:spcAft>
                <a:spcPts val="0"/>
              </a:spcAft>
              <a:buClr>
                <a:schemeClr val="accent2"/>
              </a:buClr>
              <a:buSzPct val="60000"/>
              <a:buFont typeface="Wingdings"/>
              <a:buChar char=""/>
              <a:tabLst/>
              <a:defRPr/>
            </a:pPr>
            <a:r>
              <a:rPr kumimoji="0" lang="pt-BR" sz="2500" b="0" i="0" u="none" strike="noStrike" kern="1200" cap="none" spc="0" normalizeH="0" baseline="0" noProof="0" dirty="0" err="1">
                <a:ln>
                  <a:noFill/>
                </a:ln>
                <a:solidFill>
                  <a:schemeClr val="tx1"/>
                </a:solidFill>
                <a:effectLst/>
                <a:uLnTx/>
                <a:uFillTx/>
                <a:latin typeface="+mn-lt"/>
                <a:ea typeface="+mn-ea"/>
                <a:cs typeface="+mn-cs"/>
              </a:rPr>
              <a:t>Save</a:t>
            </a:r>
            <a:r>
              <a:rPr kumimoji="0" lang="pt-BR" sz="2500" b="0" i="0" u="none" strike="noStrike" kern="1200" cap="none" spc="0" normalizeH="0" baseline="0" noProof="0" dirty="0">
                <a:ln>
                  <a:noFill/>
                </a:ln>
                <a:solidFill>
                  <a:schemeClr val="tx1"/>
                </a:solidFill>
                <a:effectLst/>
                <a:uLnTx/>
                <a:uFillTx/>
                <a:latin typeface="+mn-lt"/>
                <a:ea typeface="+mn-ea"/>
                <a:cs typeface="+mn-cs"/>
              </a:rPr>
              <a:t> </a:t>
            </a:r>
            <a:r>
              <a:rPr kumimoji="0" lang="pt-BR" sz="2500" b="0" i="0" u="none" strike="noStrike" kern="1200" cap="none" spc="0" normalizeH="0" baseline="0" noProof="0" dirty="0" err="1">
                <a:ln>
                  <a:noFill/>
                </a:ln>
                <a:solidFill>
                  <a:schemeClr val="tx1"/>
                </a:solidFill>
                <a:effectLst/>
                <a:uLnTx/>
                <a:uFillTx/>
                <a:latin typeface="+mn-lt"/>
                <a:ea typeface="+mn-ea"/>
                <a:cs typeface="+mn-cs"/>
              </a:rPr>
              <a:t>and</a:t>
            </a:r>
            <a:r>
              <a:rPr kumimoji="0" lang="pt-BR" sz="2500" b="0" i="0" u="none" strike="noStrike" kern="1200" cap="none" spc="0" normalizeH="0" baseline="0" noProof="0" dirty="0">
                <a:ln>
                  <a:noFill/>
                </a:ln>
                <a:solidFill>
                  <a:schemeClr val="tx1"/>
                </a:solidFill>
                <a:effectLst/>
                <a:uLnTx/>
                <a:uFillTx/>
                <a:latin typeface="+mn-lt"/>
                <a:ea typeface="+mn-ea"/>
                <a:cs typeface="+mn-cs"/>
              </a:rPr>
              <a:t> </a:t>
            </a:r>
            <a:r>
              <a:rPr kumimoji="0" lang="pt-BR" sz="2500" b="0" i="0" u="none" strike="noStrike" kern="1200" cap="none" spc="0" normalizeH="0" baseline="0" noProof="0" dirty="0" err="1">
                <a:ln>
                  <a:noFill/>
                </a:ln>
                <a:solidFill>
                  <a:schemeClr val="tx1"/>
                </a:solidFill>
                <a:effectLst/>
                <a:uLnTx/>
                <a:uFillTx/>
                <a:latin typeface="+mn-lt"/>
                <a:ea typeface="+mn-ea"/>
                <a:cs typeface="+mn-cs"/>
              </a:rPr>
              <a:t>Exit</a:t>
            </a:r>
            <a:r>
              <a:rPr kumimoji="0" lang="pt-BR" sz="2500" b="0" i="0" u="none" strike="noStrike" kern="1200" cap="none" spc="0" normalizeH="0" baseline="0" noProof="0" dirty="0">
                <a:ln>
                  <a:noFill/>
                </a:ln>
                <a:solidFill>
                  <a:schemeClr val="tx1"/>
                </a:solidFill>
                <a:effectLst/>
                <a:uLnTx/>
                <a:uFillTx/>
                <a:latin typeface="+mn-lt"/>
                <a:ea typeface="+mn-ea"/>
                <a:cs typeface="+mn-cs"/>
              </a:rPr>
              <a:t> </a:t>
            </a:r>
            <a:r>
              <a:rPr lang="pt-BR" sz="2500" i="1" dirty="0"/>
              <a:t>     ou</a:t>
            </a:r>
          </a:p>
          <a:p>
            <a:pPr marL="320040" marR="0" lvl="0" indent="-320040" algn="l" defTabSz="914400" rtl="0" eaLnBrk="1" fontAlgn="auto" latinLnBrk="0" hangingPunct="1">
              <a:lnSpc>
                <a:spcPct val="100000"/>
              </a:lnSpc>
              <a:spcBef>
                <a:spcPts val="700"/>
              </a:spcBef>
              <a:spcAft>
                <a:spcPts val="0"/>
              </a:spcAft>
              <a:buClr>
                <a:schemeClr val="accent2"/>
              </a:buClr>
              <a:buSzPct val="60000"/>
              <a:buFont typeface="Wingdings"/>
              <a:buChar char=""/>
              <a:tabLst/>
              <a:defRPr/>
            </a:pPr>
            <a:r>
              <a:rPr kumimoji="0" lang="pt-BR" sz="2500" b="0" u="none" strike="noStrike" kern="1200" cap="none" spc="0" normalizeH="0" baseline="0" noProof="0" dirty="0">
                <a:ln>
                  <a:noFill/>
                </a:ln>
                <a:solidFill>
                  <a:schemeClr val="tx1"/>
                </a:solidFill>
                <a:effectLst/>
                <a:uLnTx/>
                <a:uFillTx/>
                <a:latin typeface="+mn-lt"/>
                <a:ea typeface="+mn-ea"/>
                <a:cs typeface="+mn-cs"/>
              </a:rPr>
              <a:t>Do</a:t>
            </a:r>
            <a:r>
              <a:rPr lang="pt-BR" sz="2500" dirty="0"/>
              <a:t> </a:t>
            </a:r>
            <a:r>
              <a:rPr lang="pt-BR" sz="2500" dirty="0" err="1"/>
              <a:t>not</a:t>
            </a:r>
            <a:r>
              <a:rPr lang="pt-BR" sz="2500" dirty="0"/>
              <a:t> </a:t>
            </a:r>
            <a:r>
              <a:rPr lang="pt-BR" sz="2500" dirty="0" err="1"/>
              <a:t>Save</a:t>
            </a:r>
            <a:r>
              <a:rPr lang="pt-BR" sz="2500" dirty="0"/>
              <a:t> </a:t>
            </a:r>
            <a:r>
              <a:rPr lang="pt-BR" sz="2500" dirty="0" err="1"/>
              <a:t>and</a:t>
            </a:r>
            <a:r>
              <a:rPr lang="pt-BR" sz="2500" dirty="0"/>
              <a:t> </a:t>
            </a:r>
            <a:r>
              <a:rPr lang="pt-BR" sz="2500" dirty="0" err="1"/>
              <a:t>Exit</a:t>
            </a:r>
            <a:endParaRPr kumimoji="0" lang="pt-BR" sz="2500" b="0" u="none" strike="noStrike" kern="1200" cap="none" spc="0" normalizeH="0" baseline="0" noProof="0" dirty="0">
              <a:ln>
                <a:noFill/>
              </a:ln>
              <a:solidFill>
                <a:schemeClr val="tx1"/>
              </a:solidFill>
              <a:effectLst/>
              <a:uLnTx/>
              <a:uFillTx/>
              <a:latin typeface="+mn-lt"/>
              <a:ea typeface="+mn-ea"/>
              <a:cs typeface="+mn-cs"/>
            </a:endParaRPr>
          </a:p>
          <a:p>
            <a:pPr marL="320040" marR="0" lvl="0" indent="-320040" algn="l" defTabSz="914400" rtl="0" eaLnBrk="1" fontAlgn="auto" latinLnBrk="0" hangingPunct="1">
              <a:lnSpc>
                <a:spcPct val="100000"/>
              </a:lnSpc>
              <a:spcBef>
                <a:spcPts val="700"/>
              </a:spcBef>
              <a:spcAft>
                <a:spcPts val="0"/>
              </a:spcAft>
              <a:buClr>
                <a:schemeClr val="accent2"/>
              </a:buClr>
              <a:buSzPct val="60000"/>
              <a:buFont typeface="Wingdings"/>
              <a:buChar char=""/>
              <a:tabLst/>
              <a:defRPr/>
            </a:pPr>
            <a:endParaRPr kumimoji="0" lang="pt-BR" sz="2500" b="0" i="1" u="none" strike="noStrike" kern="1200" cap="none" spc="0" normalizeH="0" baseline="0" noProof="0" dirty="0">
              <a:ln>
                <a:noFill/>
              </a:ln>
              <a:solidFill>
                <a:schemeClr val="tx1"/>
              </a:solidFill>
              <a:effectLst/>
              <a:uLnTx/>
              <a:uFillTx/>
              <a:latin typeface="+mn-lt"/>
              <a:ea typeface="+mn-ea"/>
              <a:cs typeface="+mn-cs"/>
            </a:endParaRPr>
          </a:p>
          <a:p>
            <a:pPr marL="320040" marR="0" lvl="0" indent="-320040" algn="l" defTabSz="914400" rtl="0" eaLnBrk="1" fontAlgn="auto" latinLnBrk="0" hangingPunct="1">
              <a:lnSpc>
                <a:spcPct val="100000"/>
              </a:lnSpc>
              <a:spcBef>
                <a:spcPts val="700"/>
              </a:spcBef>
              <a:spcAft>
                <a:spcPts val="0"/>
              </a:spcAft>
              <a:buClr>
                <a:schemeClr val="accent2"/>
              </a:buClr>
              <a:buSzPct val="60000"/>
              <a:buFont typeface="Wingdings"/>
              <a:buNone/>
              <a:tabLst/>
              <a:defRPr/>
            </a:pPr>
            <a:endParaRPr kumimoji="0" lang="pt-BR" sz="2500" b="0" i="1"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b="1" dirty="0"/>
              <a:t>Laboratório de Hardware – ADS</a:t>
            </a:r>
            <a:br>
              <a:rPr lang="pt-BR" b="1" dirty="0"/>
            </a:br>
            <a:r>
              <a:rPr lang="pt-BR" sz="2200" dirty="0"/>
              <a:t>BIOS</a:t>
            </a:r>
          </a:p>
        </p:txBody>
      </p:sp>
      <p:sp>
        <p:nvSpPr>
          <p:cNvPr id="6" name="Espaço Reservado para Texto 2"/>
          <p:cNvSpPr>
            <a:spLocks noGrp="1"/>
          </p:cNvSpPr>
          <p:nvPr>
            <p:ph type="body" idx="1"/>
          </p:nvPr>
        </p:nvSpPr>
        <p:spPr>
          <a:xfrm>
            <a:off x="539552" y="1772816"/>
            <a:ext cx="7920880" cy="3888432"/>
          </a:xfrm>
        </p:spPr>
        <p:txBody>
          <a:bodyPr>
            <a:normAutofit/>
          </a:bodyPr>
          <a:lstStyle/>
          <a:p>
            <a:pPr marL="0" indent="0">
              <a:buNone/>
            </a:pPr>
            <a:r>
              <a:rPr lang="pt-BR" sz="2500" b="1" dirty="0"/>
              <a:t>Upgrade de BIOS</a:t>
            </a:r>
          </a:p>
          <a:p>
            <a:endParaRPr lang="pt-BR" sz="2500" b="1" dirty="0"/>
          </a:p>
          <a:p>
            <a:r>
              <a:rPr lang="pt-BR" sz="2500" dirty="0"/>
              <a:t>Reconhecimento de novos processadores</a:t>
            </a:r>
          </a:p>
          <a:p>
            <a:r>
              <a:rPr lang="pt-BR" sz="2500" dirty="0"/>
              <a:t>Reconhecimento de discos rígidos de maior capacidade</a:t>
            </a:r>
          </a:p>
          <a:p>
            <a:endParaRPr lang="pt-BR" sz="2500" dirty="0"/>
          </a:p>
          <a:p>
            <a:r>
              <a:rPr lang="pt-BR" sz="2500" dirty="0"/>
              <a:t>A) Marca e modelo da placa-mãe</a:t>
            </a:r>
          </a:p>
          <a:p>
            <a:r>
              <a:rPr lang="pt-BR" sz="2500" dirty="0"/>
              <a:t>B) Site do fabricante: programa e arquivo de atualização. (checar antes qual versão e fazer backup)</a:t>
            </a:r>
          </a:p>
          <a:p>
            <a:endParaRPr lang="pt-BR" sz="2500" i="1" dirty="0"/>
          </a:p>
          <a:p>
            <a:pPr>
              <a:buNone/>
            </a:pPr>
            <a:endParaRPr lang="pt-BR" sz="2500" i="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b="1" dirty="0"/>
              <a:t>Laboratório de Hardware – ADS</a:t>
            </a:r>
            <a:br>
              <a:rPr lang="pt-BR" b="1" dirty="0"/>
            </a:br>
            <a:r>
              <a:rPr lang="pt-BR" sz="2200" dirty="0"/>
              <a:t>BIOS</a:t>
            </a:r>
          </a:p>
        </p:txBody>
      </p:sp>
      <p:sp>
        <p:nvSpPr>
          <p:cNvPr id="6" name="Espaço Reservado para Texto 2"/>
          <p:cNvSpPr>
            <a:spLocks noGrp="1"/>
          </p:cNvSpPr>
          <p:nvPr>
            <p:ph type="body" idx="1"/>
          </p:nvPr>
        </p:nvSpPr>
        <p:spPr>
          <a:xfrm>
            <a:off x="539552" y="1772816"/>
            <a:ext cx="1872208" cy="3168352"/>
          </a:xfrm>
        </p:spPr>
        <p:txBody>
          <a:bodyPr>
            <a:normAutofit/>
          </a:bodyPr>
          <a:lstStyle/>
          <a:p>
            <a:pPr marL="0" indent="0">
              <a:buNone/>
            </a:pPr>
            <a:r>
              <a:rPr lang="pt-BR" sz="2500" b="1" dirty="0" err="1"/>
              <a:t>EFI</a:t>
            </a:r>
            <a:endParaRPr lang="pt-BR" sz="2500" b="1" dirty="0"/>
          </a:p>
          <a:p>
            <a:endParaRPr lang="pt-BR" sz="2500" b="1" dirty="0"/>
          </a:p>
          <a:p>
            <a:r>
              <a:rPr lang="pt-BR" sz="2500" i="1" dirty="0" err="1"/>
              <a:t>Extended</a:t>
            </a:r>
            <a:r>
              <a:rPr lang="pt-BR" sz="2500" i="1" dirty="0"/>
              <a:t> Firmware Interface</a:t>
            </a:r>
          </a:p>
          <a:p>
            <a:endParaRPr lang="pt-BR" sz="2500" i="1" dirty="0"/>
          </a:p>
          <a:p>
            <a:endParaRPr lang="pt-BR" sz="2500" i="1" dirty="0"/>
          </a:p>
          <a:p>
            <a:pPr>
              <a:buNone/>
            </a:pPr>
            <a:endParaRPr lang="pt-BR" sz="2500" i="1" dirty="0"/>
          </a:p>
        </p:txBody>
      </p:sp>
      <p:pic>
        <p:nvPicPr>
          <p:cNvPr id="1026" name="Picture 2" descr="https://www.howtogeek.com/wp-content/uploads/2017/05/ximg_5913822742ef4.jpg.pagespeed.gp+jp+jw+pj+ws+js+rj+rp+rw+ri+cp+md.ic.aYpJEQP3VH.jpg">
            <a:extLst>
              <a:ext uri="{FF2B5EF4-FFF2-40B4-BE49-F238E27FC236}">
                <a16:creationId xmlns:a16="http://schemas.microsoft.com/office/drawing/2014/main" id="{6BF7A9F9-76B0-46F4-B450-01F64CE4FB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1750" y="1649343"/>
            <a:ext cx="6191250" cy="5000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36051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b="1" dirty="0"/>
              <a:t>Laboratório de Hardware – ADS</a:t>
            </a:r>
            <a:br>
              <a:rPr lang="pt-BR" b="1" dirty="0"/>
            </a:br>
            <a:r>
              <a:rPr lang="pt-BR" sz="2200" dirty="0"/>
              <a:t>BIOS</a:t>
            </a:r>
          </a:p>
        </p:txBody>
      </p:sp>
      <p:sp>
        <p:nvSpPr>
          <p:cNvPr id="6" name="Espaço Reservado para Texto 2"/>
          <p:cNvSpPr>
            <a:spLocks noGrp="1"/>
          </p:cNvSpPr>
          <p:nvPr>
            <p:ph type="body" idx="1"/>
          </p:nvPr>
        </p:nvSpPr>
        <p:spPr>
          <a:xfrm>
            <a:off x="467544" y="1556792"/>
            <a:ext cx="7920880" cy="4856584"/>
          </a:xfrm>
        </p:spPr>
        <p:txBody>
          <a:bodyPr>
            <a:noAutofit/>
          </a:bodyPr>
          <a:lstStyle/>
          <a:p>
            <a:pPr marL="0" indent="0">
              <a:buNone/>
            </a:pPr>
            <a:r>
              <a:rPr lang="pt-BR" sz="2500" b="1" dirty="0" err="1"/>
              <a:t>EFI</a:t>
            </a:r>
            <a:r>
              <a:rPr lang="pt-BR" sz="2500" b="1" dirty="0"/>
              <a:t> - </a:t>
            </a:r>
            <a:r>
              <a:rPr lang="pt-BR" sz="2500" i="1" dirty="0" err="1"/>
              <a:t>Extended</a:t>
            </a:r>
            <a:r>
              <a:rPr lang="pt-BR" sz="2500" i="1" dirty="0"/>
              <a:t> Firmware Interface</a:t>
            </a:r>
          </a:p>
          <a:p>
            <a:endParaRPr lang="pt-BR" sz="2500" b="1" dirty="0"/>
          </a:p>
          <a:p>
            <a:r>
              <a:rPr lang="pt-BR" sz="2500" dirty="0"/>
              <a:t>A empresa Intel tem planos para substituição gradativa até 2020;</a:t>
            </a:r>
          </a:p>
          <a:p>
            <a:endParaRPr lang="en-US" sz="2500" dirty="0"/>
          </a:p>
          <a:p>
            <a:r>
              <a:rPr lang="en-US" sz="2500" dirty="0"/>
              <a:t>EFI </a:t>
            </a:r>
            <a:r>
              <a:rPr lang="en-US" sz="2500" dirty="0" err="1"/>
              <a:t>pode</a:t>
            </a:r>
            <a:r>
              <a:rPr lang="en-US" sz="2500" dirty="0"/>
              <a:t> </a:t>
            </a:r>
            <a:r>
              <a:rPr lang="en-US" sz="2500" dirty="0" err="1"/>
              <a:t>realizar</a:t>
            </a:r>
            <a:r>
              <a:rPr lang="en-US" sz="2500" dirty="0"/>
              <a:t> o </a:t>
            </a:r>
            <a:r>
              <a:rPr lang="en-US" sz="2500" i="1" dirty="0"/>
              <a:t>Boot</a:t>
            </a:r>
            <a:r>
              <a:rPr lang="en-US" sz="2500" dirty="0"/>
              <a:t> a </a:t>
            </a:r>
            <a:r>
              <a:rPr lang="en-US" sz="2500" dirty="0" err="1"/>
              <a:t>partir</a:t>
            </a:r>
            <a:r>
              <a:rPr lang="en-US" sz="2500" dirty="0"/>
              <a:t> de drives de 2.2 TB </a:t>
            </a:r>
            <a:r>
              <a:rPr lang="en-US" sz="2500" dirty="0" err="1"/>
              <a:t>ou</a:t>
            </a:r>
            <a:r>
              <a:rPr lang="en-US" sz="2500" dirty="0"/>
              <a:t> </a:t>
            </a:r>
            <a:r>
              <a:rPr lang="en-US" sz="2500" dirty="0" err="1"/>
              <a:t>maiores</a:t>
            </a:r>
            <a:r>
              <a:rPr lang="en-US" sz="2500" dirty="0"/>
              <a:t>;</a:t>
            </a:r>
          </a:p>
          <a:p>
            <a:endParaRPr lang="en-US" sz="2500" dirty="0"/>
          </a:p>
          <a:p>
            <a:r>
              <a:rPr lang="en-US" sz="2500" dirty="0"/>
              <a:t>EFI </a:t>
            </a:r>
            <a:r>
              <a:rPr lang="en-US" sz="2500" dirty="0" err="1"/>
              <a:t>utiliza</a:t>
            </a:r>
            <a:r>
              <a:rPr lang="en-US" sz="2500" dirty="0"/>
              <a:t> o </a:t>
            </a:r>
            <a:r>
              <a:rPr lang="en-US" sz="2500" dirty="0" err="1"/>
              <a:t>esquema</a:t>
            </a:r>
            <a:r>
              <a:rPr lang="en-US" sz="2500" dirty="0"/>
              <a:t> de </a:t>
            </a:r>
            <a:r>
              <a:rPr lang="en-US" sz="2500" dirty="0" err="1"/>
              <a:t>partição</a:t>
            </a:r>
            <a:r>
              <a:rPr lang="en-US" sz="2500" dirty="0"/>
              <a:t> </a:t>
            </a:r>
            <a:r>
              <a:rPr lang="en-US" sz="2500" i="1" dirty="0" err="1"/>
              <a:t>GPT</a:t>
            </a:r>
            <a:r>
              <a:rPr lang="en-US" sz="2500" dirty="0"/>
              <a:t> (</a:t>
            </a:r>
            <a:r>
              <a:rPr lang="en-US" sz="2500" i="1" dirty="0"/>
              <a:t>GUID Partition Table</a:t>
            </a:r>
            <a:r>
              <a:rPr lang="en-US" sz="2500" dirty="0"/>
              <a:t>) </a:t>
            </a:r>
            <a:r>
              <a:rPr lang="en-US" sz="2500" dirty="0" err="1"/>
              <a:t>ao</a:t>
            </a:r>
            <a:r>
              <a:rPr lang="en-US" sz="2500" dirty="0"/>
              <a:t> </a:t>
            </a:r>
            <a:r>
              <a:rPr lang="en-US" sz="2500" dirty="0" err="1"/>
              <a:t>invés</a:t>
            </a:r>
            <a:r>
              <a:rPr lang="en-US" sz="2500" dirty="0"/>
              <a:t> de </a:t>
            </a:r>
            <a:r>
              <a:rPr lang="en-US" sz="2500" i="1" dirty="0" err="1"/>
              <a:t>MBR</a:t>
            </a:r>
            <a:r>
              <a:rPr lang="en-US" sz="2500" dirty="0"/>
              <a:t> (</a:t>
            </a:r>
            <a:r>
              <a:rPr lang="en-US" sz="2500" i="1" dirty="0"/>
              <a:t>Master boot record);</a:t>
            </a:r>
            <a:endParaRPr lang="pt-BR" sz="2500" i="1" dirty="0"/>
          </a:p>
        </p:txBody>
      </p:sp>
    </p:spTree>
    <p:extLst>
      <p:ext uri="{BB962C8B-B14F-4D97-AF65-F5344CB8AC3E}">
        <p14:creationId xmlns:p14="http://schemas.microsoft.com/office/powerpoint/2010/main" val="33980834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b="1" dirty="0"/>
              <a:t>Laboratório de Hardware – ADS</a:t>
            </a:r>
            <a:br>
              <a:rPr lang="pt-BR" b="1" dirty="0"/>
            </a:br>
            <a:r>
              <a:rPr lang="pt-BR" sz="2200" dirty="0"/>
              <a:t>BIOS</a:t>
            </a:r>
          </a:p>
        </p:txBody>
      </p:sp>
      <p:sp>
        <p:nvSpPr>
          <p:cNvPr id="6" name="Espaço Reservado para Texto 2"/>
          <p:cNvSpPr>
            <a:spLocks noGrp="1"/>
          </p:cNvSpPr>
          <p:nvPr>
            <p:ph type="body" idx="1"/>
          </p:nvPr>
        </p:nvSpPr>
        <p:spPr>
          <a:xfrm>
            <a:off x="467544" y="1556792"/>
            <a:ext cx="7920880" cy="4856584"/>
          </a:xfrm>
        </p:spPr>
        <p:txBody>
          <a:bodyPr>
            <a:noAutofit/>
          </a:bodyPr>
          <a:lstStyle/>
          <a:p>
            <a:pPr marL="0" indent="0">
              <a:buNone/>
            </a:pPr>
            <a:r>
              <a:rPr lang="pt-BR" sz="2500" b="1" dirty="0" err="1"/>
              <a:t>EFI</a:t>
            </a:r>
            <a:r>
              <a:rPr lang="pt-BR" sz="2500" b="1" dirty="0"/>
              <a:t> - </a:t>
            </a:r>
            <a:r>
              <a:rPr lang="pt-BR" sz="2500" i="1" dirty="0" err="1"/>
              <a:t>Extended</a:t>
            </a:r>
            <a:r>
              <a:rPr lang="pt-BR" sz="2500" i="1" dirty="0"/>
              <a:t> Firmware Interface</a:t>
            </a:r>
          </a:p>
          <a:p>
            <a:endParaRPr lang="pt-BR" sz="2500" b="1" dirty="0"/>
          </a:p>
          <a:p>
            <a:r>
              <a:rPr lang="pt-BR" sz="2500" dirty="0"/>
              <a:t>Apple utiliza </a:t>
            </a:r>
            <a:r>
              <a:rPr lang="pt-BR" sz="2500" dirty="0" err="1"/>
              <a:t>EFI</a:t>
            </a:r>
            <a:r>
              <a:rPr lang="pt-BR" sz="2500" dirty="0"/>
              <a:t> desde 2006</a:t>
            </a:r>
          </a:p>
          <a:p>
            <a:endParaRPr lang="pt-BR" sz="2500" dirty="0"/>
          </a:p>
          <a:p>
            <a:r>
              <a:rPr lang="en-US" sz="2500" dirty="0" err="1"/>
              <a:t>Inicialização</a:t>
            </a:r>
            <a:r>
              <a:rPr lang="en-US" sz="2500" dirty="0"/>
              <a:t> por EFI </a:t>
            </a:r>
            <a:r>
              <a:rPr lang="en-US" sz="2500" dirty="0" err="1"/>
              <a:t>roda</a:t>
            </a:r>
            <a:r>
              <a:rPr lang="en-US" sz="2500" dirty="0"/>
              <a:t> </a:t>
            </a:r>
            <a:r>
              <a:rPr lang="en-US" sz="2500" dirty="0" err="1"/>
              <a:t>arquivos</a:t>
            </a:r>
            <a:r>
              <a:rPr lang="en-US" sz="2500" dirty="0"/>
              <a:t> </a:t>
            </a:r>
            <a:r>
              <a:rPr lang="en-US" sz="2500" dirty="0" err="1"/>
              <a:t>executáveis</a:t>
            </a:r>
            <a:r>
              <a:rPr lang="en-US" sz="2500" dirty="0"/>
              <a:t> </a:t>
            </a:r>
            <a:r>
              <a:rPr lang="en-US" sz="2500" dirty="0" err="1"/>
              <a:t>ao</a:t>
            </a:r>
            <a:r>
              <a:rPr lang="en-US" sz="2500" dirty="0"/>
              <a:t> </a:t>
            </a:r>
            <a:r>
              <a:rPr lang="en-US" sz="2500" dirty="0" err="1"/>
              <a:t>invés</a:t>
            </a:r>
            <a:r>
              <a:rPr lang="en-US" sz="2500" dirty="0"/>
              <a:t> de </a:t>
            </a:r>
            <a:r>
              <a:rPr lang="en-US" sz="2500" dirty="0" err="1"/>
              <a:t>rodar</a:t>
            </a:r>
            <a:r>
              <a:rPr lang="en-US" sz="2500" dirty="0"/>
              <a:t> </a:t>
            </a:r>
            <a:r>
              <a:rPr lang="en-US" sz="2500" dirty="0" err="1"/>
              <a:t>código</a:t>
            </a:r>
            <a:r>
              <a:rPr lang="en-US" sz="2500" dirty="0"/>
              <a:t> de um drive com </a:t>
            </a:r>
            <a:r>
              <a:rPr lang="en-US" sz="2500" i="1" dirty="0" err="1"/>
              <a:t>MBR</a:t>
            </a:r>
            <a:endParaRPr lang="en-US" sz="2500" i="1" dirty="0"/>
          </a:p>
          <a:p>
            <a:endParaRPr lang="en-US" sz="2500" i="1" dirty="0"/>
          </a:p>
          <a:p>
            <a:r>
              <a:rPr lang="pt-BR" sz="2500" dirty="0"/>
              <a:t>Processo de boot mais rápido</a:t>
            </a:r>
          </a:p>
          <a:p>
            <a:endParaRPr lang="en-US" sz="2500" dirty="0"/>
          </a:p>
          <a:p>
            <a:r>
              <a:rPr lang="en-US" sz="2500" dirty="0"/>
              <a:t>EFI </a:t>
            </a:r>
            <a:r>
              <a:rPr lang="en-US" sz="2500" dirty="0" err="1"/>
              <a:t>pode</a:t>
            </a:r>
            <a:r>
              <a:rPr lang="en-US" sz="2500" dirty="0"/>
              <a:t> </a:t>
            </a:r>
            <a:r>
              <a:rPr lang="en-US" sz="2500" dirty="0" err="1"/>
              <a:t>rodar</a:t>
            </a:r>
            <a:r>
              <a:rPr lang="en-US" sz="2500" dirty="0"/>
              <a:t> </a:t>
            </a:r>
            <a:r>
              <a:rPr lang="en-US" sz="2500" dirty="0" err="1"/>
              <a:t>nos</a:t>
            </a:r>
            <a:r>
              <a:rPr lang="en-US" sz="2500" dirty="0"/>
              <a:t> </a:t>
            </a:r>
            <a:r>
              <a:rPr lang="en-US" sz="2500" dirty="0" err="1"/>
              <a:t>modos</a:t>
            </a:r>
            <a:r>
              <a:rPr lang="en-US" sz="2500" dirty="0"/>
              <a:t> 32-bit e 64-bit</a:t>
            </a:r>
          </a:p>
          <a:p>
            <a:endParaRPr lang="en-US" sz="2500" dirty="0"/>
          </a:p>
          <a:p>
            <a:pPr>
              <a:buNone/>
            </a:pPr>
            <a:endParaRPr lang="pt-BR" sz="2500" i="1" dirty="0"/>
          </a:p>
        </p:txBody>
      </p:sp>
    </p:spTree>
    <p:extLst>
      <p:ext uri="{BB962C8B-B14F-4D97-AF65-F5344CB8AC3E}">
        <p14:creationId xmlns:p14="http://schemas.microsoft.com/office/powerpoint/2010/main" val="17535147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b="1" dirty="0"/>
              <a:t>Laboratório de Hardware – ADS</a:t>
            </a:r>
            <a:br>
              <a:rPr lang="pt-BR" b="1" dirty="0"/>
            </a:br>
            <a:r>
              <a:rPr lang="pt-BR" sz="2200" dirty="0"/>
              <a:t>BIOS</a:t>
            </a:r>
          </a:p>
        </p:txBody>
      </p:sp>
      <p:sp>
        <p:nvSpPr>
          <p:cNvPr id="6" name="Espaço Reservado para Texto 2"/>
          <p:cNvSpPr>
            <a:spLocks noGrp="1"/>
          </p:cNvSpPr>
          <p:nvPr>
            <p:ph type="body" idx="1"/>
          </p:nvPr>
        </p:nvSpPr>
        <p:spPr>
          <a:xfrm>
            <a:off x="567464" y="1556792"/>
            <a:ext cx="8568952" cy="5301208"/>
          </a:xfrm>
        </p:spPr>
        <p:txBody>
          <a:bodyPr>
            <a:noAutofit/>
          </a:bodyPr>
          <a:lstStyle/>
          <a:p>
            <a:pPr marL="0" indent="0">
              <a:buNone/>
            </a:pPr>
            <a:r>
              <a:rPr lang="pt-BR" sz="2500" b="1" dirty="0" err="1"/>
              <a:t>EFI</a:t>
            </a:r>
            <a:r>
              <a:rPr lang="pt-BR" sz="2500" b="1" dirty="0"/>
              <a:t> - </a:t>
            </a:r>
            <a:r>
              <a:rPr lang="pt-BR" sz="2500" i="1" dirty="0" err="1"/>
              <a:t>Extended</a:t>
            </a:r>
            <a:r>
              <a:rPr lang="pt-BR" sz="2500" i="1" dirty="0"/>
              <a:t> Firmware Interface</a:t>
            </a:r>
          </a:p>
          <a:p>
            <a:endParaRPr lang="pt-BR" sz="2500" b="1" dirty="0"/>
          </a:p>
          <a:p>
            <a:r>
              <a:rPr lang="en-US" sz="2500" dirty="0" err="1"/>
              <a:t>Suporta</a:t>
            </a:r>
            <a:r>
              <a:rPr lang="en-US" sz="2500" dirty="0"/>
              <a:t> boot </a:t>
            </a:r>
            <a:r>
              <a:rPr lang="en-US" sz="2500" dirty="0" err="1"/>
              <a:t>seguro</a:t>
            </a:r>
            <a:r>
              <a:rPr lang="en-US" sz="2500" dirty="0"/>
              <a:t>, </a:t>
            </a:r>
            <a:r>
              <a:rPr lang="en-US" sz="2500" dirty="0" err="1"/>
              <a:t>ou</a:t>
            </a:r>
            <a:r>
              <a:rPr lang="en-US" sz="2500" dirty="0"/>
              <a:t> </a:t>
            </a:r>
            <a:r>
              <a:rPr lang="en-US" sz="2500" dirty="0" err="1"/>
              <a:t>seja</a:t>
            </a:r>
            <a:r>
              <a:rPr lang="en-US" sz="2500" dirty="0"/>
              <a:t> o Sistema </a:t>
            </a:r>
            <a:r>
              <a:rPr lang="en-US" sz="2500" dirty="0" err="1"/>
              <a:t>operacional</a:t>
            </a:r>
            <a:r>
              <a:rPr lang="en-US" sz="2500" dirty="0"/>
              <a:t> </a:t>
            </a:r>
            <a:r>
              <a:rPr lang="en-US" sz="2500" dirty="0" err="1"/>
              <a:t>pode</a:t>
            </a:r>
            <a:r>
              <a:rPr lang="en-US" sz="2500" dirty="0"/>
              <a:t> ser </a:t>
            </a:r>
            <a:r>
              <a:rPr lang="en-US" sz="2500" dirty="0" err="1"/>
              <a:t>checado</a:t>
            </a:r>
            <a:r>
              <a:rPr lang="en-US" sz="2500" dirty="0"/>
              <a:t> para </a:t>
            </a:r>
            <a:r>
              <a:rPr lang="en-US" sz="2500" dirty="0" err="1"/>
              <a:t>aumentar</a:t>
            </a:r>
            <a:r>
              <a:rPr lang="en-US" sz="2500" dirty="0"/>
              <a:t> a </a:t>
            </a:r>
            <a:r>
              <a:rPr lang="en-US" sz="2500" dirty="0" err="1"/>
              <a:t>segurança</a:t>
            </a:r>
            <a:r>
              <a:rPr lang="en-US" sz="2500" dirty="0"/>
              <a:t> </a:t>
            </a:r>
            <a:r>
              <a:rPr lang="en-US" sz="2500" dirty="0" err="1"/>
              <a:t>durante</a:t>
            </a:r>
            <a:r>
              <a:rPr lang="en-US" sz="2500" dirty="0"/>
              <a:t> o boot;</a:t>
            </a:r>
          </a:p>
          <a:p>
            <a:endParaRPr lang="en-US" sz="2500" dirty="0"/>
          </a:p>
          <a:p>
            <a:r>
              <a:rPr lang="en-US" sz="2500" dirty="0" err="1"/>
              <a:t>Suporta</a:t>
            </a:r>
            <a:r>
              <a:rPr lang="en-US" sz="2500" dirty="0"/>
              <a:t> </a:t>
            </a:r>
            <a:r>
              <a:rPr lang="en-US" sz="2500" dirty="0" err="1"/>
              <a:t>características</a:t>
            </a:r>
            <a:r>
              <a:rPr lang="en-US" sz="2500" dirty="0"/>
              <a:t> de rede de </a:t>
            </a:r>
            <a:r>
              <a:rPr lang="en-US" sz="2500" dirty="0" err="1"/>
              <a:t>computadores</a:t>
            </a:r>
            <a:r>
              <a:rPr lang="en-US" sz="2500" dirty="0"/>
              <a:t>;</a:t>
            </a:r>
          </a:p>
          <a:p>
            <a:endParaRPr lang="en-US" sz="2500" dirty="0"/>
          </a:p>
          <a:p>
            <a:r>
              <a:rPr lang="en-US" sz="2500" dirty="0" err="1"/>
              <a:t>Pode</a:t>
            </a:r>
            <a:r>
              <a:rPr lang="en-US" sz="2500" dirty="0"/>
              <a:t> </a:t>
            </a:r>
            <a:r>
              <a:rPr lang="en-US" sz="2500" dirty="0" err="1"/>
              <a:t>ficar</a:t>
            </a:r>
            <a:r>
              <a:rPr lang="en-US" sz="2500" dirty="0"/>
              <a:t> </a:t>
            </a:r>
            <a:r>
              <a:rPr lang="en-US" sz="2500" dirty="0" err="1"/>
              <a:t>na</a:t>
            </a:r>
            <a:r>
              <a:rPr lang="en-US" sz="2500" dirty="0"/>
              <a:t> </a:t>
            </a:r>
            <a:r>
              <a:rPr lang="en-US" sz="2500" dirty="0" err="1"/>
              <a:t>memória</a:t>
            </a:r>
            <a:r>
              <a:rPr lang="en-US" sz="2500" dirty="0"/>
              <a:t> flash </a:t>
            </a:r>
            <a:r>
              <a:rPr lang="en-US" sz="2500" dirty="0" err="1"/>
              <a:t>ou</a:t>
            </a:r>
            <a:r>
              <a:rPr lang="en-US" sz="2500" dirty="0"/>
              <a:t> </a:t>
            </a:r>
            <a:r>
              <a:rPr lang="en-US" sz="2500" dirty="0" err="1"/>
              <a:t>em</a:t>
            </a:r>
            <a:r>
              <a:rPr lang="en-US" sz="2500" dirty="0"/>
              <a:t> um disco </a:t>
            </a:r>
            <a:r>
              <a:rPr lang="en-US" sz="2500" dirty="0" err="1"/>
              <a:t>ou</a:t>
            </a:r>
            <a:r>
              <a:rPr lang="en-US" sz="2500" dirty="0"/>
              <a:t> rede.</a:t>
            </a:r>
          </a:p>
          <a:p>
            <a:endParaRPr lang="en-US" sz="2500" dirty="0"/>
          </a:p>
          <a:p>
            <a:r>
              <a:rPr lang="en-US" sz="2500" dirty="0" err="1"/>
              <a:t>Em</a:t>
            </a:r>
            <a:r>
              <a:rPr lang="en-US" sz="2500" dirty="0"/>
              <a:t> 2007, Intel, AMD, Microsoft, e </a:t>
            </a:r>
            <a:r>
              <a:rPr lang="en-US" sz="2500" dirty="0" err="1"/>
              <a:t>fabricantes</a:t>
            </a:r>
            <a:r>
              <a:rPr lang="en-US" sz="2500" dirty="0"/>
              <a:t> de PC’s </a:t>
            </a:r>
            <a:r>
              <a:rPr lang="en-US" sz="2500" dirty="0" err="1"/>
              <a:t>concordaram</a:t>
            </a:r>
            <a:r>
              <a:rPr lang="en-US" sz="2500" dirty="0"/>
              <a:t> </a:t>
            </a:r>
            <a:r>
              <a:rPr lang="en-US" sz="2500" dirty="0" err="1"/>
              <a:t>em</a:t>
            </a:r>
            <a:r>
              <a:rPr lang="en-US" sz="2500" dirty="0"/>
              <a:t> </a:t>
            </a:r>
            <a:r>
              <a:rPr lang="en-US" sz="2500" dirty="0" err="1"/>
              <a:t>uma</a:t>
            </a:r>
            <a:r>
              <a:rPr lang="en-US" sz="2500" dirty="0"/>
              <a:t> nova </a:t>
            </a:r>
            <a:r>
              <a:rPr lang="en-US" sz="2500" dirty="0" err="1"/>
              <a:t>especificação</a:t>
            </a:r>
            <a:r>
              <a:rPr lang="en-US" sz="2500" dirty="0"/>
              <a:t> </a:t>
            </a:r>
            <a:r>
              <a:rPr lang="en-US" sz="2500" dirty="0" err="1"/>
              <a:t>criando</a:t>
            </a:r>
            <a:r>
              <a:rPr lang="en-US" sz="2500" dirty="0"/>
              <a:t> um forum: </a:t>
            </a:r>
            <a:r>
              <a:rPr lang="en-US" sz="2500" b="1" dirty="0" err="1"/>
              <a:t>UEFI</a:t>
            </a:r>
            <a:endParaRPr lang="en-US" sz="2500" b="1" dirty="0"/>
          </a:p>
          <a:p>
            <a:endParaRPr lang="en-US" sz="2500" dirty="0"/>
          </a:p>
          <a:p>
            <a:endParaRPr lang="pt-BR" sz="2500" i="1" dirty="0"/>
          </a:p>
          <a:p>
            <a:pPr>
              <a:buNone/>
            </a:pPr>
            <a:endParaRPr lang="pt-BR" sz="2500" i="1" dirty="0"/>
          </a:p>
        </p:txBody>
      </p:sp>
    </p:spTree>
    <p:extLst>
      <p:ext uri="{BB962C8B-B14F-4D97-AF65-F5344CB8AC3E}">
        <p14:creationId xmlns:p14="http://schemas.microsoft.com/office/powerpoint/2010/main" val="11845115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b="1" dirty="0"/>
              <a:t>Laboratório de Hardware – ADS</a:t>
            </a:r>
            <a:br>
              <a:rPr lang="pt-BR" b="1" dirty="0"/>
            </a:br>
            <a:r>
              <a:rPr lang="pt-BR" sz="2200" dirty="0"/>
              <a:t>BIOS</a:t>
            </a:r>
          </a:p>
        </p:txBody>
      </p:sp>
      <p:sp>
        <p:nvSpPr>
          <p:cNvPr id="6" name="Espaço Reservado para Texto 2"/>
          <p:cNvSpPr>
            <a:spLocks noGrp="1"/>
          </p:cNvSpPr>
          <p:nvPr>
            <p:ph type="body" idx="1"/>
          </p:nvPr>
        </p:nvSpPr>
        <p:spPr>
          <a:xfrm>
            <a:off x="539552" y="1772816"/>
            <a:ext cx="7920880" cy="3888432"/>
          </a:xfrm>
        </p:spPr>
        <p:txBody>
          <a:bodyPr>
            <a:normAutofit lnSpcReduction="10000"/>
          </a:bodyPr>
          <a:lstStyle/>
          <a:p>
            <a:pPr marL="0" indent="0">
              <a:buNone/>
            </a:pPr>
            <a:r>
              <a:rPr lang="pt-BR" sz="2500" b="1" dirty="0" err="1"/>
              <a:t>UEFI</a:t>
            </a:r>
            <a:endParaRPr lang="pt-BR" sz="2500" b="1" dirty="0"/>
          </a:p>
          <a:p>
            <a:endParaRPr lang="pt-BR" sz="2500" b="1" dirty="0"/>
          </a:p>
          <a:p>
            <a:r>
              <a:rPr lang="en-US" sz="2500" dirty="0" err="1"/>
              <a:t>Em</a:t>
            </a:r>
            <a:r>
              <a:rPr lang="en-US" sz="2500" dirty="0"/>
              <a:t> 2007, Intel, AMD, Microsoft, e </a:t>
            </a:r>
            <a:r>
              <a:rPr lang="en-US" sz="2500" dirty="0" err="1"/>
              <a:t>fabricantes</a:t>
            </a:r>
            <a:r>
              <a:rPr lang="en-US" sz="2500" dirty="0"/>
              <a:t> de PC’s </a:t>
            </a:r>
            <a:r>
              <a:rPr lang="en-US" sz="2500" dirty="0" err="1"/>
              <a:t>concordaram</a:t>
            </a:r>
            <a:r>
              <a:rPr lang="en-US" sz="2500" dirty="0"/>
              <a:t> </a:t>
            </a:r>
            <a:r>
              <a:rPr lang="en-US" sz="2500" dirty="0" err="1"/>
              <a:t>em</a:t>
            </a:r>
            <a:r>
              <a:rPr lang="en-US" sz="2500" dirty="0"/>
              <a:t> </a:t>
            </a:r>
            <a:r>
              <a:rPr lang="en-US" sz="2500" dirty="0" err="1"/>
              <a:t>uma</a:t>
            </a:r>
            <a:r>
              <a:rPr lang="en-US" sz="2500" dirty="0"/>
              <a:t> nova </a:t>
            </a:r>
            <a:r>
              <a:rPr lang="en-US" sz="2500" dirty="0" err="1"/>
              <a:t>especificação</a:t>
            </a:r>
            <a:endParaRPr lang="en-US" sz="2500" dirty="0"/>
          </a:p>
          <a:p>
            <a:r>
              <a:rPr lang="pt-BR" sz="2500" dirty="0"/>
              <a:t>Intel tem planos para substituição gradativa até 2020</a:t>
            </a:r>
          </a:p>
          <a:p>
            <a:r>
              <a:rPr lang="pt-BR" sz="2500" dirty="0"/>
              <a:t>Pode ser encontrada como </a:t>
            </a:r>
            <a:r>
              <a:rPr lang="pt-BR" sz="2500" i="1" dirty="0"/>
              <a:t>BIOS</a:t>
            </a:r>
            <a:r>
              <a:rPr lang="pt-BR" sz="2500" dirty="0"/>
              <a:t> devido a adaptação</a:t>
            </a:r>
          </a:p>
          <a:p>
            <a:r>
              <a:rPr lang="pt-BR" sz="2500" dirty="0"/>
              <a:t>Apple utiliza </a:t>
            </a:r>
            <a:r>
              <a:rPr lang="pt-BR" sz="2500" dirty="0" err="1"/>
              <a:t>EFI</a:t>
            </a:r>
            <a:r>
              <a:rPr lang="pt-BR" sz="2500" dirty="0"/>
              <a:t> desde 2006</a:t>
            </a:r>
          </a:p>
          <a:p>
            <a:r>
              <a:rPr lang="en-US" sz="2500" dirty="0" err="1"/>
              <a:t>Em</a:t>
            </a:r>
            <a:r>
              <a:rPr lang="en-US" sz="2500" dirty="0"/>
              <a:t> 2007, Intel, AMD, Microsoft, e </a:t>
            </a:r>
            <a:r>
              <a:rPr lang="en-US" sz="2500" dirty="0" err="1"/>
              <a:t>fabricantes</a:t>
            </a:r>
            <a:r>
              <a:rPr lang="en-US" sz="2500" dirty="0"/>
              <a:t> de PC’s </a:t>
            </a:r>
            <a:r>
              <a:rPr lang="en-US" sz="2500" dirty="0" err="1"/>
              <a:t>concordaram</a:t>
            </a:r>
            <a:r>
              <a:rPr lang="en-US" sz="2500" dirty="0"/>
              <a:t> </a:t>
            </a:r>
            <a:r>
              <a:rPr lang="en-US" sz="2500" dirty="0" err="1"/>
              <a:t>em</a:t>
            </a:r>
            <a:r>
              <a:rPr lang="en-US" sz="2500" dirty="0"/>
              <a:t> </a:t>
            </a:r>
            <a:r>
              <a:rPr lang="en-US" sz="2500" dirty="0" err="1"/>
              <a:t>uma</a:t>
            </a:r>
            <a:r>
              <a:rPr lang="en-US" sz="2500" dirty="0"/>
              <a:t> nova </a:t>
            </a:r>
            <a:r>
              <a:rPr lang="en-US" sz="2500" dirty="0" err="1"/>
              <a:t>especificação</a:t>
            </a:r>
            <a:endParaRPr lang="pt-BR" sz="2500" dirty="0"/>
          </a:p>
          <a:p>
            <a:endParaRPr lang="pt-BR" sz="2500" dirty="0"/>
          </a:p>
          <a:p>
            <a:endParaRPr lang="pt-BR" sz="2500" i="1" dirty="0"/>
          </a:p>
          <a:p>
            <a:pPr>
              <a:buNone/>
            </a:pPr>
            <a:endParaRPr lang="pt-BR" sz="2500" i="1" dirty="0"/>
          </a:p>
        </p:txBody>
      </p:sp>
    </p:spTree>
    <p:extLst>
      <p:ext uri="{BB962C8B-B14F-4D97-AF65-F5344CB8AC3E}">
        <p14:creationId xmlns:p14="http://schemas.microsoft.com/office/powerpoint/2010/main" val="22490202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b="1" dirty="0"/>
              <a:t>Laboratório de Hardware – ADS</a:t>
            </a:r>
            <a:br>
              <a:rPr lang="pt-BR" b="1" dirty="0"/>
            </a:br>
            <a:r>
              <a:rPr lang="pt-BR" sz="2200" dirty="0"/>
              <a:t>BIOS</a:t>
            </a:r>
          </a:p>
        </p:txBody>
      </p:sp>
      <p:sp>
        <p:nvSpPr>
          <p:cNvPr id="6" name="Espaço Reservado para Texto 2"/>
          <p:cNvSpPr>
            <a:spLocks noGrp="1"/>
          </p:cNvSpPr>
          <p:nvPr>
            <p:ph type="body" idx="1"/>
          </p:nvPr>
        </p:nvSpPr>
        <p:spPr>
          <a:xfrm>
            <a:off x="594792" y="1453261"/>
            <a:ext cx="7920880" cy="504056"/>
          </a:xfrm>
        </p:spPr>
        <p:txBody>
          <a:bodyPr>
            <a:normAutofit/>
          </a:bodyPr>
          <a:lstStyle/>
          <a:p>
            <a:pPr marL="0" indent="0">
              <a:buNone/>
            </a:pPr>
            <a:r>
              <a:rPr lang="pt-BR" sz="2500" b="1" dirty="0" err="1"/>
              <a:t>UEFI</a:t>
            </a:r>
            <a:endParaRPr lang="pt-BR" sz="2500" dirty="0"/>
          </a:p>
          <a:p>
            <a:endParaRPr lang="pt-BR" sz="2500" i="1" dirty="0"/>
          </a:p>
          <a:p>
            <a:pPr>
              <a:buNone/>
            </a:pPr>
            <a:endParaRPr lang="pt-BR" sz="2500" i="1" dirty="0"/>
          </a:p>
        </p:txBody>
      </p:sp>
      <p:pic>
        <p:nvPicPr>
          <p:cNvPr id="1026" name="Picture 2" descr="Resultado de imagem para uefi  2018">
            <a:extLst>
              <a:ext uri="{FF2B5EF4-FFF2-40B4-BE49-F238E27FC236}">
                <a16:creationId xmlns:a16="http://schemas.microsoft.com/office/drawing/2014/main" id="{4EBABFB9-194B-472B-9225-DDE8996913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296" y="1965074"/>
            <a:ext cx="8296216" cy="46666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55968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4A30C2B2-BC06-1105-80C3-D5A6B9FFA6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2041" y="2211990"/>
            <a:ext cx="4104452" cy="3182726"/>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p:cNvSpPr>
            <a:spLocks noGrp="1"/>
          </p:cNvSpPr>
          <p:nvPr>
            <p:ph type="title"/>
          </p:nvPr>
        </p:nvSpPr>
        <p:spPr/>
        <p:txBody>
          <a:bodyPr>
            <a:normAutofit fontScale="90000"/>
          </a:bodyPr>
          <a:lstStyle/>
          <a:p>
            <a:r>
              <a:rPr lang="pt-BR" b="1" dirty="0"/>
              <a:t>Laboratório de Hardware – ADS</a:t>
            </a:r>
            <a:br>
              <a:rPr lang="pt-BR" b="1" dirty="0"/>
            </a:br>
            <a:r>
              <a:rPr lang="pt-BR" sz="2800" dirty="0"/>
              <a:t> Tarefa no Laboratório</a:t>
            </a:r>
          </a:p>
        </p:txBody>
      </p:sp>
      <p:sp>
        <p:nvSpPr>
          <p:cNvPr id="3" name="Espaço Reservado para Texto 2"/>
          <p:cNvSpPr>
            <a:spLocks noGrp="1"/>
          </p:cNvSpPr>
          <p:nvPr>
            <p:ph type="body" idx="1"/>
          </p:nvPr>
        </p:nvSpPr>
        <p:spPr>
          <a:xfrm>
            <a:off x="9929" y="1484184"/>
            <a:ext cx="4922112" cy="5373816"/>
          </a:xfrm>
        </p:spPr>
        <p:txBody>
          <a:bodyPr>
            <a:noAutofit/>
          </a:bodyPr>
          <a:lstStyle/>
          <a:p>
            <a:pPr marL="0" indent="0" algn="ctr">
              <a:spcBef>
                <a:spcPts val="0"/>
              </a:spcBef>
              <a:buNone/>
            </a:pPr>
            <a:r>
              <a:rPr lang="pt-BR" sz="1700" b="1" dirty="0"/>
              <a:t>Em duplas ou trios pesquisem BIOS/EFI:</a:t>
            </a:r>
          </a:p>
          <a:p>
            <a:pPr marL="0" indent="0" algn="ctr">
              <a:spcBef>
                <a:spcPts val="0"/>
              </a:spcBef>
              <a:buNone/>
            </a:pPr>
            <a:endParaRPr lang="pt-BR" sz="1700" b="1" dirty="0"/>
          </a:p>
          <a:p>
            <a:pPr marL="0" indent="0">
              <a:spcBef>
                <a:spcPts val="0"/>
              </a:spcBef>
              <a:buNone/>
            </a:pPr>
            <a:r>
              <a:rPr lang="pt-BR" sz="1700" b="1" dirty="0"/>
              <a:t>A)</a:t>
            </a:r>
            <a:r>
              <a:rPr lang="pt-BR" sz="1700" dirty="0"/>
              <a:t> </a:t>
            </a:r>
            <a:r>
              <a:rPr lang="pt-BR" sz="1700" b="1" dirty="0"/>
              <a:t>No Laboratório </a:t>
            </a:r>
            <a:r>
              <a:rPr lang="pt-BR" sz="1700" dirty="0"/>
              <a:t>– Imagens de um EFI identificando elementos relevantes</a:t>
            </a:r>
            <a:r>
              <a:rPr lang="pt-BR" sz="1700" baseline="30000" dirty="0"/>
              <a:t>1</a:t>
            </a:r>
            <a:r>
              <a:rPr lang="pt-BR" sz="1700" dirty="0"/>
              <a:t> de acordo com modelo ao lado</a:t>
            </a:r>
            <a:r>
              <a:rPr lang="pt-BR" sz="1700" baseline="30000" dirty="0"/>
              <a:t>2</a:t>
            </a:r>
            <a:r>
              <a:rPr lang="pt-BR" sz="1700" dirty="0"/>
              <a:t>.</a:t>
            </a:r>
          </a:p>
          <a:p>
            <a:pPr marL="0" indent="0">
              <a:spcBef>
                <a:spcPts val="0"/>
              </a:spcBef>
              <a:buNone/>
            </a:pPr>
            <a:endParaRPr lang="pt-BR" sz="1700" dirty="0"/>
          </a:p>
          <a:p>
            <a:pPr marL="0" indent="0">
              <a:spcBef>
                <a:spcPts val="0"/>
              </a:spcBef>
              <a:buNone/>
            </a:pPr>
            <a:r>
              <a:rPr lang="pt-BR" sz="1700" b="1" dirty="0"/>
              <a:t>B) Em casa </a:t>
            </a:r>
            <a:r>
              <a:rPr lang="pt-BR" sz="1700" dirty="0"/>
              <a:t>-</a:t>
            </a:r>
            <a:r>
              <a:rPr lang="pt-BR" sz="1700" b="1" dirty="0"/>
              <a:t> </a:t>
            </a:r>
            <a:r>
              <a:rPr lang="pt-BR" sz="1700" dirty="0"/>
              <a:t>Imagens de um BIOS/EFI do computador de um dos componentes do grupo, identificando elementos relevantes</a:t>
            </a:r>
            <a:r>
              <a:rPr lang="pt-BR" sz="1700" baseline="30000" dirty="0"/>
              <a:t>1</a:t>
            </a:r>
            <a:r>
              <a:rPr lang="pt-BR" sz="1700" dirty="0"/>
              <a:t> de acordo com modelo ao lado</a:t>
            </a:r>
            <a:r>
              <a:rPr lang="pt-BR" sz="1700" baseline="30000" dirty="0"/>
              <a:t>2 </a:t>
            </a:r>
            <a:r>
              <a:rPr lang="pt-BR" sz="1700" dirty="0"/>
              <a:t>e descrever textualmente eventual melhoria/otimização realizada. </a:t>
            </a:r>
          </a:p>
          <a:p>
            <a:pPr marL="0" indent="0">
              <a:spcBef>
                <a:spcPts val="0"/>
              </a:spcBef>
              <a:buNone/>
            </a:pPr>
            <a:r>
              <a:rPr lang="pt-BR" sz="1700" i="1" baseline="30000" dirty="0"/>
              <a:t>1</a:t>
            </a:r>
            <a:r>
              <a:rPr lang="pt-BR" sz="1700" i="1" dirty="0"/>
              <a:t>Ex.: hardwares instalados; ordem de boot; temperatura/ventilação; etc.</a:t>
            </a:r>
          </a:p>
          <a:p>
            <a:pPr marL="0" indent="0">
              <a:spcBef>
                <a:spcPts val="0"/>
              </a:spcBef>
              <a:buNone/>
            </a:pPr>
            <a:endParaRPr lang="pt-BR" sz="1700" dirty="0"/>
          </a:p>
          <a:p>
            <a:pPr marL="0" indent="0">
              <a:spcBef>
                <a:spcPts val="0"/>
              </a:spcBef>
              <a:buNone/>
            </a:pPr>
            <a:r>
              <a:rPr lang="pt-BR" sz="1600" b="1" kern="100" dirty="0">
                <a:effectLst/>
                <a:latin typeface="Aptos" panose="020B0004020202020204" pitchFamily="34" charset="0"/>
                <a:ea typeface="Aptos" panose="020B0004020202020204" pitchFamily="34" charset="0"/>
                <a:cs typeface="Times New Roman" panose="02020603050405020304" pitchFamily="18" charset="0"/>
              </a:rPr>
              <a:t>ENVIE RELATÓRIO ÚNICO (A E B), DIGITADO (Sem </a:t>
            </a:r>
            <a:r>
              <a:rPr lang="pt-BR" sz="1600" b="1" kern="100" dirty="0" err="1">
                <a:effectLst/>
                <a:latin typeface="Aptos" panose="020B0004020202020204" pitchFamily="34" charset="0"/>
                <a:ea typeface="Aptos" panose="020B0004020202020204" pitchFamily="34" charset="0"/>
                <a:cs typeface="Times New Roman" panose="02020603050405020304" pitchFamily="18" charset="0"/>
              </a:rPr>
              <a:t>print’s</a:t>
            </a:r>
            <a:r>
              <a:rPr lang="pt-BR" sz="1600" b="1" kern="100" dirty="0">
                <a:effectLst/>
                <a:latin typeface="Aptos" panose="020B0004020202020204" pitchFamily="34" charset="0"/>
                <a:ea typeface="Aptos" panose="020B0004020202020204" pitchFamily="34" charset="0"/>
                <a:cs typeface="Times New Roman" panose="02020603050405020304" pitchFamily="18" charset="0"/>
              </a:rPr>
              <a:t> de telas de ferramentas) EM PDF PARA E-MAIL:</a:t>
            </a:r>
          </a:p>
          <a:p>
            <a:pPr marL="0" indent="0">
              <a:spcBef>
                <a:spcPts val="0"/>
              </a:spcBef>
              <a:buNone/>
            </a:pPr>
            <a:r>
              <a:rPr lang="pt-BR" sz="1600" b="1" dirty="0"/>
              <a:t>fabio@fatecpg.edu.br </a:t>
            </a:r>
          </a:p>
          <a:p>
            <a:pPr marL="0" indent="0">
              <a:spcBef>
                <a:spcPts val="0"/>
              </a:spcBef>
              <a:buNone/>
            </a:pPr>
            <a:r>
              <a:rPr lang="pt-BR" sz="1600" dirty="0"/>
              <a:t>Assunto: </a:t>
            </a:r>
            <a:r>
              <a:rPr lang="pt-BR" sz="1600" b="1" dirty="0"/>
              <a:t>TRABALHO LH </a:t>
            </a:r>
            <a:br>
              <a:rPr lang="pt-BR" sz="1600" b="1" dirty="0"/>
            </a:br>
            <a:r>
              <a:rPr lang="pt-BR" sz="1600" dirty="0"/>
              <a:t>Incluir: </a:t>
            </a:r>
            <a:r>
              <a:rPr lang="pt-BR" sz="1600" b="1" dirty="0"/>
              <a:t>Nomes completos dos alunos no corpo do e-mail</a:t>
            </a:r>
            <a:endParaRPr lang="pt-BR" sz="1600" dirty="0"/>
          </a:p>
          <a:p>
            <a:pPr marL="0" indent="0">
              <a:spcBef>
                <a:spcPts val="0"/>
              </a:spcBef>
              <a:buNone/>
            </a:pPr>
            <a:r>
              <a:rPr lang="pt-BR" sz="1600" dirty="0"/>
              <a:t>Prazo: </a:t>
            </a:r>
            <a:r>
              <a:rPr lang="pt-BR" sz="1600" b="1" dirty="0"/>
              <a:t>01 semana</a:t>
            </a:r>
            <a:endParaRPr lang="pt-BR" sz="1600" dirty="0"/>
          </a:p>
          <a:p>
            <a:pPr marL="0" indent="0">
              <a:spcBef>
                <a:spcPts val="0"/>
              </a:spcBef>
              <a:buNone/>
            </a:pPr>
            <a:br>
              <a:rPr lang="pt-BR" sz="1700" b="1" dirty="0"/>
            </a:br>
            <a:endParaRPr lang="pt-BR" sz="1700" b="1" dirty="0"/>
          </a:p>
        </p:txBody>
      </p:sp>
      <p:sp>
        <p:nvSpPr>
          <p:cNvPr id="6" name="CaixaDeTexto 5">
            <a:extLst>
              <a:ext uri="{FF2B5EF4-FFF2-40B4-BE49-F238E27FC236}">
                <a16:creationId xmlns:a16="http://schemas.microsoft.com/office/drawing/2014/main" id="{4322D663-68FD-CBE9-7B92-A3DBD8EED496}"/>
              </a:ext>
            </a:extLst>
          </p:cNvPr>
          <p:cNvSpPr txBox="1"/>
          <p:nvPr/>
        </p:nvSpPr>
        <p:spPr>
          <a:xfrm>
            <a:off x="5724126" y="1834553"/>
            <a:ext cx="3312367" cy="369332"/>
          </a:xfrm>
          <a:prstGeom prst="rect">
            <a:avLst/>
          </a:prstGeom>
          <a:noFill/>
        </p:spPr>
        <p:txBody>
          <a:bodyPr wrap="square" rtlCol="0">
            <a:spAutoFit/>
          </a:bodyPr>
          <a:lstStyle/>
          <a:p>
            <a:pPr algn="r"/>
            <a:r>
              <a:rPr lang="pt-BR" b="1" i="1" baseline="30000" dirty="0"/>
              <a:t>2</a:t>
            </a:r>
            <a:r>
              <a:rPr lang="pt-BR" b="1" i="1" dirty="0"/>
              <a:t>Modelo para execução da tarefa:</a:t>
            </a:r>
          </a:p>
        </p:txBody>
      </p:sp>
      <p:sp>
        <p:nvSpPr>
          <p:cNvPr id="7" name="Balão de Fala: Retângulo 6">
            <a:extLst>
              <a:ext uri="{FF2B5EF4-FFF2-40B4-BE49-F238E27FC236}">
                <a16:creationId xmlns:a16="http://schemas.microsoft.com/office/drawing/2014/main" id="{70C7F5D2-568D-8958-1C33-A7BBA8D142D9}"/>
              </a:ext>
            </a:extLst>
          </p:cNvPr>
          <p:cNvSpPr/>
          <p:nvPr/>
        </p:nvSpPr>
        <p:spPr>
          <a:xfrm>
            <a:off x="7380310" y="5780044"/>
            <a:ext cx="1512169" cy="385260"/>
          </a:xfrm>
          <a:prstGeom prst="wedgeRectCallout">
            <a:avLst>
              <a:gd name="adj1" fmla="val -33856"/>
              <a:gd name="adj2" fmla="val -53003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err="1"/>
              <a:t>Nonono</a:t>
            </a:r>
            <a:r>
              <a:rPr lang="pt-BR" dirty="0"/>
              <a:t> nono</a:t>
            </a:r>
          </a:p>
        </p:txBody>
      </p:sp>
      <p:sp>
        <p:nvSpPr>
          <p:cNvPr id="8" name="Balão de Fala: Retângulo 7">
            <a:extLst>
              <a:ext uri="{FF2B5EF4-FFF2-40B4-BE49-F238E27FC236}">
                <a16:creationId xmlns:a16="http://schemas.microsoft.com/office/drawing/2014/main" id="{778D5597-EB93-94F6-A8D5-F59F0591A3CC}"/>
              </a:ext>
            </a:extLst>
          </p:cNvPr>
          <p:cNvSpPr/>
          <p:nvPr/>
        </p:nvSpPr>
        <p:spPr>
          <a:xfrm>
            <a:off x="6080887" y="6282221"/>
            <a:ext cx="1512169" cy="385260"/>
          </a:xfrm>
          <a:prstGeom prst="wedgeRectCallout">
            <a:avLst>
              <a:gd name="adj1" fmla="val -83163"/>
              <a:gd name="adj2" fmla="val -43509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err="1"/>
              <a:t>Nonono</a:t>
            </a:r>
            <a:r>
              <a:rPr lang="pt-BR" dirty="0"/>
              <a:t> nono</a:t>
            </a:r>
          </a:p>
        </p:txBody>
      </p:sp>
      <p:sp>
        <p:nvSpPr>
          <p:cNvPr id="9" name="Balão de Fala: Retângulo 8">
            <a:extLst>
              <a:ext uri="{FF2B5EF4-FFF2-40B4-BE49-F238E27FC236}">
                <a16:creationId xmlns:a16="http://schemas.microsoft.com/office/drawing/2014/main" id="{9FDA0E52-4DF4-ECB7-FCEC-F64A3D5ADF6F}"/>
              </a:ext>
            </a:extLst>
          </p:cNvPr>
          <p:cNvSpPr/>
          <p:nvPr/>
        </p:nvSpPr>
        <p:spPr>
          <a:xfrm>
            <a:off x="4384473" y="1565856"/>
            <a:ext cx="1512169" cy="385260"/>
          </a:xfrm>
          <a:prstGeom prst="wedgeRectCallout">
            <a:avLst>
              <a:gd name="adj1" fmla="val 78709"/>
              <a:gd name="adj2" fmla="val 25503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err="1"/>
              <a:t>Nonono</a:t>
            </a:r>
            <a:r>
              <a:rPr lang="pt-BR" dirty="0"/>
              <a:t> nono</a:t>
            </a:r>
          </a:p>
        </p:txBody>
      </p:sp>
      <p:sp>
        <p:nvSpPr>
          <p:cNvPr id="10" name="Balão de Fala: Retângulo 9">
            <a:extLst>
              <a:ext uri="{FF2B5EF4-FFF2-40B4-BE49-F238E27FC236}">
                <a16:creationId xmlns:a16="http://schemas.microsoft.com/office/drawing/2014/main" id="{204B8275-9B92-E0AB-1C37-5B6A5F7FBD28}"/>
              </a:ext>
            </a:extLst>
          </p:cNvPr>
          <p:cNvSpPr/>
          <p:nvPr/>
        </p:nvSpPr>
        <p:spPr>
          <a:xfrm>
            <a:off x="3815914" y="5916464"/>
            <a:ext cx="1512169" cy="385260"/>
          </a:xfrm>
          <a:prstGeom prst="wedgeRectCallout">
            <a:avLst>
              <a:gd name="adj1" fmla="val 33125"/>
              <a:gd name="adj2" fmla="val -69434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err="1"/>
              <a:t>Nonono</a:t>
            </a:r>
            <a:r>
              <a:rPr lang="pt-BR" dirty="0"/>
              <a:t> nono</a:t>
            </a:r>
          </a:p>
        </p:txBody>
      </p:sp>
    </p:spTree>
    <p:extLst>
      <p:ext uri="{BB962C8B-B14F-4D97-AF65-F5344CB8AC3E}">
        <p14:creationId xmlns:p14="http://schemas.microsoft.com/office/powerpoint/2010/main" val="75987727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Plano de Marketing">
  <a:themeElements>
    <a:clrScheme name="Mediano">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F7915"/>
      </a:hlink>
      <a:folHlink>
        <a:srgbClr val="996600"/>
      </a:folHlink>
    </a:clrScheme>
    <a:fontScheme name="Mediano">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o">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624BE820261C45458D3C294760BB95C6" ma:contentTypeVersion="0" ma:contentTypeDescription="Crie um novo documento." ma:contentTypeScope="" ma:versionID="2fc3e394314c66203ac46a04a4355a1a">
  <xsd:schema xmlns:xsd="http://www.w3.org/2001/XMLSchema" xmlns:p="http://schemas.microsoft.com/office/2006/metadata/properties" targetNamespace="http://schemas.microsoft.com/office/2006/metadata/properties" ma:root="true" ma:fieldsID="834597303d62dd03ddcd59f56325a213">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ma:readOnly="true"/>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Props1.xml><?xml version="1.0" encoding="utf-8"?>
<ds:datastoreItem xmlns:ds="http://schemas.openxmlformats.org/officeDocument/2006/customXml" ds:itemID="{C24FB340-78D7-426F-A914-08293CD75A28}">
  <ds:schemaRefs>
    <ds:schemaRef ds:uri="http://schemas.microsoft.com/office/2006/documentManagement/types"/>
    <ds:schemaRef ds:uri="http://purl.org/dc/terms/"/>
    <ds:schemaRef ds:uri="http://www.w3.org/XML/1998/namespace"/>
    <ds:schemaRef ds:uri="http://purl.org/dc/dcmitype/"/>
    <ds:schemaRef ds:uri="http://schemas.microsoft.com/office/2006/metadata/properties"/>
    <ds:schemaRef ds:uri="http://purl.org/dc/elements/1.1/"/>
    <ds:schemaRef ds:uri="http://schemas.openxmlformats.org/package/2006/metadata/core-properties"/>
  </ds:schemaRefs>
</ds:datastoreItem>
</file>

<file path=customXml/itemProps2.xml><?xml version="1.0" encoding="utf-8"?>
<ds:datastoreItem xmlns:ds="http://schemas.openxmlformats.org/officeDocument/2006/customXml" ds:itemID="{2075A574-3923-4D7A-B635-EBE5078C3F7F}">
  <ds:schemaRefs>
    <ds:schemaRef ds:uri="http://schemas.microsoft.com/sharepoint/v3/contenttype/forms"/>
  </ds:schemaRefs>
</ds:datastoreItem>
</file>

<file path=customXml/itemProps3.xml><?xml version="1.0" encoding="utf-8"?>
<ds:datastoreItem xmlns:ds="http://schemas.openxmlformats.org/officeDocument/2006/customXml" ds:itemID="{85F8E013-C9B2-458B-A429-6365E50E5D2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docProps/app.xml><?xml version="1.0" encoding="utf-8"?>
<Properties xmlns="http://schemas.openxmlformats.org/officeDocument/2006/extended-properties" xmlns:vt="http://schemas.openxmlformats.org/officeDocument/2006/docPropsVTypes">
  <Template>Plano de Marketing</Template>
  <TotalTime>1285</TotalTime>
  <Words>1906</Words>
  <Application>Microsoft Office PowerPoint</Application>
  <PresentationFormat>Apresentação na tela (4:3)</PresentationFormat>
  <Paragraphs>178</Paragraphs>
  <Slides>22</Slides>
  <Notes>0</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22</vt:i4>
      </vt:variant>
    </vt:vector>
  </HeadingPairs>
  <TitlesOfParts>
    <vt:vector size="29" baseType="lpstr">
      <vt:lpstr>Aptos</vt:lpstr>
      <vt:lpstr>Arial</vt:lpstr>
      <vt:lpstr>Calibri</vt:lpstr>
      <vt:lpstr>Tw Cen MT</vt:lpstr>
      <vt:lpstr>Wingdings</vt:lpstr>
      <vt:lpstr>Wingdings 2</vt:lpstr>
      <vt:lpstr>Plano de Marketing</vt:lpstr>
      <vt:lpstr>Laboratório de Hardware</vt:lpstr>
      <vt:lpstr>Laboratório de Hardware – ADS BIOS</vt:lpstr>
      <vt:lpstr>Laboratório de Hardware – ADS BIOS</vt:lpstr>
      <vt:lpstr>Laboratório de Hardware – ADS BIOS</vt:lpstr>
      <vt:lpstr>Laboratório de Hardware – ADS BIOS - POST</vt:lpstr>
      <vt:lpstr>Laboratório de Hardware – ADS BIOS</vt:lpstr>
      <vt:lpstr>Laboratório de Hardware – ADS BIOS</vt:lpstr>
      <vt:lpstr>Laboratório de Hardware – ADS BIOS</vt:lpstr>
      <vt:lpstr>Laboratório de Hardware – ADS BIOS</vt:lpstr>
      <vt:lpstr>Laboratório de Hardware – ADS BIOS</vt:lpstr>
      <vt:lpstr>Laboratório de Hardware – ADS BIOS</vt:lpstr>
      <vt:lpstr>Laboratório de Hardware – ADS BIOS</vt:lpstr>
      <vt:lpstr>Laboratório de Hardware – ADS BIOS</vt:lpstr>
      <vt:lpstr>Laboratório de Hardware – ADS BIOS</vt:lpstr>
      <vt:lpstr>Laboratório de Hardware – ADS BIOS</vt:lpstr>
      <vt:lpstr>Laboratório de Hardware – ADS BIOS</vt:lpstr>
      <vt:lpstr>Laboratório de Hardware – ADS BIOS</vt:lpstr>
      <vt:lpstr>Laboratório de Hardware – ADS BIOS</vt:lpstr>
      <vt:lpstr>Laboratório de Hardware – ADS BIOS</vt:lpstr>
      <vt:lpstr>Laboratório de Hardware – ADS BIOS</vt:lpstr>
      <vt:lpstr>Laboratório de Hardware – ADS BIOS</vt:lpstr>
      <vt:lpstr>Laboratório de Hardware – ADS  Tarefa no Laboratório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Laboratório de Hardware</dc:title>
  <dc:creator>Fabio</dc:creator>
  <cp:lastModifiedBy>Fábio Sá</cp:lastModifiedBy>
  <cp:revision>89</cp:revision>
  <dcterms:created xsi:type="dcterms:W3CDTF">2011-02-18T05:14:19Z</dcterms:created>
  <dcterms:modified xsi:type="dcterms:W3CDTF">2024-03-19T21:21:02Z</dcterms:modified>
</cp:coreProperties>
</file>